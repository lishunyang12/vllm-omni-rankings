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intro7_arch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intro7_ar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release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release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release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release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release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release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release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release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release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release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release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release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release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release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release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release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release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release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release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release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release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release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release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release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appendix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appendix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appendix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appendix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appendix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appendix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model_structures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model_structures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appendix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appendix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appendix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appendix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appendix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appendix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appendix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appendix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appendix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appendix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appendix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appendix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appendix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appendix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appendix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appendix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appendix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appendix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appendix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appendix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appendix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appendix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appendix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appendix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appendix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appendix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appendix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appendix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appendix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appendix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appendix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appendix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appendix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appendix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" name="Google Shape;18;p2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" name="Google Shape;26;p3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" name="Google Shape;2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311700" y="287300"/>
            <a:ext cx="8520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1094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→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᠆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595308" y="4827467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8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9" name="Google Shape;9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" name="Google Shape;10;p1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1" name="Google Shape;11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jpg"/><Relationship Id="rId10" Type="http://schemas.openxmlformats.org/officeDocument/2006/relationships/image" Target="../media/image21.png"/><Relationship Id="rId13" Type="http://schemas.openxmlformats.org/officeDocument/2006/relationships/image" Target="../media/image23.jpg"/><Relationship Id="rId1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vllm-project/vllm-omni/releases/tag/v0.26.0" TargetMode="External"/><Relationship Id="rId4" Type="http://schemas.openxmlformats.org/officeDocument/2006/relationships/image" Target="../media/image13.jpg"/><Relationship Id="rId9" Type="http://schemas.openxmlformats.org/officeDocument/2006/relationships/image" Target="../media/image25.jpg"/><Relationship Id="rId15" Type="http://schemas.openxmlformats.org/officeDocument/2006/relationships/image" Target="../media/image26.jpg"/><Relationship Id="rId14" Type="http://schemas.openxmlformats.org/officeDocument/2006/relationships/image" Target="../media/image12.jpg"/><Relationship Id="rId17" Type="http://schemas.openxmlformats.org/officeDocument/2006/relationships/image" Target="../media/image27.png"/><Relationship Id="rId16" Type="http://schemas.openxmlformats.org/officeDocument/2006/relationships/image" Target="../media/image33.jpg"/><Relationship Id="rId5" Type="http://schemas.openxmlformats.org/officeDocument/2006/relationships/image" Target="../media/image17.jpg"/><Relationship Id="rId6" Type="http://schemas.openxmlformats.org/officeDocument/2006/relationships/image" Target="../media/image18.png"/><Relationship Id="rId7" Type="http://schemas.openxmlformats.org/officeDocument/2006/relationships/image" Target="../media/image14.jp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vllm-project/vllm-omni/releases/tag/v0.26.0" TargetMode="External"/><Relationship Id="rId4" Type="http://schemas.openxmlformats.org/officeDocument/2006/relationships/image" Target="../media/image19.png"/><Relationship Id="rId5" Type="http://schemas.openxmlformats.org/officeDocument/2006/relationships/hyperlink" Target="https://github.com/vllm-project/vllm-omni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vllm-project/vllm-omni/releases/tag/v0.26.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ggingface.co/MiniMaxAI/MiniMax-H3/blob/main/assets/overview.png" TargetMode="External"/><Relationship Id="rId4" Type="http://schemas.openxmlformats.org/officeDocument/2006/relationships/hyperlink" Target="https://github.com/vllm-project/vllm-omni/blob/v0.26.0/recipes/MiniMaxAI/MiniMax-H3.md" TargetMode="External"/><Relationship Id="rId5" Type="http://schemas.openxmlformats.org/officeDocument/2006/relationships/hyperlink" Target="https://huggingface.co/MiniMaxAI/MiniMax-H3/blob/main/LICENSE" TargetMode="External"/><Relationship Id="rId6" Type="http://schemas.openxmlformats.org/officeDocument/2006/relationships/hyperlink" Target="https://huggingface.co/MiniMaxAI/MiniMax-H3/blob/main/assets/overview.png" TargetMode="External"/><Relationship Id="rId7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vllm-project/vllm-omni/issues/570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vllm-project/vllm-omni/blob/v0.26.0/vllm_omni/experimental/fullduplex/DESIGN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vllm-project/vllm-omni/pull/539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vllm-project/vllm-omni/releases/tag/v0.26.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vllm-project/vllm-omni/blob/v0.26.0/docs/getting_started/quickstart.m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vllm-project/vllm-omni/issues/4901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vllm-project/vllm-omni" TargetMode="External"/><Relationship Id="rId4" Type="http://schemas.openxmlformats.org/officeDocument/2006/relationships/hyperlink" Target="https://docs.vllm.ai/projects/vllm-omni/en/latest/" TargetMode="External"/><Relationship Id="rId9" Type="http://schemas.openxmlformats.org/officeDocument/2006/relationships/hyperlink" Target="https://docs.vllm.ai/projects/vllm-omni/en/latest/community/contact_us/" TargetMode="External"/><Relationship Id="rId5" Type="http://schemas.openxmlformats.org/officeDocument/2006/relationships/hyperlink" Target="https://slack.vllm.ai/" TargetMode="External"/><Relationship Id="rId6" Type="http://schemas.openxmlformats.org/officeDocument/2006/relationships/hyperlink" Target="https://discuss.vllm.ai/" TargetMode="External"/><Relationship Id="rId7" Type="http://schemas.openxmlformats.org/officeDocument/2006/relationships/hyperlink" Target="https://vllm.ai/events" TargetMode="External"/><Relationship Id="rId8" Type="http://schemas.openxmlformats.org/officeDocument/2006/relationships/hyperlink" Target="https://docs.google.com/document/d/1pdUBiS_7mdOUNDtdwy-9OUf7jsMWN324BIbps5olDME/edit?tab=t.0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vllm-project/vllm-omni/blob/v0.26.0/docs/design/architecture_overview.m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vllm.ai/projects/vllm-omni/en/latest/design/architecture_overview/" TargetMode="External"/><Relationship Id="rId4" Type="http://schemas.openxmlformats.org/officeDocument/2006/relationships/hyperlink" Target="https://docs.vllm.ai/projects/vllm-omni/en/latest/design/architecture_overview/" TargetMode="External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hyperlink" Target="https://docs.vllm.ai/projects/vllm-omni/en/latest/design/architecture_overview/#cosmos3-unified-mot-reasoner-and-generator" TargetMode="External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vllm.ai/projects/vllm-omni/en/latest/design/architecture_overview/" TargetMode="External"/><Relationship Id="rId4" Type="http://schemas.openxmlformats.org/officeDocument/2006/relationships/hyperlink" Target="https://huggingface.co/MiniMaxAI/MiniMax-H3/blob/main/assets/overview.png" TargetMode="External"/><Relationship Id="rId9" Type="http://schemas.openxmlformats.org/officeDocument/2006/relationships/image" Target="../media/image32.png"/><Relationship Id="rId5" Type="http://schemas.openxmlformats.org/officeDocument/2006/relationships/hyperlink" Target="https://github.com/NVIDIA/cosmos/blob/main/cookbooks/cosmos3/cosmos3-model-architecture.png" TargetMode="External"/><Relationship Id="rId6" Type="http://schemas.openxmlformats.org/officeDocument/2006/relationships/hyperlink" Target="https://docs.vllm.ai/projects/vllm-omni/en/latest/design/architecture_overview/#qwen3-omni-streaming-ar-pipeline" TargetMode="External"/><Relationship Id="rId7" Type="http://schemas.openxmlformats.org/officeDocument/2006/relationships/image" Target="../media/image36.png"/><Relationship Id="rId8" Type="http://schemas.openxmlformats.org/officeDocument/2006/relationships/hyperlink" Target="https://docs.vllm.ai/projects/vllm-omni/en/latest/design/architecture_overview/#minimax-h3-conditioning-denoising-and-deco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vllm.ai/projects/vllm-omni/en/latest/design/architecture_overview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vllm.ai/projects/vllm-omni/en/latest/design/architecture_overview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vllm.ai/projects/vllm-omni/en/latest/design/architecture_overview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vllm-project/vllm-project.github.io/pull/258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vllm-project/vllm-project.github.io/pull/258" TargetMode="External"/><Relationship Id="rId4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vllm-project/vllm-project.github.io/pull/258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vllm-project/vllm-omni/blob/v0.26.0/docs/models/supported_models.md" TargetMode="External"/><Relationship Id="rId4" Type="http://schemas.openxmlformats.org/officeDocument/2006/relationships/hyperlink" Target="https://github.com/vllm-project/vllm-omni/issues/1217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vllm-project/vllm-omni/blob/v0.26.0/docs/contributing/model/adding_diffusion_model.md" TargetMode="External"/><Relationship Id="rId4" Type="http://schemas.openxmlformats.org/officeDocument/2006/relationships/hyperlink" Target="https://github.com/vllm-project/vllm-omni/blob/v0.26.0/docs/source/architecture/vllm-omni-diffusion-flow.png" TargetMode="External"/><Relationship Id="rId5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vllm-project/vllm-omni/blob/v0.26.0/docs/design/feature/diffusion_request_level_batching.md" TargetMode="External"/><Relationship Id="rId4" Type="http://schemas.openxmlformats.org/officeDocument/2006/relationships/hyperlink" Target="https://github.com/vllm-project/vllm-omni/blob/v0.26.0/docs/design/feature/diffusion_continuous_batching.md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ithub.com/vllm-project/vllm-omni/blob/v0.26.0/docs/user_guide/diffusion/parallelism/overview.md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ithub.com/vllm-project/vllm-omni/blob/v0.26.0/docs/user_guide/quantization/overview.md" TargetMode="External"/><Relationship Id="rId4" Type="http://schemas.openxmlformats.org/officeDocument/2006/relationships/hyperlink" Target="https://github.com/vllm-project/vllm-omni/blob/v0.26.0/docs/user_guide/quantization/bitsandbytes.md" TargetMode="External"/><Relationship Id="rId5" Type="http://schemas.openxmlformats.org/officeDocument/2006/relationships/hyperlink" Target="https://github.com/vllm-project/vllm-omni/blob/v0.26.0/docs/user_guide/quantization/gguf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ctrTitle"/>
          </p:nvPr>
        </p:nvSpPr>
        <p:spPr>
          <a:xfrm>
            <a:off x="692700" y="744575"/>
            <a:ext cx="7572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1800">
                <a:solidFill>
                  <a:srgbClr val="454545"/>
                </a:solidFill>
              </a:rPr>
              <a:t>community-maintained slides</a:t>
            </a:r>
            <a:endParaRPr sz="1800">
              <a:solidFill>
                <a:srgbClr val="454545"/>
              </a:solidFill>
            </a:endParaRPr>
          </a:p>
        </p:txBody>
      </p:sp>
      <p:sp>
        <p:nvSpPr>
          <p:cNvPr id="113" name="Google Shape;113;p26"/>
          <p:cNvSpPr txBox="1"/>
          <p:nvPr>
            <p:ph idx="1" type="subTitle"/>
          </p:nvPr>
        </p:nvSpPr>
        <p:spPr>
          <a:xfrm>
            <a:off x="692700" y="2834125"/>
            <a:ext cx="7408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200">
                <a:solidFill>
                  <a:srgbClr val="454545"/>
                </a:solidFill>
              </a:rPr>
              <a:t>August 2026</a:t>
            </a:r>
            <a:endParaRPr sz="1200">
              <a:solidFill>
                <a:srgbClr val="454545"/>
              </a:solidFill>
            </a:endParaRPr>
          </a:p>
        </p:txBody>
      </p:sp>
      <p:cxnSp>
        <p:nvCxnSpPr>
          <p:cNvPr id="114" name="Google Shape;114;p26"/>
          <p:cNvCxnSpPr/>
          <p:nvPr/>
        </p:nvCxnSpPr>
        <p:spPr>
          <a:xfrm>
            <a:off x="540300" y="1971125"/>
            <a:ext cx="0" cy="18627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vllm-omni" id="115" name="Google Shape;1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00" y="882097"/>
            <a:ext cx="4067640" cy="7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/>
        </p:nvSpPr>
        <p:spPr>
          <a:xfrm>
            <a:off x="457200" y="13716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Why vLLM-Omni exists</a:t>
            </a:r>
            <a:endParaRPr b="1" sz="2800">
              <a:solidFill>
                <a:srgbClr val="172033"/>
              </a:solidFill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40" y="713232"/>
            <a:ext cx="7818119" cy="398247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7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Source: vLLM-Omni v0.26.0 architecture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02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Our goal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1051560" y="1170432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72033"/>
                </a:solidFill>
              </a:rPr>
              <a:t>Build the</a:t>
            </a:r>
            <a:endParaRPr sz="2800">
              <a:solidFill>
                <a:srgbClr val="172033"/>
              </a:solidFill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1051560" y="1755648"/>
            <a:ext cx="7132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82F6"/>
                </a:solidFill>
              </a:rPr>
              <a:t>fastest and easiest-to-use</a:t>
            </a:r>
            <a:endParaRPr sz="2800">
              <a:solidFill>
                <a:srgbClr val="3B82F6"/>
              </a:solidFill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1051560" y="2432304"/>
            <a:ext cx="722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open-source omni-modality model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1051560" y="3108960"/>
            <a:ext cx="649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72033"/>
                </a:solidFill>
              </a:rPr>
              <a:t>inference &amp; serving engine</a:t>
            </a:r>
            <a:endParaRPr sz="2800">
              <a:solidFill>
                <a:srgbClr val="172033"/>
              </a:solidFill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713232" y="1170432"/>
            <a:ext cx="32100" cy="2578500"/>
          </a:xfrm>
          <a:prstGeom prst="rect">
            <a:avLst/>
          </a:prstGeom>
          <a:solidFill>
            <a:srgbClr val="0D23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8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Source: vLLM-Omni project mission and v0.26.0 repository README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03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What vLLM-Omni extends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143" name="Google Shape;143;p29"/>
          <p:cNvSpPr/>
          <p:nvPr/>
        </p:nvSpPr>
        <p:spPr>
          <a:xfrm>
            <a:off x="502920" y="960120"/>
            <a:ext cx="2514600" cy="2606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9"/>
          <p:cNvSpPr/>
          <p:nvPr/>
        </p:nvSpPr>
        <p:spPr>
          <a:xfrm>
            <a:off x="502920" y="960120"/>
            <a:ext cx="73200" cy="26061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9"/>
          <p:cNvSpPr/>
          <p:nvPr/>
        </p:nvSpPr>
        <p:spPr>
          <a:xfrm>
            <a:off x="3310128" y="960120"/>
            <a:ext cx="2514600" cy="2606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9"/>
          <p:cNvSpPr/>
          <p:nvPr/>
        </p:nvSpPr>
        <p:spPr>
          <a:xfrm>
            <a:off x="3310128" y="960120"/>
            <a:ext cx="73200" cy="26061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9"/>
          <p:cNvSpPr/>
          <p:nvPr/>
        </p:nvSpPr>
        <p:spPr>
          <a:xfrm>
            <a:off x="6117336" y="960120"/>
            <a:ext cx="2514600" cy="2606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9"/>
          <p:cNvSpPr/>
          <p:nvPr/>
        </p:nvSpPr>
        <p:spPr>
          <a:xfrm>
            <a:off x="6117336" y="960120"/>
            <a:ext cx="73200" cy="26061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Source: vLLM-Omni v0.26.0 README and architecture overview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04</a:t>
            </a:r>
            <a:endParaRPr b="1" sz="1200">
              <a:solidFill>
                <a:srgbClr val="5E6B7A"/>
              </a:solidFill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704088" y="1124712"/>
            <a:ext cx="2148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Omni-modality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704088" y="1755648"/>
            <a:ext cx="2148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Text, image, audio and video can enter the same serving pipeline.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3511296" y="1097280"/>
            <a:ext cx="2148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Beyond</a:t>
            </a:r>
            <a:endParaRPr b="1" sz="18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autoregression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3511296" y="1847088"/>
            <a:ext cx="21489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DiT and other parallel generators need execution loops beyond token-by-token decoding.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6318504" y="1097280"/>
            <a:ext cx="2148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Heterogeneous</a:t>
            </a:r>
            <a:endParaRPr b="1" sz="18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outputs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318504" y="1847088"/>
            <a:ext cx="2148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One request can return text, images, audio, video—or actions.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713232" y="3776472"/>
            <a:ext cx="7717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One serving layer across different execution loops and outputs.</a:t>
            </a:r>
            <a:endParaRPr b="1" sz="1800">
              <a:solidFill>
                <a:srgbClr val="0D234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Broad model support, one serving surface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502920" y="950976"/>
            <a:ext cx="3886200" cy="1335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502920" y="950976"/>
            <a:ext cx="73200" cy="13350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704088" y="1115568"/>
            <a:ext cx="352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Omni and speech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704088" y="1499616"/>
            <a:ext cx="352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Qwen3-Omni · MiniCPM-o · Voxtral TTS · Fish Speech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4754880" y="950976"/>
            <a:ext cx="3886200" cy="1335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/>
          <p:nvPr/>
        </p:nvSpPr>
        <p:spPr>
          <a:xfrm>
            <a:off x="4754880" y="950976"/>
            <a:ext cx="73200" cy="13350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4956048" y="1115568"/>
            <a:ext cx="352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Image generation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4956048" y="1499616"/>
            <a:ext cx="352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Qwen-Image · FLUX · LongCat · Z-Image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502920" y="2578608"/>
            <a:ext cx="3886200" cy="1335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502920" y="2578608"/>
            <a:ext cx="73200" cy="1335000"/>
          </a:xfrm>
          <a:prstGeom prst="rect">
            <a:avLst/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704088" y="2743200"/>
            <a:ext cx="352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Video and world models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704088" y="3127248"/>
            <a:ext cx="352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Wan · HunyuanVideo · Cosmos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4754880" y="2578608"/>
            <a:ext cx="3886200" cy="1335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4754880" y="2578608"/>
            <a:ext cx="73200" cy="13350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 txBox="1"/>
          <p:nvPr/>
        </p:nvSpPr>
        <p:spPr>
          <a:xfrm>
            <a:off x="4956048" y="2743200"/>
            <a:ext cx="352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Multi-stage generation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956048" y="3127248"/>
            <a:ext cx="352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BAGEL · GLM-Image · HunyuanImage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731520" y="4096512"/>
            <a:ext cx="768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Support is model-, backend- and feature-scoped; the tagged model table is authoritative.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Source: vLLM-Omni v0.26.0 docs · logos from community template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05</a:t>
            </a:r>
            <a:endParaRPr b="1" sz="1200">
              <a:solidFill>
                <a:srgbClr val="5E6B7A"/>
              </a:solidFill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3026664" y="1792224"/>
            <a:ext cx="1161300" cy="42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/>
          <p:nvPr/>
        </p:nvSpPr>
        <p:spPr>
          <a:xfrm>
            <a:off x="6784848" y="1792224"/>
            <a:ext cx="1645800" cy="42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2542032" y="3419856"/>
            <a:ext cx="1645800" cy="42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/>
          <p:nvPr/>
        </p:nvSpPr>
        <p:spPr>
          <a:xfrm>
            <a:off x="6327648" y="3419856"/>
            <a:ext cx="2103000" cy="42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841" y="1851660"/>
            <a:ext cx="28434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728" y="1851660"/>
            <a:ext cx="28434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336" y="3479292"/>
            <a:ext cx="284343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880" y="1851743"/>
            <a:ext cx="427025" cy="30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6736" y="1851660"/>
            <a:ext cx="357338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2128" y="1851700"/>
            <a:ext cx="355702" cy="30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4699" y="3502152"/>
            <a:ext cx="882358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6640" y="3502152"/>
            <a:ext cx="882358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5664" y="3479292"/>
            <a:ext cx="301752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13053" y="3479292"/>
            <a:ext cx="305032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318 commit contributors powered v0.26.0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203" name="Google Shape;203;p31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GitHub commits reachable from v0.26.0 · avatars: public profiles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06</a:t>
            </a:r>
            <a:endParaRPr b="1" sz="1200">
              <a:solidFill>
                <a:srgbClr val="5E6B7A"/>
              </a:solidFill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57200" y="987552"/>
            <a:ext cx="3794700" cy="33558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/>
          <p:nvPr/>
        </p:nvSpPr>
        <p:spPr>
          <a:xfrm>
            <a:off x="457200" y="987552"/>
            <a:ext cx="73200" cy="3355800"/>
          </a:xfrm>
          <a:prstGeom prst="rect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 txBox="1"/>
          <p:nvPr/>
        </p:nvSpPr>
        <p:spPr>
          <a:xfrm>
            <a:off x="713232" y="1261872"/>
            <a:ext cx="3154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B82F6"/>
                </a:solidFill>
              </a:rPr>
              <a:t>Thank you</a:t>
            </a:r>
            <a:endParaRPr b="1" sz="2800">
              <a:solidFill>
                <a:srgbClr val="3B82F6"/>
              </a:solidFill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713232" y="1828800"/>
            <a:ext cx="30906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2033"/>
                </a:solidFill>
              </a:rPr>
              <a:t>for raising issues,</a:t>
            </a:r>
            <a:endParaRPr sz="18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2033"/>
                </a:solidFill>
              </a:rPr>
              <a:t>joining discussions,</a:t>
            </a:r>
            <a:endParaRPr sz="18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2033"/>
                </a:solidFill>
              </a:rPr>
              <a:t>reviewing changes, and</a:t>
            </a:r>
            <a:endParaRPr sz="18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2033"/>
                </a:solidFill>
              </a:rPr>
              <a:t>submitting PRs.</a:t>
            </a:r>
            <a:endParaRPr sz="1800">
              <a:solidFill>
                <a:srgbClr val="172033"/>
              </a:solidFill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713232" y="3566160"/>
            <a:ext cx="3090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The count tracks commit authors only;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community participation is broader.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4645152" y="1005840"/>
            <a:ext cx="393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Top 14 by authored commits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4645152" y="137160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Public GitHub profiles · ordered left to right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4645152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584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/>
          <p:nvPr/>
        </p:nvSpPr>
        <p:spPr>
          <a:xfrm>
            <a:off x="5212080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512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/>
          <p:nvPr/>
        </p:nvSpPr>
        <p:spPr>
          <a:xfrm>
            <a:off x="5779008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6440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/>
          <p:nvPr/>
        </p:nvSpPr>
        <p:spPr>
          <a:xfrm>
            <a:off x="6345936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3368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/>
          <p:nvPr/>
        </p:nvSpPr>
        <p:spPr>
          <a:xfrm>
            <a:off x="6912864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40296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1"/>
          <p:cNvSpPr/>
          <p:nvPr/>
        </p:nvSpPr>
        <p:spPr>
          <a:xfrm>
            <a:off x="7479792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07224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1"/>
          <p:cNvSpPr/>
          <p:nvPr/>
        </p:nvSpPr>
        <p:spPr>
          <a:xfrm>
            <a:off x="8046720" y="1737360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74152" y="1764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/>
          <p:nvPr/>
        </p:nvSpPr>
        <p:spPr>
          <a:xfrm>
            <a:off x="4645152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72584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/>
          <p:nvPr/>
        </p:nvSpPr>
        <p:spPr>
          <a:xfrm>
            <a:off x="5212080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39512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/>
          <p:nvPr/>
        </p:nvSpPr>
        <p:spPr>
          <a:xfrm>
            <a:off x="5779008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0644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/>
          <p:nvPr/>
        </p:nvSpPr>
        <p:spPr>
          <a:xfrm>
            <a:off x="6345936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73368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/>
          <p:nvPr/>
        </p:nvSpPr>
        <p:spPr>
          <a:xfrm>
            <a:off x="6912864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940296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/>
          <p:nvPr/>
        </p:nvSpPr>
        <p:spPr>
          <a:xfrm>
            <a:off x="7479792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507224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/>
          <p:nvPr/>
        </p:nvSpPr>
        <p:spPr>
          <a:xfrm>
            <a:off x="8046720" y="2441448"/>
            <a:ext cx="512100" cy="51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074152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4645152" y="3246120"/>
            <a:ext cx="21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B82F6"/>
                </a:solidFill>
              </a:rPr>
              <a:t>+304 more</a:t>
            </a:r>
            <a:endParaRPr b="1" sz="2800">
              <a:solidFill>
                <a:srgbClr val="3B82F6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4645152" y="3730752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317 linked GitHub accounts + 1 unlinked author identity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through v0.26.0</a:t>
            </a:r>
            <a:endParaRPr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vLLM-Omni 0.26.0 on GitHub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GitHub REST API · v0.26.0 published 2026-08-03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07</a:t>
            </a:r>
            <a:endParaRPr b="1" sz="1200">
              <a:solidFill>
                <a:srgbClr val="5E6B7A"/>
              </a:solidFill>
            </a:endParaRPr>
          </a:p>
        </p:txBody>
      </p:sp>
      <p:pic>
        <p:nvPicPr>
          <p:cNvPr id="251" name="Google Shape;25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960120"/>
            <a:ext cx="38404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/>
        </p:nvSpPr>
        <p:spPr>
          <a:xfrm>
            <a:off x="960120" y="969264"/>
            <a:ext cx="498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3B82F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github.com/vllm-project/vllm-omni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253" name="Google Shape;253;p32"/>
          <p:cNvSpPr/>
          <p:nvPr/>
        </p:nvSpPr>
        <p:spPr>
          <a:xfrm>
            <a:off x="457200" y="1481328"/>
            <a:ext cx="5532000" cy="868800"/>
          </a:xfrm>
          <a:prstGeom prst="roundRect">
            <a:avLst>
              <a:gd fmla="val 16667" name="adj"/>
            </a:avLst>
          </a:prstGeom>
          <a:solidFill>
            <a:srgbClr val="0D2340"/>
          </a:solidFill>
          <a:ln cap="flat" cmpd="sng" w="6350">
            <a:solidFill>
              <a:srgbClr val="0D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 txBox="1"/>
          <p:nvPr/>
        </p:nvSpPr>
        <p:spPr>
          <a:xfrm>
            <a:off x="1078992" y="1618488"/>
            <a:ext cx="470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uv pip install vllm==0.26.0 --torch-backend=auto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uv pip install vllm-omni==0.26.0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6217920" y="960120"/>
            <a:ext cx="24690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7013448" y="1115568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A623"/>
                </a:solidFill>
              </a:rPr>
              <a:t>5,802</a:t>
            </a:r>
            <a:endParaRPr b="1" sz="2800">
              <a:solidFill>
                <a:srgbClr val="F5A623"/>
              </a:solidFill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7013448" y="1536192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active stars at release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Aug 3, 2026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457200" y="250545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Cumulative active stargazers</a:t>
            </a:r>
            <a:endParaRPr b="1" sz="1200">
              <a:solidFill>
                <a:srgbClr val="172033"/>
              </a:solidFill>
            </a:endParaRPr>
          </a:p>
        </p:txBody>
      </p:sp>
      <p:cxnSp>
        <p:nvCxnSpPr>
          <p:cNvPr id="259" name="Google Shape;259;p32"/>
          <p:cNvCxnSpPr/>
          <p:nvPr/>
        </p:nvCxnSpPr>
        <p:spPr>
          <a:xfrm>
            <a:off x="1051560" y="3986784"/>
            <a:ext cx="7178100" cy="0"/>
          </a:xfrm>
          <a:prstGeom prst="straightConnector1">
            <a:avLst/>
          </a:prstGeom>
          <a:noFill/>
          <a:ln cap="flat" cmpd="sng" w="9525">
            <a:solidFill>
              <a:srgbClr val="D8E2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2"/>
          <p:cNvSpPr txBox="1"/>
          <p:nvPr/>
        </p:nvSpPr>
        <p:spPr>
          <a:xfrm>
            <a:off x="493776" y="3886200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0</a:t>
            </a:r>
            <a:endParaRPr sz="1200">
              <a:solidFill>
                <a:srgbClr val="5E6B7A"/>
              </a:solidFill>
            </a:endParaRPr>
          </a:p>
        </p:txBody>
      </p:sp>
      <p:cxnSp>
        <p:nvCxnSpPr>
          <p:cNvPr id="261" name="Google Shape;261;p32"/>
          <p:cNvCxnSpPr/>
          <p:nvPr/>
        </p:nvCxnSpPr>
        <p:spPr>
          <a:xfrm>
            <a:off x="1051560" y="3602736"/>
            <a:ext cx="7178100" cy="0"/>
          </a:xfrm>
          <a:prstGeom prst="straightConnector1">
            <a:avLst/>
          </a:prstGeom>
          <a:noFill/>
          <a:ln cap="flat" cmpd="sng" w="9525">
            <a:solidFill>
              <a:srgbClr val="D8E2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2"/>
          <p:cNvSpPr txBox="1"/>
          <p:nvPr/>
        </p:nvSpPr>
        <p:spPr>
          <a:xfrm>
            <a:off x="493776" y="3502152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2k</a:t>
            </a:r>
            <a:endParaRPr sz="1200">
              <a:solidFill>
                <a:srgbClr val="5E6B7A"/>
              </a:solidFill>
            </a:endParaRPr>
          </a:p>
        </p:txBody>
      </p:sp>
      <p:cxnSp>
        <p:nvCxnSpPr>
          <p:cNvPr id="263" name="Google Shape;263;p32"/>
          <p:cNvCxnSpPr/>
          <p:nvPr/>
        </p:nvCxnSpPr>
        <p:spPr>
          <a:xfrm>
            <a:off x="1051560" y="3218688"/>
            <a:ext cx="7178100" cy="0"/>
          </a:xfrm>
          <a:prstGeom prst="straightConnector1">
            <a:avLst/>
          </a:prstGeom>
          <a:noFill/>
          <a:ln cap="flat" cmpd="sng" w="9525">
            <a:solidFill>
              <a:srgbClr val="D8E2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32"/>
          <p:cNvSpPr txBox="1"/>
          <p:nvPr/>
        </p:nvSpPr>
        <p:spPr>
          <a:xfrm>
            <a:off x="493776" y="3118104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4k</a:t>
            </a:r>
            <a:endParaRPr sz="1200">
              <a:solidFill>
                <a:srgbClr val="5E6B7A"/>
              </a:solidFill>
            </a:endParaRPr>
          </a:p>
        </p:txBody>
      </p:sp>
      <p:cxnSp>
        <p:nvCxnSpPr>
          <p:cNvPr id="265" name="Google Shape;265;p32"/>
          <p:cNvCxnSpPr/>
          <p:nvPr/>
        </p:nvCxnSpPr>
        <p:spPr>
          <a:xfrm>
            <a:off x="1051560" y="2834640"/>
            <a:ext cx="7178100" cy="0"/>
          </a:xfrm>
          <a:prstGeom prst="straightConnector1">
            <a:avLst/>
          </a:prstGeom>
          <a:noFill/>
          <a:ln cap="flat" cmpd="sng" w="9525">
            <a:solidFill>
              <a:srgbClr val="D8E2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2"/>
          <p:cNvSpPr txBox="1"/>
          <p:nvPr/>
        </p:nvSpPr>
        <p:spPr>
          <a:xfrm>
            <a:off x="493776" y="2734056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6k</a:t>
            </a:r>
            <a:endParaRPr sz="1200">
              <a:solidFill>
                <a:srgbClr val="5E6B7A"/>
              </a:solidFill>
            </a:endParaRPr>
          </a:p>
        </p:txBody>
      </p:sp>
      <p:cxnSp>
        <p:nvCxnSpPr>
          <p:cNvPr id="267" name="Google Shape;267;p32"/>
          <p:cNvCxnSpPr/>
          <p:nvPr/>
        </p:nvCxnSpPr>
        <p:spPr>
          <a:xfrm flipH="1" rot="10800000">
            <a:off x="1051560" y="3984192"/>
            <a:ext cx="717900" cy="24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2"/>
          <p:cNvCxnSpPr/>
          <p:nvPr/>
        </p:nvCxnSpPr>
        <p:spPr>
          <a:xfrm flipH="1" rot="10800000">
            <a:off x="1769364" y="3629988"/>
            <a:ext cx="717900" cy="3543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/>
          <p:nvPr/>
        </p:nvCxnSpPr>
        <p:spPr>
          <a:xfrm flipH="1" rot="10800000">
            <a:off x="2487168" y="3518103"/>
            <a:ext cx="717900" cy="1119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/>
          <p:nvPr/>
        </p:nvCxnSpPr>
        <p:spPr>
          <a:xfrm flipH="1" rot="10800000">
            <a:off x="3204972" y="3448645"/>
            <a:ext cx="717900" cy="696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/>
          <p:nvPr/>
        </p:nvCxnSpPr>
        <p:spPr>
          <a:xfrm flipH="1" rot="10800000">
            <a:off x="3922776" y="3280733"/>
            <a:ext cx="717900" cy="1680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2"/>
          <p:cNvCxnSpPr/>
          <p:nvPr/>
        </p:nvCxnSpPr>
        <p:spPr>
          <a:xfrm flipH="1" rot="10800000">
            <a:off x="4640580" y="3147512"/>
            <a:ext cx="717900" cy="1332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2"/>
          <p:cNvCxnSpPr/>
          <p:nvPr/>
        </p:nvCxnSpPr>
        <p:spPr>
          <a:xfrm flipH="1" rot="10800000">
            <a:off x="5358384" y="3062247"/>
            <a:ext cx="717900" cy="852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2"/>
          <p:cNvCxnSpPr/>
          <p:nvPr/>
        </p:nvCxnSpPr>
        <p:spPr>
          <a:xfrm flipH="1" rot="10800000">
            <a:off x="6076188" y="2958088"/>
            <a:ext cx="717900" cy="1041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2"/>
          <p:cNvCxnSpPr/>
          <p:nvPr/>
        </p:nvCxnSpPr>
        <p:spPr>
          <a:xfrm flipH="1" rot="10800000">
            <a:off x="6793992" y="2879211"/>
            <a:ext cx="717900" cy="789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2"/>
          <p:cNvCxnSpPr/>
          <p:nvPr/>
        </p:nvCxnSpPr>
        <p:spPr>
          <a:xfrm flipH="1" rot="10800000">
            <a:off x="7511796" y="2872590"/>
            <a:ext cx="717900" cy="660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2"/>
          <p:cNvSpPr/>
          <p:nvPr/>
        </p:nvSpPr>
        <p:spPr>
          <a:xfrm>
            <a:off x="1019556" y="3954588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1737360" y="3952284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2455164" y="3597999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3172968" y="3486241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3890772" y="3416729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4608576" y="3248708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"/>
          <p:cNvSpPr/>
          <p:nvPr/>
        </p:nvSpPr>
        <p:spPr>
          <a:xfrm>
            <a:off x="5326380" y="3115443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6044184" y="3030184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6761988" y="2926107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7479792" y="2847186"/>
            <a:ext cx="63900" cy="63900"/>
          </a:xfrm>
          <a:prstGeom prst="ellipse">
            <a:avLst/>
          </a:prstGeom>
          <a:solidFill>
            <a:srgbClr val="3B82F6"/>
          </a:solidFill>
          <a:ln cap="flat" cmpd="sng" w="63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8197596" y="2840657"/>
            <a:ext cx="63900" cy="63900"/>
          </a:xfrm>
          <a:prstGeom prst="ellipse">
            <a:avLst/>
          </a:prstGeom>
          <a:solidFill>
            <a:srgbClr val="F5A623"/>
          </a:solidFill>
          <a:ln cap="flat" cmpd="sng" w="63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2"/>
          <p:cNvSpPr txBox="1"/>
          <p:nvPr/>
        </p:nvSpPr>
        <p:spPr>
          <a:xfrm>
            <a:off x="795528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Oct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89" name="Google Shape;289;p32"/>
          <p:cNvSpPr txBox="1"/>
          <p:nvPr/>
        </p:nvSpPr>
        <p:spPr>
          <a:xfrm>
            <a:off x="2231136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Dec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90" name="Google Shape;290;p32"/>
          <p:cNvSpPr txBox="1"/>
          <p:nvPr/>
        </p:nvSpPr>
        <p:spPr>
          <a:xfrm>
            <a:off x="3666744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Feb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5102352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Apr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92" name="Google Shape;292;p32"/>
          <p:cNvSpPr txBox="1"/>
          <p:nvPr/>
        </p:nvSpPr>
        <p:spPr>
          <a:xfrm>
            <a:off x="6537960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Jun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7973568" y="402336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Aug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6793992" y="2761488"/>
            <a:ext cx="135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v0.26.0 · 5,802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457200" y="4370832"/>
            <a:ext cx="8184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Reconstructed from current active-stargazer timestamps; prior unstars are not retained.</a:t>
            </a:r>
            <a:endParaRPr sz="1200">
              <a:solidFill>
                <a:srgbClr val="5E6B7A"/>
              </a:solidFill>
            </a:endParaRPr>
          </a:p>
        </p:txBody>
      </p:sp>
      <p:pic>
        <p:nvPicPr>
          <p:cNvPr id="296" name="Google Shape;29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792" y="1728216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6520" y="128016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/>
          <p:nvPr/>
        </p:nvSpPr>
        <p:spPr>
          <a:xfrm>
            <a:off x="530352" y="1234440"/>
            <a:ext cx="25500" cy="2057400"/>
          </a:xfrm>
          <a:prstGeom prst="rect">
            <a:avLst/>
          </a:prstGeom>
          <a:solidFill>
            <a:srgbClr val="172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777240" y="1170432"/>
            <a:ext cx="5166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72033"/>
                </a:solidFill>
              </a:rPr>
              <a:t>vLLM-Omni 0.26.0</a:t>
            </a:r>
            <a:endParaRPr b="1" sz="36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72033"/>
                </a:solidFill>
              </a:rPr>
              <a:t>release</a:t>
            </a:r>
            <a:endParaRPr b="1" sz="3600">
              <a:solidFill>
                <a:srgbClr val="172033"/>
              </a:solidFill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777240" y="2487168"/>
            <a:ext cx="7406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E6B7A"/>
                </a:solidFill>
              </a:rPr>
              <a:t>vLLM-Omni Team · Community release update · Aug 2026</a:t>
            </a:r>
            <a:endParaRPr sz="1800">
              <a:solidFill>
                <a:srgbClr val="5E6B7A"/>
              </a:solidFill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08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What changed in vLLM-Omni 0.26.0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311" name="Google Shape;311;p34"/>
          <p:cNvSpPr txBox="1"/>
          <p:nvPr/>
        </p:nvSpPr>
        <p:spPr>
          <a:xfrm>
            <a:off x="685800" y="676656"/>
            <a:ext cx="7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Four chapters · nine-slide release section · approximately eight minutes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548640" y="1143000"/>
            <a:ext cx="39135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713232" y="1325880"/>
            <a:ext cx="512100" cy="3474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 txBox="1"/>
          <p:nvPr/>
        </p:nvSpPr>
        <p:spPr>
          <a:xfrm>
            <a:off x="749808" y="1376172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01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1371600" y="1325880"/>
            <a:ext cx="2907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Multimodal generation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1371600" y="1801368"/>
            <a:ext cx="286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MiniMax H3 · workflows + optimization roadmap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3493008" y="2185416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2 min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4681728" y="1143000"/>
            <a:ext cx="39135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4"/>
          <p:cNvSpPr/>
          <p:nvPr/>
        </p:nvSpPr>
        <p:spPr>
          <a:xfrm>
            <a:off x="4846320" y="1325880"/>
            <a:ext cx="512100" cy="34740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 txBox="1"/>
          <p:nvPr/>
        </p:nvSpPr>
        <p:spPr>
          <a:xfrm>
            <a:off x="4882896" y="1376172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02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5504688" y="1325880"/>
            <a:ext cx="2907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Realtime interaction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5504688" y="1801368"/>
            <a:ext cx="286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Experimental MiniCPM-o 4.5 duplex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7626096" y="2185416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2 min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548640" y="2761488"/>
            <a:ext cx="39135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713232" y="2944368"/>
            <a:ext cx="512100" cy="347400"/>
          </a:xfrm>
          <a:prstGeom prst="roundRect">
            <a:avLst>
              <a:gd fmla="val 16667" name="adj"/>
            </a:avLst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749808" y="2994660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03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27" name="Google Shape;327;p34"/>
          <p:cNvSpPr txBox="1"/>
          <p:nvPr/>
        </p:nvSpPr>
        <p:spPr>
          <a:xfrm>
            <a:off x="1371600" y="2944368"/>
            <a:ext cx="2907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Scale diffusion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1371600" y="3419856"/>
            <a:ext cx="286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Distributed offload · mechanism + validated evidence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29" name="Google Shape;329;p34"/>
          <p:cNvSpPr txBox="1"/>
          <p:nvPr/>
        </p:nvSpPr>
        <p:spPr>
          <a:xfrm>
            <a:off x="3493008" y="3803904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5B7E8"/>
                </a:solidFill>
              </a:rPr>
              <a:t>3 min</a:t>
            </a:r>
            <a:endParaRPr b="1" sz="1200">
              <a:solidFill>
                <a:srgbClr val="45B7E8"/>
              </a:solidFill>
            </a:endParaRPr>
          </a:p>
        </p:txBody>
      </p:sp>
      <p:sp>
        <p:nvSpPr>
          <p:cNvPr id="330" name="Google Shape;330;p34"/>
          <p:cNvSpPr/>
          <p:nvPr/>
        </p:nvSpPr>
        <p:spPr>
          <a:xfrm>
            <a:off x="4681728" y="2761488"/>
            <a:ext cx="39135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>
            <a:off x="4846320" y="2944368"/>
            <a:ext cx="512100" cy="347400"/>
          </a:xfrm>
          <a:prstGeom prst="roundRect">
            <a:avLst>
              <a:gd fmla="val 16667" name="adj"/>
            </a:avLst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"/>
          <p:cNvSpPr txBox="1"/>
          <p:nvPr/>
        </p:nvSpPr>
        <p:spPr>
          <a:xfrm>
            <a:off x="4882896" y="2994660"/>
            <a:ext cx="43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04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5504688" y="2944368"/>
            <a:ext cx="2907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Adopt v0.26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5504688" y="3419856"/>
            <a:ext cx="286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Runtime alignment · broader stack · upgrade notes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7626096" y="3803904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4DCC"/>
                </a:solidFill>
              </a:rPr>
              <a:t>1 min</a:t>
            </a:r>
            <a:endParaRPr b="1" sz="1200">
              <a:solidFill>
                <a:srgbClr val="7C4DCC"/>
              </a:solidFill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vLLM-Omni v0.26.0 release notes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09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/>
          <p:nvPr/>
        </p:nvSpPr>
        <p:spPr>
          <a:xfrm>
            <a:off x="457200" y="4572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MiniMax-H3: context to 2K audio-video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475488" y="786384"/>
            <a:ext cx="819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Three modules separate context understanding, base generation, and high-resolution regeneration.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475488" y="3895344"/>
            <a:ext cx="8193000" cy="4389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"/>
          <p:cNvSpPr txBox="1"/>
          <p:nvPr/>
        </p:nvSpPr>
        <p:spPr>
          <a:xfrm>
            <a:off x="658368" y="3995928"/>
            <a:ext cx="7827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vLLM v0.26.0 serves H3-Base FL2VA / Ref2VA locally · CUDA · ROCm · Ascend.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MiniMax H3 overview</a:t>
            </a:r>
            <a:r>
              <a:rPr lang="en-US" sz="1200">
                <a:solidFill>
                  <a:srgbClr val="5E6B7A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v0.26.0 recipe</a:t>
            </a:r>
            <a:r>
              <a:rPr lang="en-US" sz="1200">
                <a:solidFill>
                  <a:srgbClr val="5E6B7A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license</a:t>
            </a:r>
            <a:endParaRPr sz="1200" u="sng">
              <a:solidFill>
                <a:schemeClr val="hlink"/>
              </a:solidFill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10</a:t>
            </a:r>
            <a:endParaRPr b="1" sz="1200">
              <a:solidFill>
                <a:srgbClr val="5E6B7A"/>
              </a:solidFill>
            </a:endParaRPr>
          </a:p>
        </p:txBody>
      </p:sp>
      <p:pic>
        <p:nvPicPr>
          <p:cNvPr descr="Official MiniMax diagram showing H3-Context-IR, H3-Base 768p audio-video generation, and H3-Regenerate-2K. Reused intact and linked to its Hugging Face source." id="350" name="Google Shape;350;p35" title="MiniMax H3 system overview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488" y="1389888"/>
            <a:ext cx="6327647" cy="233787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5"/>
          <p:cNvSpPr/>
          <p:nvPr/>
        </p:nvSpPr>
        <p:spPr>
          <a:xfrm>
            <a:off x="6967728" y="1389888"/>
            <a:ext cx="1700700" cy="658500"/>
          </a:xfrm>
          <a:prstGeom prst="roundRect">
            <a:avLst>
              <a:gd fmla="val 16667" name="adj"/>
            </a:avLst>
          </a:prstGeom>
          <a:solidFill>
            <a:srgbClr val="ECF9F2"/>
          </a:solidFill>
          <a:ln cap="flat" cmpd="sng" w="12700">
            <a:solidFill>
              <a:srgbClr val="2D95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B50"/>
                </a:solidFill>
              </a:rPr>
              <a:t>H3-Context-IR</a:t>
            </a:r>
            <a:endParaRPr b="1" sz="1200">
              <a:solidFill>
                <a:srgbClr val="197B5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Hosted context structuring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Not open-sourced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6967728" y="2185416"/>
            <a:ext cx="1700700" cy="6585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 cap="flat" cmpd="sng" w="12700">
            <a:solidFill>
              <a:srgbClr val="EB9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06B00"/>
                </a:solidFill>
              </a:rPr>
              <a:t>H3-Base</a:t>
            </a:r>
            <a:endParaRPr b="1" sz="1200">
              <a:solidFill>
                <a:srgbClr val="B06B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Local 768p generation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32 kHz stereo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6967728" y="2980944"/>
            <a:ext cx="1700700" cy="658500"/>
          </a:xfrm>
          <a:prstGeom prst="roundRect">
            <a:avLst>
              <a:gd fmla="val 16667" name="adj"/>
            </a:avLst>
          </a:prstGeom>
          <a:solidFill>
            <a:srgbClr val="FFF0F0"/>
          </a:solidFill>
          <a:ln cap="flat" cmpd="sng" w="12700">
            <a:solidFill>
              <a:srgbClr val="EC5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342E"/>
                </a:solidFill>
              </a:rPr>
              <a:t>H3-Regenerate-2K</a:t>
            </a:r>
            <a:endParaRPr b="1" sz="1200">
              <a:solidFill>
                <a:srgbClr val="CD342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Hosted in-context 2K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Not open-sourced</a:t>
            </a:r>
            <a:endParaRPr sz="12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/>
        </p:nvSpPr>
        <p:spPr>
          <a:xfrm>
            <a:off x="457200" y="18288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MiniMax H3: optimizing memory, kernels, and repeated work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502920" y="786384"/>
            <a:ext cx="81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POST-0.26 ROADMAP · Issue #5700 · status checked 2026-08-05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502920" y="1024128"/>
            <a:ext cx="8138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Post-tag work targets memory, kernels, and repeated work.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502920" y="1536192"/>
            <a:ext cx="2541900" cy="23409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667512" y="1700784"/>
            <a:ext cx="221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MERGED AFTER TAG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667512" y="1965960"/>
            <a:ext cx="2212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Online FP8 DiT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667512" y="2560320"/>
            <a:ext cx="221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B82F6"/>
                </a:solidFill>
              </a:rPr>
              <a:t>−22%</a:t>
            </a:r>
            <a:endParaRPr b="1" sz="2800">
              <a:solidFill>
                <a:srgbClr val="3B82F6"/>
              </a:solidFill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667512" y="3017520"/>
            <a:ext cx="221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68.52 → 53.51 GiB/GPU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2×H100 · 107 f · 10 steps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Resident-only; no layerwise offload.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3300984" y="1536192"/>
            <a:ext cx="2541900" cy="23409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6"/>
          <p:cNvSpPr txBox="1"/>
          <p:nvPr/>
        </p:nvSpPr>
        <p:spPr>
          <a:xfrm>
            <a:off x="3465576" y="1700784"/>
            <a:ext cx="221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OPEN PR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3465576" y="1965960"/>
            <a:ext cx="2212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Fused QK norm + 3D RoPE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3465576" y="2651760"/>
            <a:ext cx="221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A623"/>
                </a:solidFill>
              </a:rPr>
              <a:t>1.865×</a:t>
            </a:r>
            <a:endParaRPr b="1" sz="2800">
              <a:solidFill>
                <a:srgbClr val="F5A623"/>
              </a:solidFill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3465576" y="3081528"/>
            <a:ext cx="221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B300 BF16 · 100 iterations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Bitwise exact · kernel-only.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6099048" y="1536192"/>
            <a:ext cx="2541900" cy="2340900"/>
          </a:xfrm>
          <a:prstGeom prst="roundRect">
            <a:avLst>
              <a:gd fmla="val 16667" name="adj"/>
            </a:avLst>
          </a:prstGeom>
          <a:solidFill>
            <a:srgbClr val="F1EB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6"/>
          <p:cNvSpPr txBox="1"/>
          <p:nvPr/>
        </p:nvSpPr>
        <p:spPr>
          <a:xfrm>
            <a:off x="6263640" y="1700784"/>
            <a:ext cx="221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4DCC"/>
                </a:solidFill>
              </a:rPr>
              <a:t>OPEN PR</a:t>
            </a:r>
            <a:endParaRPr b="1" sz="1200">
              <a:solidFill>
                <a:srgbClr val="7C4DCC"/>
              </a:solidFill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6263640" y="1965960"/>
            <a:ext cx="2212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AdaLN schedule cache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6263640" y="2560320"/>
            <a:ext cx="221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C4DCC"/>
                </a:solidFill>
              </a:rPr>
              <a:t>−11.259 GiB</a:t>
            </a:r>
            <a:endParaRPr b="1" sz="2800">
              <a:solidFill>
                <a:srgbClr val="7C4DCC"/>
              </a:solidFill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6263640" y="3017520"/>
            <a:ext cx="2212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Per GPU steady · −1.95% wall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2×H20 TP2 · 50 steps · opt-in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Byte-identical · ~10 s miss.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502920" y="4041648"/>
            <a:ext cx="8138100" cy="475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694944" y="4133088"/>
            <a:ext cx="775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Next: 2×RTX DLO · packed attention · Cache-DiT · batching · encoder split · perf CI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MiniMax H3 follow-up roadmap #5700 · PRs #5737, #5773, #5783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11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/>
          <p:nvPr/>
        </p:nvSpPr>
        <p:spPr>
          <a:xfrm>
            <a:off x="457200" y="18288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MiniCPM-o 4.5: experimental full duplex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502920" y="768096"/>
            <a:ext cx="8138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Streaming input and output can overlap—enabling model-directed listen/speak, cancellation, and barge-in.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502920" y="1325880"/>
            <a:ext cx="81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7A7"/>
                </a:solidFill>
              </a:rPr>
              <a:t>Endpoints: /v1/duplex · /v1/realtime?duplex=1</a:t>
            </a:r>
            <a:endParaRPr b="1" sz="1200">
              <a:solidFill>
                <a:srgbClr val="0097A7"/>
              </a:solidFill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365760" y="1627632"/>
            <a:ext cx="1417200" cy="1188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365760" y="1627632"/>
            <a:ext cx="1417200" cy="732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7"/>
          <p:cNvSpPr txBox="1"/>
          <p:nvPr/>
        </p:nvSpPr>
        <p:spPr>
          <a:xfrm>
            <a:off x="411480" y="1828800"/>
            <a:ext cx="1326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WebSocket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438912" y="2459736"/>
            <a:ext cx="12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audio + frames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2029968" y="1627632"/>
            <a:ext cx="1417200" cy="1188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2029968" y="1627632"/>
            <a:ext cx="1417200" cy="73200"/>
          </a:xfrm>
          <a:prstGeom prst="rect">
            <a:avLst/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7"/>
          <p:cNvSpPr txBox="1"/>
          <p:nvPr/>
        </p:nvSpPr>
        <p:spPr>
          <a:xfrm>
            <a:off x="2075688" y="1828800"/>
            <a:ext cx="1326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Session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395" name="Google Shape;395;p37"/>
          <p:cNvSpPr txBox="1"/>
          <p:nvPr/>
        </p:nvSpPr>
        <p:spPr>
          <a:xfrm>
            <a:off x="2103120" y="2459736"/>
            <a:ext cx="12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turn + playback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3694176" y="1627632"/>
            <a:ext cx="1417200" cy="1188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/>
          <p:nvPr/>
        </p:nvSpPr>
        <p:spPr>
          <a:xfrm>
            <a:off x="3694176" y="1627632"/>
            <a:ext cx="1417200" cy="732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 txBox="1"/>
          <p:nvPr/>
        </p:nvSpPr>
        <p:spPr>
          <a:xfrm>
            <a:off x="3739896" y="1828800"/>
            <a:ext cx="1326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Control / data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3767328" y="2459736"/>
            <a:ext cx="12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runtime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00" name="Google Shape;400;p37"/>
          <p:cNvSpPr/>
          <p:nvPr/>
        </p:nvSpPr>
        <p:spPr>
          <a:xfrm>
            <a:off x="5358384" y="1627632"/>
            <a:ext cx="1417200" cy="1188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7"/>
          <p:cNvSpPr/>
          <p:nvPr/>
        </p:nvSpPr>
        <p:spPr>
          <a:xfrm>
            <a:off x="5358384" y="1627632"/>
            <a:ext cx="1417200" cy="732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/>
        </p:nvSpPr>
        <p:spPr>
          <a:xfrm>
            <a:off x="5404104" y="1828800"/>
            <a:ext cx="1326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MiniCPM Stage 0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403" name="Google Shape;403;p37"/>
          <p:cNvSpPr txBox="1"/>
          <p:nvPr/>
        </p:nvSpPr>
        <p:spPr>
          <a:xfrm>
            <a:off x="5431536" y="2459736"/>
            <a:ext cx="12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listen / speak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7022592" y="1627632"/>
            <a:ext cx="1417200" cy="1188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7022592" y="1627632"/>
            <a:ext cx="1417200" cy="732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7"/>
          <p:cNvSpPr txBox="1"/>
          <p:nvPr/>
        </p:nvSpPr>
        <p:spPr>
          <a:xfrm>
            <a:off x="7068312" y="1828800"/>
            <a:ext cx="1326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TTS / Token2Wav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407" name="Google Shape;407;p37"/>
          <p:cNvSpPr txBox="1"/>
          <p:nvPr/>
        </p:nvSpPr>
        <p:spPr>
          <a:xfrm>
            <a:off x="7095744" y="2459736"/>
            <a:ext cx="12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audio chunks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08" name="Google Shape;408;p37"/>
          <p:cNvSpPr txBox="1"/>
          <p:nvPr/>
        </p:nvSpPr>
        <p:spPr>
          <a:xfrm>
            <a:off x="1792224" y="2075688"/>
            <a:ext cx="21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E6B7A"/>
                </a:solidFill>
              </a:rPr>
              <a:t>→</a:t>
            </a:r>
            <a:endParaRPr b="1" sz="1800">
              <a:solidFill>
                <a:srgbClr val="5E6B7A"/>
              </a:solidFill>
            </a:endParaRPr>
          </a:p>
        </p:txBody>
      </p:sp>
      <p:sp>
        <p:nvSpPr>
          <p:cNvPr id="409" name="Google Shape;409;p37"/>
          <p:cNvSpPr txBox="1"/>
          <p:nvPr/>
        </p:nvSpPr>
        <p:spPr>
          <a:xfrm>
            <a:off x="3456432" y="2075688"/>
            <a:ext cx="21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E6B7A"/>
                </a:solidFill>
              </a:rPr>
              <a:t>→</a:t>
            </a:r>
            <a:endParaRPr b="1" sz="1800">
              <a:solidFill>
                <a:srgbClr val="5E6B7A"/>
              </a:solidFill>
            </a:endParaRPr>
          </a:p>
        </p:txBody>
      </p:sp>
      <p:sp>
        <p:nvSpPr>
          <p:cNvPr id="410" name="Google Shape;410;p37"/>
          <p:cNvSpPr txBox="1"/>
          <p:nvPr/>
        </p:nvSpPr>
        <p:spPr>
          <a:xfrm>
            <a:off x="5120640" y="2075688"/>
            <a:ext cx="21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E6B7A"/>
                </a:solidFill>
              </a:rPr>
              <a:t>→</a:t>
            </a:r>
            <a:endParaRPr b="1" sz="1800">
              <a:solidFill>
                <a:srgbClr val="5E6B7A"/>
              </a:solidFill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6784848" y="2075688"/>
            <a:ext cx="21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E6B7A"/>
                </a:solidFill>
              </a:rPr>
              <a:t>→</a:t>
            </a:r>
            <a:endParaRPr b="1" sz="1800">
              <a:solidFill>
                <a:srgbClr val="5E6B7A"/>
              </a:solidFill>
            </a:endParaRPr>
          </a:p>
        </p:txBody>
      </p:sp>
      <p:sp>
        <p:nvSpPr>
          <p:cNvPr id="412" name="Google Shape;412;p37"/>
          <p:cNvSpPr/>
          <p:nvPr/>
        </p:nvSpPr>
        <p:spPr>
          <a:xfrm>
            <a:off x="502920" y="3044952"/>
            <a:ext cx="8119800" cy="530400"/>
          </a:xfrm>
          <a:prstGeom prst="roundRect">
            <a:avLst>
              <a:gd fmla="val 16667" name="adj"/>
            </a:avLst>
          </a:prstGeom>
          <a:solidFill>
            <a:srgbClr val="EAF8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731520" y="3172968"/>
            <a:ext cx="766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97A7"/>
                </a:solidFill>
              </a:rPr>
              <a:t>↶  Playback acknowledgement · overlap handling · cancel / barge-in</a:t>
            </a:r>
            <a:endParaRPr b="1" sz="1800">
              <a:solidFill>
                <a:srgbClr val="0097A7"/>
              </a:solidFill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713232" y="3749040"/>
            <a:ext cx="2304300" cy="3108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"/>
          <p:cNvSpPr txBox="1"/>
          <p:nvPr/>
        </p:nvSpPr>
        <p:spPr>
          <a:xfrm>
            <a:off x="768096" y="3799332"/>
            <a:ext cx="219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streaming audio I/O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3410712" y="3749040"/>
            <a:ext cx="2304300" cy="3108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3465576" y="3799332"/>
            <a:ext cx="219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model listen / speak policy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6108192" y="3749040"/>
            <a:ext cx="2304300" cy="310800"/>
          </a:xfrm>
          <a:prstGeom prst="roundRect">
            <a:avLst>
              <a:gd fmla="val 16667" name="adj"/>
            </a:avLst>
          </a:prstGeom>
          <a:solidFill>
            <a:srgbClr val="F1EB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6163056" y="3799332"/>
            <a:ext cx="219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4DCC"/>
                </a:solidFill>
              </a:rPr>
              <a:t>playback-aware history</a:t>
            </a:r>
            <a:endParaRPr b="1" sz="1200">
              <a:solidFill>
                <a:srgbClr val="7C4DCC"/>
              </a:solidFill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502920" y="4187952"/>
            <a:ext cx="8119800" cy="3840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658375" y="4206199"/>
            <a:ext cx="781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Experimental: persistent KV, recovery, long-run tuning, and Realtime parity remain incomplete.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457200" y="4747219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v0.26.0 full-duplex design · PR #3907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24" name="Google Shape;424;p37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12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/>
        </p:nvSpPr>
        <p:spPr>
          <a:xfrm>
            <a:off x="457200" y="18288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DLO: reconstruct each layer just in time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502920" y="786384"/>
            <a:ext cx="813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2340"/>
                </a:solidFill>
              </a:rPr>
              <a:t>mmap → host sharding → H2D + AllGather → two-slot compute / prefetch</a:t>
            </a:r>
            <a:endParaRPr b="1" sz="1200">
              <a:solidFill>
                <a:srgbClr val="0D2340"/>
              </a:solidFill>
            </a:endParaRPr>
          </a:p>
        </p:txBody>
      </p:sp>
      <p:pic>
        <p:nvPicPr>
          <p:cNvPr id="431" name="Google Shape;4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240" y="1188720"/>
            <a:ext cx="7589520" cy="341528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8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</a:rPr>
              <a:t>Source: website PR #295 · PR #5397 · NPU validation</a:t>
            </a:r>
            <a:endParaRPr sz="1200" u="sng">
              <a:solidFill>
                <a:srgbClr val="5E6B7A"/>
              </a:solidFill>
            </a:endParaRPr>
          </a:p>
        </p:txBody>
      </p:sp>
      <p:sp>
        <p:nvSpPr>
          <p:cNvPr id="434" name="Google Shape;434;p38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13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DLO results: memory, throughput, long video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502920" y="768096"/>
            <a:ext cx="81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DLO lowers memory; DP lifts throughput; SP preserves latency.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502920" y="1335024"/>
            <a:ext cx="2560200" cy="2615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9"/>
          <p:cNvSpPr txBox="1"/>
          <p:nvPr/>
        </p:nvSpPr>
        <p:spPr>
          <a:xfrm>
            <a:off x="667512" y="1499616"/>
            <a:ext cx="223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ASCEND · COLD START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667512" y="1773936"/>
            <a:ext cx="2231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Memory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667512" y="213969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B82F6"/>
                </a:solidFill>
              </a:rPr>
              <a:t>−73%</a:t>
            </a:r>
            <a:endParaRPr b="1" sz="2800">
              <a:solidFill>
                <a:srgbClr val="3B82F6"/>
              </a:solidFill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667512" y="2596896"/>
            <a:ext cx="223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178 → 47 GB peak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36 → 12.1 GB/GPU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446" name="Google Shape;446;p39"/>
          <p:cNvSpPr txBox="1"/>
          <p:nvPr/>
        </p:nvSpPr>
        <p:spPr>
          <a:xfrm>
            <a:off x="667512" y="3273552"/>
            <a:ext cx="223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Nano · DP4 · 4×910B3 · 4 req.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Kernel-DMA shards excluded.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3291840" y="1335024"/>
            <a:ext cx="2560200" cy="26151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3456432" y="1499616"/>
            <a:ext cx="223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ASCEND · 832×480 · 29 F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449" name="Google Shape;449;p39"/>
          <p:cNvSpPr txBox="1"/>
          <p:nvPr/>
        </p:nvSpPr>
        <p:spPr>
          <a:xfrm>
            <a:off x="3456432" y="1737360"/>
            <a:ext cx="2231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Throughput tradeoff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50" name="Google Shape;450;p39"/>
          <p:cNvSpPr txBox="1"/>
          <p:nvPr/>
        </p:nvSpPr>
        <p:spPr>
          <a:xfrm>
            <a:off x="3456432" y="2359152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A623"/>
                </a:solidFill>
              </a:rPr>
              <a:t>3.3×</a:t>
            </a:r>
            <a:endParaRPr b="1" sz="2800">
              <a:solidFill>
                <a:srgbClr val="F5A623"/>
              </a:solidFill>
            </a:endParaRPr>
          </a:p>
        </p:txBody>
      </p:sp>
      <p:sp>
        <p:nvSpPr>
          <p:cNvPr id="451" name="Google Shape;451;p39"/>
          <p:cNvSpPr txBox="1"/>
          <p:nvPr/>
        </p:nvSpPr>
        <p:spPr>
          <a:xfrm>
            <a:off x="3456432" y="2798064"/>
            <a:ext cx="2231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HSDP 0.967 fps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DLO 0.806 → 3.22 fps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3456432" y="3273552"/>
            <a:ext cx="223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35 steps · 12.4 GB/card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−17% at one request.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6080760" y="1335024"/>
            <a:ext cx="2560200" cy="2615100"/>
          </a:xfrm>
          <a:prstGeom prst="roundRect">
            <a:avLst>
              <a:gd fmla="val 16667" name="adj"/>
            </a:avLst>
          </a:prstGeom>
          <a:solidFill>
            <a:srgbClr val="F1EB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 txBox="1"/>
          <p:nvPr/>
        </p:nvSpPr>
        <p:spPr>
          <a:xfrm>
            <a:off x="6245352" y="1499616"/>
            <a:ext cx="223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4DCC"/>
                </a:solidFill>
              </a:rPr>
              <a:t>B300 · 720P · 241 F</a:t>
            </a:r>
            <a:endParaRPr b="1" sz="1200">
              <a:solidFill>
                <a:srgbClr val="7C4DCC"/>
              </a:solidFill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6245352" y="1773936"/>
            <a:ext cx="2231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Long video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6245352" y="213969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C4DCC"/>
                </a:solidFill>
              </a:rPr>
              <a:t>−53.5%</a:t>
            </a:r>
            <a:endParaRPr b="1" sz="2800">
              <a:solidFill>
                <a:srgbClr val="7C4DCC"/>
              </a:solidFill>
            </a:endParaRPr>
          </a:p>
        </p:txBody>
      </p:sp>
      <p:sp>
        <p:nvSpPr>
          <p:cNvPr id="457" name="Google Shape;457;p39"/>
          <p:cNvSpPr txBox="1"/>
          <p:nvPr/>
        </p:nvSpPr>
        <p:spPr>
          <a:xfrm>
            <a:off x="6245352" y="2596896"/>
            <a:ext cx="223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214.53 s · 24.99 GiB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+2.13% latency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6245352" y="3273552"/>
            <a:ext cx="2231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35 steps · USP4 · 4×B300</a:t>
            </a:r>
            <a:endParaRPr sz="1200">
              <a:solidFill>
                <a:srgbClr val="5E6B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Byte-identical · vLLM 0.25.0.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502920" y="4096512"/>
            <a:ext cx="8138100" cy="475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9"/>
          <p:cNvSpPr txBox="1"/>
          <p:nvPr/>
        </p:nvSpPr>
        <p:spPr>
          <a:xfrm>
            <a:off x="685800" y="4187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Nano DP2/DP4: 35 steps · Super: five-step smoke · B300: non-isolated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website PR #295 · PR #5397 validation evidence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63" name="Google Shape;463;p39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14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v0.26 broadens the production stack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469" name="Google Shape;469;p40"/>
          <p:cNvSpPr txBox="1"/>
          <p:nvPr/>
        </p:nvSpPr>
        <p:spPr>
          <a:xfrm>
            <a:off x="502920" y="713232"/>
            <a:ext cx="813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Runtime alignment meets broader model and platform support.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50292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0"/>
          <p:cNvSpPr/>
          <p:nvPr/>
        </p:nvSpPr>
        <p:spPr>
          <a:xfrm>
            <a:off x="502920" y="1243584"/>
            <a:ext cx="73200" cy="13260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70408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Core runtime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73" name="Google Shape;473;p40"/>
          <p:cNvSpPr txBox="1"/>
          <p:nvPr/>
        </p:nvSpPr>
        <p:spPr>
          <a:xfrm>
            <a:off x="70408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Aligned with vLLM 0.26 · serving and metrics correctness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475488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0"/>
          <p:cNvSpPr/>
          <p:nvPr/>
        </p:nvSpPr>
        <p:spPr>
          <a:xfrm>
            <a:off x="4754880" y="1243584"/>
            <a:ext cx="73200" cy="13260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0"/>
          <p:cNvSpPr txBox="1"/>
          <p:nvPr/>
        </p:nvSpPr>
        <p:spPr>
          <a:xfrm>
            <a:off x="495604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Diffusion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77" name="Google Shape;477;p40"/>
          <p:cNvSpPr txBox="1"/>
          <p:nvPr/>
        </p:nvSpPr>
        <p:spPr>
          <a:xfrm>
            <a:off x="495604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Midway prompt updates · asynchronous image output · OmniGen2 sequence parallelism · expanded FLUX parallelism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50292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502920" y="2834640"/>
            <a:ext cx="73200" cy="1326000"/>
          </a:xfrm>
          <a:prstGeom prst="rect">
            <a:avLst/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"/>
          <p:cNvSpPr txBox="1"/>
          <p:nvPr/>
        </p:nvSpPr>
        <p:spPr>
          <a:xfrm>
            <a:off x="70408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Models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81" name="Google Shape;481;p40"/>
          <p:cNvSpPr txBox="1"/>
          <p:nvPr/>
        </p:nvSpPr>
        <p:spPr>
          <a:xfrm>
            <a:off x="70408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Krea 2 · Cosmos3 Edge / Distilled · LingBot Video · MammothModa2-Dev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475488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"/>
          <p:cNvSpPr/>
          <p:nvPr/>
        </p:nvSpPr>
        <p:spPr>
          <a:xfrm>
            <a:off x="4754880" y="2834640"/>
            <a:ext cx="73200" cy="13260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0"/>
          <p:cNvSpPr txBox="1"/>
          <p:nvPr/>
        </p:nvSpPr>
        <p:spPr>
          <a:xfrm>
            <a:off x="495604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Platforms and delivery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495604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Expanded Ascend / XPU / MUSA coverage · restored ROCm CI · additional deployment recipes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86" name="Google Shape;486;p40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vLLM-Omni v0.26.0 release notes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488" name="Google Shape;488;p40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15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Adopt v0.26: three checks before rollout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494" name="Google Shape;494;p41"/>
          <p:cNvSpPr txBox="1"/>
          <p:nvPr/>
        </p:nvSpPr>
        <p:spPr>
          <a:xfrm>
            <a:off x="502920" y="713232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Pair versions, update LTX registry names, and install the external GGUF plugin when needed.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502920" y="1371600"/>
            <a:ext cx="2560200" cy="24690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1"/>
          <p:cNvSpPr/>
          <p:nvPr/>
        </p:nvSpPr>
        <p:spPr>
          <a:xfrm>
            <a:off x="502920" y="1371600"/>
            <a:ext cx="73200" cy="24690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1"/>
          <p:cNvSpPr txBox="1"/>
          <p:nvPr/>
        </p:nvSpPr>
        <p:spPr>
          <a:xfrm>
            <a:off x="704088" y="1591056"/>
            <a:ext cx="217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Runtime alignment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704088" y="2176272"/>
            <a:ext cx="21762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uv pip install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vllm==0.26.0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--torch-backend=auto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uv pip install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vllm-omni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499" name="Google Shape;499;p41"/>
          <p:cNvSpPr/>
          <p:nvPr/>
        </p:nvSpPr>
        <p:spPr>
          <a:xfrm>
            <a:off x="3291840" y="1371600"/>
            <a:ext cx="2560200" cy="24690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1"/>
          <p:cNvSpPr/>
          <p:nvPr/>
        </p:nvSpPr>
        <p:spPr>
          <a:xfrm>
            <a:off x="3291840" y="1371600"/>
            <a:ext cx="73200" cy="24690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1"/>
          <p:cNvSpPr txBox="1"/>
          <p:nvPr/>
        </p:nvSpPr>
        <p:spPr>
          <a:xfrm>
            <a:off x="3493008" y="1591056"/>
            <a:ext cx="217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LTX registry migration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02" name="Google Shape;502;p41"/>
          <p:cNvSpPr txBox="1"/>
          <p:nvPr/>
        </p:nvSpPr>
        <p:spPr>
          <a:xfrm>
            <a:off x="3493008" y="2176272"/>
            <a:ext cx="21762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LTX23Pipeline → LTX2Pipeline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Image-to-video variants → LTX2Pipeline with image=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Two-stage variants → LTX2DistilledPipeline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503" name="Google Shape;503;p41"/>
          <p:cNvSpPr/>
          <p:nvPr/>
        </p:nvSpPr>
        <p:spPr>
          <a:xfrm>
            <a:off x="6080760" y="1371600"/>
            <a:ext cx="2560200" cy="2469000"/>
          </a:xfrm>
          <a:prstGeom prst="roundRect">
            <a:avLst>
              <a:gd fmla="val 16667" name="adj"/>
            </a:avLst>
          </a:prstGeom>
          <a:solidFill>
            <a:srgbClr val="F1EB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1"/>
          <p:cNvSpPr/>
          <p:nvPr/>
        </p:nvSpPr>
        <p:spPr>
          <a:xfrm>
            <a:off x="6080760" y="1371600"/>
            <a:ext cx="73200" cy="24690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1"/>
          <p:cNvSpPr txBox="1"/>
          <p:nvPr/>
        </p:nvSpPr>
        <p:spPr>
          <a:xfrm>
            <a:off x="6281928" y="1591056"/>
            <a:ext cx="217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GGUF moved out of tree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06" name="Google Shape;506;p41"/>
          <p:cNvSpPr txBox="1"/>
          <p:nvPr/>
        </p:nvSpPr>
        <p:spPr>
          <a:xfrm>
            <a:off x="6281928" y="2176272"/>
            <a:ext cx="21762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uv pip install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vllm-gguf-plugin&gt;=0.0.3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Use the external plugin for GGUF-backed diffusion workflows.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502920" y="4096512"/>
            <a:ext cx="8138100" cy="475500"/>
          </a:xfrm>
          <a:prstGeom prst="roundRect">
            <a:avLst>
              <a:gd fmla="val 16667" name="adj"/>
            </a:avLst>
          </a:prstGeom>
          <a:solidFill>
            <a:srgbClr val="FFF4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1"/>
          <p:cNvSpPr txBox="1"/>
          <p:nvPr/>
        </p:nvSpPr>
        <p:spPr>
          <a:xfrm>
            <a:off x="713232" y="4215384"/>
            <a:ext cx="771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</a:rPr>
              <a:t>Preview status: MiniCPM-o 4.5 full duplex remains experimental.</a:t>
            </a:r>
            <a:endParaRPr b="1" sz="1800">
              <a:solidFill>
                <a:srgbClr val="F5A623"/>
              </a:solidFill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1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5E6B7A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v0.26 quickstart · LTX-2 recipe · GGUF guide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11" name="Google Shape;511;p41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16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2"/>
          <p:cNvSpPr/>
          <p:nvPr/>
        </p:nvSpPr>
        <p:spPr>
          <a:xfrm>
            <a:off x="530352" y="1234440"/>
            <a:ext cx="25500" cy="2057400"/>
          </a:xfrm>
          <a:prstGeom prst="rect">
            <a:avLst/>
          </a:prstGeom>
          <a:solidFill>
            <a:srgbClr val="172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2"/>
          <p:cNvSpPr txBox="1"/>
          <p:nvPr/>
        </p:nvSpPr>
        <p:spPr>
          <a:xfrm>
            <a:off x="777240" y="1170432"/>
            <a:ext cx="5166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72033"/>
                </a:solidFill>
              </a:rPr>
              <a:t>vLLM-Omni</a:t>
            </a:r>
            <a:endParaRPr b="1" sz="3600">
              <a:solidFill>
                <a:srgbClr val="1720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72033"/>
                </a:solidFill>
              </a:rPr>
              <a:t>roadmap</a:t>
            </a:r>
            <a:endParaRPr b="1" sz="3600">
              <a:solidFill>
                <a:srgbClr val="172033"/>
              </a:solidFill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777240" y="2487168"/>
            <a:ext cx="7406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E6B7A"/>
                </a:solidFill>
              </a:rPr>
              <a:t>Q3 2026 · Productionize, scale, standardize</a:t>
            </a:r>
            <a:endParaRPr sz="1800">
              <a:solidFill>
                <a:srgbClr val="5E6B7A"/>
              </a:solidFill>
            </a:endParaRPr>
          </a:p>
        </p:txBody>
      </p:sp>
      <p:sp>
        <p:nvSpPr>
          <p:cNvPr id="519" name="Google Shape;519;p42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17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3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Q3 roadmap: productionize, scale, standardize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525" name="Google Shape;525;p43"/>
          <p:cNvSpPr txBox="1"/>
          <p:nvPr/>
        </p:nvSpPr>
        <p:spPr>
          <a:xfrm>
            <a:off x="502920" y="713232"/>
            <a:ext cx="813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Open roadmap #4901 · six workstreams grouped into four outcomes.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50292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3"/>
          <p:cNvSpPr/>
          <p:nvPr/>
        </p:nvSpPr>
        <p:spPr>
          <a:xfrm>
            <a:off x="502920" y="1243584"/>
            <a:ext cx="73200" cy="13260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3"/>
          <p:cNvSpPr txBox="1"/>
          <p:nvPr/>
        </p:nvSpPr>
        <p:spPr>
          <a:xfrm>
            <a:off x="70408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Realtime production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29" name="Google Shape;529;p43"/>
          <p:cNvSpPr txBox="1"/>
          <p:nvPr/>
        </p:nvSpPr>
        <p:spPr>
          <a:xfrm>
            <a:off x="70408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Reliable full-duplex flow · reproducible demos · JoyVL / MiniCPM-o.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30" name="Google Shape;530;p43"/>
          <p:cNvSpPr/>
          <p:nvPr/>
        </p:nvSpPr>
        <p:spPr>
          <a:xfrm>
            <a:off x="475488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3"/>
          <p:cNvSpPr/>
          <p:nvPr/>
        </p:nvSpPr>
        <p:spPr>
          <a:xfrm>
            <a:off x="4754880" y="1243584"/>
            <a:ext cx="73200" cy="13260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3"/>
          <p:cNvSpPr txBox="1"/>
          <p:nvPr/>
        </p:nvSpPr>
        <p:spPr>
          <a:xfrm>
            <a:off x="495604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World + diffusion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33" name="Google Shape;533;p43"/>
          <p:cNvSpPr txBox="1"/>
          <p:nvPr/>
        </p:nvSpPr>
        <p:spPr>
          <a:xfrm>
            <a:off x="495604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World-model coverage · fused kernels · DiT KV cache · DP / EP / PP.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50292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3"/>
          <p:cNvSpPr/>
          <p:nvPr/>
        </p:nvSpPr>
        <p:spPr>
          <a:xfrm>
            <a:off x="502920" y="2834640"/>
            <a:ext cx="73200" cy="1326000"/>
          </a:xfrm>
          <a:prstGeom prst="rect">
            <a:avLst/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3"/>
          <p:cNvSpPr txBox="1"/>
          <p:nvPr/>
        </p:nvSpPr>
        <p:spPr>
          <a:xfrm>
            <a:off x="70408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Core at scale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37" name="Google Shape;537;p43"/>
          <p:cNvSpPr txBox="1"/>
          <p:nvPr/>
        </p:nvSpPr>
        <p:spPr>
          <a:xfrm>
            <a:off x="70408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Refactor config, orchestration, schedulers, connectors, logging, and benchmarks.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475488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3"/>
          <p:cNvSpPr/>
          <p:nvPr/>
        </p:nvSpPr>
        <p:spPr>
          <a:xfrm>
            <a:off x="4754880" y="2834640"/>
            <a:ext cx="73200" cy="13260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495604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Developer flywheel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41" name="Google Shape;541;p43"/>
          <p:cNvSpPr txBox="1"/>
          <p:nvPr/>
        </p:nvSpPr>
        <p:spPr>
          <a:xfrm>
            <a:off x="495604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RL batch invariance · onboarding standards · AI-assisted sync, review, and CI debugging.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3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vLLM-Omni Q3 roadmap · issue #4901 · open 2026-08-06</a:t>
            </a:r>
            <a:endParaRPr sz="1200" u="sng">
              <a:solidFill>
                <a:srgbClr val="5E6B7A"/>
              </a:solidFill>
            </a:endParaRPr>
          </a:p>
        </p:txBody>
      </p:sp>
      <p:sp>
        <p:nvSpPr>
          <p:cNvPr id="544" name="Google Shape;544;p43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18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4"/>
          <p:cNvSpPr txBox="1"/>
          <p:nvPr/>
        </p:nvSpPr>
        <p:spPr>
          <a:xfrm>
            <a:off x="457200" y="2011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033"/>
                </a:solidFill>
              </a:rPr>
              <a:t>Build with us</a:t>
            </a:r>
            <a:endParaRPr b="1" sz="2800">
              <a:solidFill>
                <a:srgbClr val="172033"/>
              </a:solidFill>
            </a:endParaRPr>
          </a:p>
        </p:txBody>
      </p:sp>
      <p:sp>
        <p:nvSpPr>
          <p:cNvPr id="550" name="Google Shape;550;p44"/>
          <p:cNvSpPr txBox="1"/>
          <p:nvPr/>
        </p:nvSpPr>
        <p:spPr>
          <a:xfrm>
            <a:off x="502920" y="713232"/>
            <a:ext cx="813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2340"/>
                </a:solidFill>
              </a:rPr>
              <a:t>Code, docs, discussion, and public meetings—choose where to start.</a:t>
            </a:r>
            <a:endParaRPr b="1" sz="1800">
              <a:solidFill>
                <a:srgbClr val="0D2340"/>
              </a:solidFill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50292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4"/>
          <p:cNvSpPr/>
          <p:nvPr/>
        </p:nvSpPr>
        <p:spPr>
          <a:xfrm>
            <a:off x="502920" y="1243584"/>
            <a:ext cx="73200" cy="13260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4"/>
          <p:cNvSpPr txBox="1"/>
          <p:nvPr/>
        </p:nvSpPr>
        <p:spPr>
          <a:xfrm>
            <a:off x="70408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Build &amp; report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54" name="Google Shape;554;p44"/>
          <p:cNvSpPr txBox="1"/>
          <p:nvPr/>
        </p:nvSpPr>
        <p:spPr>
          <a:xfrm>
            <a:off x="70408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github.com/vllm-project/vllm-omni</a:t>
            </a:r>
            <a:endParaRPr sz="1200" u="sng">
              <a:solidFill>
                <a:srgbClr val="3B82F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Code · issues · reviews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4754880" y="1243584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4"/>
          <p:cNvSpPr/>
          <p:nvPr/>
        </p:nvSpPr>
        <p:spPr>
          <a:xfrm>
            <a:off x="4754880" y="1243584"/>
            <a:ext cx="73200" cy="13260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4"/>
          <p:cNvSpPr txBox="1"/>
          <p:nvPr/>
        </p:nvSpPr>
        <p:spPr>
          <a:xfrm>
            <a:off x="4956048" y="1408176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Learn &amp; contribute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58" name="Google Shape;558;p44"/>
          <p:cNvSpPr txBox="1"/>
          <p:nvPr/>
        </p:nvSpPr>
        <p:spPr>
          <a:xfrm>
            <a:off x="4956048" y="1792224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docs.vllm.ai/projects/vllm-omni</a:t>
            </a:r>
            <a:endParaRPr sz="1200" u="sng">
              <a:solidFill>
                <a:srgbClr val="3B82F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Setup · model guides · design docs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50292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4"/>
          <p:cNvSpPr/>
          <p:nvPr/>
        </p:nvSpPr>
        <p:spPr>
          <a:xfrm>
            <a:off x="502920" y="2834640"/>
            <a:ext cx="73200" cy="1326000"/>
          </a:xfrm>
          <a:prstGeom prst="rect">
            <a:avLst/>
          </a:prstGeom>
          <a:solidFill>
            <a:srgbClr val="45B7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4"/>
          <p:cNvSpPr txBox="1"/>
          <p:nvPr/>
        </p:nvSpPr>
        <p:spPr>
          <a:xfrm>
            <a:off x="70408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Discuss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62" name="Google Shape;562;p44"/>
          <p:cNvSpPr txBox="1"/>
          <p:nvPr/>
        </p:nvSpPr>
        <p:spPr>
          <a:xfrm>
            <a:off x="70408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slack.vllm.ai · #sig-omni</a:t>
            </a:r>
            <a:endParaRPr sz="1200" u="sng">
              <a:solidFill>
                <a:srgbClr val="3B82F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discuss.vllm.ai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4754880" y="2834640"/>
            <a:ext cx="3886200" cy="1326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4"/>
          <p:cNvSpPr/>
          <p:nvPr/>
        </p:nvSpPr>
        <p:spPr>
          <a:xfrm>
            <a:off x="4754880" y="2834640"/>
            <a:ext cx="73200" cy="1326000"/>
          </a:xfrm>
          <a:prstGeom prst="rect">
            <a:avLst/>
          </a:prstGeom>
          <a:solidFill>
            <a:srgbClr val="7C4D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4"/>
          <p:cNvSpPr txBox="1"/>
          <p:nvPr/>
        </p:nvSpPr>
        <p:spPr>
          <a:xfrm>
            <a:off x="4956048" y="2999232"/>
            <a:ext cx="3520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033"/>
                </a:solidFill>
              </a:rPr>
              <a:t>Public meetings</a:t>
            </a:r>
            <a:endParaRPr b="1" sz="1800">
              <a:solidFill>
                <a:srgbClr val="172033"/>
              </a:solidFill>
            </a:endParaRPr>
          </a:p>
        </p:txBody>
      </p:sp>
      <p:sp>
        <p:nvSpPr>
          <p:cNvPr id="566" name="Google Shape;566;p44"/>
          <p:cNvSpPr txBox="1"/>
          <p:nvPr/>
        </p:nvSpPr>
        <p:spPr>
          <a:xfrm>
            <a:off x="4956048" y="3383280"/>
            <a:ext cx="3520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vllm.ai/events</a:t>
            </a:r>
            <a:endParaRPr sz="1200" u="sng">
              <a:solidFill>
                <a:srgbClr val="3B82F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English meeting notes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457200" y="4690872"/>
            <a:ext cx="5898000" cy="11100"/>
          </a:xfrm>
          <a:prstGeom prst="rect">
            <a:avLst/>
          </a:prstGeom>
          <a:solidFill>
            <a:srgbClr val="D8E2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4"/>
          <p:cNvSpPr txBox="1"/>
          <p:nvPr/>
        </p:nvSpPr>
        <p:spPr>
          <a:xfrm>
            <a:off x="457200" y="4736592"/>
            <a:ext cx="544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9"/>
              </a:rPr>
              <a:t>Source: vLLM-Omni Contact Us · Contributing</a:t>
            </a:r>
            <a:endParaRPr sz="1200" u="sng">
              <a:solidFill>
                <a:srgbClr val="5E6B7A"/>
              </a:solidFill>
            </a:endParaRPr>
          </a:p>
        </p:txBody>
      </p:sp>
      <p:sp>
        <p:nvSpPr>
          <p:cNvPr id="569" name="Google Shape;569;p44"/>
          <p:cNvSpPr txBox="1"/>
          <p:nvPr/>
        </p:nvSpPr>
        <p:spPr>
          <a:xfrm>
            <a:off x="5989320" y="472744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A"/>
                </a:solidFill>
              </a:rPr>
              <a:t>19</a:t>
            </a:r>
            <a:endParaRPr b="1" sz="1200">
              <a:solidFill>
                <a:srgbClr val="5E6B7A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5"/>
          <p:cNvSpPr/>
          <p:nvPr/>
        </p:nvSpPr>
        <p:spPr>
          <a:xfrm>
            <a:off x="566928" y="1152144"/>
            <a:ext cx="41100" cy="2057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5"/>
          <p:cNvSpPr txBox="1"/>
          <p:nvPr/>
        </p:nvSpPr>
        <p:spPr>
          <a:xfrm>
            <a:off x="914400" y="1042416"/>
            <a:ext cx="630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SYSTEM WALKTHROUGH · v0.26.0 · a4ea67a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576" name="Google Shape;576;p45"/>
          <p:cNvSpPr txBox="1"/>
          <p:nvPr/>
        </p:nvSpPr>
        <p:spPr>
          <a:xfrm>
            <a:off x="914400" y="1353312"/>
            <a:ext cx="5852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1F33"/>
                </a:solidFill>
              </a:rPr>
              <a:t>vLLM-Omni</a:t>
            </a:r>
            <a:endParaRPr b="1" sz="36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1F33"/>
                </a:solidFill>
              </a:rPr>
              <a:t>system walkthrough</a:t>
            </a:r>
            <a:endParaRPr b="1" sz="3600">
              <a:solidFill>
                <a:srgbClr val="0B1F33"/>
              </a:solidFill>
            </a:endParaRPr>
          </a:p>
        </p:txBody>
      </p:sp>
      <p:sp>
        <p:nvSpPr>
          <p:cNvPr id="577" name="Google Shape;577;p45"/>
          <p:cNvSpPr txBox="1"/>
          <p:nvPr/>
        </p:nvSpPr>
        <p:spPr>
          <a:xfrm>
            <a:off x="914400" y="2798064"/>
            <a:ext cx="6583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F6B7A"/>
                </a:solidFill>
              </a:rPr>
              <a:t>Appendix · architecture to execution</a:t>
            </a:r>
            <a:endParaRPr sz="1800">
              <a:solidFill>
                <a:srgbClr val="5F6B7A"/>
              </a:solidFill>
            </a:endParaRPr>
          </a:p>
        </p:txBody>
      </p:sp>
      <p:sp>
        <p:nvSpPr>
          <p:cNvPr id="578" name="Google Shape;578;p45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20</a:t>
            </a:r>
            <a:endParaRPr sz="1200">
              <a:solidFill>
                <a:srgbClr val="5F6B7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6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Goals of the system walkthrough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584" name="Google Shape;584;p46"/>
          <p:cNvSpPr txBox="1"/>
          <p:nvPr/>
        </p:nvSpPr>
        <p:spPr>
          <a:xfrm>
            <a:off x="502920" y="667512"/>
            <a:ext cx="80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</a:rPr>
              <a:t>Follow one request—from model pattern to runtime placement.</a:t>
            </a:r>
            <a:endParaRPr b="1" sz="1800">
              <a:solidFill>
                <a:srgbClr val="17365D"/>
              </a:solidFill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6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vLLM-Omni v0.26.0 · architecture + stage configuration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587" name="Google Shape;587;p46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21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502920" y="1170432"/>
            <a:ext cx="38862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6"/>
          <p:cNvSpPr/>
          <p:nvPr/>
        </p:nvSpPr>
        <p:spPr>
          <a:xfrm>
            <a:off x="502920" y="1170432"/>
            <a:ext cx="63900" cy="1389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6"/>
          <p:cNvSpPr txBox="1"/>
          <p:nvPr/>
        </p:nvSpPr>
        <p:spPr>
          <a:xfrm>
            <a:off x="685800" y="128930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01 · Model patterns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591" name="Google Shape;591;p46"/>
          <p:cNvSpPr txBox="1"/>
          <p:nvPr/>
        </p:nvSpPr>
        <p:spPr>
          <a:xfrm>
            <a:off x="685800" y="1682496"/>
            <a:ext cx="3566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Recognize DiT-main, AR-main, and mixed AR + generator pipelines.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4617720" y="1170432"/>
            <a:ext cx="38862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6"/>
          <p:cNvSpPr/>
          <p:nvPr/>
        </p:nvSpPr>
        <p:spPr>
          <a:xfrm>
            <a:off x="4617720" y="1170432"/>
            <a:ext cx="63900" cy="1389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6"/>
          <p:cNvSpPr txBox="1"/>
          <p:nvPr/>
        </p:nvSpPr>
        <p:spPr>
          <a:xfrm>
            <a:off x="4800600" y="1289304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A623"/>
                </a:solidFill>
              </a:rPr>
              <a:t>02 · Request lifecycle</a:t>
            </a:r>
            <a:endParaRPr sz="1800">
              <a:solidFill>
                <a:srgbClr val="F5A623"/>
              </a:solidFill>
            </a:endParaRPr>
          </a:p>
        </p:txBody>
      </p:sp>
      <p:sp>
        <p:nvSpPr>
          <p:cNvPr id="595" name="Google Shape;595;p46"/>
          <p:cNvSpPr txBox="1"/>
          <p:nvPr/>
        </p:nvSpPr>
        <p:spPr>
          <a:xfrm>
            <a:off x="4800600" y="1682496"/>
            <a:ext cx="3566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Trace entry points through orchestration into stage engines.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596" name="Google Shape;596;p46"/>
          <p:cNvSpPr/>
          <p:nvPr/>
        </p:nvSpPr>
        <p:spPr>
          <a:xfrm>
            <a:off x="502920" y="2788920"/>
            <a:ext cx="38862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6"/>
          <p:cNvSpPr/>
          <p:nvPr/>
        </p:nvSpPr>
        <p:spPr>
          <a:xfrm>
            <a:off x="502920" y="2788920"/>
            <a:ext cx="63900" cy="13899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6"/>
          <p:cNvSpPr txBox="1"/>
          <p:nvPr/>
        </p:nvSpPr>
        <p:spPr>
          <a:xfrm>
            <a:off x="685800" y="290779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5B7E8"/>
                </a:solidFill>
              </a:rPr>
              <a:t>03 · Topology vs deployment</a:t>
            </a:r>
            <a:endParaRPr sz="1800">
              <a:solidFill>
                <a:srgbClr val="45B7E8"/>
              </a:solidFill>
            </a:endParaRPr>
          </a:p>
        </p:txBody>
      </p:sp>
      <p:sp>
        <p:nvSpPr>
          <p:cNvPr id="599" name="Google Shape;599;p46"/>
          <p:cNvSpPr txBox="1"/>
          <p:nvPr/>
        </p:nvSpPr>
        <p:spPr>
          <a:xfrm>
            <a:off x="685800" y="3300984"/>
            <a:ext cx="3566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Separate fixed pipeline meaning from YAML runtime knobs.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600" name="Google Shape;600;p46"/>
          <p:cNvSpPr/>
          <p:nvPr/>
        </p:nvSpPr>
        <p:spPr>
          <a:xfrm>
            <a:off x="4617720" y="2788920"/>
            <a:ext cx="3886200" cy="1389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6"/>
          <p:cNvSpPr/>
          <p:nvPr/>
        </p:nvSpPr>
        <p:spPr>
          <a:xfrm>
            <a:off x="4617720" y="2788920"/>
            <a:ext cx="63900" cy="13899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6"/>
          <p:cNvSpPr txBox="1"/>
          <p:nvPr/>
        </p:nvSpPr>
        <p:spPr>
          <a:xfrm>
            <a:off x="4800600" y="2907792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04 · Connectors &amp; scaling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603" name="Google Shape;603;p46"/>
          <p:cNvSpPr txBox="1"/>
          <p:nvPr/>
        </p:nvSpPr>
        <p:spPr>
          <a:xfrm>
            <a:off x="4800600" y="3300984"/>
            <a:ext cx="3566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Understand payload transport, overlap, and stage replicas.</a:t>
            </a:r>
            <a:endParaRPr sz="12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7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D2340"/>
                </a:solidFill>
              </a:rPr>
              <a:t>One architecture spans every modality</a:t>
            </a:r>
            <a:endParaRPr b="1" sz="2800">
              <a:solidFill>
                <a:srgbClr val="0D2340"/>
              </a:solidFill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502920" y="667512"/>
            <a:ext cx="80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</a:rPr>
              <a:t>Encode any modality, reason with AR, then generate the target modality.</a:t>
            </a:r>
            <a:endParaRPr b="1" sz="1800">
              <a:solidFill>
                <a:srgbClr val="17365D"/>
              </a:solidFill>
            </a:endParaRPr>
          </a:p>
        </p:txBody>
      </p:sp>
      <p:sp>
        <p:nvSpPr>
          <p:cNvPr id="610" name="Google Shape;610;p47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7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latest architecture overview · updated Aug 9, 2026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612" name="Google Shape;612;p47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22</a:t>
            </a:r>
            <a:endParaRPr sz="1200">
              <a:solidFill>
                <a:srgbClr val="5F6B7A"/>
              </a:solidFill>
            </a:endParaRPr>
          </a:p>
        </p:txBody>
      </p:sp>
      <p:pic>
        <p:nvPicPr>
          <p:cNvPr id="613" name="Google Shape;613;p4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00" y="1005840"/>
            <a:ext cx="6858001" cy="3493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D2340"/>
                </a:solidFill>
              </a:rPr>
              <a:t>Three models, three execution structures</a:t>
            </a:r>
            <a:endParaRPr b="1" sz="2800">
              <a:solidFill>
                <a:srgbClr val="0D2340"/>
              </a:solidFill>
            </a:endParaRPr>
          </a:p>
        </p:txBody>
      </p:sp>
      <p:sp>
        <p:nvSpPr>
          <p:cNvPr id="619" name="Google Shape;619;p48"/>
          <p:cNvSpPr txBox="1"/>
          <p:nvPr/>
        </p:nvSpPr>
        <p:spPr>
          <a:xfrm>
            <a:off x="502920" y="667512"/>
            <a:ext cx="8092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65D"/>
                </a:solidFill>
              </a:rPr>
              <a:t>Streaming AR, co-located diffusion, and unified MoT map to stages differently.</a:t>
            </a:r>
            <a:endParaRPr b="1" sz="1800">
              <a:solidFill>
                <a:srgbClr val="17365D"/>
              </a:solidFill>
            </a:endParaRPr>
          </a:p>
        </p:txBody>
      </p:sp>
      <p:sp>
        <p:nvSpPr>
          <p:cNvPr id="620" name="Google Shape;620;p48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8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</a:rPr>
              <a:t>Sources: </a:t>
            </a:r>
            <a:r>
              <a:rPr lang="en-US" sz="1200" u="sng">
                <a:solidFill>
                  <a:schemeClr val="hlink"/>
                </a:solidFill>
                <a:hlinkClick r:id="rId3"/>
              </a:rPr>
              <a:t>architecture overview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MiniMax-H3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Cosmos 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622" name="Google Shape;622;p48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E6B7A"/>
                </a:solidFill>
              </a:rPr>
              <a:t>23</a:t>
            </a:r>
            <a:endParaRPr sz="1200">
              <a:solidFill>
                <a:srgbClr val="5E6B7A"/>
              </a:solidFill>
            </a:endParaRPr>
          </a:p>
        </p:txBody>
      </p:sp>
      <p:sp>
        <p:nvSpPr>
          <p:cNvPr id="623" name="Google Shape;623;p48"/>
          <p:cNvSpPr/>
          <p:nvPr/>
        </p:nvSpPr>
        <p:spPr>
          <a:xfrm>
            <a:off x="457200" y="987552"/>
            <a:ext cx="2606100" cy="3383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8"/>
          <p:cNvSpPr/>
          <p:nvPr/>
        </p:nvSpPr>
        <p:spPr>
          <a:xfrm>
            <a:off x="457200" y="987552"/>
            <a:ext cx="2606100" cy="549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8"/>
          <p:cNvSpPr txBox="1"/>
          <p:nvPr/>
        </p:nvSpPr>
        <p:spPr>
          <a:xfrm>
            <a:off x="603504" y="1078992"/>
            <a:ext cx="2313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5B7E8"/>
                </a:solidFill>
              </a:rPr>
              <a:t>Qwen3-Omni</a:t>
            </a:r>
            <a:endParaRPr b="1" sz="1800">
              <a:solidFill>
                <a:srgbClr val="45B7E8"/>
              </a:solidFill>
            </a:endParaRPr>
          </a:p>
        </p:txBody>
      </p:sp>
      <p:pic>
        <p:nvPicPr>
          <p:cNvPr id="626" name="Google Shape;626;p4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640" y="1452458"/>
            <a:ext cx="2423160" cy="108279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8"/>
          <p:cNvSpPr txBox="1"/>
          <p:nvPr/>
        </p:nvSpPr>
        <p:spPr>
          <a:xfrm>
            <a:off x="603504" y="2816352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Thinker → Talker → Code2Wav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628" name="Google Shape;628;p48"/>
          <p:cNvSpPr txBox="1"/>
          <p:nvPr/>
        </p:nvSpPr>
        <p:spPr>
          <a:xfrm>
            <a:off x="603504" y="3291840"/>
            <a:ext cx="2313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Three independently scheduled stages stream text and audio incrementally.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3268980" y="987552"/>
            <a:ext cx="2606100" cy="3383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8"/>
          <p:cNvSpPr/>
          <p:nvPr/>
        </p:nvSpPr>
        <p:spPr>
          <a:xfrm>
            <a:off x="3268980" y="987552"/>
            <a:ext cx="2606100" cy="54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8"/>
          <p:cNvSpPr txBox="1"/>
          <p:nvPr/>
        </p:nvSpPr>
        <p:spPr>
          <a:xfrm>
            <a:off x="3415284" y="1078992"/>
            <a:ext cx="2313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</a:rPr>
              <a:t>MiniMax-H3</a:t>
            </a:r>
            <a:endParaRPr b="1" sz="1800">
              <a:solidFill>
                <a:srgbClr val="F5A623"/>
              </a:solidFill>
            </a:endParaRPr>
          </a:p>
        </p:txBody>
      </p:sp>
      <p:pic>
        <p:nvPicPr>
          <p:cNvPr id="632" name="Google Shape;632;p4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71104" y="1545336"/>
            <a:ext cx="2401792" cy="88738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8"/>
          <p:cNvSpPr txBox="1"/>
          <p:nvPr/>
        </p:nvSpPr>
        <p:spPr>
          <a:xfrm>
            <a:off x="3415284" y="2816352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Text Encoder → DiT → VAE Decoder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634" name="Google Shape;634;p48"/>
          <p:cNvSpPr txBox="1"/>
          <p:nvPr/>
        </p:nvSpPr>
        <p:spPr>
          <a:xfrm>
            <a:off x="3415284" y="3291840"/>
            <a:ext cx="2313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Logical components remain co-located inside one diffusion stage.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6080760" y="987552"/>
            <a:ext cx="2606100" cy="3383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8"/>
          <p:cNvSpPr/>
          <p:nvPr/>
        </p:nvSpPr>
        <p:spPr>
          <a:xfrm>
            <a:off x="6080760" y="987552"/>
            <a:ext cx="2606100" cy="549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8"/>
          <p:cNvSpPr txBox="1"/>
          <p:nvPr/>
        </p:nvSpPr>
        <p:spPr>
          <a:xfrm>
            <a:off x="6227064" y="1078992"/>
            <a:ext cx="2313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4DCC"/>
                </a:solidFill>
              </a:rPr>
              <a:t>Cosmos 3</a:t>
            </a:r>
            <a:endParaRPr b="1" sz="1800">
              <a:solidFill>
                <a:srgbClr val="7C4DCC"/>
              </a:solidFill>
            </a:endParaRPr>
          </a:p>
        </p:txBody>
      </p:sp>
      <p:pic>
        <p:nvPicPr>
          <p:cNvPr id="638" name="Google Shape;638;p48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72200" y="1426905"/>
            <a:ext cx="2423160" cy="1134974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8"/>
          <p:cNvSpPr txBox="1"/>
          <p:nvPr/>
        </p:nvSpPr>
        <p:spPr>
          <a:xfrm>
            <a:off x="6227064" y="2816352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AR reasoner → diffusion generator</a:t>
            </a:r>
            <a:endParaRPr b="1" sz="1200">
              <a:solidFill>
                <a:srgbClr val="172033"/>
              </a:solidFill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6227064" y="3291840"/>
            <a:ext cx="2313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Diffusion attends to AR context while the reasoner remains causal.</a:t>
            </a:r>
            <a:endParaRPr sz="12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9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D2340"/>
                </a:solidFill>
              </a:rPr>
              <a:t>Each stage owns its execution policy</a:t>
            </a:r>
            <a:endParaRPr b="1" sz="2800">
              <a:solidFill>
                <a:srgbClr val="0D2340"/>
              </a:solidFill>
            </a:endParaRPr>
          </a:p>
        </p:txBody>
      </p:sp>
      <p:sp>
        <p:nvSpPr>
          <p:cNvPr id="646" name="Google Shape;646;p49"/>
          <p:cNvSpPr txBox="1"/>
          <p:nvPr/>
        </p:nvSpPr>
        <p:spPr>
          <a:xfrm>
            <a:off x="411480" y="667512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Batching, attention, parallelism, quantization, and metrics are stage-local.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latest architecture overview · updated Aug 9, 2026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649" name="Google Shape;649;p49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24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502920" y="1143000"/>
            <a:ext cx="1655100" cy="4206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9"/>
          <p:cNvSpPr txBox="1"/>
          <p:nvPr/>
        </p:nvSpPr>
        <p:spPr>
          <a:xfrm>
            <a:off x="594360" y="1197864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Runtime concern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2157984" y="1143000"/>
            <a:ext cx="3054000" cy="4206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9"/>
          <p:cNvSpPr txBox="1"/>
          <p:nvPr/>
        </p:nvSpPr>
        <p:spPr>
          <a:xfrm>
            <a:off x="2249424" y="1197864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AR runtime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4" name="Google Shape;654;p49"/>
          <p:cNvSpPr/>
          <p:nvPr/>
        </p:nvSpPr>
        <p:spPr>
          <a:xfrm>
            <a:off x="5212080" y="1143000"/>
            <a:ext cx="3383400" cy="4206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9"/>
          <p:cNvSpPr txBox="1"/>
          <p:nvPr/>
        </p:nvSpPr>
        <p:spPr>
          <a:xfrm>
            <a:off x="5303520" y="1197864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Diffusion runtime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6" name="Google Shape;656;p49"/>
          <p:cNvSpPr/>
          <p:nvPr/>
        </p:nvSpPr>
        <p:spPr>
          <a:xfrm>
            <a:off x="502920" y="1563624"/>
            <a:ext cx="16551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9"/>
          <p:cNvSpPr txBox="1"/>
          <p:nvPr/>
        </p:nvSpPr>
        <p:spPr>
          <a:xfrm>
            <a:off x="594360" y="1618488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Execution loop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58" name="Google Shape;658;p49"/>
          <p:cNvSpPr/>
          <p:nvPr/>
        </p:nvSpPr>
        <p:spPr>
          <a:xfrm>
            <a:off x="2157984" y="1563624"/>
            <a:ext cx="30540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/>
        </p:nvSpPr>
        <p:spPr>
          <a:xfrm>
            <a:off x="2249424" y="1618488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Next-token decode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60" name="Google Shape;660;p49"/>
          <p:cNvSpPr/>
          <p:nvPr/>
        </p:nvSpPr>
        <p:spPr>
          <a:xfrm>
            <a:off x="5212080" y="1563624"/>
            <a:ext cx="33834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9"/>
          <p:cNvSpPr txBox="1"/>
          <p:nvPr/>
        </p:nvSpPr>
        <p:spPr>
          <a:xfrm>
            <a:off x="5303520" y="1618488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Denoising steps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62" name="Google Shape;662;p49"/>
          <p:cNvSpPr/>
          <p:nvPr/>
        </p:nvSpPr>
        <p:spPr>
          <a:xfrm>
            <a:off x="502920" y="1984248"/>
            <a:ext cx="16551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9"/>
          <p:cNvSpPr txBox="1"/>
          <p:nvPr/>
        </p:nvSpPr>
        <p:spPr>
          <a:xfrm>
            <a:off x="594360" y="2039112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Batching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64" name="Google Shape;664;p49"/>
          <p:cNvSpPr/>
          <p:nvPr/>
        </p:nvSpPr>
        <p:spPr>
          <a:xfrm>
            <a:off x="2157984" y="1984248"/>
            <a:ext cx="30540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9"/>
          <p:cNvSpPr txBox="1"/>
          <p:nvPr/>
        </p:nvSpPr>
        <p:spPr>
          <a:xfrm>
            <a:off x="2249424" y="2039112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Continuous token batching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66" name="Google Shape;666;p49"/>
          <p:cNvSpPr/>
          <p:nvPr/>
        </p:nvSpPr>
        <p:spPr>
          <a:xfrm>
            <a:off x="5212080" y="1984248"/>
            <a:ext cx="33834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9"/>
          <p:cNvSpPr txBox="1"/>
          <p:nvPr/>
        </p:nvSpPr>
        <p:spPr>
          <a:xfrm>
            <a:off x="5303520" y="2039112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Request or step batching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68" name="Google Shape;668;p49"/>
          <p:cNvSpPr/>
          <p:nvPr/>
        </p:nvSpPr>
        <p:spPr>
          <a:xfrm>
            <a:off x="502920" y="2404872"/>
            <a:ext cx="16551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9"/>
          <p:cNvSpPr txBox="1"/>
          <p:nvPr/>
        </p:nvSpPr>
        <p:spPr>
          <a:xfrm>
            <a:off x="594360" y="2459736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Attention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70" name="Google Shape;670;p49"/>
          <p:cNvSpPr/>
          <p:nvPr/>
        </p:nvSpPr>
        <p:spPr>
          <a:xfrm>
            <a:off x="2157984" y="2404872"/>
            <a:ext cx="30540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9"/>
          <p:cNvSpPr txBox="1"/>
          <p:nvPr/>
        </p:nvSpPr>
        <p:spPr>
          <a:xfrm>
            <a:off x="2249424" y="2459736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Causal attention + KV cache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72" name="Google Shape;672;p49"/>
          <p:cNvSpPr/>
          <p:nvPr/>
        </p:nvSpPr>
        <p:spPr>
          <a:xfrm>
            <a:off x="5212080" y="2404872"/>
            <a:ext cx="33834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"/>
          <p:cNvSpPr txBox="1"/>
          <p:nvPr/>
        </p:nvSpPr>
        <p:spPr>
          <a:xfrm>
            <a:off x="5303520" y="2459736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Full or mixed attention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502920" y="2825496"/>
            <a:ext cx="16551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9"/>
          <p:cNvSpPr txBox="1"/>
          <p:nvPr/>
        </p:nvSpPr>
        <p:spPr>
          <a:xfrm>
            <a:off x="594360" y="2880360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Parallelism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76" name="Google Shape;676;p49"/>
          <p:cNvSpPr/>
          <p:nvPr/>
        </p:nvSpPr>
        <p:spPr>
          <a:xfrm>
            <a:off x="2157984" y="2825496"/>
            <a:ext cx="30540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9"/>
          <p:cNvSpPr txBox="1"/>
          <p:nvPr/>
        </p:nvSpPr>
        <p:spPr>
          <a:xfrm>
            <a:off x="2249424" y="2880360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TP / EP by AR deployment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5212080" y="2825496"/>
            <a:ext cx="33834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9"/>
          <p:cNvSpPr txBox="1"/>
          <p:nvPr/>
        </p:nvSpPr>
        <p:spPr>
          <a:xfrm>
            <a:off x="5303520" y="2880360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TP / SP / CFG / EP by pipeline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80" name="Google Shape;680;p49"/>
          <p:cNvSpPr/>
          <p:nvPr/>
        </p:nvSpPr>
        <p:spPr>
          <a:xfrm>
            <a:off x="502920" y="3246120"/>
            <a:ext cx="16551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9"/>
          <p:cNvSpPr txBox="1"/>
          <p:nvPr/>
        </p:nvSpPr>
        <p:spPr>
          <a:xfrm>
            <a:off x="594360" y="3300984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Quantization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2157984" y="3246120"/>
            <a:ext cx="30540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9"/>
          <p:cNvSpPr txBox="1"/>
          <p:nvPr/>
        </p:nvSpPr>
        <p:spPr>
          <a:xfrm>
            <a:off x="2249424" y="3300984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Checkpoint-specific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5212080" y="3246120"/>
            <a:ext cx="33834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9"/>
          <p:cNvSpPr txBox="1"/>
          <p:nvPr/>
        </p:nvSpPr>
        <p:spPr>
          <a:xfrm>
            <a:off x="5303520" y="3300984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Component / pipeline-specific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86" name="Google Shape;686;p49"/>
          <p:cNvSpPr/>
          <p:nvPr/>
        </p:nvSpPr>
        <p:spPr>
          <a:xfrm>
            <a:off x="502920" y="3666744"/>
            <a:ext cx="16551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9"/>
          <p:cNvSpPr txBox="1"/>
          <p:nvPr/>
        </p:nvSpPr>
        <p:spPr>
          <a:xfrm>
            <a:off x="594360" y="3721608"/>
            <a:ext cx="147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Primary metrics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2157984" y="3666744"/>
            <a:ext cx="30540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9"/>
          <p:cNvSpPr txBox="1"/>
          <p:nvPr/>
        </p:nvSpPr>
        <p:spPr>
          <a:xfrm>
            <a:off x="2249424" y="3721608"/>
            <a:ext cx="287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TTFT · TPOT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5212080" y="3666744"/>
            <a:ext cx="3383400" cy="420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9"/>
          <p:cNvSpPr txBox="1"/>
          <p:nvPr/>
        </p:nvSpPr>
        <p:spPr>
          <a:xfrm>
            <a:off x="5303520" y="3721608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E2EL · throughput · RTF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502920" y="4160520"/>
            <a:ext cx="8129100" cy="310800"/>
          </a:xfrm>
          <a:prstGeom prst="roundRect">
            <a:avLst>
              <a:gd fmla="val 16667" name="adj"/>
            </a:avLst>
          </a:prstGeom>
          <a:solidFill>
            <a:srgbClr val="FF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9"/>
          <p:cNvSpPr txBox="1"/>
          <p:nvPr/>
        </p:nvSpPr>
        <p:spPr>
          <a:xfrm>
            <a:off x="667512" y="4178808"/>
            <a:ext cx="781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033"/>
                </a:solidFill>
              </a:rPr>
              <a:t>A stage is a logical execution unit—not necessarily a separate process.</a:t>
            </a:r>
            <a:endParaRPr b="1" sz="12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D2340"/>
                </a:solidFill>
              </a:rPr>
              <a:t>StageRuntime materializes logical stages</a:t>
            </a:r>
            <a:endParaRPr b="1" sz="2800">
              <a:solidFill>
                <a:srgbClr val="0D2340"/>
              </a:solidFill>
            </a:endParaRPr>
          </a:p>
        </p:txBody>
      </p:sp>
      <p:sp>
        <p:nvSpPr>
          <p:cNvPr id="699" name="Google Shape;699;p50"/>
          <p:cNvSpPr txBox="1"/>
          <p:nvPr/>
        </p:nvSpPr>
        <p:spPr>
          <a:xfrm>
            <a:off x="502920" y="594360"/>
            <a:ext cx="8092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Topology, placement, control, and transport stay in separate layers.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700" name="Google Shape;700;p50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0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latest architecture overview · updated Aug 9, 2026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702" name="Google Shape;702;p50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25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703" name="Google Shape;703;p50"/>
          <p:cNvSpPr/>
          <p:nvPr/>
        </p:nvSpPr>
        <p:spPr>
          <a:xfrm>
            <a:off x="502920" y="1335024"/>
            <a:ext cx="1097400" cy="1554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0"/>
          <p:cNvSpPr/>
          <p:nvPr/>
        </p:nvSpPr>
        <p:spPr>
          <a:xfrm>
            <a:off x="502920" y="1335024"/>
            <a:ext cx="63900" cy="1554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0"/>
          <p:cNvSpPr txBox="1"/>
          <p:nvPr/>
        </p:nvSpPr>
        <p:spPr>
          <a:xfrm>
            <a:off x="502920" y="1444752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Entry points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706" name="Google Shape;706;p50"/>
          <p:cNvSpPr txBox="1"/>
          <p:nvPr/>
        </p:nvSpPr>
        <p:spPr>
          <a:xfrm>
            <a:off x="502920" y="1920240"/>
            <a:ext cx="1097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API server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Omni / AsyncOmni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07" name="Google Shape;707;p50"/>
          <p:cNvSpPr/>
          <p:nvPr/>
        </p:nvSpPr>
        <p:spPr>
          <a:xfrm>
            <a:off x="1837944" y="1335024"/>
            <a:ext cx="1645800" cy="1554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0"/>
          <p:cNvSpPr/>
          <p:nvPr/>
        </p:nvSpPr>
        <p:spPr>
          <a:xfrm>
            <a:off x="1837944" y="1335024"/>
            <a:ext cx="63900" cy="15546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0"/>
          <p:cNvSpPr txBox="1"/>
          <p:nvPr/>
        </p:nvSpPr>
        <p:spPr>
          <a:xfrm>
            <a:off x="1837944" y="1444752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AsyncOmniEngine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710" name="Google Shape;710;p50"/>
          <p:cNvSpPr txBox="1"/>
          <p:nvPr/>
        </p:nvSpPr>
        <p:spPr>
          <a:xfrm>
            <a:off x="1837944" y="1920240"/>
            <a:ext cx="1645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composition root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background loop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11" name="Google Shape;711;p50"/>
          <p:cNvSpPr/>
          <p:nvPr/>
        </p:nvSpPr>
        <p:spPr>
          <a:xfrm>
            <a:off x="3721608" y="1335024"/>
            <a:ext cx="1188600" cy="1554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0"/>
          <p:cNvSpPr/>
          <p:nvPr/>
        </p:nvSpPr>
        <p:spPr>
          <a:xfrm>
            <a:off x="3721608" y="1335024"/>
            <a:ext cx="63900" cy="1554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0"/>
          <p:cNvSpPr txBox="1"/>
          <p:nvPr/>
        </p:nvSpPr>
        <p:spPr>
          <a:xfrm>
            <a:off x="3721608" y="1444752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Orchestrator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714" name="Google Shape;714;p50"/>
          <p:cNvSpPr txBox="1"/>
          <p:nvPr/>
        </p:nvSpPr>
        <p:spPr>
          <a:xfrm>
            <a:off x="3721608" y="1920240"/>
            <a:ext cx="1188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state · route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cancel · order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5148072" y="1335024"/>
            <a:ext cx="1188600" cy="1554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0"/>
          <p:cNvSpPr/>
          <p:nvPr/>
        </p:nvSpPr>
        <p:spPr>
          <a:xfrm>
            <a:off x="5148072" y="1335024"/>
            <a:ext cx="63900" cy="15546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0"/>
          <p:cNvSpPr txBox="1"/>
          <p:nvPr/>
        </p:nvSpPr>
        <p:spPr>
          <a:xfrm>
            <a:off x="5148072" y="1444752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4DCC"/>
                </a:solidFill>
              </a:rPr>
              <a:t>Stage runtime</a:t>
            </a:r>
            <a:endParaRPr b="1" sz="1200">
              <a:solidFill>
                <a:srgbClr val="7C4DCC"/>
              </a:solidFill>
            </a:endParaRPr>
          </a:p>
        </p:txBody>
      </p:sp>
      <p:sp>
        <p:nvSpPr>
          <p:cNvPr id="718" name="Google Shape;718;p50"/>
          <p:cNvSpPr txBox="1"/>
          <p:nvPr/>
        </p:nvSpPr>
        <p:spPr>
          <a:xfrm>
            <a:off x="5148072" y="1920240"/>
            <a:ext cx="1188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placement · replicas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readiness · lifecycle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19" name="Google Shape;719;p50"/>
          <p:cNvSpPr/>
          <p:nvPr/>
        </p:nvSpPr>
        <p:spPr>
          <a:xfrm>
            <a:off x="6574536" y="1335024"/>
            <a:ext cx="2002500" cy="1554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0"/>
          <p:cNvSpPr/>
          <p:nvPr/>
        </p:nvSpPr>
        <p:spPr>
          <a:xfrm>
            <a:off x="6574536" y="1335024"/>
            <a:ext cx="63900" cy="155460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0"/>
          <p:cNvSpPr txBox="1"/>
          <p:nvPr/>
        </p:nvSpPr>
        <p:spPr>
          <a:xfrm>
            <a:off x="6574536" y="1444752"/>
            <a:ext cx="200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A9A4"/>
                </a:solidFill>
              </a:rPr>
              <a:t>Stage execution</a:t>
            </a:r>
            <a:endParaRPr b="1" sz="1200">
              <a:solidFill>
                <a:srgbClr val="0AA9A4"/>
              </a:solidFill>
            </a:endParaRPr>
          </a:p>
        </p:txBody>
      </p:sp>
      <p:sp>
        <p:nvSpPr>
          <p:cNvPr id="722" name="Google Shape;722;p50"/>
          <p:cNvSpPr txBox="1"/>
          <p:nvPr/>
        </p:nvSpPr>
        <p:spPr>
          <a:xfrm>
            <a:off x="6574536" y="1920240"/>
            <a:ext cx="2002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AR + diffusion</a:t>
            </a:r>
            <a:endParaRPr sz="1200">
              <a:solidFill>
                <a:srgbClr val="1720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scheduler · worker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502920" y="3520440"/>
            <a:ext cx="2523600" cy="822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0"/>
          <p:cNvSpPr txBox="1"/>
          <p:nvPr/>
        </p:nvSpPr>
        <p:spPr>
          <a:xfrm>
            <a:off x="594360" y="3630168"/>
            <a:ext cx="234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82F6"/>
                </a:solidFill>
              </a:rPr>
              <a:t>PipelineConfig · topology + relationships</a:t>
            </a:r>
            <a:endParaRPr sz="1200">
              <a:solidFill>
                <a:srgbClr val="3B82F6"/>
              </a:solidFill>
            </a:endParaRPr>
          </a:p>
        </p:txBody>
      </p:sp>
      <p:sp>
        <p:nvSpPr>
          <p:cNvPr id="725" name="Google Shape;725;p50"/>
          <p:cNvSpPr/>
          <p:nvPr/>
        </p:nvSpPr>
        <p:spPr>
          <a:xfrm>
            <a:off x="3127248" y="3520440"/>
            <a:ext cx="2541900" cy="822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0"/>
          <p:cNvSpPr txBox="1"/>
          <p:nvPr/>
        </p:nvSpPr>
        <p:spPr>
          <a:xfrm>
            <a:off x="3218688" y="3630168"/>
            <a:ext cx="235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5A623"/>
                </a:solidFill>
              </a:rPr>
              <a:t>DeployConfig · placement + resources</a:t>
            </a:r>
            <a:endParaRPr sz="1200">
              <a:solidFill>
                <a:srgbClr val="F5A623"/>
              </a:solidFill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5769864" y="3520440"/>
            <a:ext cx="2807100" cy="822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0"/>
          <p:cNvSpPr txBox="1"/>
          <p:nvPr/>
        </p:nvSpPr>
        <p:spPr>
          <a:xfrm>
            <a:off x="5861304" y="3630168"/>
            <a:ext cx="2624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4DCC"/>
                </a:solidFill>
              </a:rPr>
              <a:t>OmniConnector · payload + KV transport</a:t>
            </a:r>
            <a:endParaRPr sz="1200">
              <a:solidFill>
                <a:srgbClr val="7C4DCC"/>
              </a:solidFill>
            </a:endParaRPr>
          </a:p>
        </p:txBody>
      </p:sp>
      <p:cxnSp>
        <p:nvCxnSpPr>
          <p:cNvPr id="729" name="Google Shape;729;p50"/>
          <p:cNvCxnSpPr/>
          <p:nvPr/>
        </p:nvCxnSpPr>
        <p:spPr>
          <a:xfrm>
            <a:off x="1627632" y="2112264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0" name="Google Shape;730;p50"/>
          <p:cNvCxnSpPr/>
          <p:nvPr/>
        </p:nvCxnSpPr>
        <p:spPr>
          <a:xfrm>
            <a:off x="3511296" y="2112264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50"/>
          <p:cNvCxnSpPr/>
          <p:nvPr/>
        </p:nvCxnSpPr>
        <p:spPr>
          <a:xfrm>
            <a:off x="4937760" y="2112264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50"/>
          <p:cNvCxnSpPr/>
          <p:nvPr/>
        </p:nvCxnSpPr>
        <p:spPr>
          <a:xfrm>
            <a:off x="6364224" y="2112264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1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D2340"/>
                </a:solidFill>
              </a:rPr>
              <a:t>Public interfaces share one engine boundary</a:t>
            </a:r>
            <a:endParaRPr b="1" sz="2800">
              <a:solidFill>
                <a:srgbClr val="0D2340"/>
              </a:solidFill>
            </a:endParaRPr>
          </a:p>
        </p:txBody>
      </p:sp>
      <p:sp>
        <p:nvSpPr>
          <p:cNvPr id="738" name="Google Shape;738;p51"/>
          <p:cNvSpPr txBox="1"/>
          <p:nvPr/>
        </p:nvSpPr>
        <p:spPr>
          <a:xfrm>
            <a:off x="411480" y="667512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Offline, online, and duplex requests use the same configured stages.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739" name="Google Shape;739;p51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1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latest architecture overview · updated Aug 9, 2026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741" name="Google Shape;741;p51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26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742" name="Google Shape;742;p51"/>
          <p:cNvSpPr/>
          <p:nvPr/>
        </p:nvSpPr>
        <p:spPr>
          <a:xfrm>
            <a:off x="502920" y="1143000"/>
            <a:ext cx="2395800" cy="9417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1"/>
          <p:cNvSpPr/>
          <p:nvPr/>
        </p:nvSpPr>
        <p:spPr>
          <a:xfrm>
            <a:off x="502920" y="1143000"/>
            <a:ext cx="63900" cy="941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1"/>
          <p:cNvSpPr txBox="1"/>
          <p:nvPr/>
        </p:nvSpPr>
        <p:spPr>
          <a:xfrm>
            <a:off x="685800" y="1243584"/>
            <a:ext cx="208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Offline Python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745" name="Google Shape;745;p51"/>
          <p:cNvSpPr txBox="1"/>
          <p:nvPr/>
        </p:nvSpPr>
        <p:spPr>
          <a:xfrm>
            <a:off x="685800" y="1600200"/>
            <a:ext cx="2084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82F6"/>
                </a:solidFill>
              </a:rPr>
              <a:t>Omni.generate()</a:t>
            </a:r>
            <a:endParaRPr sz="1200">
              <a:solidFill>
                <a:srgbClr val="3B82F6"/>
              </a:solidFill>
            </a:endParaRPr>
          </a:p>
        </p:txBody>
      </p:sp>
      <p:sp>
        <p:nvSpPr>
          <p:cNvPr id="746" name="Google Shape;746;p51"/>
          <p:cNvSpPr/>
          <p:nvPr/>
        </p:nvSpPr>
        <p:spPr>
          <a:xfrm>
            <a:off x="3017520" y="1143000"/>
            <a:ext cx="2395800" cy="9417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1"/>
          <p:cNvSpPr/>
          <p:nvPr/>
        </p:nvSpPr>
        <p:spPr>
          <a:xfrm>
            <a:off x="3017520" y="1143000"/>
            <a:ext cx="63900" cy="9417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1"/>
          <p:cNvSpPr txBox="1"/>
          <p:nvPr/>
        </p:nvSpPr>
        <p:spPr>
          <a:xfrm>
            <a:off x="3200400" y="1243584"/>
            <a:ext cx="208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A623"/>
                </a:solidFill>
              </a:rPr>
              <a:t>Online serving</a:t>
            </a:r>
            <a:endParaRPr sz="1800">
              <a:solidFill>
                <a:srgbClr val="F5A623"/>
              </a:solidFill>
            </a:endParaRPr>
          </a:p>
        </p:txBody>
      </p:sp>
      <p:sp>
        <p:nvSpPr>
          <p:cNvPr id="749" name="Google Shape;749;p51"/>
          <p:cNvSpPr txBox="1"/>
          <p:nvPr/>
        </p:nvSpPr>
        <p:spPr>
          <a:xfrm>
            <a:off x="3200400" y="1600200"/>
            <a:ext cx="2084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5A623"/>
                </a:solidFill>
              </a:rPr>
              <a:t>vllm serve … --omni</a:t>
            </a:r>
            <a:endParaRPr sz="1200">
              <a:solidFill>
                <a:srgbClr val="F5A623"/>
              </a:solidFill>
            </a:endParaRPr>
          </a:p>
        </p:txBody>
      </p:sp>
      <p:sp>
        <p:nvSpPr>
          <p:cNvPr id="750" name="Google Shape;750;p51"/>
          <p:cNvSpPr/>
          <p:nvPr/>
        </p:nvSpPr>
        <p:spPr>
          <a:xfrm>
            <a:off x="5532120" y="1143000"/>
            <a:ext cx="3035700" cy="9417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1"/>
          <p:cNvSpPr/>
          <p:nvPr/>
        </p:nvSpPr>
        <p:spPr>
          <a:xfrm>
            <a:off x="5532120" y="1143000"/>
            <a:ext cx="63900" cy="9417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1"/>
          <p:cNvSpPr txBox="1"/>
          <p:nvPr/>
        </p:nvSpPr>
        <p:spPr>
          <a:xfrm>
            <a:off x="5715000" y="1243584"/>
            <a:ext cx="272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Experimental duplex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753" name="Google Shape;753;p51"/>
          <p:cNvSpPr txBox="1"/>
          <p:nvPr/>
        </p:nvSpPr>
        <p:spPr>
          <a:xfrm>
            <a:off x="5715000" y="1600200"/>
            <a:ext cx="2724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4DCC"/>
                </a:solidFill>
              </a:rPr>
              <a:t>/v1/duplex · realtime duplex</a:t>
            </a:r>
            <a:endParaRPr sz="1200">
              <a:solidFill>
                <a:srgbClr val="7C4DCC"/>
              </a:solidFill>
            </a:endParaRPr>
          </a:p>
        </p:txBody>
      </p:sp>
      <p:sp>
        <p:nvSpPr>
          <p:cNvPr id="754" name="Google Shape;754;p51"/>
          <p:cNvSpPr/>
          <p:nvPr/>
        </p:nvSpPr>
        <p:spPr>
          <a:xfrm>
            <a:off x="1097280" y="2377440"/>
            <a:ext cx="2011800" cy="603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1"/>
          <p:cNvSpPr txBox="1"/>
          <p:nvPr/>
        </p:nvSpPr>
        <p:spPr>
          <a:xfrm>
            <a:off x="1170432" y="2450592"/>
            <a:ext cx="1865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365D"/>
                </a:solidFill>
              </a:rPr>
              <a:t>AsyncOmniEngine</a:t>
            </a:r>
            <a:endParaRPr b="1" sz="1200">
              <a:solidFill>
                <a:srgbClr val="17365D"/>
              </a:solidFill>
            </a:endParaRPr>
          </a:p>
        </p:txBody>
      </p:sp>
      <p:sp>
        <p:nvSpPr>
          <p:cNvPr id="756" name="Google Shape;756;p51"/>
          <p:cNvSpPr/>
          <p:nvPr/>
        </p:nvSpPr>
        <p:spPr>
          <a:xfrm>
            <a:off x="3593592" y="2377440"/>
            <a:ext cx="1874400" cy="603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1"/>
          <p:cNvSpPr txBox="1"/>
          <p:nvPr/>
        </p:nvSpPr>
        <p:spPr>
          <a:xfrm>
            <a:off x="3666744" y="2450592"/>
            <a:ext cx="1728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365D"/>
                </a:solidFill>
              </a:rPr>
              <a:t>Configured stages</a:t>
            </a:r>
            <a:endParaRPr b="1" sz="1200">
              <a:solidFill>
                <a:srgbClr val="17365D"/>
              </a:solidFill>
            </a:endParaRPr>
          </a:p>
        </p:txBody>
      </p:sp>
      <p:sp>
        <p:nvSpPr>
          <p:cNvPr id="758" name="Google Shape;758;p51"/>
          <p:cNvSpPr/>
          <p:nvPr/>
        </p:nvSpPr>
        <p:spPr>
          <a:xfrm>
            <a:off x="5952744" y="2377440"/>
            <a:ext cx="1920300" cy="603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1"/>
          <p:cNvSpPr txBox="1"/>
          <p:nvPr/>
        </p:nvSpPr>
        <p:spPr>
          <a:xfrm>
            <a:off x="6025896" y="2450592"/>
            <a:ext cx="17739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365D"/>
                </a:solidFill>
              </a:rPr>
              <a:t>Streaming / final output</a:t>
            </a:r>
            <a:endParaRPr b="1" sz="1200">
              <a:solidFill>
                <a:srgbClr val="17365D"/>
              </a:solidFill>
            </a:endParaRPr>
          </a:p>
        </p:txBody>
      </p:sp>
      <p:sp>
        <p:nvSpPr>
          <p:cNvPr id="760" name="Google Shape;760;p51"/>
          <p:cNvSpPr/>
          <p:nvPr/>
        </p:nvSpPr>
        <p:spPr>
          <a:xfrm>
            <a:off x="502920" y="3246120"/>
            <a:ext cx="25419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1"/>
          <p:cNvSpPr/>
          <p:nvPr/>
        </p:nvSpPr>
        <p:spPr>
          <a:xfrm>
            <a:off x="502920" y="3246120"/>
            <a:ext cx="63900" cy="98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1"/>
          <p:cNvSpPr txBox="1"/>
          <p:nvPr/>
        </p:nvSpPr>
        <p:spPr>
          <a:xfrm>
            <a:off x="685800" y="3346704"/>
            <a:ext cx="223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</a:rPr>
              <a:t>Same engine boundary</a:t>
            </a:r>
            <a:endParaRPr b="1" sz="1200">
              <a:solidFill>
                <a:srgbClr val="3B82F6"/>
              </a:solidFill>
            </a:endParaRPr>
          </a:p>
        </p:txBody>
      </p:sp>
      <p:sp>
        <p:nvSpPr>
          <p:cNvPr id="763" name="Google Shape;763;p51"/>
          <p:cNvSpPr txBox="1"/>
          <p:nvPr/>
        </p:nvSpPr>
        <p:spPr>
          <a:xfrm>
            <a:off x="685800" y="3730752"/>
            <a:ext cx="2231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shared request lifecycle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64" name="Google Shape;764;p51"/>
          <p:cNvSpPr/>
          <p:nvPr/>
        </p:nvSpPr>
        <p:spPr>
          <a:xfrm>
            <a:off x="3255264" y="3246120"/>
            <a:ext cx="25419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1"/>
          <p:cNvSpPr/>
          <p:nvPr/>
        </p:nvSpPr>
        <p:spPr>
          <a:xfrm>
            <a:off x="3255264" y="3246120"/>
            <a:ext cx="63900" cy="98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1"/>
          <p:cNvSpPr txBox="1"/>
          <p:nvPr/>
        </p:nvSpPr>
        <p:spPr>
          <a:xfrm>
            <a:off x="3438144" y="3346704"/>
            <a:ext cx="223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</a:rPr>
              <a:t>Model-specific routes</a:t>
            </a:r>
            <a:endParaRPr b="1" sz="1200">
              <a:solidFill>
                <a:srgbClr val="F5A623"/>
              </a:solidFill>
            </a:endParaRPr>
          </a:p>
        </p:txBody>
      </p:sp>
      <p:sp>
        <p:nvSpPr>
          <p:cNvPr id="767" name="Google Shape;767;p51"/>
          <p:cNvSpPr txBox="1"/>
          <p:nvPr/>
        </p:nvSpPr>
        <p:spPr>
          <a:xfrm>
            <a:off x="3438144" y="3730752"/>
            <a:ext cx="2231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endpoint support varies</a:t>
            </a:r>
            <a:endParaRPr sz="1200">
              <a:solidFill>
                <a:srgbClr val="172033"/>
              </a:solidFill>
            </a:endParaRPr>
          </a:p>
        </p:txBody>
      </p:sp>
      <p:sp>
        <p:nvSpPr>
          <p:cNvPr id="768" name="Google Shape;768;p51"/>
          <p:cNvSpPr/>
          <p:nvPr/>
        </p:nvSpPr>
        <p:spPr>
          <a:xfrm>
            <a:off x="6007608" y="3246120"/>
            <a:ext cx="25419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1"/>
          <p:cNvSpPr/>
          <p:nvPr/>
        </p:nvSpPr>
        <p:spPr>
          <a:xfrm>
            <a:off x="6007608" y="3246120"/>
            <a:ext cx="63900" cy="98760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1"/>
          <p:cNvSpPr txBox="1"/>
          <p:nvPr/>
        </p:nvSpPr>
        <p:spPr>
          <a:xfrm>
            <a:off x="6190488" y="3346704"/>
            <a:ext cx="223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AA9A4"/>
                </a:solidFill>
              </a:rPr>
              <a:t>Output-aware metrics</a:t>
            </a:r>
            <a:endParaRPr b="1" sz="1200">
              <a:solidFill>
                <a:srgbClr val="0AA9A4"/>
              </a:solidFill>
            </a:endParaRPr>
          </a:p>
        </p:txBody>
      </p:sp>
      <p:sp>
        <p:nvSpPr>
          <p:cNvPr id="771" name="Google Shape;771;p51"/>
          <p:cNvSpPr txBox="1"/>
          <p:nvPr/>
        </p:nvSpPr>
        <p:spPr>
          <a:xfrm>
            <a:off x="6190488" y="3730752"/>
            <a:ext cx="2231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</a:rPr>
              <a:t>TTFT · TTFP · E2EL · RTF</a:t>
            </a:r>
            <a:endParaRPr sz="1200">
              <a:solidFill>
                <a:srgbClr val="172033"/>
              </a:solidFill>
            </a:endParaRPr>
          </a:p>
        </p:txBody>
      </p:sp>
      <p:cxnSp>
        <p:nvCxnSpPr>
          <p:cNvPr id="772" name="Google Shape;772;p51"/>
          <p:cNvCxnSpPr/>
          <p:nvPr/>
        </p:nvCxnSpPr>
        <p:spPr>
          <a:xfrm>
            <a:off x="1700784" y="2084832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51"/>
          <p:cNvCxnSpPr/>
          <p:nvPr/>
        </p:nvCxnSpPr>
        <p:spPr>
          <a:xfrm>
            <a:off x="4215384" y="2084832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51"/>
          <p:cNvCxnSpPr/>
          <p:nvPr/>
        </p:nvCxnSpPr>
        <p:spPr>
          <a:xfrm>
            <a:off x="7050024" y="2084832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51"/>
          <p:cNvCxnSpPr/>
          <p:nvPr/>
        </p:nvCxnSpPr>
        <p:spPr>
          <a:xfrm>
            <a:off x="1700784" y="2221992"/>
            <a:ext cx="53493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51"/>
          <p:cNvCxnSpPr/>
          <p:nvPr/>
        </p:nvCxnSpPr>
        <p:spPr>
          <a:xfrm>
            <a:off x="2103120" y="2221992"/>
            <a:ext cx="0" cy="11880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7" name="Google Shape;777;p51"/>
          <p:cNvCxnSpPr/>
          <p:nvPr/>
        </p:nvCxnSpPr>
        <p:spPr>
          <a:xfrm>
            <a:off x="3182112" y="2679192"/>
            <a:ext cx="3384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51"/>
          <p:cNvCxnSpPr/>
          <p:nvPr/>
        </p:nvCxnSpPr>
        <p:spPr>
          <a:xfrm>
            <a:off x="5541264" y="2679192"/>
            <a:ext cx="338400" cy="0"/>
          </a:xfrm>
          <a:prstGeom prst="straightConnector1">
            <a:avLst/>
          </a:prstGeom>
          <a:noFill/>
          <a:ln cap="flat" cmpd="sng" w="19050">
            <a:solidFill>
              <a:srgbClr val="5E6B7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2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Qwen3-Omni: three serving workloads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784" name="Google Shape;784;p52"/>
          <p:cNvSpPr txBox="1"/>
          <p:nvPr/>
        </p:nvSpPr>
        <p:spPr>
          <a:xfrm>
            <a:off x="502920" y="594360"/>
            <a:ext cx="8092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Thinker → Talker → Code2Wav exposes three compute profiles.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785" name="Google Shape;785;p52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52"/>
          <p:cNvSpPr txBox="1"/>
          <p:nvPr/>
        </p:nvSpPr>
        <p:spPr>
          <a:xfrm>
            <a:off x="457200" y="4700016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787" name="Google Shape;787;p52"/>
          <p:cNvSpPr txBox="1"/>
          <p:nvPr/>
        </p:nvSpPr>
        <p:spPr>
          <a:xfrm>
            <a:off x="5925312" y="4700016"/>
            <a:ext cx="42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27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788" name="Google Shape;788;p52"/>
          <p:cNvSpPr/>
          <p:nvPr/>
        </p:nvSpPr>
        <p:spPr>
          <a:xfrm>
            <a:off x="566928" y="3950208"/>
            <a:ext cx="8010000" cy="5304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2"/>
          <p:cNvSpPr/>
          <p:nvPr/>
        </p:nvSpPr>
        <p:spPr>
          <a:xfrm>
            <a:off x="566928" y="3950208"/>
            <a:ext cx="50400" cy="5304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2"/>
          <p:cNvSpPr txBox="1"/>
          <p:nvPr/>
        </p:nvSpPr>
        <p:spPr>
          <a:xfrm>
            <a:off x="731520" y="4059936"/>
            <a:ext cx="773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B0E6"/>
                </a:solidFill>
              </a:rPr>
              <a:t>TAKEAWAY</a:t>
            </a:r>
            <a:endParaRPr b="1" sz="1200">
              <a:solidFill>
                <a:srgbClr val="26B0E6"/>
              </a:solidFill>
            </a:endParaRPr>
          </a:p>
        </p:txBody>
      </p:sp>
      <p:sp>
        <p:nvSpPr>
          <p:cNvPr id="791" name="Google Shape;791;p52"/>
          <p:cNvSpPr txBox="1"/>
          <p:nvPr/>
        </p:nvSpPr>
        <p:spPr>
          <a:xfrm>
            <a:off x="731520" y="4297680"/>
            <a:ext cx="7735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Three compute profiles require stage-local batching, graph capture, handoffs, placement, and replicas.</a:t>
            </a:r>
            <a:endParaRPr sz="1200">
              <a:solidFill>
                <a:srgbClr val="0B1F33"/>
              </a:solidFill>
            </a:endParaRPr>
          </a:p>
        </p:txBody>
      </p:sp>
      <p:pic>
        <p:nvPicPr>
          <p:cNvPr id="792" name="Google Shape;79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888" y="1078992"/>
            <a:ext cx="7998225" cy="275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3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Qwen3-Omni performance is a stack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798" name="Google Shape;798;p53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Each cumulative benchmark row targets a different bottleneck.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799" name="Google Shape;799;p53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3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801" name="Google Shape;801;p53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28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530352" y="4050792"/>
            <a:ext cx="8083200" cy="4389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53"/>
          <p:cNvSpPr txBox="1"/>
          <p:nvPr/>
        </p:nvSpPr>
        <p:spPr>
          <a:xfrm>
            <a:off x="713232" y="4151376"/>
            <a:ext cx="771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Stage split → batching → CUDA Graph → async chunk → async output → replicas, with cleanup underneath.</a:t>
            </a:r>
            <a:endParaRPr b="1" sz="1200">
              <a:solidFill>
                <a:srgbClr val="0B1F33"/>
              </a:solidFill>
            </a:endParaRPr>
          </a:p>
        </p:txBody>
      </p:sp>
      <p:pic>
        <p:nvPicPr>
          <p:cNvPr id="804" name="Google Shape;80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414" y="1143000"/>
            <a:ext cx="8125172" cy="267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4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CUDA Graph capture is stage-local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810" name="Google Shape;810;p54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Outer AR graphs + compiled predictor + inner bucketed vocoder graph.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811" name="Google Shape;811;p54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4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813" name="Google Shape;813;p54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29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814" name="Google Shape;814;p54"/>
          <p:cNvSpPr/>
          <p:nvPr/>
        </p:nvSpPr>
        <p:spPr>
          <a:xfrm>
            <a:off x="585216" y="4114800"/>
            <a:ext cx="7973700" cy="420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4"/>
          <p:cNvSpPr txBox="1"/>
          <p:nvPr/>
        </p:nvSpPr>
        <p:spPr>
          <a:xfrm>
            <a:off x="749808" y="4206240"/>
            <a:ext cx="764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C64 cumulative step: 2.2→8.6 req/s · TTFP 5884→2790 ms · RTF 1.15→0.59</a:t>
            </a:r>
            <a:endParaRPr b="1" sz="1200">
              <a:solidFill>
                <a:srgbClr val="0B1F33"/>
              </a:solidFill>
            </a:endParaRPr>
          </a:p>
        </p:txBody>
      </p:sp>
      <p:pic>
        <p:nvPicPr>
          <p:cNvPr id="816" name="Google Shape;81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93" y="1078992"/>
            <a:ext cx="7908414" cy="2969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5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Connectors make stage handoffs explicit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822" name="Google Shape;822;p55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Payloads carry stage meaning; transport and scheduling stay reusable.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5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825" name="Google Shape;825;p55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30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826" name="Google Shape;826;p55"/>
          <p:cNvSpPr/>
          <p:nvPr/>
        </p:nvSpPr>
        <p:spPr>
          <a:xfrm>
            <a:off x="502920" y="1261872"/>
            <a:ext cx="1234500" cy="658500"/>
          </a:xfrm>
          <a:prstGeom prst="roundRect">
            <a:avLst>
              <a:gd fmla="val 16667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5"/>
          <p:cNvSpPr txBox="1"/>
          <p:nvPr/>
        </p:nvSpPr>
        <p:spPr>
          <a:xfrm>
            <a:off x="548640" y="1353312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Orchestrator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+ StagePool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8" name="Google Shape;828;p55"/>
          <p:cNvSpPr txBox="1"/>
          <p:nvPr/>
        </p:nvSpPr>
        <p:spPr>
          <a:xfrm>
            <a:off x="1773936" y="1426464"/>
            <a:ext cx="25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673"/>
                </a:solidFill>
              </a:rPr>
              <a:t>→</a:t>
            </a:r>
            <a:endParaRPr sz="1800">
              <a:solidFill>
                <a:srgbClr val="5C6673"/>
              </a:solidFill>
            </a:endParaRPr>
          </a:p>
        </p:txBody>
      </p:sp>
      <p:sp>
        <p:nvSpPr>
          <p:cNvPr id="829" name="Google Shape;829;p55"/>
          <p:cNvSpPr/>
          <p:nvPr/>
        </p:nvSpPr>
        <p:spPr>
          <a:xfrm>
            <a:off x="2066544" y="1261872"/>
            <a:ext cx="1353300" cy="6585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5"/>
          <p:cNvSpPr txBox="1"/>
          <p:nvPr/>
        </p:nvSpPr>
        <p:spPr>
          <a:xfrm>
            <a:off x="2194560" y="1371600"/>
            <a:ext cx="1097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Payload</a:t>
            </a:r>
            <a:endParaRPr sz="1200">
              <a:solidFill>
                <a:srgbClr val="45B7E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processor</a:t>
            </a:r>
            <a:endParaRPr sz="1200">
              <a:solidFill>
                <a:srgbClr val="45B7E8"/>
              </a:solidFill>
            </a:endParaRPr>
          </a:p>
        </p:txBody>
      </p:sp>
      <p:sp>
        <p:nvSpPr>
          <p:cNvPr id="831" name="Google Shape;831;p55"/>
          <p:cNvSpPr txBox="1"/>
          <p:nvPr/>
        </p:nvSpPr>
        <p:spPr>
          <a:xfrm>
            <a:off x="3456432" y="1426464"/>
            <a:ext cx="25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673"/>
                </a:solidFill>
              </a:rPr>
              <a:t>→</a:t>
            </a:r>
            <a:endParaRPr sz="1800">
              <a:solidFill>
                <a:srgbClr val="5C6673"/>
              </a:solidFill>
            </a:endParaRPr>
          </a:p>
        </p:txBody>
      </p:sp>
      <p:sp>
        <p:nvSpPr>
          <p:cNvPr id="832" name="Google Shape;832;p55"/>
          <p:cNvSpPr/>
          <p:nvPr/>
        </p:nvSpPr>
        <p:spPr>
          <a:xfrm>
            <a:off x="3749040" y="1261872"/>
            <a:ext cx="1353300" cy="658500"/>
          </a:xfrm>
          <a:prstGeom prst="roundRect">
            <a:avLst>
              <a:gd fmla="val 16667" name="adj"/>
            </a:avLst>
          </a:prstGeom>
          <a:solidFill>
            <a:srgbClr val="FEF2E3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5"/>
          <p:cNvSpPr txBox="1"/>
          <p:nvPr/>
        </p:nvSpPr>
        <p:spPr>
          <a:xfrm>
            <a:off x="3877056" y="1371600"/>
            <a:ext cx="1097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8F3E"/>
                </a:solidFill>
              </a:rPr>
              <a:t>Transfer</a:t>
            </a:r>
            <a:endParaRPr sz="1200">
              <a:solidFill>
                <a:srgbClr val="F18F3E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8F3E"/>
                </a:solidFill>
              </a:rPr>
              <a:t>adapter</a:t>
            </a:r>
            <a:endParaRPr sz="1200">
              <a:solidFill>
                <a:srgbClr val="F18F3E"/>
              </a:solidFill>
            </a:endParaRPr>
          </a:p>
        </p:txBody>
      </p:sp>
      <p:sp>
        <p:nvSpPr>
          <p:cNvPr id="834" name="Google Shape;834;p55"/>
          <p:cNvSpPr txBox="1"/>
          <p:nvPr/>
        </p:nvSpPr>
        <p:spPr>
          <a:xfrm>
            <a:off x="5138928" y="1426464"/>
            <a:ext cx="25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673"/>
                </a:solidFill>
              </a:rPr>
              <a:t>→</a:t>
            </a:r>
            <a:endParaRPr sz="1800">
              <a:solidFill>
                <a:srgbClr val="5C6673"/>
              </a:solidFill>
            </a:endParaRPr>
          </a:p>
        </p:txBody>
      </p:sp>
      <p:sp>
        <p:nvSpPr>
          <p:cNvPr id="835" name="Google Shape;835;p55"/>
          <p:cNvSpPr/>
          <p:nvPr/>
        </p:nvSpPr>
        <p:spPr>
          <a:xfrm>
            <a:off x="5431536" y="1261872"/>
            <a:ext cx="1353300" cy="658500"/>
          </a:xfrm>
          <a:prstGeom prst="roundRect">
            <a:avLst>
              <a:gd fmla="val 16667" name="adj"/>
            </a:avLst>
          </a:prstGeom>
          <a:solidFill>
            <a:srgbClr val="F6F2FE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5"/>
          <p:cNvSpPr txBox="1"/>
          <p:nvPr/>
        </p:nvSpPr>
        <p:spPr>
          <a:xfrm>
            <a:off x="5559552" y="1371600"/>
            <a:ext cx="1097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967ED"/>
                </a:solidFill>
              </a:rPr>
              <a:t>Transport</a:t>
            </a:r>
            <a:endParaRPr sz="1200">
              <a:solidFill>
                <a:srgbClr val="8967E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967ED"/>
                </a:solidFill>
              </a:rPr>
              <a:t>put / get</a:t>
            </a:r>
            <a:endParaRPr sz="1200">
              <a:solidFill>
                <a:srgbClr val="8967ED"/>
              </a:solidFill>
            </a:endParaRPr>
          </a:p>
        </p:txBody>
      </p:sp>
      <p:sp>
        <p:nvSpPr>
          <p:cNvPr id="837" name="Google Shape;837;p55"/>
          <p:cNvSpPr txBox="1"/>
          <p:nvPr/>
        </p:nvSpPr>
        <p:spPr>
          <a:xfrm>
            <a:off x="6821424" y="1426464"/>
            <a:ext cx="25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673"/>
                </a:solidFill>
              </a:rPr>
              <a:t>→</a:t>
            </a:r>
            <a:endParaRPr sz="1800">
              <a:solidFill>
                <a:srgbClr val="5C6673"/>
              </a:solidFill>
            </a:endParaRPr>
          </a:p>
        </p:txBody>
      </p:sp>
      <p:sp>
        <p:nvSpPr>
          <p:cNvPr id="838" name="Google Shape;838;p55"/>
          <p:cNvSpPr/>
          <p:nvPr/>
        </p:nvSpPr>
        <p:spPr>
          <a:xfrm>
            <a:off x="7114032" y="1261872"/>
            <a:ext cx="1508700" cy="658500"/>
          </a:xfrm>
          <a:prstGeom prst="roundRect">
            <a:avLst>
              <a:gd fmla="val 16667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5"/>
          <p:cNvSpPr txBox="1"/>
          <p:nvPr/>
        </p:nvSpPr>
        <p:spPr>
          <a:xfrm>
            <a:off x="7242048" y="137160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Next stage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scheduler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40" name="Google Shape;840;p55"/>
          <p:cNvSpPr/>
          <p:nvPr/>
        </p:nvSpPr>
        <p:spPr>
          <a:xfrm>
            <a:off x="502920" y="2139696"/>
            <a:ext cx="3886200" cy="10059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5"/>
          <p:cNvSpPr/>
          <p:nvPr/>
        </p:nvSpPr>
        <p:spPr>
          <a:xfrm>
            <a:off x="502920" y="2139696"/>
            <a:ext cx="50400" cy="10059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5"/>
          <p:cNvSpPr txBox="1"/>
          <p:nvPr/>
        </p:nvSpPr>
        <p:spPr>
          <a:xfrm>
            <a:off x="658368" y="2249424"/>
            <a:ext cx="361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THINKER → TALKER</a:t>
            </a:r>
            <a:endParaRPr sz="1200">
              <a:solidFill>
                <a:srgbClr val="45B7E8"/>
              </a:solidFill>
            </a:endParaRPr>
          </a:p>
        </p:txBody>
      </p:sp>
      <p:sp>
        <p:nvSpPr>
          <p:cNvPr id="843" name="Google Shape;843;p55"/>
          <p:cNvSpPr txBox="1"/>
          <p:nvPr/>
        </p:nvSpPr>
        <p:spPr>
          <a:xfrm>
            <a:off x="658368" y="2532888"/>
            <a:ext cx="3612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Hidden states + embeddings + chunk metadata; chunk 0 carries the full Thinker prefill.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44" name="Google Shape;844;p55"/>
          <p:cNvSpPr/>
          <p:nvPr/>
        </p:nvSpPr>
        <p:spPr>
          <a:xfrm>
            <a:off x="4590288" y="2139696"/>
            <a:ext cx="4032600" cy="1005900"/>
          </a:xfrm>
          <a:prstGeom prst="roundRect">
            <a:avLst>
              <a:gd fmla="val 16667" name="adj"/>
            </a:avLst>
          </a:prstGeom>
          <a:solidFill>
            <a:srgbClr val="FEF2E3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5"/>
          <p:cNvSpPr/>
          <p:nvPr/>
        </p:nvSpPr>
        <p:spPr>
          <a:xfrm>
            <a:off x="4590288" y="2139696"/>
            <a:ext cx="50400" cy="1005900"/>
          </a:xfrm>
          <a:prstGeom prst="rect">
            <a:avLst/>
          </a:prstGeom>
          <a:solidFill>
            <a:srgbClr val="F18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5"/>
          <p:cNvSpPr txBox="1"/>
          <p:nvPr/>
        </p:nvSpPr>
        <p:spPr>
          <a:xfrm>
            <a:off x="4745736" y="2249424"/>
            <a:ext cx="3758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8F3E"/>
                </a:solidFill>
              </a:rPr>
              <a:t>TALKER → CODE2WAV</a:t>
            </a:r>
            <a:endParaRPr sz="1200">
              <a:solidFill>
                <a:srgbClr val="F18F3E"/>
              </a:solidFill>
            </a:endParaRPr>
          </a:p>
        </p:txBody>
      </p:sp>
      <p:sp>
        <p:nvSpPr>
          <p:cNvPr id="847" name="Google Shape;847;p55"/>
          <p:cNvSpPr txBox="1"/>
          <p:nvPr/>
        </p:nvSpPr>
        <p:spPr>
          <a:xfrm>
            <a:off x="4745736" y="2532888"/>
            <a:ext cx="3758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Codec codes + chunk metadata cross the boundary; Code2Wav can consume partial chunks.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48" name="Google Shape;848;p55"/>
          <p:cNvSpPr/>
          <p:nvPr/>
        </p:nvSpPr>
        <p:spPr>
          <a:xfrm>
            <a:off x="502920" y="3364992"/>
            <a:ext cx="25146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5"/>
          <p:cNvSpPr/>
          <p:nvPr/>
        </p:nvSpPr>
        <p:spPr>
          <a:xfrm>
            <a:off x="502920" y="3364992"/>
            <a:ext cx="50400" cy="9876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5"/>
          <p:cNvSpPr txBox="1"/>
          <p:nvPr/>
        </p:nvSpPr>
        <p:spPr>
          <a:xfrm>
            <a:off x="658368" y="3474720"/>
            <a:ext cx="2240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WHY</a:t>
            </a:r>
            <a:endParaRPr sz="1200">
              <a:solidFill>
                <a:srgbClr val="45B7E8"/>
              </a:solidFill>
            </a:endParaRPr>
          </a:p>
        </p:txBody>
      </p:sp>
      <p:sp>
        <p:nvSpPr>
          <p:cNvPr id="851" name="Google Shape;851;p55"/>
          <p:cNvSpPr txBox="1"/>
          <p:nvPr/>
        </p:nvSpPr>
        <p:spPr>
          <a:xfrm>
            <a:off x="658368" y="3758184"/>
            <a:ext cx="2240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Handoffs are heterogeneous.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52" name="Google Shape;852;p55"/>
          <p:cNvSpPr/>
          <p:nvPr/>
        </p:nvSpPr>
        <p:spPr>
          <a:xfrm>
            <a:off x="3172968" y="3364992"/>
            <a:ext cx="25146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5"/>
          <p:cNvSpPr/>
          <p:nvPr/>
        </p:nvSpPr>
        <p:spPr>
          <a:xfrm>
            <a:off x="3172968" y="3364992"/>
            <a:ext cx="50400" cy="987600"/>
          </a:xfrm>
          <a:prstGeom prst="rect">
            <a:avLst/>
          </a:prstGeom>
          <a:solidFill>
            <a:srgbClr val="F18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5"/>
          <p:cNvSpPr txBox="1"/>
          <p:nvPr/>
        </p:nvSpPr>
        <p:spPr>
          <a:xfrm>
            <a:off x="3328416" y="3474720"/>
            <a:ext cx="2240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8F3E"/>
                </a:solidFill>
              </a:rPr>
              <a:t>MECHANISM</a:t>
            </a:r>
            <a:endParaRPr sz="1200">
              <a:solidFill>
                <a:srgbClr val="F18F3E"/>
              </a:solidFill>
            </a:endParaRPr>
          </a:p>
        </p:txBody>
      </p:sp>
      <p:sp>
        <p:nvSpPr>
          <p:cNvPr id="855" name="Google Shape;855;p55"/>
          <p:cNvSpPr txBox="1"/>
          <p:nvPr/>
        </p:nvSpPr>
        <p:spPr>
          <a:xfrm>
            <a:off x="3328416" y="3758184"/>
            <a:ext cx="2240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Connectors define payload and lifecycle at each boundary.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56" name="Google Shape;856;p55"/>
          <p:cNvSpPr/>
          <p:nvPr/>
        </p:nvSpPr>
        <p:spPr>
          <a:xfrm>
            <a:off x="5843016" y="3364992"/>
            <a:ext cx="2779800" cy="987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5"/>
          <p:cNvSpPr/>
          <p:nvPr/>
        </p:nvSpPr>
        <p:spPr>
          <a:xfrm>
            <a:off x="5843016" y="3364992"/>
            <a:ext cx="50400" cy="987600"/>
          </a:xfrm>
          <a:prstGeom prst="rect">
            <a:avLst/>
          </a:prstGeom>
          <a:solidFill>
            <a:srgbClr val="48B9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5"/>
          <p:cNvSpPr txBox="1"/>
          <p:nvPr/>
        </p:nvSpPr>
        <p:spPr>
          <a:xfrm>
            <a:off x="5998464" y="3474720"/>
            <a:ext cx="2505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8B98A"/>
                </a:solidFill>
              </a:rPr>
              <a:t>GAIN</a:t>
            </a:r>
            <a:endParaRPr sz="1200">
              <a:solidFill>
                <a:srgbClr val="48B98A"/>
              </a:solidFill>
            </a:endParaRPr>
          </a:p>
        </p:txBody>
      </p:sp>
      <p:sp>
        <p:nvSpPr>
          <p:cNvPr id="859" name="Google Shape;859;p55"/>
          <p:cNvSpPr txBox="1"/>
          <p:nvPr/>
        </p:nvSpPr>
        <p:spPr>
          <a:xfrm>
            <a:off x="5998464" y="3758184"/>
            <a:ext cx="2505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Stage runtimes stay decoupled as streaming and cleanup evolve.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60" name="Google Shape;860;p55"/>
          <p:cNvSpPr txBox="1"/>
          <p:nvPr/>
        </p:nvSpPr>
        <p:spPr>
          <a:xfrm>
            <a:off x="502920" y="4416552"/>
            <a:ext cx="811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B6470"/>
                </a:solidFill>
              </a:rPr>
              <a:t>Later Thinker steps send only the new embed.decode row—connector traffic stays O(1) per step.</a:t>
            </a:r>
            <a:endParaRPr sz="1200">
              <a:solidFill>
                <a:srgbClr val="5B647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6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Async chunk pipelines stage handoffs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866" name="Google Shape;866;p56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Partial handoffs overlap upstream decode with downstream compute.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6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869" name="Google Shape;869;p56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31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870" name="Google Shape;870;p56"/>
          <p:cNvSpPr/>
          <p:nvPr/>
        </p:nvSpPr>
        <p:spPr>
          <a:xfrm>
            <a:off x="6336792" y="1207008"/>
            <a:ext cx="2258700" cy="8778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6"/>
          <p:cNvSpPr/>
          <p:nvPr/>
        </p:nvSpPr>
        <p:spPr>
          <a:xfrm>
            <a:off x="6336792" y="1207008"/>
            <a:ext cx="50400" cy="8778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6"/>
          <p:cNvSpPr txBox="1"/>
          <p:nvPr/>
        </p:nvSpPr>
        <p:spPr>
          <a:xfrm>
            <a:off x="6501384" y="1316736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B0E6"/>
                </a:solidFill>
              </a:rPr>
              <a:t>WHY</a:t>
            </a:r>
            <a:endParaRPr b="1" sz="1200">
              <a:solidFill>
                <a:srgbClr val="26B0E6"/>
              </a:solidFill>
            </a:endParaRPr>
          </a:p>
        </p:txBody>
      </p:sp>
      <p:sp>
        <p:nvSpPr>
          <p:cNvPr id="873" name="Google Shape;873;p56"/>
          <p:cNvSpPr txBox="1"/>
          <p:nvPr/>
        </p:nvSpPr>
        <p:spPr>
          <a:xfrm>
            <a:off x="6501384" y="1554480"/>
            <a:ext cx="198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Full-payload barriers delay first audio.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74" name="Google Shape;874;p56"/>
          <p:cNvSpPr/>
          <p:nvPr/>
        </p:nvSpPr>
        <p:spPr>
          <a:xfrm>
            <a:off x="6336792" y="2267712"/>
            <a:ext cx="2258700" cy="1024200"/>
          </a:xfrm>
          <a:prstGeom prst="roundRect">
            <a:avLst>
              <a:gd fmla="val 16667" name="adj"/>
            </a:avLst>
          </a:prstGeom>
          <a:solidFill>
            <a:srgbClr val="FEF2E3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6"/>
          <p:cNvSpPr/>
          <p:nvPr/>
        </p:nvSpPr>
        <p:spPr>
          <a:xfrm>
            <a:off x="6336792" y="2267712"/>
            <a:ext cx="50400" cy="1024200"/>
          </a:xfrm>
          <a:prstGeom prst="rect">
            <a:avLst/>
          </a:prstGeom>
          <a:solidFill>
            <a:srgbClr val="F18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6"/>
          <p:cNvSpPr txBox="1"/>
          <p:nvPr/>
        </p:nvSpPr>
        <p:spPr>
          <a:xfrm>
            <a:off x="6501384" y="2377440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</a:rPr>
              <a:t>MECHANISM</a:t>
            </a:r>
            <a:endParaRPr b="1" sz="1200">
              <a:solidFill>
                <a:srgbClr val="F59E0B"/>
              </a:solidFill>
            </a:endParaRPr>
          </a:p>
        </p:txBody>
      </p:sp>
      <p:sp>
        <p:nvSpPr>
          <p:cNvPr id="877" name="Google Shape;877;p56"/>
          <p:cNvSpPr txBox="1"/>
          <p:nvPr/>
        </p:nvSpPr>
        <p:spPr>
          <a:xfrm>
            <a:off x="6501384" y="2615184"/>
            <a:ext cx="1984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Incremental codec chunks overlap stage compute and transfer.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78" name="Google Shape;878;p56"/>
          <p:cNvSpPr/>
          <p:nvPr/>
        </p:nvSpPr>
        <p:spPr>
          <a:xfrm>
            <a:off x="6336792" y="3474720"/>
            <a:ext cx="2258700" cy="914400"/>
          </a:xfrm>
          <a:prstGeom prst="roundRect">
            <a:avLst>
              <a:gd fmla="val 16667" name="adj"/>
            </a:avLst>
          </a:prstGeom>
          <a:solidFill>
            <a:srgbClr val="EBFAF2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6"/>
          <p:cNvSpPr/>
          <p:nvPr/>
        </p:nvSpPr>
        <p:spPr>
          <a:xfrm>
            <a:off x="6336792" y="3474720"/>
            <a:ext cx="50400" cy="914400"/>
          </a:xfrm>
          <a:prstGeom prst="rect">
            <a:avLst/>
          </a:prstGeom>
          <a:solidFill>
            <a:srgbClr val="48B9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6"/>
          <p:cNvSpPr txBox="1"/>
          <p:nvPr/>
        </p:nvSpPr>
        <p:spPr>
          <a:xfrm>
            <a:off x="6501384" y="3584448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</a:rPr>
              <a:t>C64 GAIN</a:t>
            </a:r>
            <a:endParaRPr b="1" sz="1200">
              <a:solidFill>
                <a:srgbClr val="10B981"/>
              </a:solidFill>
            </a:endParaRPr>
          </a:p>
        </p:txBody>
      </p:sp>
      <p:sp>
        <p:nvSpPr>
          <p:cNvPr id="881" name="Google Shape;881;p56"/>
          <p:cNvSpPr txBox="1"/>
          <p:nvPr/>
        </p:nvSpPr>
        <p:spPr>
          <a:xfrm>
            <a:off x="6501384" y="3822192"/>
            <a:ext cx="1984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TTFP 2790→655 ms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−77%</a:t>
            </a:r>
            <a:endParaRPr sz="1200">
              <a:solidFill>
                <a:srgbClr val="0B1F33"/>
              </a:solidFill>
            </a:endParaRPr>
          </a:p>
        </p:txBody>
      </p:sp>
      <p:pic>
        <p:nvPicPr>
          <p:cNvPr id="882" name="Google Shape;88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57" y="1097280"/>
            <a:ext cx="5619686" cy="329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7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Async output removes decode stalls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888" name="Google Shape;888;p57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Payload assembly moves off the decode path.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889" name="Google Shape;889;p57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7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891" name="Google Shape;891;p57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32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892" name="Google Shape;892;p57"/>
          <p:cNvSpPr/>
          <p:nvPr/>
        </p:nvSpPr>
        <p:spPr>
          <a:xfrm>
            <a:off x="6336792" y="1207008"/>
            <a:ext cx="2258700" cy="8778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7"/>
          <p:cNvSpPr/>
          <p:nvPr/>
        </p:nvSpPr>
        <p:spPr>
          <a:xfrm>
            <a:off x="6336792" y="1207008"/>
            <a:ext cx="50400" cy="8778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7"/>
          <p:cNvSpPr txBox="1"/>
          <p:nvPr/>
        </p:nvSpPr>
        <p:spPr>
          <a:xfrm>
            <a:off x="6501384" y="1316736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B0E6"/>
                </a:solidFill>
              </a:rPr>
              <a:t>ASYNC CHUNK</a:t>
            </a:r>
            <a:endParaRPr b="1" sz="1200">
              <a:solidFill>
                <a:srgbClr val="26B0E6"/>
              </a:solidFill>
            </a:endParaRPr>
          </a:p>
        </p:txBody>
      </p:sp>
      <p:sp>
        <p:nvSpPr>
          <p:cNvPr id="895" name="Google Shape;895;p57"/>
          <p:cNvSpPr txBox="1"/>
          <p:nvPr/>
        </p:nvSpPr>
        <p:spPr>
          <a:xfrm>
            <a:off x="6501384" y="1554480"/>
            <a:ext cx="198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Removes inter-stage full-payload barriers.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896" name="Google Shape;896;p57"/>
          <p:cNvSpPr/>
          <p:nvPr/>
        </p:nvSpPr>
        <p:spPr>
          <a:xfrm>
            <a:off x="6336792" y="2267712"/>
            <a:ext cx="2258700" cy="1024200"/>
          </a:xfrm>
          <a:prstGeom prst="roundRect">
            <a:avLst>
              <a:gd fmla="val 16667" name="adj"/>
            </a:avLst>
          </a:prstGeom>
          <a:solidFill>
            <a:srgbClr val="FEF2E3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7"/>
          <p:cNvSpPr/>
          <p:nvPr/>
        </p:nvSpPr>
        <p:spPr>
          <a:xfrm>
            <a:off x="6336792" y="2267712"/>
            <a:ext cx="50400" cy="1024200"/>
          </a:xfrm>
          <a:prstGeom prst="rect">
            <a:avLst/>
          </a:prstGeom>
          <a:solidFill>
            <a:srgbClr val="F18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7"/>
          <p:cNvSpPr txBox="1"/>
          <p:nvPr/>
        </p:nvSpPr>
        <p:spPr>
          <a:xfrm>
            <a:off x="6501384" y="2377440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</a:rPr>
              <a:t>ASYNC OUTPUT</a:t>
            </a:r>
            <a:endParaRPr b="1" sz="1200">
              <a:solidFill>
                <a:srgbClr val="F59E0B"/>
              </a:solidFill>
            </a:endParaRPr>
          </a:p>
        </p:txBody>
      </p:sp>
      <p:sp>
        <p:nvSpPr>
          <p:cNvPr id="899" name="Google Shape;899;p57"/>
          <p:cNvSpPr txBox="1"/>
          <p:nvPr/>
        </p:nvSpPr>
        <p:spPr>
          <a:xfrm>
            <a:off x="6501384" y="2615184"/>
            <a:ext cx="1984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Builds connector payloads away from the decode worker.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00" name="Google Shape;900;p57"/>
          <p:cNvSpPr/>
          <p:nvPr/>
        </p:nvSpPr>
        <p:spPr>
          <a:xfrm>
            <a:off x="6336792" y="3401568"/>
            <a:ext cx="2258700" cy="987600"/>
          </a:xfrm>
          <a:prstGeom prst="roundRect">
            <a:avLst>
              <a:gd fmla="val 16667" name="adj"/>
            </a:avLst>
          </a:prstGeom>
          <a:solidFill>
            <a:srgbClr val="F6F2FE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7"/>
          <p:cNvSpPr/>
          <p:nvPr/>
        </p:nvSpPr>
        <p:spPr>
          <a:xfrm>
            <a:off x="6336792" y="3401568"/>
            <a:ext cx="50400" cy="987600"/>
          </a:xfrm>
          <a:prstGeom prst="rect">
            <a:avLst/>
          </a:prstGeom>
          <a:solidFill>
            <a:srgbClr val="89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7"/>
          <p:cNvSpPr txBox="1"/>
          <p:nvPr/>
        </p:nvSpPr>
        <p:spPr>
          <a:xfrm>
            <a:off x="6501384" y="3511296"/>
            <a:ext cx="198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5CF6"/>
                </a:solidFill>
              </a:rPr>
              <a:t>C64 RESULT</a:t>
            </a:r>
            <a:endParaRPr b="1" sz="1200">
              <a:solidFill>
                <a:srgbClr val="8B5CF6"/>
              </a:solidFill>
            </a:endParaRPr>
          </a:p>
        </p:txBody>
      </p:sp>
      <p:sp>
        <p:nvSpPr>
          <p:cNvPr id="903" name="Google Shape;903;p57"/>
          <p:cNvSpPr txBox="1"/>
          <p:nvPr/>
        </p:nvSpPr>
        <p:spPr>
          <a:xfrm>
            <a:off x="6501384" y="3739896"/>
            <a:ext cx="1984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Req/s: 9.3→11.3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TTFP: 655→631 ms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RTF: 0.63→0.47</a:t>
            </a:r>
            <a:endParaRPr sz="1200">
              <a:solidFill>
                <a:srgbClr val="0B1F33"/>
              </a:solidFill>
            </a:endParaRPr>
          </a:p>
        </p:txBody>
      </p:sp>
      <p:pic>
        <p:nvPicPr>
          <p:cNvPr id="904" name="Google Shape;90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57" y="1097280"/>
            <a:ext cx="5619686" cy="329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8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C64: first-audio latency falls 89%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910" name="Google Shape;910;p58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Cumulative sweep from Batch to graphs, async handoffs, and replicas.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911" name="Google Shape;911;p58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8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913" name="Google Shape;913;p58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33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914" name="Google Shape;914;p58"/>
          <p:cNvSpPr/>
          <p:nvPr/>
        </p:nvSpPr>
        <p:spPr>
          <a:xfrm>
            <a:off x="7004304" y="1298448"/>
            <a:ext cx="1591200" cy="89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8"/>
          <p:cNvSpPr txBox="1"/>
          <p:nvPr/>
        </p:nvSpPr>
        <p:spPr>
          <a:xfrm>
            <a:off x="7132320" y="1435608"/>
            <a:ext cx="1335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</a:rPr>
              <a:t>5.4×</a:t>
            </a:r>
            <a:endParaRPr b="1" sz="1800">
              <a:solidFill>
                <a:srgbClr val="3B82F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throughput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2.2→11.7 req/s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7004304" y="2395728"/>
            <a:ext cx="1591200" cy="89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8"/>
          <p:cNvSpPr txBox="1"/>
          <p:nvPr/>
        </p:nvSpPr>
        <p:spPr>
          <a:xfrm>
            <a:off x="7132320" y="2532888"/>
            <a:ext cx="1335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B981"/>
                </a:solidFill>
              </a:rPr>
              <a:t>−59%</a:t>
            </a:r>
            <a:endParaRPr b="1" sz="1800">
              <a:solidFill>
                <a:srgbClr val="10B98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mean RTF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1.15→0.47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502920" y="3712464"/>
            <a:ext cx="8092500" cy="6126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8"/>
          <p:cNvSpPr txBox="1"/>
          <p:nvPr/>
        </p:nvSpPr>
        <p:spPr>
          <a:xfrm>
            <a:off x="685800" y="3803904"/>
            <a:ext cx="7726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B6470"/>
                </a:solidFill>
              </a:rPr>
              <a:t>Seed-TTS en · Qwen3-Omni-30B-A3B-Instruct · c=1/16/32/64 · 5 warmups · GPUs 0/1/2 · server restart per config</a:t>
            </a:r>
            <a:endParaRPr sz="1200">
              <a:solidFill>
                <a:srgbClr val="5B6470"/>
              </a:solidFill>
            </a:endParaRPr>
          </a:p>
        </p:txBody>
      </p:sp>
      <p:pic>
        <p:nvPicPr>
          <p:cNvPr id="920" name="Google Shape;92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19" y="1152144"/>
            <a:ext cx="6301162" cy="2366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9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Replicate only saturated speech stages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926" name="Google Shape;926;p59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One Thinker feeds 2× Talker and 2× Code2Wav.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927" name="Google Shape;927;p59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9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929" name="Google Shape;929;p59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34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930" name="Google Shape;930;p59"/>
          <p:cNvSpPr/>
          <p:nvPr/>
        </p:nvSpPr>
        <p:spPr>
          <a:xfrm>
            <a:off x="530352" y="3986784"/>
            <a:ext cx="8083200" cy="512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9"/>
          <p:cNvSpPr txBox="1"/>
          <p:nvPr/>
        </p:nvSpPr>
        <p:spPr>
          <a:xfrm>
            <a:off x="694944" y="4078224"/>
            <a:ext cx="775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C64 replica-only increment: 11.3→11.7 req/s (+4%) · TTFP 631→632 ms · RTF 0.47→0.47. Selective capacity—not tensor parallelism or autoscaling.</a:t>
            </a:r>
            <a:endParaRPr b="1" sz="1200">
              <a:solidFill>
                <a:srgbClr val="0B1F33"/>
              </a:solidFill>
            </a:endParaRPr>
          </a:p>
        </p:txBody>
      </p:sp>
      <p:pic>
        <p:nvPicPr>
          <p:cNvPr id="932" name="Google Shape;93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414" y="1143000"/>
            <a:ext cx="8125172" cy="267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0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Hot-path cleanup removes per-step work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938" name="Google Shape;938;p60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6470"/>
                </a:solidFill>
              </a:rPr>
              <a:t>After framework-level wins, eliminate work that scales with utterance length.</a:t>
            </a:r>
            <a:endParaRPr sz="1800">
              <a:solidFill>
                <a:srgbClr val="5B6470"/>
              </a:solidFill>
            </a:endParaRPr>
          </a:p>
        </p:txBody>
      </p:sp>
      <p:sp>
        <p:nvSpPr>
          <p:cNvPr id="939" name="Google Shape;939;p60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0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website PR #258 · merged 2026-07-03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941" name="Google Shape;941;p60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35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942" name="Google Shape;942;p60"/>
          <p:cNvSpPr/>
          <p:nvPr/>
        </p:nvSpPr>
        <p:spPr>
          <a:xfrm>
            <a:off x="530352" y="1261872"/>
            <a:ext cx="3822300" cy="1280100"/>
          </a:xfrm>
          <a:prstGeom prst="roundRect">
            <a:avLst>
              <a:gd fmla="val 16667" name="adj"/>
            </a:avLst>
          </a:prstGeom>
          <a:solidFill>
            <a:srgbClr val="E8F7FC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0"/>
          <p:cNvSpPr/>
          <p:nvPr/>
        </p:nvSpPr>
        <p:spPr>
          <a:xfrm>
            <a:off x="530352" y="1261872"/>
            <a:ext cx="50400" cy="12801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0"/>
          <p:cNvSpPr txBox="1"/>
          <p:nvPr/>
        </p:nvSpPr>
        <p:spPr>
          <a:xfrm>
            <a:off x="685800" y="1371600"/>
            <a:ext cx="3547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DECODE DELTA</a:t>
            </a:r>
            <a:endParaRPr sz="1200">
              <a:solidFill>
                <a:srgbClr val="45B7E8"/>
              </a:solidFill>
            </a:endParaRPr>
          </a:p>
        </p:txBody>
      </p:sp>
      <p:sp>
        <p:nvSpPr>
          <p:cNvPr id="945" name="Google Shape;945;p60"/>
          <p:cNvSpPr txBox="1"/>
          <p:nvPr/>
        </p:nvSpPr>
        <p:spPr>
          <a:xfrm>
            <a:off x="685800" y="1655064"/>
            <a:ext cx="3547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Chunk 0 ships full prefill; later steps send only the new embed.decode row—O(1) connector traffic per step.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46" name="Google Shape;946;p60"/>
          <p:cNvSpPr/>
          <p:nvPr/>
        </p:nvSpPr>
        <p:spPr>
          <a:xfrm>
            <a:off x="4590288" y="1261872"/>
            <a:ext cx="4023300" cy="1280100"/>
          </a:xfrm>
          <a:prstGeom prst="roundRect">
            <a:avLst>
              <a:gd fmla="val 16667" name="adj"/>
            </a:avLst>
          </a:prstGeom>
          <a:solidFill>
            <a:srgbClr val="FEF2E3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0"/>
          <p:cNvSpPr/>
          <p:nvPr/>
        </p:nvSpPr>
        <p:spPr>
          <a:xfrm>
            <a:off x="4590288" y="1261872"/>
            <a:ext cx="50400" cy="1280100"/>
          </a:xfrm>
          <a:prstGeom prst="rect">
            <a:avLst/>
          </a:prstGeom>
          <a:solidFill>
            <a:srgbClr val="F18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0"/>
          <p:cNvSpPr txBox="1"/>
          <p:nvPr/>
        </p:nvSpPr>
        <p:spPr>
          <a:xfrm>
            <a:off x="4745736" y="1371600"/>
            <a:ext cx="3749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</a:rPr>
              <a:t>PAYLOAD + EXECUTOR</a:t>
            </a:r>
            <a:endParaRPr b="1" sz="1200">
              <a:solidFill>
                <a:srgbClr val="F59E0B"/>
              </a:solidFill>
            </a:endParaRPr>
          </a:p>
        </p:txBody>
      </p:sp>
      <p:sp>
        <p:nvSpPr>
          <p:cNvPr id="949" name="Google Shape;949;p60"/>
          <p:cNvSpPr txBox="1"/>
          <p:nvPr/>
        </p:nvSpPr>
        <p:spPr>
          <a:xfrm>
            <a:off x="4745736" y="1655064"/>
            <a:ext cx="374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Remove repeated torch.cat and unneeded CPU payloads; single-GPU uses uni instead of implicit mp.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50" name="Google Shape;950;p60"/>
          <p:cNvSpPr/>
          <p:nvPr/>
        </p:nvSpPr>
        <p:spPr>
          <a:xfrm>
            <a:off x="530352" y="2779776"/>
            <a:ext cx="3822300" cy="1280100"/>
          </a:xfrm>
          <a:prstGeom prst="roundRect">
            <a:avLst>
              <a:gd fmla="val 16667" name="adj"/>
            </a:avLst>
          </a:prstGeom>
          <a:solidFill>
            <a:srgbClr val="EBFAF2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0"/>
          <p:cNvSpPr/>
          <p:nvPr/>
        </p:nvSpPr>
        <p:spPr>
          <a:xfrm>
            <a:off x="530352" y="2779776"/>
            <a:ext cx="50400" cy="1280100"/>
          </a:xfrm>
          <a:prstGeom prst="rect">
            <a:avLst/>
          </a:prstGeom>
          <a:solidFill>
            <a:srgbClr val="48B9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0"/>
          <p:cNvSpPr txBox="1"/>
          <p:nvPr/>
        </p:nvSpPr>
        <p:spPr>
          <a:xfrm>
            <a:off x="685800" y="2889504"/>
            <a:ext cx="3547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8B98A"/>
                </a:solidFill>
              </a:rPr>
              <a:t>GPU-RESIDENT STATE</a:t>
            </a:r>
            <a:endParaRPr sz="1200">
              <a:solidFill>
                <a:srgbClr val="48B98A"/>
              </a:solidFill>
            </a:endParaRPr>
          </a:p>
        </p:txBody>
      </p:sp>
      <p:sp>
        <p:nvSpPr>
          <p:cNvPr id="953" name="Google Shape;953;p60"/>
          <p:cNvSpPr txBox="1"/>
          <p:nvPr/>
        </p:nvSpPr>
        <p:spPr>
          <a:xfrm>
            <a:off x="685800" y="3172968"/>
            <a:ext cx="3547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Keep hidden/trailing text, tts_pad_projected, and codes on device; skip mRoPE work in speech stages.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54" name="Google Shape;954;p60"/>
          <p:cNvSpPr/>
          <p:nvPr/>
        </p:nvSpPr>
        <p:spPr>
          <a:xfrm>
            <a:off x="4590288" y="2779776"/>
            <a:ext cx="4023300" cy="1280100"/>
          </a:xfrm>
          <a:prstGeom prst="roundRect">
            <a:avLst>
              <a:gd fmla="val 16667" name="adj"/>
            </a:avLst>
          </a:prstGeom>
          <a:solidFill>
            <a:srgbClr val="F6F2FE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0"/>
          <p:cNvSpPr/>
          <p:nvPr/>
        </p:nvSpPr>
        <p:spPr>
          <a:xfrm>
            <a:off x="4590288" y="2779776"/>
            <a:ext cx="50400" cy="1280100"/>
          </a:xfrm>
          <a:prstGeom prst="rect">
            <a:avLst/>
          </a:prstGeom>
          <a:solidFill>
            <a:srgbClr val="89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0"/>
          <p:cNvSpPr txBox="1"/>
          <p:nvPr/>
        </p:nvSpPr>
        <p:spPr>
          <a:xfrm>
            <a:off x="4745736" y="2889504"/>
            <a:ext cx="3749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5CF6"/>
                </a:solidFill>
              </a:rPr>
              <a:t>PREDICTOR REWRITE</a:t>
            </a:r>
            <a:endParaRPr b="1" sz="1200">
              <a:solidFill>
                <a:srgbClr val="8B5CF6"/>
              </a:solidFill>
            </a:endParaRPr>
          </a:p>
        </p:txBody>
      </p:sp>
      <p:sp>
        <p:nvSpPr>
          <p:cNvPr id="957" name="Google Shape;957;p60"/>
          <p:cNvSpPr txBox="1"/>
          <p:nvPr/>
        </p:nvSpPr>
        <p:spPr>
          <a:xfrm>
            <a:off x="4745736" y="3172968"/>
            <a:ext cx="374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Re-prefill + SDPA/native GQA + inline top-k + cached refs + torch.compile; keep RMSNorm/RoPE in fp32.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58" name="Google Shape;958;p60"/>
          <p:cNvSpPr/>
          <p:nvPr/>
        </p:nvSpPr>
        <p:spPr>
          <a:xfrm>
            <a:off x="566928" y="4178808"/>
            <a:ext cx="8010000" cy="3657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"/>
          <p:cNvSpPr txBox="1"/>
          <p:nvPr/>
        </p:nvSpPr>
        <p:spPr>
          <a:xfrm>
            <a:off x="713232" y="4242816"/>
            <a:ext cx="771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Separate long-context test: E2EL 21.28→7.37 s · TTFP 3197→1796 ms · RTF 0.71→0.28</a:t>
            </a:r>
            <a:endParaRPr b="1" sz="12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Support is a verification workflow, not a matrix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965" name="Google Shape;965;p61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A check mark is not enough—verify release, backend, recipe, and tests.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966" name="Google Shape;966;p61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1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</a:rPr>
              <a:t>Source: </a:t>
            </a:r>
            <a:r>
              <a:rPr lang="en-US" sz="1200" u="sng">
                <a:solidFill>
                  <a:schemeClr val="hlink"/>
                </a:solidFill>
                <a:hlinkClick r:id="rId3"/>
              </a:rPr>
              <a:t>v0.26.0 supported models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Issue #1217</a:t>
            </a:r>
            <a:r>
              <a:rPr lang="en-US" sz="1200" u="sng">
                <a:solidFill>
                  <a:srgbClr val="3B82F6"/>
                </a:solidFill>
              </a:rPr>
              <a:t> context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968" name="Google Shape;968;p61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36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969" name="Google Shape;969;p61"/>
          <p:cNvSpPr/>
          <p:nvPr/>
        </p:nvSpPr>
        <p:spPr>
          <a:xfrm>
            <a:off x="502920" y="1188720"/>
            <a:ext cx="3886200" cy="1298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1"/>
          <p:cNvSpPr/>
          <p:nvPr/>
        </p:nvSpPr>
        <p:spPr>
          <a:xfrm>
            <a:off x="502920" y="1188720"/>
            <a:ext cx="63900" cy="1298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667512" y="1280160"/>
            <a:ext cx="3602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01 · PIN THE CLAIM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972" name="Google Shape;972;p61"/>
          <p:cNvSpPr txBox="1"/>
          <p:nvPr/>
        </p:nvSpPr>
        <p:spPr>
          <a:xfrm>
            <a:off x="667512" y="1755648"/>
            <a:ext cx="360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Model · feature · backend · v0.26 commit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4617720" y="1188720"/>
            <a:ext cx="3886200" cy="1298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/>
          <p:nvPr/>
        </p:nvSpPr>
        <p:spPr>
          <a:xfrm>
            <a:off x="4617720" y="1188720"/>
            <a:ext cx="63900" cy="1298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1"/>
          <p:cNvSpPr txBox="1"/>
          <p:nvPr/>
        </p:nvSpPr>
        <p:spPr>
          <a:xfrm>
            <a:off x="4782312" y="1280160"/>
            <a:ext cx="3602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A623"/>
                </a:solidFill>
              </a:rPr>
              <a:t>02 · FIND TAGGED SUPPORT</a:t>
            </a:r>
            <a:endParaRPr sz="1800">
              <a:solidFill>
                <a:srgbClr val="F5A623"/>
              </a:solidFill>
            </a:endParaRPr>
          </a:p>
        </p:txBody>
      </p:sp>
      <p:sp>
        <p:nvSpPr>
          <p:cNvPr id="976" name="Google Shape;976;p61"/>
          <p:cNvSpPr txBox="1"/>
          <p:nvPr/>
        </p:nvSpPr>
        <p:spPr>
          <a:xfrm>
            <a:off x="4782312" y="1755648"/>
            <a:ext cx="360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Supported-model and feature docs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77" name="Google Shape;977;p61"/>
          <p:cNvSpPr/>
          <p:nvPr/>
        </p:nvSpPr>
        <p:spPr>
          <a:xfrm>
            <a:off x="502920" y="2697480"/>
            <a:ext cx="3886200" cy="1298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502920" y="2697480"/>
            <a:ext cx="63900" cy="12984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1"/>
          <p:cNvSpPr txBox="1"/>
          <p:nvPr/>
        </p:nvSpPr>
        <p:spPr>
          <a:xfrm>
            <a:off x="667512" y="2788920"/>
            <a:ext cx="3602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5B7E8"/>
                </a:solidFill>
              </a:rPr>
              <a:t>03 · BUILD DEPLOY CONFIG</a:t>
            </a:r>
            <a:endParaRPr b="1" sz="1800">
              <a:solidFill>
                <a:srgbClr val="45B7E8"/>
              </a:solidFill>
            </a:endParaRPr>
          </a:p>
        </p:txBody>
      </p:sp>
      <p:sp>
        <p:nvSpPr>
          <p:cNvPr id="980" name="Google Shape;980;p61"/>
          <p:cNvSpPr txBox="1"/>
          <p:nvPr/>
        </p:nvSpPr>
        <p:spPr>
          <a:xfrm>
            <a:off x="667512" y="3264408"/>
            <a:ext cx="360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Recipe · deploy YAML · capability gates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81" name="Google Shape;981;p61"/>
          <p:cNvSpPr/>
          <p:nvPr/>
        </p:nvSpPr>
        <p:spPr>
          <a:xfrm>
            <a:off x="4617720" y="2697480"/>
            <a:ext cx="3886200" cy="12984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1"/>
          <p:cNvSpPr/>
          <p:nvPr/>
        </p:nvSpPr>
        <p:spPr>
          <a:xfrm>
            <a:off x="4617720" y="2697480"/>
            <a:ext cx="63900" cy="12984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1"/>
          <p:cNvSpPr txBox="1"/>
          <p:nvPr/>
        </p:nvSpPr>
        <p:spPr>
          <a:xfrm>
            <a:off x="4782312" y="2788920"/>
            <a:ext cx="3602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04 · VERIFY ON TARGET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984" name="Google Shape;984;p61"/>
          <p:cNvSpPr txBox="1"/>
          <p:nvPr/>
        </p:nvSpPr>
        <p:spPr>
          <a:xfrm>
            <a:off x="4782312" y="3264408"/>
            <a:ext cx="3602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Hardware · test artifact · date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502920" y="4178808"/>
            <a:ext cx="8001000" cy="292500"/>
          </a:xfrm>
          <a:prstGeom prst="roundRect">
            <a:avLst>
              <a:gd fmla="val 16667" name="adj"/>
            </a:avLst>
          </a:prstGeom>
          <a:solidFill>
            <a:srgbClr val="FF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1"/>
          <p:cNvSpPr txBox="1"/>
          <p:nvPr/>
        </p:nvSpPr>
        <p:spPr>
          <a:xfrm>
            <a:off x="658368" y="4233672"/>
            <a:ext cx="768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Evidence record = model + backend + feature + commit + recipe + test + hardware + date</a:t>
            </a:r>
            <a:endParaRPr sz="12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62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Diffusion separates control from execution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992" name="Google Shape;992;p62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The request path is stable; acceleration layers remain model- and stage-specific.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993" name="Google Shape;993;p62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2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v0.26.0 adding a diffusion model + DiT module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995" name="Google Shape;995;p62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37</a:t>
            </a:r>
            <a:endParaRPr sz="1200">
              <a:solidFill>
                <a:srgbClr val="5F6B7A"/>
              </a:solidFill>
            </a:endParaRPr>
          </a:p>
        </p:txBody>
      </p:sp>
      <p:pic>
        <p:nvPicPr>
          <p:cNvPr id="996" name="Google Shape;996;p6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0" y="1244783"/>
            <a:ext cx="4343398" cy="3088271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62"/>
          <p:cNvSpPr/>
          <p:nvPr/>
        </p:nvSpPr>
        <p:spPr>
          <a:xfrm>
            <a:off x="5074920" y="1243584"/>
            <a:ext cx="3474600" cy="859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2"/>
          <p:cNvSpPr/>
          <p:nvPr/>
        </p:nvSpPr>
        <p:spPr>
          <a:xfrm>
            <a:off x="5074920" y="1243584"/>
            <a:ext cx="63900" cy="859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2"/>
          <p:cNvSpPr txBox="1"/>
          <p:nvPr/>
        </p:nvSpPr>
        <p:spPr>
          <a:xfrm>
            <a:off x="5239512" y="1353312"/>
            <a:ext cx="319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CONTROL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1000" name="Google Shape;1000;p62"/>
          <p:cNvSpPr txBox="1"/>
          <p:nvPr/>
        </p:nvSpPr>
        <p:spPr>
          <a:xfrm>
            <a:off x="5239512" y="1627632"/>
            <a:ext cx="3191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Request → DiffusionEngine → scheduler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01" name="Google Shape;1001;p62"/>
          <p:cNvSpPr/>
          <p:nvPr/>
        </p:nvSpPr>
        <p:spPr>
          <a:xfrm>
            <a:off x="5074920" y="2286000"/>
            <a:ext cx="3474600" cy="859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5074920" y="2286000"/>
            <a:ext cx="63900" cy="859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 txBox="1"/>
          <p:nvPr/>
        </p:nvSpPr>
        <p:spPr>
          <a:xfrm>
            <a:off x="5239512" y="2395728"/>
            <a:ext cx="319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A623"/>
                </a:solidFill>
              </a:rPr>
              <a:t>EXECUTION</a:t>
            </a:r>
            <a:endParaRPr sz="1800">
              <a:solidFill>
                <a:srgbClr val="F5A623"/>
              </a:solidFill>
            </a:endParaRPr>
          </a:p>
        </p:txBody>
      </p:sp>
      <p:sp>
        <p:nvSpPr>
          <p:cNvPr id="1004" name="Google Shape;1004;p62"/>
          <p:cNvSpPr txBox="1"/>
          <p:nvPr/>
        </p:nvSpPr>
        <p:spPr>
          <a:xfrm>
            <a:off x="5239512" y="2670048"/>
            <a:ext cx="3191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Executor → worker → model runner → pipeline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05" name="Google Shape;1005;p62"/>
          <p:cNvSpPr/>
          <p:nvPr/>
        </p:nvSpPr>
        <p:spPr>
          <a:xfrm>
            <a:off x="5074920" y="3328416"/>
            <a:ext cx="3474600" cy="859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5074920" y="3328416"/>
            <a:ext cx="63900" cy="8595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 txBox="1"/>
          <p:nvPr/>
        </p:nvSpPr>
        <p:spPr>
          <a:xfrm>
            <a:off x="5239512" y="3438144"/>
            <a:ext cx="319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FEATURES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1008" name="Google Shape;1008;p62"/>
          <p:cNvSpPr txBox="1"/>
          <p:nvPr/>
        </p:nvSpPr>
        <p:spPr>
          <a:xfrm>
            <a:off x="5239512" y="3712464"/>
            <a:ext cx="3191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Cache · parallelism · quantization · offload · LoRA · attention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502920" y="4343400"/>
            <a:ext cx="8046600" cy="2013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2"/>
          <p:cNvSpPr txBox="1"/>
          <p:nvPr/>
        </p:nvSpPr>
        <p:spPr>
          <a:xfrm>
            <a:off x="594360" y="4370832"/>
            <a:ext cx="7863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Phases: prompt encode → optional VAE encode → denoise → VAE decode · figure shows request-mode path</a:t>
            </a:r>
            <a:endParaRPr sz="1200">
              <a:solidFill>
                <a:srgbClr val="17365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3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Diffusion batching has two different contracts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1016" name="Google Shape;1016;p63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Choose a full-request batch or a step-wise batch; both need compatible request shapes.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1017" name="Google Shape;1017;p63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3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</a:rPr>
              <a:t>Source: v0.26.0 </a:t>
            </a:r>
            <a:r>
              <a:rPr lang="en-US" sz="1200" u="sng">
                <a:solidFill>
                  <a:schemeClr val="hlink"/>
                </a:solidFill>
                <a:hlinkClick r:id="rId3"/>
              </a:rPr>
              <a:t>request-level batching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step-wise batching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1019" name="Google Shape;1019;p63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38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1020" name="Google Shape;1020;p63"/>
          <p:cNvSpPr/>
          <p:nvPr/>
        </p:nvSpPr>
        <p:spPr>
          <a:xfrm>
            <a:off x="502920" y="1225296"/>
            <a:ext cx="3886200" cy="2770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3"/>
          <p:cNvSpPr/>
          <p:nvPr/>
        </p:nvSpPr>
        <p:spPr>
          <a:xfrm>
            <a:off x="502920" y="1225296"/>
            <a:ext cx="63900" cy="277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3"/>
          <p:cNvSpPr txBox="1"/>
          <p:nvPr/>
        </p:nvSpPr>
        <p:spPr>
          <a:xfrm>
            <a:off x="667499" y="1353312"/>
            <a:ext cx="3886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REQUEST-LEVEL · step_execution=false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1023" name="Google Shape;1023;p63"/>
          <p:cNvSpPr txBox="1"/>
          <p:nvPr/>
        </p:nvSpPr>
        <p:spPr>
          <a:xfrm>
            <a:off x="667512" y="1956816"/>
            <a:ext cx="36027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One full pipeline forward() over a static batch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Pipeline opts in with supports_request_batch=True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Optional bounded wait coalesces bursty ingress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24" name="Google Shape;1024;p63"/>
          <p:cNvSpPr/>
          <p:nvPr/>
        </p:nvSpPr>
        <p:spPr>
          <a:xfrm>
            <a:off x="4617720" y="1225296"/>
            <a:ext cx="3886200" cy="27705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3"/>
          <p:cNvSpPr/>
          <p:nvPr/>
        </p:nvSpPr>
        <p:spPr>
          <a:xfrm>
            <a:off x="4617720" y="1225296"/>
            <a:ext cx="63900" cy="27705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3"/>
          <p:cNvSpPr txBox="1"/>
          <p:nvPr/>
        </p:nvSpPr>
        <p:spPr>
          <a:xfrm>
            <a:off x="4782312" y="1353312"/>
            <a:ext cx="360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STEP-WISE · step_execution=true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1027" name="Google Shape;1027;p63"/>
          <p:cNvSpPr txBox="1"/>
          <p:nvPr/>
        </p:nvSpPr>
        <p:spPr>
          <a:xfrm>
            <a:off x="4782312" y="1956816"/>
            <a:ext cx="36027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Scheduler may admit work between denoise steps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denoise_step() shares one active InputBatch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Experimental; multi-request support is pipeline-specific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28" name="Google Shape;1028;p63"/>
          <p:cNvSpPr/>
          <p:nvPr/>
        </p:nvSpPr>
        <p:spPr>
          <a:xfrm>
            <a:off x="502920" y="4169664"/>
            <a:ext cx="8001000" cy="310800"/>
          </a:xfrm>
          <a:prstGeom prst="roundRect">
            <a:avLst>
              <a:gd fmla="val 16667" name="adj"/>
            </a:avLst>
          </a:prstGeom>
          <a:solidFill>
            <a:srgbClr val="FF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3"/>
          <p:cNvSpPr txBox="1"/>
          <p:nvPr/>
        </p:nvSpPr>
        <p:spPr>
          <a:xfrm>
            <a:off x="658368" y="4233672"/>
            <a:ext cx="768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Compatibility: spatial / temporal shape · CFG / guidance · output count · LoRA identity + scale</a:t>
            </a:r>
            <a:endParaRPr sz="12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4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Choose parallelism by bottleneck, then verify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1035" name="Google Shape;1035;p64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Each axis addresses a different memory or compute limit.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1036" name="Google Shape;1036;p64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4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3"/>
              </a:rPr>
              <a:t>Source: v0.26.0 · diffusion parallelism guides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1038" name="Google Shape;1038;p64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39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1039" name="Google Shape;1039;p64"/>
          <p:cNvSpPr/>
          <p:nvPr/>
        </p:nvSpPr>
        <p:spPr>
          <a:xfrm>
            <a:off x="502920" y="1170432"/>
            <a:ext cx="2560200" cy="3567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4"/>
          <p:cNvSpPr txBox="1"/>
          <p:nvPr/>
        </p:nvSpPr>
        <p:spPr>
          <a:xfrm>
            <a:off x="576072" y="1211580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Bottleneck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41" name="Google Shape;1041;p64"/>
          <p:cNvSpPr/>
          <p:nvPr/>
        </p:nvSpPr>
        <p:spPr>
          <a:xfrm>
            <a:off x="3063240" y="1170432"/>
            <a:ext cx="2404800" cy="3567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4"/>
          <p:cNvSpPr txBox="1"/>
          <p:nvPr/>
        </p:nvSpPr>
        <p:spPr>
          <a:xfrm>
            <a:off x="3136392" y="1211580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Method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43" name="Google Shape;1043;p64"/>
          <p:cNvSpPr/>
          <p:nvPr/>
        </p:nvSpPr>
        <p:spPr>
          <a:xfrm>
            <a:off x="5468112" y="1170432"/>
            <a:ext cx="3081600" cy="356700"/>
          </a:xfrm>
          <a:prstGeom prst="rect">
            <a:avLst/>
          </a:prstGeom>
          <a:solidFill>
            <a:srgbClr val="17365D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4"/>
          <p:cNvSpPr txBox="1"/>
          <p:nvPr/>
        </p:nvSpPr>
        <p:spPr>
          <a:xfrm>
            <a:off x="5541264" y="1211580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Configuration knob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45" name="Google Shape;1045;p64"/>
          <p:cNvSpPr/>
          <p:nvPr/>
        </p:nvSpPr>
        <p:spPr>
          <a:xfrm>
            <a:off x="502920" y="1527048"/>
            <a:ext cx="25602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4"/>
          <p:cNvSpPr txBox="1"/>
          <p:nvPr/>
        </p:nvSpPr>
        <p:spPr>
          <a:xfrm>
            <a:off x="576072" y="1568196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DiT weights / compute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47" name="Google Shape;1047;p64"/>
          <p:cNvSpPr/>
          <p:nvPr/>
        </p:nvSpPr>
        <p:spPr>
          <a:xfrm>
            <a:off x="3063240" y="1527048"/>
            <a:ext cx="24048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4"/>
          <p:cNvSpPr txBox="1"/>
          <p:nvPr/>
        </p:nvSpPr>
        <p:spPr>
          <a:xfrm>
            <a:off x="3136392" y="1568196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Tensor parallel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49" name="Google Shape;1049;p64"/>
          <p:cNvSpPr/>
          <p:nvPr/>
        </p:nvSpPr>
        <p:spPr>
          <a:xfrm>
            <a:off x="5468112" y="1527048"/>
            <a:ext cx="30816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4"/>
          <p:cNvSpPr txBox="1"/>
          <p:nvPr/>
        </p:nvSpPr>
        <p:spPr>
          <a:xfrm>
            <a:off x="5541264" y="1568196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tensor_parallel_size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51" name="Google Shape;1051;p64"/>
          <p:cNvSpPr/>
          <p:nvPr/>
        </p:nvSpPr>
        <p:spPr>
          <a:xfrm>
            <a:off x="502920" y="1883664"/>
            <a:ext cx="25602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4"/>
          <p:cNvSpPr txBox="1"/>
          <p:nvPr/>
        </p:nvSpPr>
        <p:spPr>
          <a:xfrm>
            <a:off x="576072" y="1924812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Full transformer weight memory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3063240" y="1883664"/>
            <a:ext cx="24048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4"/>
          <p:cNvSpPr txBox="1"/>
          <p:nvPr/>
        </p:nvSpPr>
        <p:spPr>
          <a:xfrm>
            <a:off x="3136392" y="1924812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HSDP (FSDP2)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55" name="Google Shape;1055;p64"/>
          <p:cNvSpPr/>
          <p:nvPr/>
        </p:nvSpPr>
        <p:spPr>
          <a:xfrm>
            <a:off x="5468112" y="1883664"/>
            <a:ext cx="30816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"/>
          <p:cNvSpPr txBox="1"/>
          <p:nvPr/>
        </p:nvSpPr>
        <p:spPr>
          <a:xfrm>
            <a:off x="5541264" y="1924812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use_hsdp · hsdp_shard_size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57" name="Google Shape;1057;p64"/>
          <p:cNvSpPr/>
          <p:nvPr/>
        </p:nvSpPr>
        <p:spPr>
          <a:xfrm>
            <a:off x="502920" y="2240280"/>
            <a:ext cx="25602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4"/>
          <p:cNvSpPr txBox="1"/>
          <p:nvPr/>
        </p:nvSpPr>
        <p:spPr>
          <a:xfrm>
            <a:off x="576072" y="2281428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Long visual-token sequence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59" name="Google Shape;1059;p64"/>
          <p:cNvSpPr/>
          <p:nvPr/>
        </p:nvSpPr>
        <p:spPr>
          <a:xfrm>
            <a:off x="3063240" y="2240280"/>
            <a:ext cx="24048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4"/>
          <p:cNvSpPr txBox="1"/>
          <p:nvPr/>
        </p:nvSpPr>
        <p:spPr>
          <a:xfrm>
            <a:off x="3136392" y="2281428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Ulysses / Ring SP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61" name="Google Shape;1061;p64"/>
          <p:cNvSpPr/>
          <p:nvPr/>
        </p:nvSpPr>
        <p:spPr>
          <a:xfrm>
            <a:off x="5468112" y="2240280"/>
            <a:ext cx="30816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4"/>
          <p:cNvSpPr txBox="1"/>
          <p:nvPr/>
        </p:nvSpPr>
        <p:spPr>
          <a:xfrm>
            <a:off x="5541264" y="2281428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ulysses_degree · ring_degree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63" name="Google Shape;1063;p64"/>
          <p:cNvSpPr/>
          <p:nvPr/>
        </p:nvSpPr>
        <p:spPr>
          <a:xfrm>
            <a:off x="502920" y="2596896"/>
            <a:ext cx="25602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4"/>
          <p:cNvSpPr txBox="1"/>
          <p:nvPr/>
        </p:nvSpPr>
        <p:spPr>
          <a:xfrm>
            <a:off x="576072" y="2638044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Positive + negative CFG branches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65" name="Google Shape;1065;p64"/>
          <p:cNvSpPr/>
          <p:nvPr/>
        </p:nvSpPr>
        <p:spPr>
          <a:xfrm>
            <a:off x="3063240" y="2596896"/>
            <a:ext cx="24048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4"/>
          <p:cNvSpPr txBox="1"/>
          <p:nvPr/>
        </p:nvSpPr>
        <p:spPr>
          <a:xfrm>
            <a:off x="3136392" y="2638044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CFG parallel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67" name="Google Shape;1067;p64"/>
          <p:cNvSpPr/>
          <p:nvPr/>
        </p:nvSpPr>
        <p:spPr>
          <a:xfrm>
            <a:off x="5468112" y="2596896"/>
            <a:ext cx="30816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4"/>
          <p:cNvSpPr txBox="1"/>
          <p:nvPr/>
        </p:nvSpPr>
        <p:spPr>
          <a:xfrm>
            <a:off x="5541264" y="2638044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cfg_parallel_size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69" name="Google Shape;1069;p64"/>
          <p:cNvSpPr/>
          <p:nvPr/>
        </p:nvSpPr>
        <p:spPr>
          <a:xfrm>
            <a:off x="502920" y="2953512"/>
            <a:ext cx="25602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4"/>
          <p:cNvSpPr txBox="1"/>
          <p:nvPr/>
        </p:nvSpPr>
        <p:spPr>
          <a:xfrm>
            <a:off x="576072" y="2994660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Deep transformer blocks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71" name="Google Shape;1071;p64"/>
          <p:cNvSpPr/>
          <p:nvPr/>
        </p:nvSpPr>
        <p:spPr>
          <a:xfrm>
            <a:off x="3063240" y="2953512"/>
            <a:ext cx="24048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4"/>
          <p:cNvSpPr txBox="1"/>
          <p:nvPr/>
        </p:nvSpPr>
        <p:spPr>
          <a:xfrm>
            <a:off x="3136392" y="2994660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Pipeline parallel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73" name="Google Shape;1073;p64"/>
          <p:cNvSpPr/>
          <p:nvPr/>
        </p:nvSpPr>
        <p:spPr>
          <a:xfrm>
            <a:off x="5468112" y="2953512"/>
            <a:ext cx="30816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4"/>
          <p:cNvSpPr txBox="1"/>
          <p:nvPr/>
        </p:nvSpPr>
        <p:spPr>
          <a:xfrm>
            <a:off x="5541264" y="2994660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pipeline_parallel_size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75" name="Google Shape;1075;p64"/>
          <p:cNvSpPr/>
          <p:nvPr/>
        </p:nvSpPr>
        <p:spPr>
          <a:xfrm>
            <a:off x="502920" y="3310128"/>
            <a:ext cx="25602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4"/>
          <p:cNvSpPr txBox="1"/>
          <p:nvPr/>
        </p:nvSpPr>
        <p:spPr>
          <a:xfrm>
            <a:off x="576072" y="3351276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MoE expert weights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77" name="Google Shape;1077;p64"/>
          <p:cNvSpPr/>
          <p:nvPr/>
        </p:nvSpPr>
        <p:spPr>
          <a:xfrm>
            <a:off x="3063240" y="3310128"/>
            <a:ext cx="24048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4"/>
          <p:cNvSpPr txBox="1"/>
          <p:nvPr/>
        </p:nvSpPr>
        <p:spPr>
          <a:xfrm>
            <a:off x="3136392" y="3351276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Expert parallel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79" name="Google Shape;1079;p64"/>
          <p:cNvSpPr/>
          <p:nvPr/>
        </p:nvSpPr>
        <p:spPr>
          <a:xfrm>
            <a:off x="5468112" y="3310128"/>
            <a:ext cx="3081600" cy="356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4"/>
          <p:cNvSpPr txBox="1"/>
          <p:nvPr/>
        </p:nvSpPr>
        <p:spPr>
          <a:xfrm>
            <a:off x="5541264" y="3351276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enable_expert_parallel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81" name="Google Shape;1081;p64"/>
          <p:cNvSpPr/>
          <p:nvPr/>
        </p:nvSpPr>
        <p:spPr>
          <a:xfrm>
            <a:off x="502920" y="3666744"/>
            <a:ext cx="25602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4"/>
          <p:cNvSpPr txBox="1"/>
          <p:nvPr/>
        </p:nvSpPr>
        <p:spPr>
          <a:xfrm>
            <a:off x="576072" y="3707892"/>
            <a:ext cx="241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VAE activation peak</a:t>
            </a:r>
            <a:endParaRPr sz="1200">
              <a:solidFill>
                <a:srgbClr val="17365D"/>
              </a:solidFill>
            </a:endParaRPr>
          </a:p>
        </p:txBody>
      </p:sp>
      <p:sp>
        <p:nvSpPr>
          <p:cNvPr id="1083" name="Google Shape;1083;p64"/>
          <p:cNvSpPr/>
          <p:nvPr/>
        </p:nvSpPr>
        <p:spPr>
          <a:xfrm>
            <a:off x="3063240" y="3666744"/>
            <a:ext cx="24048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4"/>
          <p:cNvSpPr txBox="1"/>
          <p:nvPr/>
        </p:nvSpPr>
        <p:spPr>
          <a:xfrm>
            <a:off x="3136392" y="3707892"/>
            <a:ext cx="225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VAE patch / tile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85" name="Google Shape;1085;p64"/>
          <p:cNvSpPr/>
          <p:nvPr/>
        </p:nvSpPr>
        <p:spPr>
          <a:xfrm>
            <a:off x="5468112" y="3666744"/>
            <a:ext cx="3081600" cy="35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4"/>
          <p:cNvSpPr txBox="1"/>
          <p:nvPr/>
        </p:nvSpPr>
        <p:spPr>
          <a:xfrm>
            <a:off x="5541264" y="3707892"/>
            <a:ext cx="2935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vae_patch_parallel_size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502920" y="4096512"/>
            <a:ext cx="8046600" cy="393300"/>
          </a:xfrm>
          <a:prstGeom prst="roundRect">
            <a:avLst>
              <a:gd fmla="val 16667" name="adj"/>
            </a:avLst>
          </a:prstGeom>
          <a:solidFill>
            <a:srgbClr val="FF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4"/>
          <p:cNvSpPr txBox="1"/>
          <p:nvPr/>
        </p:nvSpPr>
        <p:spPr>
          <a:xfrm>
            <a:off x="658368" y="4133088"/>
            <a:ext cx="773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HSDP ≠ TP · EP group must exceed 1 · VAE patch degree fits the DiT group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HSDP replica groups are not StagePool stage replicas</a:t>
            </a:r>
            <a:endParaRPr sz="12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5"/>
          <p:cNvSpPr txBox="1"/>
          <p:nvPr/>
        </p:nvSpPr>
        <p:spPr>
          <a:xfrm>
            <a:off x="457200" y="91440"/>
            <a:ext cx="8184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1F33"/>
                </a:solidFill>
              </a:rPr>
              <a:t>Unified quantization, stage-specific scope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1094" name="Google Shape;1094;p65"/>
          <p:cNvSpPr txBox="1"/>
          <p:nvPr/>
        </p:nvSpPr>
        <p:spPr>
          <a:xfrm>
            <a:off x="502920" y="640080"/>
            <a:ext cx="809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365D"/>
                </a:solidFill>
              </a:rPr>
              <a:t>One API; validate method, stage, backend, and hardware.</a:t>
            </a:r>
            <a:endParaRPr sz="1800">
              <a:solidFill>
                <a:srgbClr val="17365D"/>
              </a:solidFill>
            </a:endParaRPr>
          </a:p>
        </p:txBody>
      </p:sp>
      <p:sp>
        <p:nvSpPr>
          <p:cNvPr id="1095" name="Google Shape;1095;p65"/>
          <p:cNvSpPr/>
          <p:nvPr/>
        </p:nvSpPr>
        <p:spPr>
          <a:xfrm>
            <a:off x="457200" y="4690872"/>
            <a:ext cx="5898000" cy="1380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5"/>
          <p:cNvSpPr txBox="1"/>
          <p:nvPr/>
        </p:nvSpPr>
        <p:spPr>
          <a:xfrm>
            <a:off x="457200" y="4718304"/>
            <a:ext cx="544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B82F6"/>
                </a:solidFill>
              </a:rPr>
              <a:t>Source: v0.26.0 </a:t>
            </a:r>
            <a:r>
              <a:rPr lang="en-US" sz="1200" u="sng">
                <a:solidFill>
                  <a:schemeClr val="hlink"/>
                </a:solidFill>
                <a:hlinkClick r:id="rId3"/>
              </a:rPr>
              <a:t>quantization overview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BitsAndBytes</a:t>
            </a:r>
            <a:r>
              <a:rPr lang="en-US" sz="1200" u="sng">
                <a:solidFill>
                  <a:srgbClr val="3B82F6"/>
                </a:solidFill>
              </a:rPr>
              <a:t> ·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GGUF</a:t>
            </a:r>
            <a:endParaRPr sz="1200" u="sng">
              <a:solidFill>
                <a:srgbClr val="3B82F6"/>
              </a:solidFill>
            </a:endParaRPr>
          </a:p>
        </p:txBody>
      </p:sp>
      <p:sp>
        <p:nvSpPr>
          <p:cNvPr id="1097" name="Google Shape;1097;p65"/>
          <p:cNvSpPr txBox="1"/>
          <p:nvPr/>
        </p:nvSpPr>
        <p:spPr>
          <a:xfrm>
            <a:off x="5989320" y="4709160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F6B7A"/>
                </a:solidFill>
              </a:rPr>
              <a:t>40</a:t>
            </a:r>
            <a:endParaRPr sz="1200">
              <a:solidFill>
                <a:srgbClr val="5F6B7A"/>
              </a:solidFill>
            </a:endParaRPr>
          </a:p>
        </p:txBody>
      </p:sp>
      <p:sp>
        <p:nvSpPr>
          <p:cNvPr id="1098" name="Google Shape;1098;p65"/>
          <p:cNvSpPr/>
          <p:nvPr/>
        </p:nvSpPr>
        <p:spPr>
          <a:xfrm>
            <a:off x="502920" y="1188720"/>
            <a:ext cx="1783200" cy="1079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5"/>
          <p:cNvSpPr/>
          <p:nvPr/>
        </p:nvSpPr>
        <p:spPr>
          <a:xfrm>
            <a:off x="502920" y="1188720"/>
            <a:ext cx="63900" cy="107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5"/>
          <p:cNvSpPr txBox="1"/>
          <p:nvPr/>
        </p:nvSpPr>
        <p:spPr>
          <a:xfrm>
            <a:off x="667512" y="1298448"/>
            <a:ext cx="149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82F6"/>
                </a:solidFill>
              </a:rPr>
              <a:t>1 · CONFIGURE</a:t>
            </a:r>
            <a:endParaRPr sz="1200">
              <a:solidFill>
                <a:srgbClr val="3B82F6"/>
              </a:solidFill>
            </a:endParaRPr>
          </a:p>
        </p:txBody>
      </p:sp>
      <p:sp>
        <p:nvSpPr>
          <p:cNvPr id="1101" name="Google Shape;1101;p65"/>
          <p:cNvSpPr txBox="1"/>
          <p:nvPr/>
        </p:nvSpPr>
        <p:spPr>
          <a:xfrm>
            <a:off x="667512" y="1581912"/>
            <a:ext cx="1499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quantization_config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or --quantization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02" name="Google Shape;1102;p65"/>
          <p:cNvSpPr txBox="1"/>
          <p:nvPr/>
        </p:nvSpPr>
        <p:spPr>
          <a:xfrm>
            <a:off x="2331720" y="1581912"/>
            <a:ext cx="21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5F6B7A"/>
                </a:solidFill>
              </a:rPr>
              <a:t>→</a:t>
            </a:r>
            <a:endParaRPr b="1" sz="2100">
              <a:solidFill>
                <a:srgbClr val="5F6B7A"/>
              </a:solidFill>
            </a:endParaRPr>
          </a:p>
        </p:txBody>
      </p:sp>
      <p:sp>
        <p:nvSpPr>
          <p:cNvPr id="1103" name="Google Shape;1103;p65"/>
          <p:cNvSpPr/>
          <p:nvPr/>
        </p:nvSpPr>
        <p:spPr>
          <a:xfrm>
            <a:off x="2578608" y="1188720"/>
            <a:ext cx="1783200" cy="1079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5"/>
          <p:cNvSpPr/>
          <p:nvPr/>
        </p:nvSpPr>
        <p:spPr>
          <a:xfrm>
            <a:off x="2578608" y="1188720"/>
            <a:ext cx="63900" cy="1079100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5"/>
          <p:cNvSpPr txBox="1"/>
          <p:nvPr/>
        </p:nvSpPr>
        <p:spPr>
          <a:xfrm>
            <a:off x="2743200" y="1298448"/>
            <a:ext cx="149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5B7E8"/>
                </a:solidFill>
              </a:rPr>
              <a:t>2 · SCOPE</a:t>
            </a:r>
            <a:endParaRPr sz="1200">
              <a:solidFill>
                <a:srgbClr val="45B7E8"/>
              </a:solidFill>
            </a:endParaRPr>
          </a:p>
        </p:txBody>
      </p:sp>
      <p:sp>
        <p:nvSpPr>
          <p:cNvPr id="1106" name="Google Shape;1106;p65"/>
          <p:cNvSpPr txBox="1"/>
          <p:nvPr/>
        </p:nvSpPr>
        <p:spPr>
          <a:xfrm>
            <a:off x="2743200" y="1581912"/>
            <a:ext cx="1499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intended transformer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or AR stage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07" name="Google Shape;1107;p65"/>
          <p:cNvSpPr txBox="1"/>
          <p:nvPr/>
        </p:nvSpPr>
        <p:spPr>
          <a:xfrm>
            <a:off x="4407408" y="1581912"/>
            <a:ext cx="21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5F6B7A"/>
                </a:solidFill>
              </a:rPr>
              <a:t>→</a:t>
            </a:r>
            <a:endParaRPr b="1" sz="2100">
              <a:solidFill>
                <a:srgbClr val="5F6B7A"/>
              </a:solidFill>
            </a:endParaRPr>
          </a:p>
        </p:txBody>
      </p:sp>
      <p:sp>
        <p:nvSpPr>
          <p:cNvPr id="1108" name="Google Shape;1108;p65"/>
          <p:cNvSpPr/>
          <p:nvPr/>
        </p:nvSpPr>
        <p:spPr>
          <a:xfrm>
            <a:off x="4654296" y="1188720"/>
            <a:ext cx="1783200" cy="1079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5"/>
          <p:cNvSpPr/>
          <p:nvPr/>
        </p:nvSpPr>
        <p:spPr>
          <a:xfrm>
            <a:off x="4654296" y="1188720"/>
            <a:ext cx="63900" cy="1079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5"/>
          <p:cNvSpPr txBox="1"/>
          <p:nvPr/>
        </p:nvSpPr>
        <p:spPr>
          <a:xfrm>
            <a:off x="4818888" y="1298448"/>
            <a:ext cx="149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5A623"/>
                </a:solidFill>
              </a:rPr>
              <a:t>3 · SELECT</a:t>
            </a:r>
            <a:endParaRPr sz="1200">
              <a:solidFill>
                <a:srgbClr val="F5A623"/>
              </a:solidFill>
            </a:endParaRPr>
          </a:p>
        </p:txBody>
      </p:sp>
      <p:sp>
        <p:nvSpPr>
          <p:cNvPr id="1111" name="Google Shape;1111;p65"/>
          <p:cNvSpPr txBox="1"/>
          <p:nvPr/>
        </p:nvSpPr>
        <p:spPr>
          <a:xfrm>
            <a:off x="4818888" y="1581912"/>
            <a:ext cx="1499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online or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pre-quantized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12" name="Google Shape;1112;p65"/>
          <p:cNvSpPr txBox="1"/>
          <p:nvPr/>
        </p:nvSpPr>
        <p:spPr>
          <a:xfrm>
            <a:off x="6483096" y="1581912"/>
            <a:ext cx="21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5F6B7A"/>
                </a:solidFill>
              </a:rPr>
              <a:t>→</a:t>
            </a:r>
            <a:endParaRPr b="1" sz="2100">
              <a:solidFill>
                <a:srgbClr val="5F6B7A"/>
              </a:solidFill>
            </a:endParaRPr>
          </a:p>
        </p:txBody>
      </p:sp>
      <p:sp>
        <p:nvSpPr>
          <p:cNvPr id="1113" name="Google Shape;1113;p65"/>
          <p:cNvSpPr/>
          <p:nvPr/>
        </p:nvSpPr>
        <p:spPr>
          <a:xfrm>
            <a:off x="6729984" y="1188720"/>
            <a:ext cx="1783200" cy="10791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5"/>
          <p:cNvSpPr/>
          <p:nvPr/>
        </p:nvSpPr>
        <p:spPr>
          <a:xfrm>
            <a:off x="6729984" y="1188720"/>
            <a:ext cx="63900" cy="10791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65"/>
          <p:cNvSpPr txBox="1"/>
          <p:nvPr/>
        </p:nvSpPr>
        <p:spPr>
          <a:xfrm>
            <a:off x="6894576" y="1298448"/>
            <a:ext cx="149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4DCC"/>
                </a:solidFill>
              </a:rPr>
              <a:t>4 · VALIDATE</a:t>
            </a:r>
            <a:endParaRPr sz="1200">
              <a:solidFill>
                <a:srgbClr val="7C4DCC"/>
              </a:solidFill>
            </a:endParaRPr>
          </a:p>
        </p:txBody>
      </p:sp>
      <p:sp>
        <p:nvSpPr>
          <p:cNvPr id="1116" name="Google Shape;1116;p65"/>
          <p:cNvSpPr txBox="1"/>
          <p:nvPr/>
        </p:nvSpPr>
        <p:spPr>
          <a:xfrm>
            <a:off x="6894576" y="1581912"/>
            <a:ext cx="1499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model · backend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hardware · quality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17" name="Google Shape;1117;p65"/>
          <p:cNvSpPr/>
          <p:nvPr/>
        </p:nvSpPr>
        <p:spPr>
          <a:xfrm>
            <a:off x="502920" y="2542032"/>
            <a:ext cx="2926200" cy="12528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5"/>
          <p:cNvSpPr/>
          <p:nvPr/>
        </p:nvSpPr>
        <p:spPr>
          <a:xfrm>
            <a:off x="502920" y="2542032"/>
            <a:ext cx="63900" cy="1252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65"/>
          <p:cNvSpPr txBox="1"/>
          <p:nvPr/>
        </p:nvSpPr>
        <p:spPr>
          <a:xfrm>
            <a:off x="667512" y="2651760"/>
            <a:ext cx="264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82F6"/>
                </a:solidFill>
              </a:rPr>
              <a:t>ONLINE</a:t>
            </a:r>
            <a:endParaRPr sz="1800">
              <a:solidFill>
                <a:srgbClr val="3B82F6"/>
              </a:solidFill>
            </a:endParaRPr>
          </a:p>
        </p:txBody>
      </p:sp>
      <p:sp>
        <p:nvSpPr>
          <p:cNvPr id="1120" name="Google Shape;1120;p65"/>
          <p:cNvSpPr txBox="1"/>
          <p:nvPr/>
        </p:nvSpPr>
        <p:spPr>
          <a:xfrm>
            <a:off x="667512" y="2953512"/>
            <a:ext cx="2642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FP8 W8A8 · Int8 W8A8 · MXFP8 W8A8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MXFP4 W4A4 · BitsAndBytes W4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21" name="Google Shape;1121;p65"/>
          <p:cNvSpPr/>
          <p:nvPr/>
        </p:nvSpPr>
        <p:spPr>
          <a:xfrm>
            <a:off x="3611880" y="2542032"/>
            <a:ext cx="3063300" cy="12528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5"/>
          <p:cNvSpPr/>
          <p:nvPr/>
        </p:nvSpPr>
        <p:spPr>
          <a:xfrm>
            <a:off x="3611880" y="2542032"/>
            <a:ext cx="63900" cy="1252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5"/>
          <p:cNvSpPr txBox="1"/>
          <p:nvPr/>
        </p:nvSpPr>
        <p:spPr>
          <a:xfrm>
            <a:off x="3776472" y="2651760"/>
            <a:ext cx="277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A623"/>
                </a:solidFill>
              </a:rPr>
              <a:t>PRE-QUANTIZED</a:t>
            </a:r>
            <a:endParaRPr sz="1800">
              <a:solidFill>
                <a:srgbClr val="F5A623"/>
              </a:solidFill>
            </a:endParaRPr>
          </a:p>
        </p:txBody>
      </p:sp>
      <p:sp>
        <p:nvSpPr>
          <p:cNvPr id="1124" name="Google Shape;1124;p65"/>
          <p:cNvSpPr txBox="1"/>
          <p:nvPr/>
        </p:nvSpPr>
        <p:spPr>
          <a:xfrm>
            <a:off x="3776472" y="2953512"/>
            <a:ext cx="2779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ModelOpt · AutoRound · msModelSlim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serialized Int8 · offline MXFP8 / MXFP4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25" name="Google Shape;1125;p65"/>
          <p:cNvSpPr/>
          <p:nvPr/>
        </p:nvSpPr>
        <p:spPr>
          <a:xfrm>
            <a:off x="6858000" y="2542032"/>
            <a:ext cx="1691700" cy="12528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5"/>
          <p:cNvSpPr/>
          <p:nvPr/>
        </p:nvSpPr>
        <p:spPr>
          <a:xfrm>
            <a:off x="6858000" y="2542032"/>
            <a:ext cx="63900" cy="1252800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5"/>
          <p:cNvSpPr txBox="1"/>
          <p:nvPr/>
        </p:nvSpPr>
        <p:spPr>
          <a:xfrm>
            <a:off x="7022592" y="2651760"/>
            <a:ext cx="140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C4DCC"/>
                </a:solidFill>
              </a:rPr>
              <a:t>PLUGIN</a:t>
            </a:r>
            <a:endParaRPr sz="1800">
              <a:solidFill>
                <a:srgbClr val="7C4DCC"/>
              </a:solidFill>
            </a:endParaRPr>
          </a:p>
        </p:txBody>
      </p:sp>
      <p:sp>
        <p:nvSpPr>
          <p:cNvPr id="1128" name="Google Shape;1128;p65"/>
          <p:cNvSpPr txBox="1"/>
          <p:nvPr/>
        </p:nvSpPr>
        <p:spPr>
          <a:xfrm>
            <a:off x="7022592" y="2953512"/>
            <a:ext cx="1408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GGUF via</a:t>
            </a:r>
            <a:endParaRPr sz="1200">
              <a:solidFill>
                <a:srgbClr val="0B1F33"/>
              </a:solidFill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1F33"/>
                </a:solidFill>
              </a:rPr>
              <a:t>vllm-gguf-plugin</a:t>
            </a:r>
            <a:endParaRPr sz="1200">
              <a:solidFill>
                <a:srgbClr val="0B1F33"/>
              </a:solidFill>
            </a:endParaRPr>
          </a:p>
        </p:txBody>
      </p:sp>
      <p:sp>
        <p:nvSpPr>
          <p:cNvPr id="1129" name="Google Shape;1129;p65"/>
          <p:cNvSpPr/>
          <p:nvPr/>
        </p:nvSpPr>
        <p:spPr>
          <a:xfrm>
            <a:off x="502920" y="4087368"/>
            <a:ext cx="8046600" cy="384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5"/>
          <p:cNvSpPr txBox="1"/>
          <p:nvPr/>
        </p:nvSpPr>
        <p:spPr>
          <a:xfrm>
            <a:off x="658368" y="4169664"/>
            <a:ext cx="7735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365D"/>
                </a:solidFill>
              </a:rPr>
              <a:t>Quantize the heavy transformer path; keep precision-sensitive components in BF16 unless support is explicit.</a:t>
            </a:r>
            <a:endParaRPr sz="1200">
              <a:solidFill>
                <a:srgbClr val="17365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