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  <p:sldMasterId id="2147483673" r:id="rId7"/>
    <p:sldMasterId id="214748368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</p:sldIdLst>
  <p:sldSz cy="5143500" cx="9144000"/>
  <p:notesSz cx="6858000" cy="9144000"/>
  <p:embeddedFontLst>
    <p:embeddedFont>
      <p:font typeface="Poppins"/>
      <p:regular r:id="rId55"/>
      <p:bold r:id="rId56"/>
      <p:italic r:id="rId57"/>
      <p:boldItalic r:id="rId58"/>
    </p:embeddedFont>
    <p:embeddedFont>
      <p:font typeface="Lexend"/>
      <p:regular r:id="rId59"/>
      <p:bold r:id="rId60"/>
    </p:embeddedFont>
    <p:embeddedFont>
      <p:font typeface="Mona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jk49fU9VoNo5SHLPzArliFzB/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B9359-9EB7-4E2F-ADF7-650C0D749B16}">
  <a:tblStyle styleId="{5B8B9359-9EB7-4E2F-ADF7-650C0D749B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D78B3ED-F74E-4991-B72F-C2F8A367AB2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font" Target="fonts/MonaSans-bold.fntdata"/><Relationship Id="rId61" Type="http://schemas.openxmlformats.org/officeDocument/2006/relationships/font" Target="fonts/MonaSans-regular.fntdata"/><Relationship Id="rId20" Type="http://schemas.openxmlformats.org/officeDocument/2006/relationships/slide" Target="slides/slide11.xml"/><Relationship Id="rId64" Type="http://schemas.openxmlformats.org/officeDocument/2006/relationships/font" Target="fonts/MonaSans-boldItalic.fntdata"/><Relationship Id="rId63" Type="http://schemas.openxmlformats.org/officeDocument/2006/relationships/font" Target="fonts/MonaSans-italic.fntdata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65" Type="http://customschemas.google.com/relationships/presentationmetadata" Target="metadata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60" Type="http://schemas.openxmlformats.org/officeDocument/2006/relationships/font" Target="fonts/Lexend-bold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font" Target="fonts/Poppins-regular.fntdata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font" Target="fonts/Poppins-italic.fntdata"/><Relationship Id="rId12" Type="http://schemas.openxmlformats.org/officeDocument/2006/relationships/slide" Target="slides/slide3.xml"/><Relationship Id="rId56" Type="http://schemas.openxmlformats.org/officeDocument/2006/relationships/font" Target="fonts/Poppins-bold.fntdata"/><Relationship Id="rId15" Type="http://schemas.openxmlformats.org/officeDocument/2006/relationships/slide" Target="slides/slide6.xml"/><Relationship Id="rId59" Type="http://schemas.openxmlformats.org/officeDocument/2006/relationships/font" Target="fonts/Lexend-regular.fntdata"/><Relationship Id="rId14" Type="http://schemas.openxmlformats.org/officeDocument/2006/relationships/slide" Target="slides/slide5.xml"/><Relationship Id="rId58" Type="http://schemas.openxmlformats.org/officeDocument/2006/relationships/font" Target="fonts/Poppins-boldItalic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l00599021\AppData\Roaming\WeLink_Desktop\appdata\IM\l00599021\DownloadFiles\&#26119;&#33150;&#27979;&#35797;&#25968;&#25454;-&#30011;&#22270;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l00599021\AppData\Roaming\WeLink_Desktop\appdata\IM\l00599021\DownloadFiles\&#26119;&#33150;&#27979;&#35797;&#25968;&#25454;-&#30011;&#22270;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49423057230293"/>
          <c:y val="3.2065878049586653E-2"/>
          <c:w val="0.80259273087452621"/>
          <c:h val="0.826578458340525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v0.18.0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Sheet1!$A$3:$A$4</c:f>
              <c:strCache>
                <c:ptCount val="2"/>
                <c:pt idx="0">
                  <c:v>Qwen-Image-Edit-2511</c:v>
                </c:pt>
                <c:pt idx="1">
                  <c:v>Wan2.2-I2V-A14B-4steps</c:v>
                </c:pt>
              </c:strCache>
            </c:strRef>
          </c:cat>
          <c:val>
            <c:numRef>
              <c:f>Sheet1!$B$3:$B$4</c:f>
              <c:numCache>
                <c:formatCode>General</c:formatCode>
                <c:ptCount val="2"/>
                <c:pt idx="0">
                  <c:v>145.4</c:v>
                </c:pt>
                <c:pt idx="1">
                  <c:v>88.44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11-4859-9509-EB4DA4EB963C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v0.20.0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Sheet1!$A$3:$A$4</c:f>
              <c:strCache>
                <c:ptCount val="2"/>
                <c:pt idx="0">
                  <c:v>Qwen-Image-Edit-2511</c:v>
                </c:pt>
                <c:pt idx="1">
                  <c:v>Wan2.2-I2V-A14B-4steps</c:v>
                </c:pt>
              </c:strCache>
            </c:strRef>
          </c:cat>
          <c:val>
            <c:numRef>
              <c:f>Sheet1!$C$3:$C$4</c:f>
              <c:numCache>
                <c:formatCode>General</c:formatCode>
                <c:ptCount val="2"/>
                <c:pt idx="0">
                  <c:v>44.98</c:v>
                </c:pt>
                <c:pt idx="1">
                  <c:v>37.369999999999997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11-4859-9509-EB4DA4EB9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6308655"/>
        <c:axId val="836309615"/>
      </c:barChart>
      <c:catAx>
        <c:axId val="83630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836309615"/>
        <c:crosses val="autoZero"/>
        <c:auto val="1"/>
        <c:lblAlgn val="ctr"/>
        <c:lblOffset val="100"/>
        <c:noMultiLvlLbl val="0"/>
      </c:catAx>
      <c:valAx>
        <c:axId val="836309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Latency (s)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c:rich>
          </c:tx>
          <c:layout>
            <c:manualLayout>
              <c:xMode val="edge"/>
              <c:yMode val="edge"/>
              <c:x val="3.0555555555555555E-2"/>
              <c:y val="0.318507971054679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836308655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6593372703412079"/>
          <c:y val="0.10969450809445756"/>
          <c:w val="0.25128018372703415"/>
          <c:h val="5.08343942283704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WAN 2.2 720P</a:t>
            </a:r>
            <a:r>
              <a:rPr lang="en-US" altLang="zh-CN" baseline="0" dirty="0"/>
              <a:t> on NPU</a:t>
            </a:r>
            <a:endParaRPr lang="zh-CN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Sheet2!$C$6:$C$10</c:f>
              <c:strCache>
                <c:ptCount val="5"/>
                <c:pt idx="0">
                  <c:v>base</c:v>
                </c:pt>
                <c:pt idx="1">
                  <c:v>vae parallel</c:v>
                </c:pt>
                <c:pt idx="2">
                  <c:v>norm</c:v>
                </c:pt>
                <c:pt idx="3">
                  <c:v>MindIE LA</c:v>
                </c:pt>
                <c:pt idx="4">
                  <c:v>ROPE</c:v>
                </c:pt>
              </c:strCache>
            </c:strRef>
          </c:cat>
          <c:val>
            <c:numRef>
              <c:f>Sheet2!$D$6:$D$10</c:f>
              <c:numCache>
                <c:formatCode>General</c:formatCode>
                <c:ptCount val="5"/>
                <c:pt idx="0">
                  <c:v>88.44</c:v>
                </c:pt>
                <c:pt idx="1">
                  <c:v>56.37</c:v>
                </c:pt>
                <c:pt idx="2">
                  <c:v>53.86</c:v>
                </c:pt>
                <c:pt idx="3">
                  <c:v>40.96</c:v>
                </c:pt>
                <c:pt idx="4">
                  <c:v>37.369999999999997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C-48CC-9E44-AB981387B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1967295"/>
        <c:axId val="1281968543"/>
      </c:barChart>
      <c:catAx>
        <c:axId val="1281967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dirty="0"/>
                  <a:t>Detailed optimization methods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81968543"/>
        <c:crosses val="autoZero"/>
        <c:auto val="1"/>
        <c:lblAlgn val="ctr"/>
        <c:lblOffset val="100"/>
        <c:noMultiLvlLbl val="0"/>
      </c:catAx>
      <c:valAx>
        <c:axId val="12819685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latency(s)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8196729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从上到下调度的框架是相同的：</a:t>
            </a:r>
            <a:br>
              <a:rPr lang="en-US"/>
            </a:br>
            <a:r>
              <a:rPr lang="en-US"/>
              <a:t>scheduler做请求调度，根据worker的状态和负载决定把请求发给哪个Worker</a:t>
            </a:r>
            <a:br>
              <a:rPr lang="en-US"/>
            </a:br>
            <a:r>
              <a:rPr lang="en-US"/>
              <a:t>woker 一个worker进程跑一个diffusion pipeline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diffusion pieline和DiT模型的实现方式不同：</a:t>
            </a:r>
            <a:br>
              <a:rPr lang="en-US"/>
            </a:br>
            <a:r>
              <a:rPr lang="en-US"/>
              <a:t>方案1：直接用diffusers DifffusinPipeline，通过diffusers的from_pretrained，generation支持各种生图/视频模型。其中把text encoder替换为vllm的实现；直接调第三方兼容diffusers的加速库做Cache/并行加速</a:t>
            </a:r>
            <a:br>
              <a:rPr lang="en-US"/>
            </a:br>
            <a:r>
              <a:rPr lang="en-US"/>
              <a:t>方案2：vllm-omni重新实现，用vllm和vllm-omni底层的并行layers，attention kernels，ops等重写dit模型，具体的并行，cache策略跟模型结构相关并深度优化</a:t>
            </a:r>
            <a:endParaRPr/>
          </a:p>
        </p:txBody>
      </p:sp>
      <p:sp>
        <p:nvSpPr>
          <p:cNvPr id="710" name="Google Shape;710;p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5" name="Google Shape;895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eeb37b98d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eeb37b98d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9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8" name="Google Shape;1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29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" name="Google Shape;2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0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26" name="Google Shape;26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" name="Google Shape;27;p30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8" name="Google Shape;2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5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type="title"/>
          </p:nvPr>
        </p:nvSpPr>
        <p:spPr>
          <a:xfrm>
            <a:off x="311700" y="287300"/>
            <a:ext cx="8520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311700" y="1094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→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᠆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95308" y="4827467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6" name="Google Shape;106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9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0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3" name="Google Shape;133;p10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10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0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0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0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10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10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0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170" name="Google Shape;170;p10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1" name="Google Shape;171;p10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1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1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8" name="Google Shape;178;p11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1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1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1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1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1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11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1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1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" name="Google Shape;205;p102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" name="Google Shape;20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1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0" name="Google Shape;210;p11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1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1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1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6" name="Google Shape;216;p11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1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1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1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11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11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1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1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9" name="Google Shape;229;p11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1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1" name="Google Shape;231;p11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11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1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247" name="Google Shape;247;p11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48" name="Google Shape;248;p11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2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12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55" name="Google Shape;255;p12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2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2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2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2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2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2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2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12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2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2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" name="Google Shape;9;p28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0" name="Google Shape;10;p2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" name="Google Shape;11;p2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2" name="Google Shape;12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8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9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9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9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9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6" name="Google Shape;116;p98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117" name="Google Shape;117;p9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" name="Google Shape;118;p9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19" name="Google Shape;119;p9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10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10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10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10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9" name="Google Shape;199;p101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200" name="Google Shape;200;p10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1" name="Google Shape;201;p101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2" name="Google Shape;202;p10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0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31.png"/><Relationship Id="rId13" Type="http://schemas.openxmlformats.org/officeDocument/2006/relationships/image" Target="../media/image15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7" Type="http://schemas.openxmlformats.org/officeDocument/2006/relationships/image" Target="../media/image17.jpg"/><Relationship Id="rId16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18" Type="http://schemas.openxmlformats.org/officeDocument/2006/relationships/image" Target="../media/image27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hyperlink" Target="https://github.com/vllm-project/vllm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3.jp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Relationship Id="rId4" Type="http://schemas.openxmlformats.org/officeDocument/2006/relationships/hyperlink" Target="https://github.com/verl-project/verl-omni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ithub.com/vllm-project/vllm-omni/pull/4192" TargetMode="External"/><Relationship Id="rId4" Type="http://schemas.openxmlformats.org/officeDocument/2006/relationships/image" Target="../media/image44.png"/><Relationship Id="rId9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hyperlink" Target="https://arxiv.org/abs/2605.31057" TargetMode="External"/><Relationship Id="rId8" Type="http://schemas.openxmlformats.org/officeDocument/2006/relationships/hyperlink" Target="https://github.com/JiusiServe/LongVideoSparseAttention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47.png"/><Relationship Id="rId6" Type="http://schemas.openxmlformats.org/officeDocument/2006/relationships/image" Target="../media/image41.png"/><Relationship Id="rId7" Type="http://schemas.openxmlformats.org/officeDocument/2006/relationships/image" Target="../media/image52.png"/><Relationship Id="rId8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67.png"/><Relationship Id="rId6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4.png"/><Relationship Id="rId4" Type="http://schemas.openxmlformats.org/officeDocument/2006/relationships/image" Target="../media/image53.png"/><Relationship Id="rId9" Type="http://schemas.openxmlformats.org/officeDocument/2006/relationships/image" Target="../media/image62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Relationship Id="rId8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jp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1.jpg"/><Relationship Id="rId5" Type="http://schemas.openxmlformats.org/officeDocument/2006/relationships/hyperlink" Target="https://github.com/vllm-project/vllm" TargetMode="External"/><Relationship Id="rId6" Type="http://schemas.openxmlformats.org/officeDocument/2006/relationships/image" Target="../media/image3.jpg"/><Relationship Id="rId7" Type="http://schemas.openxmlformats.org/officeDocument/2006/relationships/image" Target="../media/image57.png"/><Relationship Id="rId8" Type="http://schemas.openxmlformats.org/officeDocument/2006/relationships/hyperlink" Target="https://communityinviter.com/apps/vllm-dev/join-vllm-developers-sla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/>
          <p:nvPr>
            <p:ph type="ctrTitle"/>
          </p:nvPr>
        </p:nvSpPr>
        <p:spPr>
          <a:xfrm>
            <a:off x="692700" y="744575"/>
            <a:ext cx="7572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2800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meetup</a:t>
            </a:r>
            <a:endParaRPr sz="2800"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692700" y="2834125"/>
            <a:ext cx="7408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Apr 2026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1"/>
          <p:cNvCxnSpPr/>
          <p:nvPr/>
        </p:nvCxnSpPr>
        <p:spPr>
          <a:xfrm>
            <a:off x="540300" y="1971125"/>
            <a:ext cx="0" cy="18627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vllm-omni" id="277" name="Google Shape;27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00" y="882097"/>
            <a:ext cx="4067640" cy="7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3" name="Google Shape;2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900"/>
            <a:ext cx="9144000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8546" y="2636118"/>
            <a:ext cx="667362" cy="7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4933" y="2636118"/>
            <a:ext cx="667362" cy="7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962" y="2697930"/>
            <a:ext cx="344595" cy="12723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"/>
          <p:cNvSpPr/>
          <p:nvPr/>
        </p:nvSpPr>
        <p:spPr>
          <a:xfrm>
            <a:off x="2868328" y="4840765"/>
            <a:ext cx="1299411" cy="140307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"/>
          <p:cNvSpPr txBox="1"/>
          <p:nvPr/>
        </p:nvSpPr>
        <p:spPr>
          <a:xfrm>
            <a:off x="2815385" y="4778212"/>
            <a:ext cx="24928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docs.vllm.ai/projects/vllm-omni/en/latest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6251608" y="4838548"/>
            <a:ext cx="1034716" cy="140307"/>
          </a:xfrm>
          <a:prstGeom prst="rect">
            <a:avLst/>
          </a:prstGeom>
          <a:solidFill>
            <a:srgbClr val="1D2F50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"/>
          <p:cNvSpPr txBox="1"/>
          <p:nvPr/>
        </p:nvSpPr>
        <p:spPr>
          <a:xfrm>
            <a:off x="6199904" y="4778846"/>
            <a:ext cx="24928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Wednesday 19:30 PDT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4146475" y="2105247"/>
            <a:ext cx="453880" cy="170120"/>
          </a:xfrm>
          <a:prstGeom prst="rect">
            <a:avLst/>
          </a:prstGeom>
          <a:solidFill>
            <a:srgbClr val="F1F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 txBox="1"/>
          <p:nvPr/>
        </p:nvSpPr>
        <p:spPr>
          <a:xfrm>
            <a:off x="4174827" y="2067803"/>
            <a:ext cx="55289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Our Goal</a:t>
            </a:r>
            <a:endParaRPr/>
          </a:p>
        </p:txBody>
      </p:sp>
      <p:sp>
        <p:nvSpPr>
          <p:cNvPr id="298" name="Google Shape;298;p5"/>
          <p:cNvSpPr txBox="1"/>
          <p:nvPr>
            <p:ph idx="1" type="body"/>
          </p:nvPr>
        </p:nvSpPr>
        <p:spPr>
          <a:xfrm>
            <a:off x="1490275" y="940375"/>
            <a:ext cx="61638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000">
                <a:solidFill>
                  <a:schemeClr val="dk1"/>
                </a:solidFill>
              </a:rPr>
              <a:t>Build the </a:t>
            </a:r>
            <a:r>
              <a:rPr lang="en-US" sz="2400">
                <a:solidFill>
                  <a:srgbClr val="4A86E8"/>
                </a:solidFill>
              </a:rPr>
              <a:t>fastest</a:t>
            </a:r>
            <a:r>
              <a:rPr lang="en-US" sz="3000">
                <a:solidFill>
                  <a:schemeClr val="dk1"/>
                </a:solidFill>
              </a:rPr>
              <a:t> and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3000">
                <a:solidFill>
                  <a:srgbClr val="4A86E8"/>
                </a:solidFill>
              </a:rPr>
              <a:t>easiest-to-use</a:t>
            </a:r>
            <a:r>
              <a:rPr lang="en-US" sz="30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open-source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US" sz="3000">
                <a:solidFill>
                  <a:schemeClr val="dk1"/>
                </a:solidFill>
              </a:rPr>
              <a:t>Omni-Modality model </a:t>
            </a:r>
            <a:r>
              <a:rPr lang="en-US" sz="2400">
                <a:solidFill>
                  <a:schemeClr val="dk1"/>
                </a:solidFill>
              </a:rPr>
              <a:t>inference &amp; serving engine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99" name="Google Shape;29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Lexend"/>
              <a:buNone/>
            </a:pPr>
            <a:r>
              <a:rPr lang="en-US"/>
              <a:t>Omni-Modality models</a:t>
            </a:r>
            <a:endParaRPr/>
          </a:p>
        </p:txBody>
      </p:sp>
      <p:sp>
        <p:nvSpPr>
          <p:cNvPr id="305" name="Google Shape;30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632966" y="773853"/>
            <a:ext cx="8113842" cy="13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Omni-modality</a:t>
            </a:r>
            <a:r>
              <a:rPr b="0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: Text, image, video, and audio data processing</a:t>
            </a:r>
            <a:endParaRPr b="0" i="0" sz="1600" u="none" cap="none" strike="noStrike">
              <a:solidFill>
                <a:srgbClr val="1F23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Non-autoregressive Architectures</a:t>
            </a:r>
            <a:r>
              <a:rPr b="0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: extend the AR support of vLLM to Diffusion Transformers (DiT) and other parallel generation models</a:t>
            </a:r>
            <a:endParaRPr b="0" i="0" sz="1600" u="none" cap="none" strike="noStrike">
              <a:solidFill>
                <a:srgbClr val="1F23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Heterogeneous outputs</a:t>
            </a:r>
            <a:r>
              <a:rPr b="0" i="0" lang="en-US" sz="16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: from traditional text generation to multimodal outputs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llm-omni" id="307" name="Google Shape;3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145" y="2174558"/>
            <a:ext cx="5052568" cy="2105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/>
        </p:nvSpPr>
        <p:spPr>
          <a:xfrm>
            <a:off x="2022875" y="205800"/>
            <a:ext cx="4505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Broad Model Support</a:t>
            </a:r>
            <a:endParaRPr b="0" i="0" sz="2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56"/>
          <p:cNvSpPr txBox="1"/>
          <p:nvPr/>
        </p:nvSpPr>
        <p:spPr>
          <a:xfrm>
            <a:off x="528696" y="707265"/>
            <a:ext cx="8247935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vLLM-Omni supports 40+ popular omni and diffusion model architectures(growing rapidly)</a:t>
            </a:r>
            <a:endParaRPr b="0" i="0" sz="14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4" name="Google Shape;31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979" y="3849339"/>
            <a:ext cx="2790199" cy="86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56"/>
          <p:cNvGrpSpPr/>
          <p:nvPr/>
        </p:nvGrpSpPr>
        <p:grpSpPr>
          <a:xfrm>
            <a:off x="2891991" y="1222747"/>
            <a:ext cx="1245000" cy="1021354"/>
            <a:chOff x="2818167" y="1105175"/>
            <a:chExt cx="1245000" cy="1021354"/>
          </a:xfrm>
        </p:grpSpPr>
        <p:pic>
          <p:nvPicPr>
            <p:cNvPr id="316" name="Google Shape;316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0402" y="1105175"/>
              <a:ext cx="491602" cy="5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56"/>
            <p:cNvSpPr txBox="1"/>
            <p:nvPr/>
          </p:nvSpPr>
          <p:spPr>
            <a:xfrm>
              <a:off x="2818167" y="1572429"/>
              <a:ext cx="124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Qwen-Omni</a:t>
              </a:r>
              <a:endParaRPr b="1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Qwen-Image</a:t>
              </a:r>
              <a:endParaRPr b="1" i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8" name="Google Shape;318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6863" y="1261362"/>
            <a:ext cx="467275" cy="4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6"/>
          <p:cNvSpPr txBox="1"/>
          <p:nvPr/>
        </p:nvSpPr>
        <p:spPr>
          <a:xfrm>
            <a:off x="4087041" y="1682654"/>
            <a:ext cx="72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BAGEL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6"/>
          <p:cNvSpPr txBox="1"/>
          <p:nvPr/>
        </p:nvSpPr>
        <p:spPr>
          <a:xfrm>
            <a:off x="3120441" y="2694952"/>
            <a:ext cx="788100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Mistral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8478" y="3032453"/>
            <a:ext cx="491602" cy="5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6"/>
          <p:cNvSpPr txBox="1"/>
          <p:nvPr/>
        </p:nvSpPr>
        <p:spPr>
          <a:xfrm>
            <a:off x="3181022" y="3554164"/>
            <a:ext cx="5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179" y="3921955"/>
            <a:ext cx="430200" cy="4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6"/>
          <p:cNvSpPr txBox="1"/>
          <p:nvPr/>
        </p:nvSpPr>
        <p:spPr>
          <a:xfrm>
            <a:off x="4977509" y="4312021"/>
            <a:ext cx="10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Ovis-Image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9651" y="1326230"/>
            <a:ext cx="467275" cy="3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6"/>
          <p:cNvSpPr txBox="1"/>
          <p:nvPr/>
        </p:nvSpPr>
        <p:spPr>
          <a:xfrm>
            <a:off x="5045140" y="1677911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LongCat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0341" y="2127138"/>
            <a:ext cx="604500" cy="5190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6"/>
          <p:cNvSpPr txBox="1"/>
          <p:nvPr/>
        </p:nvSpPr>
        <p:spPr>
          <a:xfrm>
            <a:off x="5191355" y="2685643"/>
            <a:ext cx="49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SD3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86617" y="3056831"/>
            <a:ext cx="510511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6"/>
          <p:cNvSpPr txBox="1"/>
          <p:nvPr/>
        </p:nvSpPr>
        <p:spPr>
          <a:xfrm>
            <a:off x="5191907" y="3546714"/>
            <a:ext cx="5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8696" y="1242408"/>
            <a:ext cx="2053966" cy="2478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6"/>
          <p:cNvSpPr txBox="1"/>
          <p:nvPr/>
        </p:nvSpPr>
        <p:spPr>
          <a:xfrm>
            <a:off x="4069112" y="2681738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Image/3D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14714" y="3945054"/>
            <a:ext cx="467275" cy="40885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6"/>
          <p:cNvSpPr txBox="1"/>
          <p:nvPr/>
        </p:nvSpPr>
        <p:spPr>
          <a:xfrm>
            <a:off x="3029263" y="4304695"/>
            <a:ext cx="8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StepFun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60356" y="3942069"/>
            <a:ext cx="430075" cy="42543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6"/>
          <p:cNvSpPr txBox="1"/>
          <p:nvPr/>
        </p:nvSpPr>
        <p:spPr>
          <a:xfrm>
            <a:off x="4212878" y="4312808"/>
            <a:ext cx="5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5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37838" y="3108284"/>
            <a:ext cx="430075" cy="42523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6"/>
          <p:cNvSpPr txBox="1"/>
          <p:nvPr/>
        </p:nvSpPr>
        <p:spPr>
          <a:xfrm>
            <a:off x="4181952" y="3548419"/>
            <a:ext cx="6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56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340" name="Google Shape;340;p5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1" name="Google Shape;341;p56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42" name="Google Shape;342;p5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56"/>
          <p:cNvSpPr txBox="1"/>
          <p:nvPr/>
        </p:nvSpPr>
        <p:spPr>
          <a:xfrm>
            <a:off x="3061012" y="4642325"/>
            <a:ext cx="17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…plus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Many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56" title="HY_label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74142" y="2212417"/>
            <a:ext cx="1420126" cy="41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图形用户界面, 文本, 网站&#10;&#10;AI 生成的内容可能不正确。" id="345" name="Google Shape;345;p5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57696" y="1261362"/>
            <a:ext cx="2383190" cy="254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138123" y="2251871"/>
            <a:ext cx="584144" cy="412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Contributors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6583127" y="4263334"/>
            <a:ext cx="4905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519550" y="1365650"/>
            <a:ext cx="3709550" cy="2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Thanks to all the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contributors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who raised issues, participated in discussions, and submitted PRs!</a:t>
            </a:r>
            <a:endParaRPr b="0" i="0" sz="2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5" name="Google Shape;3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4671" y="1298782"/>
            <a:ext cx="345757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 txBox="1"/>
          <p:nvPr>
            <p:ph type="title"/>
          </p:nvPr>
        </p:nvSpPr>
        <p:spPr>
          <a:xfrm>
            <a:off x="731087" y="1916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solidFill>
                  <a:schemeClr val="lt1"/>
                </a:solidFill>
              </a:rPr>
              <a:t>vLLM </a:t>
            </a:r>
            <a:r>
              <a:rPr lang="en-US"/>
              <a:t>Github Repo</a:t>
            </a:r>
            <a:endParaRPr/>
          </a:p>
        </p:txBody>
      </p:sp>
      <p:pic>
        <p:nvPicPr>
          <p:cNvPr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372" y="713565"/>
            <a:ext cx="416150" cy="4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 txBox="1"/>
          <p:nvPr/>
        </p:nvSpPr>
        <p:spPr>
          <a:xfrm>
            <a:off x="2422227" y="690800"/>
            <a:ext cx="5422748" cy="6570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97A7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https://github.com/vllm-project/vllm</a:t>
            </a:r>
            <a:r>
              <a:rPr b="0" i="0" lang="en-US" sz="1800" u="sng" cap="none" strike="noStrike">
                <a:solidFill>
                  <a:srgbClr val="0097A7"/>
                </a:solidFill>
                <a:latin typeface="Consolas"/>
                <a:ea typeface="Consolas"/>
                <a:cs typeface="Consolas"/>
                <a:sym typeface="Consolas"/>
              </a:rPr>
              <a:t>-omni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3" name="Google Shape;36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8022" y="1347873"/>
            <a:ext cx="390500" cy="3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 txBox="1"/>
          <p:nvPr/>
        </p:nvSpPr>
        <p:spPr>
          <a:xfrm>
            <a:off x="2422227" y="1143267"/>
            <a:ext cx="5139874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$ uv pip install vllm==0.20.0 --torch-backend=auto</a:t>
            </a:r>
            <a:endParaRPr b="1" i="0" sz="1400" u="none" cap="none" strike="noStrike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$ uv pip install vllm-omni</a:t>
            </a:r>
            <a:endParaRPr b="1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5" name="Google Shape;36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500" y="1850898"/>
            <a:ext cx="416150" cy="4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 txBox="1"/>
          <p:nvPr/>
        </p:nvSpPr>
        <p:spPr>
          <a:xfrm>
            <a:off x="3993549" y="1834364"/>
            <a:ext cx="1496939" cy="5862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4700+ Stars</a:t>
            </a:r>
            <a:endParaRPr b="1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vllm-omni" id="368" name="Google Shape;36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66487" y="286663"/>
            <a:ext cx="1965001" cy="359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54060" y="2179070"/>
            <a:ext cx="4035879" cy="2688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12"/>
          <p:cNvCxnSpPr/>
          <p:nvPr/>
        </p:nvCxnSpPr>
        <p:spPr>
          <a:xfrm>
            <a:off x="3448987" y="4235116"/>
            <a:ext cx="221298" cy="2620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1" name="Google Shape;371;p12"/>
          <p:cNvSpPr txBox="1"/>
          <p:nvPr/>
        </p:nvSpPr>
        <p:spPr>
          <a:xfrm>
            <a:off x="2960505" y="3864297"/>
            <a:ext cx="976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Official release</a:t>
            </a:r>
            <a:endParaRPr b="0" i="0" sz="1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 txBox="1"/>
          <p:nvPr>
            <p:ph type="ctrTitle"/>
          </p:nvPr>
        </p:nvSpPr>
        <p:spPr>
          <a:xfrm>
            <a:off x="768900" y="668375"/>
            <a:ext cx="7572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System Walkthrough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13"/>
          <p:cNvSpPr txBox="1"/>
          <p:nvPr>
            <p:ph idx="1" type="subTitle"/>
          </p:nvPr>
        </p:nvSpPr>
        <p:spPr>
          <a:xfrm>
            <a:off x="768900" y="2834125"/>
            <a:ext cx="7408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Team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13"/>
          <p:cNvCxnSpPr/>
          <p:nvPr/>
        </p:nvCxnSpPr>
        <p:spPr>
          <a:xfrm>
            <a:off x="532600" y="1122575"/>
            <a:ext cx="0" cy="23763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Goal of the walkthrough</a:t>
            </a:r>
            <a:endParaRPr/>
          </a:p>
        </p:txBody>
      </p:sp>
      <p:sp>
        <p:nvSpPr>
          <p:cNvPr id="384" name="Google Shape;384;p14"/>
          <p:cNvSpPr txBox="1"/>
          <p:nvPr>
            <p:ph idx="1" type="body"/>
          </p:nvPr>
        </p:nvSpPr>
        <p:spPr>
          <a:xfrm>
            <a:off x="536788" y="1017971"/>
            <a:ext cx="8070424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</a:rPr>
              <a:t>Understand how vLLM-Omni processes a </a:t>
            </a:r>
            <a:r>
              <a:rPr b="1" lang="en-US" sz="2200">
                <a:solidFill>
                  <a:schemeClr val="dk1"/>
                </a:solidFill>
              </a:rPr>
              <a:t>multi-modal</a:t>
            </a:r>
            <a:r>
              <a:rPr lang="en-US" sz="2200">
                <a:solidFill>
                  <a:schemeClr val="dk1"/>
                </a:solidFill>
              </a:rPr>
              <a:t> request and generates its </a:t>
            </a:r>
            <a:r>
              <a:rPr b="1" lang="en-US" sz="2200">
                <a:solidFill>
                  <a:schemeClr val="dk1"/>
                </a:solidFill>
              </a:rPr>
              <a:t>multi-modal</a:t>
            </a:r>
            <a:r>
              <a:rPr lang="en-US" sz="2200">
                <a:solidFill>
                  <a:schemeClr val="dk1"/>
                </a:solidFill>
              </a:rPr>
              <a:t> outputs.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</a:rPr>
              <a:t>2.  Learn where to modify if you would like to make a specific modification/contribution.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85" name="Google Shape;38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Multi-modality models</a:t>
            </a:r>
            <a:endParaRPr/>
          </a:p>
        </p:txBody>
      </p:sp>
      <p:sp>
        <p:nvSpPr>
          <p:cNvPr id="391" name="Google Shape;39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5417580" y="2250564"/>
            <a:ext cx="3305292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Backbone: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AR + DiT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Models: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Qwen-Image/GLM-Image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t2i, t2v, i2i...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57"/>
          <p:cNvSpPr txBox="1"/>
          <p:nvPr/>
        </p:nvSpPr>
        <p:spPr>
          <a:xfrm>
            <a:off x="5417580" y="3411811"/>
            <a:ext cx="3414720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Backbone: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AR + Spec. Gen. </a:t>
            </a:r>
            <a:endParaRPr b="0" i="0" sz="14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Models: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BAGEL, Hunyuan Image 3.0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t2i, i2i, i2t...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57"/>
          <p:cNvSpPr txBox="1"/>
          <p:nvPr/>
        </p:nvSpPr>
        <p:spPr>
          <a:xfrm>
            <a:off x="5417580" y="1089317"/>
            <a:ext cx="3351035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Backbone: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(multi)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AR + DiT </a:t>
            </a:r>
            <a:endParaRPr b="0" i="0" sz="1400" u="none" cap="none" strike="noStrike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Models: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Qwen-Omni/Ming-Omni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any-to-any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图示&#10;&#10;AI 生成的内容可能不正确。" id="395" name="Google Shape;39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28" y="908660"/>
            <a:ext cx="4387136" cy="369624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7"/>
          <p:cNvSpPr txBox="1"/>
          <p:nvPr/>
        </p:nvSpPr>
        <p:spPr>
          <a:xfrm>
            <a:off x="311700" y="4742409"/>
            <a:ext cx="63008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Yin, Peiqi, et al. "vLLM-Omni: Fully Disaggregated Serving for Any-to-Any Multimodal Models." arXiv preprint arXiv:2602.02204 (2026).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Multi-modality models: AR/DiT comparison</a:t>
            </a:r>
            <a:endParaRPr/>
          </a:p>
        </p:txBody>
      </p:sp>
      <p:sp>
        <p:nvSpPr>
          <p:cNvPr id="402" name="Google Shape;40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03" name="Google Shape;403;p16"/>
          <p:cNvGraphicFramePr/>
          <p:nvPr/>
        </p:nvGraphicFramePr>
        <p:xfrm>
          <a:off x="1156828" y="1126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{5B8B9359-9EB7-4E2F-ADF7-650C0D749B16}</a:tableStyleId>
              </a:tblPr>
              <a:tblGrid>
                <a:gridCol w="1915050"/>
                <a:gridCol w="2258725"/>
                <a:gridCol w="2656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AR</a:t>
                      </a:r>
                      <a:endParaRPr b="1"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DiT</a:t>
                      </a:r>
                      <a:endParaRPr b="1"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Use cases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Text generation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Multi-modelity generation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Generation process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Token-by-token KV Cache based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Diffusion step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Bottleneck 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Prefill: compute bound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Decode: memory bound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Compute bound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Seq length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varied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Fixed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Attention Mask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causal mask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Full mask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parallelism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TP/DP/EP/PP/CP/SP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TP/EP/USP/CFG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Lexend"/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Main architecture of vLLM-Omni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>
                <a:latin typeface="Lexend"/>
                <a:ea typeface="Lexend"/>
                <a:cs typeface="Lexend"/>
                <a:sym typeface="Lexend"/>
              </a:rPr>
              <a:t>‹#›</a:t>
            </a:fld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98884" y="4833035"/>
            <a:ext cx="487329" cy="170783"/>
          </a:xfrm>
          <a:prstGeom prst="rect">
            <a:avLst/>
          </a:prstGeom>
          <a:solidFill>
            <a:srgbClr val="D4F1F5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1117468" y="4833035"/>
            <a:ext cx="86225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imported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2118462" y="4833035"/>
            <a:ext cx="487329" cy="170783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2657737" y="4833035"/>
            <a:ext cx="8283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modified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3674536" y="4833035"/>
            <a:ext cx="487329" cy="170783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4243801" y="4833035"/>
            <a:ext cx="37271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253638" y="676308"/>
            <a:ext cx="4937129" cy="40578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vLLM-Omni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389716" y="2110810"/>
            <a:ext cx="2632381" cy="1673748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389898" y="1075237"/>
            <a:ext cx="4684697" cy="970203"/>
          </a:xfrm>
          <a:prstGeom prst="rect">
            <a:avLst/>
          </a:prstGeom>
          <a:solidFill>
            <a:srgbClr val="D4F1F5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057309" y="1415973"/>
            <a:ext cx="1512000" cy="254690"/>
          </a:xfrm>
          <a:prstGeom prst="rect">
            <a:avLst/>
          </a:prstGeom>
          <a:solidFill>
            <a:srgbClr val="FFF4CB"/>
          </a:solidFill>
          <a:ln cap="flat" cmpd="sng" w="9525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APIServer</a:t>
            </a:r>
            <a:endParaRPr b="0" i="0" sz="12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3042468" y="1426427"/>
            <a:ext cx="1512000" cy="254690"/>
          </a:xfrm>
          <a:prstGeom prst="rect">
            <a:avLst/>
          </a:prstGeom>
          <a:solidFill>
            <a:srgbClr val="FFC7D1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Omni/AsyncOmni</a:t>
            </a:r>
            <a:endParaRPr b="0" i="0" sz="12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389716" y="3823369"/>
            <a:ext cx="4684698" cy="28125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Model/Layer/Ops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389717" y="4160615"/>
            <a:ext cx="4684697" cy="306577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OmniConnector（E/P/D/G）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3" name="Google Shape;423;p17"/>
          <p:cNvGrpSpPr/>
          <p:nvPr/>
        </p:nvGrpSpPr>
        <p:grpSpPr>
          <a:xfrm>
            <a:off x="456901" y="2409530"/>
            <a:ext cx="2506410" cy="1280113"/>
            <a:chOff x="374990" y="3403119"/>
            <a:chExt cx="5400875" cy="1376803"/>
          </a:xfrm>
        </p:grpSpPr>
        <p:sp>
          <p:nvSpPr>
            <p:cNvPr id="424" name="Google Shape;424;p17"/>
            <p:cNvSpPr/>
            <p:nvPr/>
          </p:nvSpPr>
          <p:spPr>
            <a:xfrm>
              <a:off x="374990" y="3403119"/>
              <a:ext cx="5400871" cy="302493"/>
            </a:xfrm>
            <a:prstGeom prst="rect">
              <a:avLst/>
            </a:prstGeom>
            <a:solidFill>
              <a:srgbClr val="D4F1F5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LLMEngine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374990" y="4115339"/>
              <a:ext cx="5400875" cy="302493"/>
            </a:xfrm>
            <a:prstGeom prst="rect">
              <a:avLst/>
            </a:prstGeom>
            <a:solidFill>
              <a:srgbClr val="D4F1F5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Executor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3180767" y="4473180"/>
              <a:ext cx="2595094" cy="302493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ModelRunner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374991" y="4477429"/>
              <a:ext cx="2595094" cy="302493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Worker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3180767" y="3757006"/>
              <a:ext cx="2595094" cy="302493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Cache Engine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375627" y="3757006"/>
              <a:ext cx="2595094" cy="302493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Scheduler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17"/>
          <p:cNvGrpSpPr/>
          <p:nvPr/>
        </p:nvGrpSpPr>
        <p:grpSpPr>
          <a:xfrm>
            <a:off x="3096362" y="2110810"/>
            <a:ext cx="1978233" cy="1673748"/>
            <a:chOff x="3301912" y="2316885"/>
            <a:chExt cx="1978233" cy="1673748"/>
          </a:xfrm>
        </p:grpSpPr>
        <p:sp>
          <p:nvSpPr>
            <p:cNvPr id="431" name="Google Shape;431;p17"/>
            <p:cNvSpPr/>
            <p:nvPr/>
          </p:nvSpPr>
          <p:spPr>
            <a:xfrm>
              <a:off x="3301912" y="2316885"/>
              <a:ext cx="1978233" cy="1673748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Diffusion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3603305" y="3295741"/>
              <a:ext cx="1397025" cy="247251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Worker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3603305" y="3599704"/>
              <a:ext cx="1397025" cy="349609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ModelRunner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/Pipeline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3603305" y="2962535"/>
              <a:ext cx="1397025" cy="276647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Scheduler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3605349" y="2602997"/>
              <a:ext cx="1397025" cy="276647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DiffusionEngine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6" name="Google Shape;436;p17"/>
          <p:cNvSpPr txBox="1"/>
          <p:nvPr/>
        </p:nvSpPr>
        <p:spPr>
          <a:xfrm>
            <a:off x="5467364" y="778399"/>
            <a:ext cx="3521554" cy="370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Main component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14226" lvl="0" marL="21422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D1A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Entrypoints: </a:t>
            </a: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offline/online serving, StageClient abstraction for model stages(AR/DiT). One runtime, multiple interfaces.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14226" lvl="0" marL="21422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D1A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AR module: </a:t>
            </a: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inherited from vLLM(CB/PA/Prefix Cache…) and adapted to the Omni-modality model</a:t>
            </a:r>
            <a:endParaRPr b="0" i="0" sz="14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14226" lvl="0" marL="21422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D1A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Diffusion module: </a:t>
            </a: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implemented natively and optimized by acceleration components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14226" lvl="0" marL="21422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D1A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Model/Layer/ops: </a:t>
            </a: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parallelism, quantization, attention…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14226" lvl="0" marL="21422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D1D1A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OmniConnector: </a:t>
            </a: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natively supports E/P/D/G disaggregation </a:t>
            </a:r>
            <a:endParaRPr b="0" i="0" sz="14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502414" y="108049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EntryPoints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1070256" y="1739054"/>
            <a:ext cx="3484211" cy="254690"/>
          </a:xfrm>
          <a:prstGeom prst="rect">
            <a:avLst/>
          </a:prstGeom>
          <a:solidFill>
            <a:srgbClr val="FFC7D1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Lexend"/>
                <a:ea typeface="Lexend"/>
                <a:cs typeface="Lexend"/>
                <a:sym typeface="Lexend"/>
              </a:rPr>
              <a:t>Orchestrator</a:t>
            </a:r>
            <a:endParaRPr b="0" i="0" sz="1200" u="none" cap="none" strike="noStrike">
              <a:solidFill>
                <a:srgbClr val="1D1D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Interface Design</a:t>
            </a:r>
            <a:endParaRPr/>
          </a:p>
        </p:txBody>
      </p:sp>
      <p:grpSp>
        <p:nvGrpSpPr>
          <p:cNvPr id="444" name="Google Shape;444;p10"/>
          <p:cNvGrpSpPr/>
          <p:nvPr/>
        </p:nvGrpSpPr>
        <p:grpSpPr>
          <a:xfrm>
            <a:off x="3084050" y="1392718"/>
            <a:ext cx="5188824" cy="728556"/>
            <a:chOff x="3084051" y="1351970"/>
            <a:chExt cx="5188824" cy="728556"/>
          </a:xfrm>
        </p:grpSpPr>
        <p:sp>
          <p:nvSpPr>
            <p:cNvPr id="445" name="Google Shape;445;p10"/>
            <p:cNvSpPr/>
            <p:nvPr/>
          </p:nvSpPr>
          <p:spPr>
            <a:xfrm>
              <a:off x="6280575" y="1351970"/>
              <a:ext cx="1992300" cy="728556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AsyncOmniEngine</a:t>
              </a:r>
              <a:endParaRPr b="0" i="0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engine/async_omni_engine.py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46" name="Google Shape;446;p10"/>
            <p:cNvCxnSpPr>
              <a:stCxn id="447" idx="3"/>
              <a:endCxn id="445" idx="1"/>
            </p:cNvCxnSpPr>
            <p:nvPr/>
          </p:nvCxnSpPr>
          <p:spPr>
            <a:xfrm>
              <a:off x="3084051" y="1711677"/>
              <a:ext cx="3196500" cy="45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48" name="Google Shape;448;p10"/>
          <p:cNvGrpSpPr/>
          <p:nvPr/>
        </p:nvGrpSpPr>
        <p:grpSpPr>
          <a:xfrm>
            <a:off x="3121738" y="1756900"/>
            <a:ext cx="3158735" cy="1812450"/>
            <a:chOff x="3121738" y="1756900"/>
            <a:chExt cx="3158735" cy="1812450"/>
          </a:xfrm>
        </p:grpSpPr>
        <p:cxnSp>
          <p:nvCxnSpPr>
            <p:cNvPr id="449" name="Google Shape;449;p10"/>
            <p:cNvCxnSpPr>
              <a:stCxn id="450" idx="3"/>
              <a:endCxn id="445" idx="1"/>
            </p:cNvCxnSpPr>
            <p:nvPr/>
          </p:nvCxnSpPr>
          <p:spPr>
            <a:xfrm flipH="1" rot="10800000">
              <a:off x="5403273" y="1756900"/>
              <a:ext cx="877200" cy="15018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51" name="Google Shape;451;p10"/>
            <p:cNvGrpSpPr/>
            <p:nvPr/>
          </p:nvGrpSpPr>
          <p:grpSpPr>
            <a:xfrm>
              <a:off x="3121738" y="2902929"/>
              <a:ext cx="2281535" cy="666421"/>
              <a:chOff x="3121738" y="2902929"/>
              <a:chExt cx="2281535" cy="666421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3697575" y="2948050"/>
                <a:ext cx="1705698" cy="6213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AsyncOmni</a:t>
                </a:r>
                <a:endParaRPr b="0" i="0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vllm_omni/entrypoints/async_omni.py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2" name="Google Shape;452;p10"/>
              <p:cNvCxnSpPr>
                <a:stCxn id="453" idx="3"/>
                <a:endCxn id="450" idx="1"/>
              </p:cNvCxnSpPr>
              <p:nvPr/>
            </p:nvCxnSpPr>
            <p:spPr>
              <a:xfrm>
                <a:off x="3121738" y="2902929"/>
                <a:ext cx="575700" cy="355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54" name="Google Shape;454;p10"/>
          <p:cNvGrpSpPr/>
          <p:nvPr/>
        </p:nvGrpSpPr>
        <p:grpSpPr>
          <a:xfrm>
            <a:off x="262114" y="974081"/>
            <a:ext cx="8010761" cy="3451689"/>
            <a:chOff x="262114" y="974081"/>
            <a:chExt cx="8623587" cy="3451689"/>
          </a:xfrm>
        </p:grpSpPr>
        <p:cxnSp>
          <p:nvCxnSpPr>
            <p:cNvPr id="455" name="Google Shape;455;p10"/>
            <p:cNvCxnSpPr/>
            <p:nvPr/>
          </p:nvCxnSpPr>
          <p:spPr>
            <a:xfrm>
              <a:off x="295200" y="2399413"/>
              <a:ext cx="8590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10"/>
            <p:cNvSpPr txBox="1"/>
            <p:nvPr/>
          </p:nvSpPr>
          <p:spPr>
            <a:xfrm rot="-5400000">
              <a:off x="-237986" y="1474181"/>
              <a:ext cx="13938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Synchronous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7" name="Google Shape;457;p10"/>
            <p:cNvSpPr txBox="1"/>
            <p:nvPr/>
          </p:nvSpPr>
          <p:spPr>
            <a:xfrm rot="-5400000">
              <a:off x="-321446" y="3448610"/>
              <a:ext cx="1560719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Asynchronous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8" name="Google Shape;458;p10"/>
          <p:cNvGrpSpPr/>
          <p:nvPr/>
        </p:nvGrpSpPr>
        <p:grpSpPr>
          <a:xfrm>
            <a:off x="3519512" y="760725"/>
            <a:ext cx="3581563" cy="4233025"/>
            <a:chOff x="3519512" y="760725"/>
            <a:chExt cx="3581563" cy="4233025"/>
          </a:xfrm>
        </p:grpSpPr>
        <p:cxnSp>
          <p:nvCxnSpPr>
            <p:cNvPr id="459" name="Google Shape;459;p10"/>
            <p:cNvCxnSpPr/>
            <p:nvPr/>
          </p:nvCxnSpPr>
          <p:spPr>
            <a:xfrm>
              <a:off x="3519512" y="1236550"/>
              <a:ext cx="0" cy="375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460" name="Google Shape;460;p10"/>
            <p:cNvSpPr txBox="1"/>
            <p:nvPr/>
          </p:nvSpPr>
          <p:spPr>
            <a:xfrm>
              <a:off x="4990575" y="760725"/>
              <a:ext cx="21105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Developer Interface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r>
                <a:rPr b="0" i="0" lang="en-US" sz="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vllm/engine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1" name="Google Shape;461;p10"/>
          <p:cNvGrpSpPr/>
          <p:nvPr/>
        </p:nvGrpSpPr>
        <p:grpSpPr>
          <a:xfrm>
            <a:off x="765238" y="3258695"/>
            <a:ext cx="2932200" cy="1199700"/>
            <a:chOff x="765238" y="3258695"/>
            <a:chExt cx="2932200" cy="1199700"/>
          </a:xfrm>
        </p:grpSpPr>
        <p:cxnSp>
          <p:nvCxnSpPr>
            <p:cNvPr id="462" name="Google Shape;462;p10"/>
            <p:cNvCxnSpPr>
              <a:stCxn id="463" idx="3"/>
              <a:endCxn id="450" idx="1"/>
            </p:cNvCxnSpPr>
            <p:nvPr/>
          </p:nvCxnSpPr>
          <p:spPr>
            <a:xfrm flipH="1" rot="10800000">
              <a:off x="3121738" y="3258695"/>
              <a:ext cx="575700" cy="10029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3" name="Google Shape;463;p10"/>
            <p:cNvSpPr/>
            <p:nvPr/>
          </p:nvSpPr>
          <p:spPr>
            <a:xfrm>
              <a:off x="765238" y="4064795"/>
              <a:ext cx="2356500" cy="3936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User custom server</a:t>
              </a:r>
              <a:endParaRPr b="0" i="0" sz="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64" name="Google Shape;464;p10"/>
          <p:cNvSpPr txBox="1"/>
          <p:nvPr/>
        </p:nvSpPr>
        <p:spPr>
          <a:xfrm>
            <a:off x="6348401" y="3900121"/>
            <a:ext cx="2130504" cy="7229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add_request()</a:t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abort_requests()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step()</a:t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10"/>
          <p:cNvSpPr txBox="1"/>
          <p:nvPr/>
        </p:nvSpPr>
        <p:spPr>
          <a:xfrm>
            <a:off x="3501644" y="3607839"/>
            <a:ext cx="2397000" cy="722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async def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generate()</a:t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async def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abort()</a:t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 background engine loop</a:t>
            </a:r>
            <a:endParaRPr b="0"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66" name="Google Shape;466;p10"/>
          <p:cNvGrpSpPr/>
          <p:nvPr/>
        </p:nvGrpSpPr>
        <p:grpSpPr>
          <a:xfrm>
            <a:off x="765238" y="760725"/>
            <a:ext cx="2356500" cy="3194601"/>
            <a:chOff x="765238" y="760725"/>
            <a:chExt cx="2356500" cy="3194601"/>
          </a:xfrm>
        </p:grpSpPr>
        <p:sp>
          <p:nvSpPr>
            <p:cNvPr id="447" name="Google Shape;447;p10"/>
            <p:cNvSpPr/>
            <p:nvPr/>
          </p:nvSpPr>
          <p:spPr>
            <a:xfrm>
              <a:off x="894350" y="1441775"/>
              <a:ext cx="2189700" cy="6213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Omni</a:t>
              </a:r>
              <a:endParaRPr b="0" i="0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entrypoints/omni.py</a:t>
              </a:r>
              <a:endParaRPr b="0" i="0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765238" y="2592279"/>
              <a:ext cx="2356500" cy="6213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openai_api_server</a:t>
              </a:r>
              <a:endParaRPr b="0" i="0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entrypoints/openai/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api_server.py</a:t>
              </a:r>
              <a:endParaRPr b="0" i="0" sz="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67" name="Google Shape;467;p10"/>
            <p:cNvSpPr txBox="1"/>
            <p:nvPr/>
          </p:nvSpPr>
          <p:spPr>
            <a:xfrm>
              <a:off x="933950" y="760725"/>
              <a:ext cx="21105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End-user Interface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</a:br>
              <a:r>
                <a:rPr b="0" i="0" lang="en-US" sz="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vllm_omni/entrypoints</a:t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8" name="Google Shape;468;p10"/>
            <p:cNvSpPr txBox="1"/>
            <p:nvPr/>
          </p:nvSpPr>
          <p:spPr>
            <a:xfrm>
              <a:off x="1180725" y="2000600"/>
              <a:ext cx="162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Batched inference</a:t>
              </a:r>
              <a:endParaRPr b="0" i="1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9" name="Google Shape;469;p10"/>
            <p:cNvSpPr txBox="1"/>
            <p:nvPr/>
          </p:nvSpPr>
          <p:spPr>
            <a:xfrm>
              <a:off x="848638" y="3616626"/>
              <a:ext cx="2189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OpenAI-compatible API server</a:t>
              </a:r>
              <a:endParaRPr b="0" i="1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70" name="Google Shape;47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6054075" y="2562415"/>
            <a:ext cx="1146822" cy="493574"/>
          </a:xfrm>
          <a:prstGeom prst="rect">
            <a:avLst/>
          </a:prstGeom>
          <a:solidFill>
            <a:srgbClr val="C9D9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StageEngineCoreClient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7478525" y="2551685"/>
            <a:ext cx="1273587" cy="493574"/>
          </a:xfrm>
          <a:prstGeom prst="rect">
            <a:avLst/>
          </a:prstGeom>
          <a:solidFill>
            <a:srgbClr val="C9D9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StageDiffusionClient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473" name="Google Shape;473;p10"/>
          <p:cNvCxnSpPr>
            <a:stCxn id="474" idx="2"/>
            <a:endCxn id="471" idx="0"/>
          </p:cNvCxnSpPr>
          <p:nvPr/>
        </p:nvCxnSpPr>
        <p:spPr>
          <a:xfrm rot="5400000">
            <a:off x="6703813" y="1939044"/>
            <a:ext cx="547200" cy="699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5" name="Google Shape;475;p10"/>
          <p:cNvCxnSpPr>
            <a:stCxn id="474" idx="2"/>
            <a:endCxn id="472" idx="0"/>
          </p:cNvCxnSpPr>
          <p:nvPr/>
        </p:nvCxnSpPr>
        <p:spPr>
          <a:xfrm flipH="1" rot="-5400000">
            <a:off x="7453063" y="1889394"/>
            <a:ext cx="536400" cy="7881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4" name="Google Shape;474;p10"/>
          <p:cNvSpPr/>
          <p:nvPr/>
        </p:nvSpPr>
        <p:spPr>
          <a:xfrm>
            <a:off x="6691151" y="1830849"/>
            <a:ext cx="1272124" cy="184395"/>
          </a:xfrm>
          <a:prstGeom prst="rect">
            <a:avLst/>
          </a:prstGeom>
          <a:solidFill>
            <a:srgbClr val="C9D9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Consolas"/>
                <a:ea typeface="Consolas"/>
                <a:cs typeface="Consolas"/>
                <a:sym typeface="Consolas"/>
              </a:rPr>
              <a:t>Orchestrator</a:t>
            </a:r>
            <a:endParaRPr b="0" i="0" sz="1200" u="none" cap="none" strike="noStrike">
              <a:solidFill>
                <a:srgbClr val="1D1D1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6" name="Google Shape;476;p10"/>
          <p:cNvCxnSpPr>
            <a:stCxn id="471" idx="2"/>
            <a:endCxn id="477" idx="0"/>
          </p:cNvCxnSpPr>
          <p:nvPr/>
        </p:nvCxnSpPr>
        <p:spPr>
          <a:xfrm>
            <a:off x="6627486" y="3055989"/>
            <a:ext cx="0" cy="33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10"/>
          <p:cNvSpPr/>
          <p:nvPr/>
        </p:nvSpPr>
        <p:spPr>
          <a:xfrm>
            <a:off x="6054075" y="3388394"/>
            <a:ext cx="1146822" cy="493574"/>
          </a:xfrm>
          <a:prstGeom prst="rect">
            <a:avLst/>
          </a:prstGeom>
          <a:solidFill>
            <a:srgbClr val="C9D9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StageEngineCoreProc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7482837" y="3386415"/>
            <a:ext cx="1263971" cy="493574"/>
          </a:xfrm>
          <a:prstGeom prst="rect">
            <a:avLst/>
          </a:prstGeom>
          <a:solidFill>
            <a:srgbClr val="C9D9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StageDiffusion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Proc</a:t>
            </a:r>
            <a:endParaRPr/>
          </a:p>
        </p:txBody>
      </p:sp>
      <p:cxnSp>
        <p:nvCxnSpPr>
          <p:cNvPr id="479" name="Google Shape;479;p10"/>
          <p:cNvCxnSpPr/>
          <p:nvPr/>
        </p:nvCxnSpPr>
        <p:spPr>
          <a:xfrm flipH="1">
            <a:off x="8114587" y="3042890"/>
            <a:ext cx="1" cy="324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When requests arrive</a:t>
            </a:r>
            <a:endParaRPr/>
          </a:p>
        </p:txBody>
      </p:sp>
      <p:sp>
        <p:nvSpPr>
          <p:cNvPr id="485" name="Google Shape;485;p20"/>
          <p:cNvSpPr txBox="1"/>
          <p:nvPr/>
        </p:nvSpPr>
        <p:spPr>
          <a:xfrm>
            <a:off x="1132223" y="1013605"/>
            <a:ext cx="23513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Example: Qwen3-Omni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86" name="Google Shape;486;p20"/>
          <p:cNvGrpSpPr/>
          <p:nvPr/>
        </p:nvGrpSpPr>
        <p:grpSpPr>
          <a:xfrm>
            <a:off x="901581" y="1387265"/>
            <a:ext cx="2812597" cy="3010301"/>
            <a:chOff x="2017907" y="1097686"/>
            <a:chExt cx="2812597" cy="3010301"/>
          </a:xfrm>
        </p:grpSpPr>
        <p:sp>
          <p:nvSpPr>
            <p:cNvPr id="487" name="Google Shape;487;p20"/>
            <p:cNvSpPr/>
            <p:nvPr/>
          </p:nvSpPr>
          <p:spPr>
            <a:xfrm>
              <a:off x="2017907" y="2695404"/>
              <a:ext cx="2758897" cy="22853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0"/>
            <p:cNvSpPr txBox="1"/>
            <p:nvPr/>
          </p:nvSpPr>
          <p:spPr>
            <a:xfrm>
              <a:off x="2628255" y="2721549"/>
              <a:ext cx="15381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AR-decoder(Thinker)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pic>
          <p:nvPicPr>
            <p:cNvPr id="489" name="Google Shape;489;p20"/>
            <p:cNvPicPr preferRelativeResize="0"/>
            <p:nvPr/>
          </p:nvPicPr>
          <p:blipFill rotWithShape="1">
            <a:blip r:embed="rId3">
              <a:alphaModFix/>
            </a:blip>
            <a:srcRect b="22439" l="2984" r="87190" t="5214"/>
            <a:stretch/>
          </p:blipFill>
          <p:spPr>
            <a:xfrm>
              <a:off x="3310915" y="3731972"/>
              <a:ext cx="345701" cy="376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20"/>
            <p:cNvPicPr preferRelativeResize="0"/>
            <p:nvPr/>
          </p:nvPicPr>
          <p:blipFill rotWithShape="1">
            <a:blip r:embed="rId4">
              <a:alphaModFix/>
            </a:blip>
            <a:srcRect b="36592" l="0" r="79332" t="0"/>
            <a:stretch/>
          </p:blipFill>
          <p:spPr>
            <a:xfrm>
              <a:off x="2261484" y="3810346"/>
              <a:ext cx="489302" cy="2594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20"/>
            <p:cNvSpPr/>
            <p:nvPr/>
          </p:nvSpPr>
          <p:spPr>
            <a:xfrm>
              <a:off x="3030688" y="3178756"/>
              <a:ext cx="825287" cy="376015"/>
            </a:xfrm>
            <a:prstGeom prst="roundRect">
              <a:avLst>
                <a:gd fmla="val 16667" name="adj"/>
              </a:avLst>
            </a:prstGeom>
            <a:solidFill>
              <a:srgbClr val="D8E6FC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0"/>
            <p:cNvSpPr txBox="1"/>
            <p:nvPr/>
          </p:nvSpPr>
          <p:spPr>
            <a:xfrm>
              <a:off x="3039235" y="3193363"/>
              <a:ext cx="8252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Visual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Encoder</a:t>
              </a:r>
              <a:endParaRPr b="0" i="0" sz="11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2135071" y="3179514"/>
              <a:ext cx="825287" cy="376015"/>
            </a:xfrm>
            <a:prstGeom prst="roundRect">
              <a:avLst>
                <a:gd fmla="val 16667" name="adj"/>
              </a:avLst>
            </a:prstGeom>
            <a:solidFill>
              <a:srgbClr val="FBFE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0"/>
            <p:cNvSpPr txBox="1"/>
            <p:nvPr/>
          </p:nvSpPr>
          <p:spPr>
            <a:xfrm>
              <a:off x="2145307" y="3205758"/>
              <a:ext cx="8252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Text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Tokenizer</a:t>
              </a:r>
              <a:endParaRPr b="0" i="0" sz="11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2239313" y="2949535"/>
              <a:ext cx="194799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2461713" y="2949535"/>
              <a:ext cx="194799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2684114" y="2948777"/>
              <a:ext cx="181840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3116147" y="2948019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3347974" y="2947261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3569687" y="2945753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434112" y="3639582"/>
              <a:ext cx="127009" cy="159547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3388373" y="3629782"/>
              <a:ext cx="127009" cy="159547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3100211" y="1979635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3332038" y="1978877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3553751" y="1977369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3014548" y="1578681"/>
              <a:ext cx="1762255" cy="362035"/>
            </a:xfrm>
            <a:prstGeom prst="rect">
              <a:avLst/>
            </a:prstGeom>
            <a:solidFill>
              <a:srgbClr val="FFC0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0"/>
            <p:cNvSpPr txBox="1"/>
            <p:nvPr/>
          </p:nvSpPr>
          <p:spPr>
            <a:xfrm>
              <a:off x="3515382" y="1686025"/>
              <a:ext cx="13151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Code2Wav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3801017" y="1397681"/>
              <a:ext cx="127009" cy="159547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2239313" y="2473947"/>
              <a:ext cx="194799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0"/>
            <p:cNvSpPr/>
            <p:nvPr/>
          </p:nvSpPr>
          <p:spPr>
            <a:xfrm>
              <a:off x="2461713" y="2473947"/>
              <a:ext cx="194799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2684114" y="2473189"/>
              <a:ext cx="181840" cy="180068"/>
            </a:xfrm>
            <a:prstGeom prst="rect">
              <a:avLst/>
            </a:prstGeom>
            <a:solidFill>
              <a:srgbClr val="F7FF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3116147" y="2472431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3347974" y="2471673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3569687" y="2470165"/>
              <a:ext cx="194799" cy="180068"/>
            </a:xfrm>
            <a:prstGeom prst="rect">
              <a:avLst/>
            </a:prstGeom>
            <a:solidFill>
              <a:srgbClr val="B1CD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2017907" y="2199179"/>
              <a:ext cx="2758898" cy="22853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0"/>
            <p:cNvSpPr txBox="1"/>
            <p:nvPr/>
          </p:nvSpPr>
          <p:spPr>
            <a:xfrm>
              <a:off x="2659515" y="2228919"/>
              <a:ext cx="1538199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AR-decoder(Talker)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3997318" y="2955150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4223315" y="2954269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4455948" y="2961297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3951518" y="3177022"/>
              <a:ext cx="825287" cy="376015"/>
            </a:xfrm>
            <a:prstGeom prst="roundRect">
              <a:avLst>
                <a:gd fmla="val 16667" name="adj"/>
              </a:avLst>
            </a:prstGeom>
            <a:solidFill>
              <a:srgbClr val="00B0F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0"/>
            <p:cNvSpPr txBox="1"/>
            <p:nvPr/>
          </p:nvSpPr>
          <p:spPr>
            <a:xfrm>
              <a:off x="3968652" y="3191629"/>
              <a:ext cx="8252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Audio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Encoder</a:t>
              </a:r>
              <a:endParaRPr b="0" i="0" sz="1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2" name="Google Shape;522;p20"/>
            <p:cNvSpPr/>
            <p:nvPr/>
          </p:nvSpPr>
          <p:spPr>
            <a:xfrm>
              <a:off x="3995826" y="2466947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0"/>
            <p:cNvSpPr/>
            <p:nvPr/>
          </p:nvSpPr>
          <p:spPr>
            <a:xfrm>
              <a:off x="4221823" y="2466066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4454456" y="2473094"/>
              <a:ext cx="194799" cy="1800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5" name="Google Shape;52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61990" y="3799130"/>
              <a:ext cx="487264" cy="270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20"/>
            <p:cNvSpPr/>
            <p:nvPr/>
          </p:nvSpPr>
          <p:spPr>
            <a:xfrm>
              <a:off x="4317790" y="3595722"/>
              <a:ext cx="127009" cy="159547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7" name="Google Shape;527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12343" y="1097686"/>
              <a:ext cx="487264" cy="270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20"/>
            <p:cNvSpPr/>
            <p:nvPr/>
          </p:nvSpPr>
          <p:spPr>
            <a:xfrm>
              <a:off x="4002408" y="1986303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4234235" y="1985545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4455948" y="1984037"/>
              <a:ext cx="194799" cy="1800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1" name="Google Shape;5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0646" y="990457"/>
            <a:ext cx="4437517" cy="3109468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4694464" y="1469571"/>
            <a:ext cx="675431" cy="188396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7068205" y="1479788"/>
            <a:ext cx="675431" cy="188396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6912352" y="3156678"/>
            <a:ext cx="675431" cy="188396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0"/>
          <p:cNvSpPr txBox="1"/>
          <p:nvPr/>
        </p:nvSpPr>
        <p:spPr>
          <a:xfrm>
            <a:off x="4599065" y="1450875"/>
            <a:ext cx="8817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StageClient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0"/>
          <p:cNvSpPr txBox="1"/>
          <p:nvPr/>
        </p:nvSpPr>
        <p:spPr>
          <a:xfrm>
            <a:off x="6912352" y="1450874"/>
            <a:ext cx="8817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StageClient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933486" y="1791525"/>
            <a:ext cx="816718" cy="131395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7241201" y="1791524"/>
            <a:ext cx="816718" cy="131395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7179424" y="3480708"/>
            <a:ext cx="816718" cy="131395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"/>
          <p:cNvSpPr txBox="1"/>
          <p:nvPr/>
        </p:nvSpPr>
        <p:spPr>
          <a:xfrm>
            <a:off x="4717354" y="1723696"/>
            <a:ext cx="11904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EngineCoreProc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7040730" y="1734110"/>
            <a:ext cx="11904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EngineCoreProc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0"/>
          <p:cNvSpPr txBox="1"/>
          <p:nvPr/>
        </p:nvSpPr>
        <p:spPr>
          <a:xfrm>
            <a:off x="6809195" y="3122298"/>
            <a:ext cx="8817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StageClient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4961542" y="2026118"/>
            <a:ext cx="734961" cy="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7261181" y="2023167"/>
            <a:ext cx="734961" cy="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0"/>
          <p:cNvSpPr txBox="1"/>
          <p:nvPr/>
        </p:nvSpPr>
        <p:spPr>
          <a:xfrm>
            <a:off x="4878883" y="1986919"/>
            <a:ext cx="100000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0"/>
          <p:cNvSpPr txBox="1"/>
          <p:nvPr/>
        </p:nvSpPr>
        <p:spPr>
          <a:xfrm>
            <a:off x="7149558" y="1984074"/>
            <a:ext cx="100000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7250066" y="3724554"/>
            <a:ext cx="734961" cy="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7179424" y="3643960"/>
            <a:ext cx="100000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0"/>
          <p:cNvSpPr txBox="1"/>
          <p:nvPr/>
        </p:nvSpPr>
        <p:spPr>
          <a:xfrm>
            <a:off x="7068205" y="3404264"/>
            <a:ext cx="11904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EngineCoreProc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Two-level Config system for Qwen3-Omni</a:t>
            </a:r>
            <a:endParaRPr i="1"/>
          </a:p>
        </p:txBody>
      </p:sp>
      <p:sp>
        <p:nvSpPr>
          <p:cNvPr id="555" name="Google Shape;5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297549" y="1458773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OmniStage_0: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Thinker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3046338" y="1458773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OmniStage_1: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Talker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5964126" y="1458773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OmniStage_2: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Code2wav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9" name="Google Shape;559;p15"/>
          <p:cNvCxnSpPr>
            <a:stCxn id="556" idx="3"/>
            <a:endCxn id="557" idx="1"/>
          </p:cNvCxnSpPr>
          <p:nvPr/>
        </p:nvCxnSpPr>
        <p:spPr>
          <a:xfrm>
            <a:off x="2289849" y="1686604"/>
            <a:ext cx="7566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0" name="Google Shape;560;p15"/>
          <p:cNvCxnSpPr>
            <a:stCxn id="557" idx="3"/>
            <a:endCxn id="558" idx="1"/>
          </p:cNvCxnSpPr>
          <p:nvPr/>
        </p:nvCxnSpPr>
        <p:spPr>
          <a:xfrm>
            <a:off x="5038638" y="1686604"/>
            <a:ext cx="9255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1" name="Google Shape;561;p15"/>
          <p:cNvSpPr/>
          <p:nvPr/>
        </p:nvSpPr>
        <p:spPr>
          <a:xfrm>
            <a:off x="182626" y="1956298"/>
            <a:ext cx="2479978" cy="1785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stage_id: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gpu_memory_utilization: 0.9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devices: "0"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default_sampling_params: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temperature: 0.4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top_p: 0.9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top_k: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max_tokens: 2048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seed: 42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repetition_penalty: 1.05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2820163" y="1914435"/>
            <a:ext cx="3570274" cy="195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stage_id: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gpu_memory_utilization: 0.6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devices: "1"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input_connectors: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from_stage_0: connector_of_shared_memory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default_sampling_params: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temperature: 0.9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top_k: 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max_tokens: 4096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seed: 42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repetition_penalty: 1.05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5964126" y="1885631"/>
            <a:ext cx="3057032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stage_id: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gpu_memory_utilization: 0.1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max_num_seqs: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enforce_eager: 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async_scheduling: 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max_num_batched_tokens: 51200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devices: "1"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input_connectors: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from_stage_1: connector_of_shared_memory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default_sampling_params: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temperature: 0.0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top_p: 1.0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top_k: -1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max_tokens: 65536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seed: 42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repetition_penalty: 1.1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164014" y="4860017"/>
            <a:ext cx="69405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https://github.com/vllm-project/vllm-omni/blob/main/vllm_omni/deploy/qwen3_omni_moe.yaml</a:t>
            </a:r>
            <a:endParaRPr b="0" i="0" sz="1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311700" y="923194"/>
            <a:ext cx="78356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 Config: </a:t>
            </a:r>
            <a:r>
              <a:rPr b="0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For setting of different deployment tasks, exposed to </a:t>
            </a:r>
            <a:r>
              <a:rPr b="1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users</a:t>
            </a:r>
            <a:endParaRPr/>
          </a:p>
        </p:txBody>
      </p:sp>
      <p:sp>
        <p:nvSpPr>
          <p:cNvPr id="566" name="Google Shape;566;p15"/>
          <p:cNvSpPr txBox="1"/>
          <p:nvPr/>
        </p:nvSpPr>
        <p:spPr>
          <a:xfrm>
            <a:off x="8114587" y="4813"/>
            <a:ext cx="1029413" cy="307777"/>
          </a:xfrm>
          <a:prstGeom prst="rect">
            <a:avLst/>
          </a:prstGeom>
          <a:solidFill>
            <a:srgbClr val="FFDDB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#2383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Two-level Config system for Qwen3-Omni</a:t>
            </a:r>
            <a:endParaRPr i="1"/>
          </a:p>
        </p:txBody>
      </p:sp>
      <p:sp>
        <p:nvSpPr>
          <p:cNvPr id="572" name="Google Shape;57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22"/>
          <p:cNvSpPr txBox="1"/>
          <p:nvPr/>
        </p:nvSpPr>
        <p:spPr>
          <a:xfrm>
            <a:off x="335318" y="4727020"/>
            <a:ext cx="62047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https://github.com/vllm-project/vllm-omni/blob/main/vllm_omni/model_executor/models/qwen3_omni/pipeline.py</a:t>
            </a:r>
            <a:endParaRPr b="0" i="0" sz="1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2"/>
          <p:cNvSpPr txBox="1"/>
          <p:nvPr/>
        </p:nvSpPr>
        <p:spPr>
          <a:xfrm>
            <a:off x="311700" y="923194"/>
            <a:ext cx="87094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Pipeline Config: </a:t>
            </a:r>
            <a:r>
              <a:rPr b="0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For organizing data and computing pipeline of certain model, exposed to </a:t>
            </a:r>
            <a:r>
              <a:rPr b="1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developers</a:t>
            </a:r>
            <a:r>
              <a:rPr b="0" i="0" lang="en-US" sz="14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/>
          </a:p>
        </p:txBody>
      </p:sp>
      <p:sp>
        <p:nvSpPr>
          <p:cNvPr id="575" name="Google Shape;575;p22"/>
          <p:cNvSpPr txBox="1"/>
          <p:nvPr/>
        </p:nvSpPr>
        <p:spPr>
          <a:xfrm>
            <a:off x="452997" y="2030297"/>
            <a:ext cx="298471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StagePipelineConfig(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stage_id=0,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model_stage="thinker",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execution_type=StageExecutionType.LLM_AR,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input_sources=(),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final_output=True,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final_output_type="text",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owns_tokenizer=True,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requires_multimodal_data=True,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hf_config_name="thinker_config",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engine_output_type="latent",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…)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452997" y="1473137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OmniStage_0: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Thinker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3201786" y="1473137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OmniStage_1: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Talker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6119574" y="1473137"/>
            <a:ext cx="1992300" cy="455661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OmniStage_2: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Code2wav</a:t>
            </a:r>
            <a:endParaRPr b="0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9" name="Google Shape;579;p22"/>
          <p:cNvCxnSpPr>
            <a:stCxn id="576" idx="3"/>
            <a:endCxn id="577" idx="1"/>
          </p:cNvCxnSpPr>
          <p:nvPr/>
        </p:nvCxnSpPr>
        <p:spPr>
          <a:xfrm>
            <a:off x="2445297" y="1700968"/>
            <a:ext cx="7566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0" name="Google Shape;580;p22"/>
          <p:cNvCxnSpPr>
            <a:stCxn id="577" idx="3"/>
            <a:endCxn id="578" idx="1"/>
          </p:cNvCxnSpPr>
          <p:nvPr/>
        </p:nvCxnSpPr>
        <p:spPr>
          <a:xfrm>
            <a:off x="5194086" y="1700968"/>
            <a:ext cx="9255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22"/>
          <p:cNvSpPr txBox="1"/>
          <p:nvPr/>
        </p:nvSpPr>
        <p:spPr>
          <a:xfrm>
            <a:off x="3067812" y="2001023"/>
            <a:ext cx="2807208" cy="2446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StagePipelineConfig(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stage_id=1,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model_stage="talker",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execution_type=StageExecutionType.LLM_AR,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input_sources=(0,),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hf_config_name="talker_config",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engine_output_type="latent",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custom_process_input_func=f“{_PROC}.thinker2talker”,      custom_process_next_stage_input_func=(f"{_PROC}.talker2code2wav_async_chunk"),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sampling_constraints={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"detokenize": False,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"stop_token_ids": [2150],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)</a:t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>
            <a:off x="5971635" y="2030297"/>
            <a:ext cx="3049523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StagePipelineConfig(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stage_id=2,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model_stage="code2wav", execution_type=StageExecutionType.LLM_GENERATION,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input_sources=(1,),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final_output=True,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final_output_type="audio",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hf_config_name="thinker_config",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engine_output_type="audio",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custom_process_input_func=f"{_PROC}.talker2code2wav",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sampling_constraints={"detokenize": True},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6"/>
          <p:cNvSpPr txBox="1"/>
          <p:nvPr>
            <p:ph type="title"/>
          </p:nvPr>
        </p:nvSpPr>
        <p:spPr>
          <a:xfrm>
            <a:off x="253346" y="1285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Natively Disaggregated Serving</a:t>
            </a:r>
            <a:endParaRPr i="1"/>
          </a:p>
        </p:txBody>
      </p:sp>
      <p:sp>
        <p:nvSpPr>
          <p:cNvPr id="588" name="Google Shape;588;p76"/>
          <p:cNvSpPr/>
          <p:nvPr/>
        </p:nvSpPr>
        <p:spPr>
          <a:xfrm>
            <a:off x="1126435" y="3449733"/>
            <a:ext cx="5507627" cy="39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76"/>
          <p:cNvSpPr txBox="1"/>
          <p:nvPr/>
        </p:nvSpPr>
        <p:spPr>
          <a:xfrm>
            <a:off x="5660995" y="698874"/>
            <a:ext cx="3385064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Standardized Unified Abstraction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generalized interface that handles heterogeneous data (Text, Image, Audio).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&amp; Data Plane Decoupling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Metadata travels via lightweight control signals, while heavy payloads are offloaded to high-performance data planes.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Backend Support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Native support for Shared Memory (SHM) and Mooncake for distributed transfers.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Disaggregated Multi-Modal Execution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Enables seamless communication between decoupled stages.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Multi-Instance Scaling: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multiple instances for each omni stage, enabling elastic deployment and efficient load distribution across distributed clusters.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76"/>
          <p:cNvSpPr txBox="1"/>
          <p:nvPr/>
        </p:nvSpPr>
        <p:spPr>
          <a:xfrm>
            <a:off x="8232689" y="4813"/>
            <a:ext cx="911311" cy="523220"/>
          </a:xfrm>
          <a:prstGeom prst="rect">
            <a:avLst/>
          </a:prstGeom>
          <a:solidFill>
            <a:srgbClr val="FFDDB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#215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#979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p76"/>
          <p:cNvCxnSpPr/>
          <p:nvPr/>
        </p:nvCxnSpPr>
        <p:spPr>
          <a:xfrm>
            <a:off x="3824534" y="4334138"/>
            <a:ext cx="400494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592" name="Google Shape;592;p76"/>
          <p:cNvCxnSpPr/>
          <p:nvPr/>
        </p:nvCxnSpPr>
        <p:spPr>
          <a:xfrm flipH="1" rot="10800000">
            <a:off x="2436416" y="4331960"/>
            <a:ext cx="346885" cy="108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93" name="Google Shape;593;p76"/>
          <p:cNvCxnSpPr/>
          <p:nvPr/>
        </p:nvCxnSpPr>
        <p:spPr>
          <a:xfrm>
            <a:off x="675768" y="4332315"/>
            <a:ext cx="294624" cy="1469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sp>
        <p:nvSpPr>
          <p:cNvPr id="594" name="Google Shape;594;p76"/>
          <p:cNvSpPr txBox="1"/>
          <p:nvPr/>
        </p:nvSpPr>
        <p:spPr>
          <a:xfrm>
            <a:off x="991283" y="4234999"/>
            <a:ext cx="1334007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Meta data flow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595" name="Google Shape;595;p76"/>
          <p:cNvSpPr txBox="1"/>
          <p:nvPr/>
        </p:nvSpPr>
        <p:spPr>
          <a:xfrm>
            <a:off x="2884491" y="4234999"/>
            <a:ext cx="1202985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D2H2D flow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596" name="Google Shape;596;p76"/>
          <p:cNvSpPr txBox="1"/>
          <p:nvPr/>
        </p:nvSpPr>
        <p:spPr>
          <a:xfrm>
            <a:off x="4422169" y="4234999"/>
            <a:ext cx="940193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D2D flow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597" name="Google Shape;597;p76"/>
          <p:cNvGrpSpPr/>
          <p:nvPr/>
        </p:nvGrpSpPr>
        <p:grpSpPr>
          <a:xfrm>
            <a:off x="214322" y="1749240"/>
            <a:ext cx="1708398" cy="1600398"/>
            <a:chOff x="122270" y="1513783"/>
            <a:chExt cx="1383017" cy="1427032"/>
          </a:xfrm>
        </p:grpSpPr>
        <p:sp>
          <p:nvSpPr>
            <p:cNvPr id="598" name="Google Shape;598;p76"/>
            <p:cNvSpPr/>
            <p:nvPr/>
          </p:nvSpPr>
          <p:spPr>
            <a:xfrm>
              <a:off x="122270" y="1513783"/>
              <a:ext cx="1383017" cy="1427032"/>
            </a:xfrm>
            <a:prstGeom prst="roundRect">
              <a:avLst>
                <a:gd fmla="val 16667" name="adj"/>
              </a:avLst>
            </a:prstGeom>
            <a:solidFill>
              <a:srgbClr val="C4E0B2"/>
            </a:solidFill>
            <a:ln cap="flat" cmpd="sng" w="12700">
              <a:solidFill>
                <a:srgbClr val="1D1D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50" lIns="68525" spcFirstLastPara="1" rIns="68525" wrap="square" tIns="3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666666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99" name="Google Shape;599;p76"/>
            <p:cNvSpPr txBox="1"/>
            <p:nvPr/>
          </p:nvSpPr>
          <p:spPr>
            <a:xfrm>
              <a:off x="282312" y="1575935"/>
              <a:ext cx="1026327" cy="14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StageEngine-1</a:t>
              </a:r>
              <a:endParaRPr b="1" i="0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600" name="Google Shape;600;p76"/>
            <p:cNvGrpSpPr/>
            <p:nvPr/>
          </p:nvGrpSpPr>
          <p:grpSpPr>
            <a:xfrm>
              <a:off x="321603" y="1803687"/>
              <a:ext cx="946910" cy="1030347"/>
              <a:chOff x="321603" y="1803687"/>
              <a:chExt cx="946910" cy="1030347"/>
            </a:xfrm>
          </p:grpSpPr>
          <p:sp>
            <p:nvSpPr>
              <p:cNvPr id="601" name="Google Shape;601;p76"/>
              <p:cNvSpPr/>
              <p:nvPr/>
            </p:nvSpPr>
            <p:spPr>
              <a:xfrm>
                <a:off x="324079" y="1803687"/>
                <a:ext cx="941958" cy="182647"/>
              </a:xfrm>
              <a:prstGeom prst="rect">
                <a:avLst/>
              </a:prstGeom>
              <a:solidFill>
                <a:srgbClr val="FFF4CB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Scheduler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02" name="Google Shape;602;p76"/>
              <p:cNvSpPr/>
              <p:nvPr/>
            </p:nvSpPr>
            <p:spPr>
              <a:xfrm>
                <a:off x="324079" y="2066529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Worker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03" name="Google Shape;603;p76"/>
              <p:cNvSpPr/>
              <p:nvPr/>
            </p:nvSpPr>
            <p:spPr>
              <a:xfrm>
                <a:off x="321603" y="2623662"/>
                <a:ext cx="946910" cy="210372"/>
              </a:xfrm>
              <a:prstGeom prst="rect">
                <a:avLst/>
              </a:prstGeom>
              <a:solidFill>
                <a:srgbClr val="D4F0F5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OmniConnector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04" name="Google Shape;604;p76"/>
              <p:cNvSpPr/>
              <p:nvPr/>
            </p:nvSpPr>
            <p:spPr>
              <a:xfrm>
                <a:off x="324079" y="2345096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ModelRunner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</p:grpSp>
      <p:cxnSp>
        <p:nvCxnSpPr>
          <p:cNvPr id="605" name="Google Shape;605;p76"/>
          <p:cNvCxnSpPr/>
          <p:nvPr/>
        </p:nvCxnSpPr>
        <p:spPr>
          <a:xfrm>
            <a:off x="4613581" y="1566016"/>
            <a:ext cx="337667" cy="196455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sp>
        <p:nvSpPr>
          <p:cNvPr id="606" name="Google Shape;606;p76"/>
          <p:cNvSpPr/>
          <p:nvPr/>
        </p:nvSpPr>
        <p:spPr>
          <a:xfrm>
            <a:off x="338037" y="3647235"/>
            <a:ext cx="5316170" cy="220425"/>
          </a:xfrm>
          <a:prstGeom prst="rect">
            <a:avLst/>
          </a:prstGeom>
          <a:solidFill>
            <a:srgbClr val="D4F1F5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25" spcFirstLastPara="1" rIns="6852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Memory Pool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607" name="Google Shape;607;p76"/>
          <p:cNvCxnSpPr/>
          <p:nvPr/>
        </p:nvCxnSpPr>
        <p:spPr>
          <a:xfrm>
            <a:off x="3027678" y="2549744"/>
            <a:ext cx="537523" cy="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608" name="Google Shape;608;p76"/>
          <p:cNvSpPr/>
          <p:nvPr/>
        </p:nvSpPr>
        <p:spPr>
          <a:xfrm>
            <a:off x="214322" y="852578"/>
            <a:ext cx="5512525" cy="27343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1D1D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25" spcFirstLastPara="1" rIns="6852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9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APIServer/AsyncOmni</a:t>
            </a:r>
            <a:endParaRPr b="0" i="0" sz="1349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09" name="Google Shape;609;p76"/>
          <p:cNvSpPr/>
          <p:nvPr/>
        </p:nvSpPr>
        <p:spPr>
          <a:xfrm>
            <a:off x="338037" y="3915846"/>
            <a:ext cx="5316170" cy="229736"/>
          </a:xfrm>
          <a:prstGeom prst="rect">
            <a:avLst/>
          </a:prstGeom>
          <a:solidFill>
            <a:srgbClr val="DDEAF6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25" spcFirstLastPara="1" rIns="6852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Transfer engine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610" name="Google Shape;610;p76"/>
          <p:cNvCxnSpPr>
            <a:endCxn id="599" idx="0"/>
          </p:cNvCxnSpPr>
          <p:nvPr/>
        </p:nvCxnSpPr>
        <p:spPr>
          <a:xfrm flipH="1">
            <a:off x="1045912" y="1565443"/>
            <a:ext cx="262800" cy="253500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cxnSp>
        <p:nvCxnSpPr>
          <p:cNvPr id="611" name="Google Shape;611;p76"/>
          <p:cNvCxnSpPr/>
          <p:nvPr/>
        </p:nvCxnSpPr>
        <p:spPr>
          <a:xfrm flipH="1">
            <a:off x="2822113" y="1566211"/>
            <a:ext cx="896" cy="171925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cxnSp>
        <p:nvCxnSpPr>
          <p:cNvPr id="612" name="Google Shape;612;p76"/>
          <p:cNvCxnSpPr/>
          <p:nvPr/>
        </p:nvCxnSpPr>
        <p:spPr>
          <a:xfrm flipH="1" rot="10800000">
            <a:off x="1278731" y="1552406"/>
            <a:ext cx="256434" cy="266537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cxnSp>
        <p:nvCxnSpPr>
          <p:cNvPr id="613" name="Google Shape;613;p76"/>
          <p:cNvCxnSpPr/>
          <p:nvPr/>
        </p:nvCxnSpPr>
        <p:spPr>
          <a:xfrm rot="10800000">
            <a:off x="3191894" y="1552406"/>
            <a:ext cx="1" cy="193212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grpSp>
        <p:nvGrpSpPr>
          <p:cNvPr id="614" name="Google Shape;614;p76"/>
          <p:cNvGrpSpPr/>
          <p:nvPr/>
        </p:nvGrpSpPr>
        <p:grpSpPr>
          <a:xfrm>
            <a:off x="2132928" y="1750563"/>
            <a:ext cx="1708398" cy="1600398"/>
            <a:chOff x="122270" y="1513783"/>
            <a:chExt cx="1383017" cy="1427032"/>
          </a:xfrm>
        </p:grpSpPr>
        <p:sp>
          <p:nvSpPr>
            <p:cNvPr id="615" name="Google Shape;615;p76"/>
            <p:cNvSpPr/>
            <p:nvPr/>
          </p:nvSpPr>
          <p:spPr>
            <a:xfrm>
              <a:off x="122270" y="1513783"/>
              <a:ext cx="1383017" cy="1427032"/>
            </a:xfrm>
            <a:prstGeom prst="roundRect">
              <a:avLst>
                <a:gd fmla="val 16667" name="adj"/>
              </a:avLst>
            </a:prstGeom>
            <a:solidFill>
              <a:srgbClr val="C4E0B2"/>
            </a:solidFill>
            <a:ln cap="flat" cmpd="sng" w="12700">
              <a:solidFill>
                <a:srgbClr val="1D1D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50" lIns="68525" spcFirstLastPara="1" rIns="68525" wrap="square" tIns="3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666666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616" name="Google Shape;616;p76"/>
            <p:cNvSpPr txBox="1"/>
            <p:nvPr/>
          </p:nvSpPr>
          <p:spPr>
            <a:xfrm>
              <a:off x="301631" y="1570961"/>
              <a:ext cx="1013159" cy="14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StageEngine-2</a:t>
              </a:r>
              <a:endParaRPr b="1" i="0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617" name="Google Shape;617;p76"/>
            <p:cNvGrpSpPr/>
            <p:nvPr/>
          </p:nvGrpSpPr>
          <p:grpSpPr>
            <a:xfrm>
              <a:off x="321603" y="1803687"/>
              <a:ext cx="946910" cy="1030347"/>
              <a:chOff x="321603" y="1803687"/>
              <a:chExt cx="946910" cy="1030347"/>
            </a:xfrm>
          </p:grpSpPr>
          <p:sp>
            <p:nvSpPr>
              <p:cNvPr id="618" name="Google Shape;618;p76"/>
              <p:cNvSpPr/>
              <p:nvPr/>
            </p:nvSpPr>
            <p:spPr>
              <a:xfrm>
                <a:off x="324079" y="1803687"/>
                <a:ext cx="941958" cy="182647"/>
              </a:xfrm>
              <a:prstGeom prst="rect">
                <a:avLst/>
              </a:prstGeom>
              <a:solidFill>
                <a:srgbClr val="FFF4CB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Scheduler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19" name="Google Shape;619;p76"/>
              <p:cNvSpPr/>
              <p:nvPr/>
            </p:nvSpPr>
            <p:spPr>
              <a:xfrm>
                <a:off x="324079" y="2066529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Worker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20" name="Google Shape;620;p76"/>
              <p:cNvSpPr/>
              <p:nvPr/>
            </p:nvSpPr>
            <p:spPr>
              <a:xfrm>
                <a:off x="321603" y="2623662"/>
                <a:ext cx="946910" cy="210372"/>
              </a:xfrm>
              <a:prstGeom prst="rect">
                <a:avLst/>
              </a:prstGeom>
              <a:solidFill>
                <a:srgbClr val="D4F0F5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OmniConnector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21" name="Google Shape;621;p76"/>
              <p:cNvSpPr/>
              <p:nvPr/>
            </p:nvSpPr>
            <p:spPr>
              <a:xfrm>
                <a:off x="324079" y="2345096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ModelRunner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</p:grpSp>
      <p:grpSp>
        <p:nvGrpSpPr>
          <p:cNvPr id="622" name="Google Shape;622;p76"/>
          <p:cNvGrpSpPr/>
          <p:nvPr/>
        </p:nvGrpSpPr>
        <p:grpSpPr>
          <a:xfrm>
            <a:off x="4032560" y="1749240"/>
            <a:ext cx="1708398" cy="1600398"/>
            <a:chOff x="122270" y="1513783"/>
            <a:chExt cx="1383017" cy="1427032"/>
          </a:xfrm>
        </p:grpSpPr>
        <p:sp>
          <p:nvSpPr>
            <p:cNvPr id="623" name="Google Shape;623;p76"/>
            <p:cNvSpPr/>
            <p:nvPr/>
          </p:nvSpPr>
          <p:spPr>
            <a:xfrm>
              <a:off x="122270" y="1513783"/>
              <a:ext cx="1383017" cy="1427032"/>
            </a:xfrm>
            <a:prstGeom prst="roundRect">
              <a:avLst>
                <a:gd fmla="val 16667" name="adj"/>
              </a:avLst>
            </a:prstGeom>
            <a:solidFill>
              <a:srgbClr val="C4E0B2"/>
            </a:solidFill>
            <a:ln cap="flat" cmpd="sng" w="12700">
              <a:solidFill>
                <a:srgbClr val="1D1D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50" lIns="68525" spcFirstLastPara="1" rIns="68525" wrap="square" tIns="3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666666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624" name="Google Shape;624;p76"/>
            <p:cNvSpPr txBox="1"/>
            <p:nvPr/>
          </p:nvSpPr>
          <p:spPr>
            <a:xfrm>
              <a:off x="278081" y="1575935"/>
              <a:ext cx="1032071" cy="14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StageEngine-K</a:t>
              </a:r>
              <a:endParaRPr b="1" i="0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625" name="Google Shape;625;p76"/>
            <p:cNvGrpSpPr/>
            <p:nvPr/>
          </p:nvGrpSpPr>
          <p:grpSpPr>
            <a:xfrm>
              <a:off x="321603" y="1803687"/>
              <a:ext cx="946910" cy="1030347"/>
              <a:chOff x="321603" y="1803687"/>
              <a:chExt cx="946910" cy="1030347"/>
            </a:xfrm>
          </p:grpSpPr>
          <p:sp>
            <p:nvSpPr>
              <p:cNvPr id="626" name="Google Shape;626;p76"/>
              <p:cNvSpPr/>
              <p:nvPr/>
            </p:nvSpPr>
            <p:spPr>
              <a:xfrm>
                <a:off x="324079" y="1803687"/>
                <a:ext cx="941958" cy="182647"/>
              </a:xfrm>
              <a:prstGeom prst="rect">
                <a:avLst/>
              </a:prstGeom>
              <a:solidFill>
                <a:srgbClr val="FFF4CB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Scheduler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27" name="Google Shape;627;p76"/>
              <p:cNvSpPr/>
              <p:nvPr/>
            </p:nvSpPr>
            <p:spPr>
              <a:xfrm>
                <a:off x="324079" y="2066529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Worker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28" name="Google Shape;628;p76"/>
              <p:cNvSpPr/>
              <p:nvPr/>
            </p:nvSpPr>
            <p:spPr>
              <a:xfrm>
                <a:off x="321603" y="2623662"/>
                <a:ext cx="946910" cy="210372"/>
              </a:xfrm>
              <a:prstGeom prst="rect">
                <a:avLst/>
              </a:prstGeom>
              <a:solidFill>
                <a:srgbClr val="D4F0F5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OmniConnector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629" name="Google Shape;629;p76"/>
              <p:cNvSpPr/>
              <p:nvPr/>
            </p:nvSpPr>
            <p:spPr>
              <a:xfrm>
                <a:off x="324079" y="2345096"/>
                <a:ext cx="941958" cy="198372"/>
              </a:xfrm>
              <a:prstGeom prst="rect">
                <a:avLst/>
              </a:prstGeom>
              <a:solidFill>
                <a:srgbClr val="FEF3CC"/>
              </a:solidFill>
              <a:ln cap="flat" cmpd="sng" w="12700">
                <a:solidFill>
                  <a:srgbClr val="1D1D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50" lIns="68525" spcFirstLastPara="1" rIns="68525" wrap="square" tIns="34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ModelRunner</a:t>
                </a:r>
                <a:endParaRPr b="0" i="0" sz="105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</p:grpSp>
      <p:cxnSp>
        <p:nvCxnSpPr>
          <p:cNvPr id="630" name="Google Shape;630;p76"/>
          <p:cNvCxnSpPr/>
          <p:nvPr/>
        </p:nvCxnSpPr>
        <p:spPr>
          <a:xfrm>
            <a:off x="1731022" y="3127489"/>
            <a:ext cx="518801" cy="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631" name="Google Shape;631;p76"/>
          <p:cNvCxnSpPr/>
          <p:nvPr/>
        </p:nvCxnSpPr>
        <p:spPr>
          <a:xfrm>
            <a:off x="3659901" y="3106587"/>
            <a:ext cx="518801" cy="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632" name="Google Shape;632;p76"/>
          <p:cNvCxnSpPr/>
          <p:nvPr/>
        </p:nvCxnSpPr>
        <p:spPr>
          <a:xfrm>
            <a:off x="3043855" y="3261578"/>
            <a:ext cx="0" cy="38565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633" name="Google Shape;633;p76"/>
          <p:cNvCxnSpPr/>
          <p:nvPr/>
        </p:nvCxnSpPr>
        <p:spPr>
          <a:xfrm rot="10800000">
            <a:off x="2783301" y="3261578"/>
            <a:ext cx="0" cy="3649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634" name="Google Shape;634;p76"/>
          <p:cNvCxnSpPr/>
          <p:nvPr/>
        </p:nvCxnSpPr>
        <p:spPr>
          <a:xfrm>
            <a:off x="1020688" y="3261578"/>
            <a:ext cx="0" cy="38565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635" name="Google Shape;635;p76"/>
          <p:cNvCxnSpPr/>
          <p:nvPr/>
        </p:nvCxnSpPr>
        <p:spPr>
          <a:xfrm rot="10800000">
            <a:off x="4863634" y="3261578"/>
            <a:ext cx="0" cy="3649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636" name="Google Shape;636;p76"/>
          <p:cNvCxnSpPr/>
          <p:nvPr/>
        </p:nvCxnSpPr>
        <p:spPr>
          <a:xfrm rot="10800000">
            <a:off x="4387213" y="1556118"/>
            <a:ext cx="318980" cy="194735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76"/>
          <p:cNvSpPr txBox="1"/>
          <p:nvPr/>
        </p:nvSpPr>
        <p:spPr>
          <a:xfrm>
            <a:off x="3760647" y="2832223"/>
            <a:ext cx="420025" cy="253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…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38" name="Google Shape;638;p76"/>
          <p:cNvSpPr txBox="1"/>
          <p:nvPr/>
        </p:nvSpPr>
        <p:spPr>
          <a:xfrm>
            <a:off x="1442064" y="3299151"/>
            <a:ext cx="591499" cy="253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N_1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39" name="Google Shape;639;p76"/>
          <p:cNvSpPr txBox="1"/>
          <p:nvPr/>
        </p:nvSpPr>
        <p:spPr>
          <a:xfrm>
            <a:off x="3397442" y="3303990"/>
            <a:ext cx="591499" cy="253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N_2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40" name="Google Shape;640;p76"/>
          <p:cNvSpPr txBox="1"/>
          <p:nvPr/>
        </p:nvSpPr>
        <p:spPr>
          <a:xfrm>
            <a:off x="5256709" y="3290510"/>
            <a:ext cx="591499" cy="2538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N_k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41" name="Google Shape;641;p76"/>
          <p:cNvSpPr/>
          <p:nvPr/>
        </p:nvSpPr>
        <p:spPr>
          <a:xfrm>
            <a:off x="214322" y="1292173"/>
            <a:ext cx="5512525" cy="273430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1D1D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25" spcFirstLastPara="1" rIns="68525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9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PipelineOrchestrator（multi-stage）</a:t>
            </a:r>
            <a:endParaRPr b="0" i="0" sz="1349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42" name="Google Shape;642;p76"/>
          <p:cNvSpPr txBox="1"/>
          <p:nvPr/>
        </p:nvSpPr>
        <p:spPr>
          <a:xfrm>
            <a:off x="3208544" y="1578670"/>
            <a:ext cx="612316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ZMQ IPC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43" name="Google Shape;643;p76"/>
          <p:cNvSpPr txBox="1"/>
          <p:nvPr/>
        </p:nvSpPr>
        <p:spPr>
          <a:xfrm>
            <a:off x="4966386" y="1574910"/>
            <a:ext cx="612316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ZMQ IPC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44" name="Google Shape;644;p76"/>
          <p:cNvSpPr txBox="1"/>
          <p:nvPr/>
        </p:nvSpPr>
        <p:spPr>
          <a:xfrm>
            <a:off x="1512183" y="1565105"/>
            <a:ext cx="612316" cy="196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ZMQ IPC</a:t>
            </a:r>
            <a:endParaRPr b="0" i="0" sz="825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645" name="Google Shape;645;p76"/>
          <p:cNvCxnSpPr/>
          <p:nvPr/>
        </p:nvCxnSpPr>
        <p:spPr>
          <a:xfrm flipH="1">
            <a:off x="2033563" y="1111973"/>
            <a:ext cx="896" cy="171925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cxnSp>
        <p:nvCxnSpPr>
          <p:cNvPr id="646" name="Google Shape;646;p76"/>
          <p:cNvCxnSpPr/>
          <p:nvPr/>
        </p:nvCxnSpPr>
        <p:spPr>
          <a:xfrm rot="10800000">
            <a:off x="3860291" y="1096488"/>
            <a:ext cx="1" cy="193212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lgDashDot"/>
            <a:miter lim="800000"/>
            <a:headEnd len="sm" w="sm" type="none"/>
            <a:tailEnd len="med" w="med" type="triangle"/>
          </a:ln>
        </p:spPr>
      </p:cxnSp>
      <p:sp>
        <p:nvSpPr>
          <p:cNvPr id="647" name="Google Shape;647;p76"/>
          <p:cNvSpPr txBox="1"/>
          <p:nvPr/>
        </p:nvSpPr>
        <p:spPr>
          <a:xfrm>
            <a:off x="2556116" y="1100837"/>
            <a:ext cx="677396" cy="2076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25" spcFirstLastPara="1" rIns="68525" wrap="square" tIns="34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async.io</a:t>
            </a:r>
            <a:endParaRPr b="0" i="0" sz="9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Async Chunk &amp; Audio Streaming Output</a:t>
            </a:r>
            <a:endParaRPr i="1"/>
          </a:p>
        </p:txBody>
      </p:sp>
      <p:sp>
        <p:nvSpPr>
          <p:cNvPr id="653" name="Google Shape;653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77"/>
          <p:cNvSpPr txBox="1"/>
          <p:nvPr/>
        </p:nvSpPr>
        <p:spPr>
          <a:xfrm>
            <a:off x="4991954" y="1433174"/>
            <a:ext cx="3438814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Between Stages: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Asynchronous chunked computation  and communication across stages</a:t>
            </a:r>
            <a:endParaRPr/>
          </a:p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Streaming Output: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waveform is output immediately after Talker generates each token.</a:t>
            </a:r>
            <a:endParaRPr/>
          </a:p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APIServer Support: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v1/chat/completions with  “stream” argument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77"/>
          <p:cNvSpPr txBox="1"/>
          <p:nvPr/>
        </p:nvSpPr>
        <p:spPr>
          <a:xfrm>
            <a:off x="8167036" y="4813"/>
            <a:ext cx="976965" cy="954107"/>
          </a:xfrm>
          <a:prstGeom prst="rect">
            <a:avLst/>
          </a:prstGeom>
          <a:solidFill>
            <a:srgbClr val="FFDDB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#367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#727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#1438</a:t>
            </a:r>
            <a:endParaRPr/>
          </a:p>
        </p:txBody>
      </p:sp>
      <p:sp>
        <p:nvSpPr>
          <p:cNvPr id="656" name="Google Shape;656;p77"/>
          <p:cNvSpPr/>
          <p:nvPr/>
        </p:nvSpPr>
        <p:spPr>
          <a:xfrm rot="5400000">
            <a:off x="2475527" y="2723188"/>
            <a:ext cx="299739" cy="24551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F86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77"/>
          <p:cNvSpPr txBox="1"/>
          <p:nvPr/>
        </p:nvSpPr>
        <p:spPr>
          <a:xfrm>
            <a:off x="1400358" y="2475306"/>
            <a:ext cx="2325705" cy="26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E2E generation</a:t>
            </a:r>
            <a:endParaRPr/>
          </a:p>
        </p:txBody>
      </p:sp>
      <p:sp>
        <p:nvSpPr>
          <p:cNvPr id="658" name="Google Shape;658;p77"/>
          <p:cNvSpPr txBox="1"/>
          <p:nvPr/>
        </p:nvSpPr>
        <p:spPr>
          <a:xfrm>
            <a:off x="1299443" y="4721539"/>
            <a:ext cx="2651905" cy="276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86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F8600"/>
                </a:solidFill>
                <a:latin typeface="Lexend"/>
                <a:ea typeface="Lexend"/>
                <a:cs typeface="Lexend"/>
                <a:sym typeface="Lexend"/>
              </a:rPr>
              <a:t>Streaming generation</a:t>
            </a:r>
            <a:endParaRPr/>
          </a:p>
        </p:txBody>
      </p:sp>
      <p:pic>
        <p:nvPicPr>
          <p:cNvPr descr="Async Chunk Pipeline Architecture" id="659" name="Google Shape;65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675" y="2993915"/>
            <a:ext cx="3856955" cy="172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quential Data Flow" id="660" name="Google Shape;660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913" y="708494"/>
            <a:ext cx="3473455" cy="1770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Async Chunk &amp; Audio Streaming Output</a:t>
            </a:r>
            <a:endParaRPr i="1"/>
          </a:p>
        </p:txBody>
      </p:sp>
      <p:sp>
        <p:nvSpPr>
          <p:cNvPr id="666" name="Google Shape;66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7" name="Google Shape;66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89125"/>
            <a:ext cx="4795943" cy="40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78"/>
          <p:cNvSpPr txBox="1"/>
          <p:nvPr/>
        </p:nvSpPr>
        <p:spPr>
          <a:xfrm>
            <a:off x="5384319" y="969807"/>
            <a:ext cx="3596052" cy="28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OmniConnector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Transmit data between stages.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OmniChunkTransferAdapter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Chunk-specific implementation that owns the full chunk lifecycle when async_chunk is enabled.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 Input Processors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Custom functions that process stage outputs into chunks for different models.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Schedulers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Modified to handle chunk-based scheduling with async IO-compute overlap.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Runners: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 chunk processing.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305492"/>
            <a:ext cx="3628649" cy="22323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1"/>
          <p:cNvSpPr txBox="1"/>
          <p:nvPr/>
        </p:nvSpPr>
        <p:spPr>
          <a:xfrm>
            <a:off x="430512" y="20707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Lexen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Async Chunk &amp; Audio Streaming Output</a:t>
            </a:r>
            <a:endParaRPr b="0" i="1" sz="2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5" name="Google Shape;6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512" y="1305492"/>
            <a:ext cx="3784436" cy="2267547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1"/>
          <p:cNvSpPr txBox="1"/>
          <p:nvPr/>
        </p:nvSpPr>
        <p:spPr>
          <a:xfrm>
            <a:off x="660397" y="3725938"/>
            <a:ext cx="37090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/ 10 concurrency: 12.4x / 8.2x improves</a:t>
            </a:r>
            <a:endParaRPr/>
          </a:p>
        </p:txBody>
      </p:sp>
      <p:sp>
        <p:nvSpPr>
          <p:cNvPr id="677" name="Google Shape;677;p21"/>
          <p:cNvSpPr txBox="1"/>
          <p:nvPr/>
        </p:nvSpPr>
        <p:spPr>
          <a:xfrm>
            <a:off x="4774549" y="3725937"/>
            <a:ext cx="37090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/ 10 concurrency: 1.1 x / 1.2 x improves</a:t>
            </a:r>
            <a:endParaRPr/>
          </a:p>
        </p:txBody>
      </p:sp>
      <p:sp>
        <p:nvSpPr>
          <p:cNvPr id="678" name="Google Shape;678;p21"/>
          <p:cNvSpPr txBox="1"/>
          <p:nvPr/>
        </p:nvSpPr>
        <p:spPr>
          <a:xfrm>
            <a:off x="539663" y="4855971"/>
            <a:ext cx="642421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https://docs.vllm.ai/projects/vllm-omni/en/latest/design/feature/async_chunk_design/</a:t>
            </a:r>
            <a:endParaRPr/>
          </a:p>
        </p:txBody>
      </p:sp>
      <p:sp>
        <p:nvSpPr>
          <p:cNvPr id="679" name="Google Shape;679;p21"/>
          <p:cNvSpPr txBox="1"/>
          <p:nvPr/>
        </p:nvSpPr>
        <p:spPr>
          <a:xfrm>
            <a:off x="803709" y="928838"/>
            <a:ext cx="16796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Qwen3-Omni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9"/>
          <p:cNvSpPr txBox="1"/>
          <p:nvPr/>
        </p:nvSpPr>
        <p:spPr>
          <a:xfrm>
            <a:off x="430512" y="913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7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Lexend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Async Chunk &amp; Audio Streaming Output</a:t>
            </a:r>
            <a:endParaRPr b="0" i="1" sz="2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79"/>
          <p:cNvSpPr txBox="1"/>
          <p:nvPr/>
        </p:nvSpPr>
        <p:spPr>
          <a:xfrm>
            <a:off x="702644" y="740475"/>
            <a:ext cx="16796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Qwen3-TTS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图表, 瀑布图&#10;&#10;AI 生成的内容可能不正确。" id="686" name="Google Shape;68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058" y="1124701"/>
            <a:ext cx="5241987" cy="3415616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9"/>
          <p:cNvSpPr txBox="1"/>
          <p:nvPr/>
        </p:nvSpPr>
        <p:spPr>
          <a:xfrm>
            <a:off x="8167036" y="4813"/>
            <a:ext cx="976965" cy="738664"/>
          </a:xfrm>
          <a:prstGeom prst="rect">
            <a:avLst/>
          </a:prstGeom>
          <a:solidFill>
            <a:srgbClr val="FFDDB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#1161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#1591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#1617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9"/>
          <p:cNvSpPr txBox="1"/>
          <p:nvPr>
            <p:ph type="title"/>
          </p:nvPr>
        </p:nvSpPr>
        <p:spPr>
          <a:xfrm>
            <a:off x="253346" y="1285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Scaling Disaggregated Serving</a:t>
            </a:r>
            <a:endParaRPr i="1"/>
          </a:p>
        </p:txBody>
      </p:sp>
      <p:sp>
        <p:nvSpPr>
          <p:cNvPr id="693" name="Google Shape;693;p59"/>
          <p:cNvSpPr/>
          <p:nvPr/>
        </p:nvSpPr>
        <p:spPr>
          <a:xfrm>
            <a:off x="1126435" y="3449733"/>
            <a:ext cx="5507627" cy="39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9"/>
          <p:cNvSpPr txBox="1"/>
          <p:nvPr/>
        </p:nvSpPr>
        <p:spPr>
          <a:xfrm>
            <a:off x="5084504" y="1457328"/>
            <a:ext cx="3565339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Command Line Interface (CLI) Design (PR #2020)</a:t>
            </a:r>
            <a:endParaRPr/>
          </a:p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Distributed Deployment 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a. Multiple APIServers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(PR #2020)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b. DP based Scaling for OmniStage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c. Coordinator for global management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Scheduling &amp; Routing for load balancing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Image"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46" y="1175908"/>
            <a:ext cx="4704216" cy="3289093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9"/>
          <p:cNvSpPr txBox="1"/>
          <p:nvPr/>
        </p:nvSpPr>
        <p:spPr>
          <a:xfrm>
            <a:off x="1044342" y="914298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328"/>
                </a:solidFill>
                <a:latin typeface="Lexend"/>
                <a:ea typeface="Lexend"/>
                <a:cs typeface="Lexend"/>
                <a:sym typeface="Lexend"/>
              </a:rPr>
              <a:t>Example Multi-Node Deployment Diagram</a:t>
            </a:r>
            <a:endParaRPr b="0" i="0" sz="11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Lexend"/>
              <a:buNone/>
            </a:pPr>
            <a:r>
              <a:rPr lang="en-US"/>
              <a:t>Omni-Modality models Acceleration Support</a:t>
            </a:r>
            <a:endParaRPr/>
          </a:p>
        </p:txBody>
      </p:sp>
      <p:sp>
        <p:nvSpPr>
          <p:cNvPr id="702" name="Google Shape;702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03" name="Google Shape;703;p80"/>
          <p:cNvGraphicFramePr/>
          <p:nvPr/>
        </p:nvGraphicFramePr>
        <p:xfrm>
          <a:off x="443555" y="1146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{FD78B3ED-F74E-4991-B72F-C2F8A367AB2D}</a:tableStyleId>
              </a:tblPr>
              <a:tblGrid>
                <a:gridCol w="1053050"/>
                <a:gridCol w="946050"/>
                <a:gridCol w="1197325"/>
                <a:gridCol w="794225"/>
                <a:gridCol w="905575"/>
                <a:gridCol w="794225"/>
                <a:gridCol w="1306400"/>
                <a:gridCol w="1306400"/>
              </a:tblGrid>
              <a:tr h="4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Model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Output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Modalities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Disaggregated deployment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Streaming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Async chunk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Graph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Quantization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NPU Support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Qwen2.5-Omni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Text/Audio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Only text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Qwen3-Omni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Text/Audio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MiMo-Audio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Text/Audio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Qwen3-TTS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Audio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Bagel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Text/Image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Only text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Only AR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GLM-Image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Image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Hunyuan-Image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Text/Image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Only text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N/A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Only AR</a:t>
                      </a:r>
                      <a:endParaRPr sz="12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4" name="Google Shape;704;p80"/>
          <p:cNvSpPr txBox="1"/>
          <p:nvPr/>
        </p:nvSpPr>
        <p:spPr>
          <a:xfrm>
            <a:off x="262305" y="4159328"/>
            <a:ext cx="24438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✅ = supported</a:t>
            </a:r>
            <a:endParaRPr b="0" i="0" sz="10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05" name="Google Shape;705;p80"/>
          <p:cNvSpPr txBox="1"/>
          <p:nvPr/>
        </p:nvSpPr>
        <p:spPr>
          <a:xfrm>
            <a:off x="3388682" y="4159328"/>
            <a:ext cx="24438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❌ = not yet supported</a:t>
            </a:r>
            <a:endParaRPr b="0" i="0" sz="10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06" name="Google Shape;706;p80"/>
          <p:cNvSpPr txBox="1"/>
          <p:nvPr/>
        </p:nvSpPr>
        <p:spPr>
          <a:xfrm>
            <a:off x="6515060" y="4159328"/>
            <a:ext cx="24438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⏳ = in progress (PR under review)</a:t>
            </a:r>
            <a:endParaRPr b="0" i="0" sz="10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1"/>
          <p:cNvSpPr txBox="1"/>
          <p:nvPr/>
        </p:nvSpPr>
        <p:spPr>
          <a:xfrm>
            <a:off x="4595152" y="869088"/>
            <a:ext cx="407567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Diffusion Core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Natively implemented and optimized by configuring the acceleration layer</a:t>
            </a:r>
            <a:endParaRPr/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Aligned with the AR arch with model_runner abstraction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0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Encoders are disaggregated to run on vllm engine for higher throughput in large-scale deployment</a:t>
            </a:r>
            <a:endParaRPr/>
          </a:p>
          <a:p>
            <a:pPr indent="-285743" lvl="0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step-wise scheduler with continuous batch for higher SLA</a:t>
            </a:r>
            <a:endParaRPr/>
          </a:p>
          <a:p>
            <a:pPr indent="-285743" lvl="0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with AR module to speed up AR+DIT model inference with OmniConnector 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45" lvl="0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Acceleration Features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8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 backend: Cache-DiT, TeaCache…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Parallelism: TP/HSDP/SP/CFG/VAE…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Attention: interface abstraction for third-party integration(FA/SAGE/MindIE-SD…)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Quantization: FP8/GGUF…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Offload: module-wise/layer-wise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Extensions: LoRA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81"/>
          <p:cNvSpPr txBox="1"/>
          <p:nvPr/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Diffusion Module Design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81"/>
          <p:cNvSpPr/>
          <p:nvPr/>
        </p:nvSpPr>
        <p:spPr>
          <a:xfrm>
            <a:off x="311701" y="4729812"/>
            <a:ext cx="487329" cy="170783"/>
          </a:xfrm>
          <a:prstGeom prst="rect">
            <a:avLst/>
          </a:prstGeom>
          <a:solidFill>
            <a:srgbClr val="D4F1F5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81"/>
          <p:cNvSpPr txBox="1"/>
          <p:nvPr/>
        </p:nvSpPr>
        <p:spPr>
          <a:xfrm>
            <a:off x="830284" y="4729812"/>
            <a:ext cx="86225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vllm import </a:t>
            </a:r>
            <a:endParaRPr b="0" i="0" sz="105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16" name="Google Shape;716;p81"/>
          <p:cNvSpPr/>
          <p:nvPr/>
        </p:nvSpPr>
        <p:spPr>
          <a:xfrm>
            <a:off x="1764662" y="4729812"/>
            <a:ext cx="487329" cy="170783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81"/>
          <p:cNvSpPr txBox="1"/>
          <p:nvPr/>
        </p:nvSpPr>
        <p:spPr>
          <a:xfrm>
            <a:off x="2240723" y="4729812"/>
            <a:ext cx="620913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native</a:t>
            </a:r>
            <a:endParaRPr b="0" i="0" sz="105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18" name="Google Shape;718;p81"/>
          <p:cNvSpPr/>
          <p:nvPr/>
        </p:nvSpPr>
        <p:spPr>
          <a:xfrm>
            <a:off x="2981618" y="4729812"/>
            <a:ext cx="487329" cy="170783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675" lIns="91350" spcFirstLastPara="1" rIns="9135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81"/>
          <p:cNvSpPr txBox="1"/>
          <p:nvPr/>
        </p:nvSpPr>
        <p:spPr>
          <a:xfrm>
            <a:off x="3478457" y="4729812"/>
            <a:ext cx="82980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Third-party</a:t>
            </a:r>
            <a:endParaRPr b="0" i="0" sz="105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0" name="Google Shape;720;p81"/>
          <p:cNvSpPr/>
          <p:nvPr/>
        </p:nvSpPr>
        <p:spPr>
          <a:xfrm>
            <a:off x="209558" y="724643"/>
            <a:ext cx="4156943" cy="2249026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1" name="Google Shape;721;p81"/>
          <p:cNvSpPr/>
          <p:nvPr/>
        </p:nvSpPr>
        <p:spPr>
          <a:xfrm>
            <a:off x="209558" y="3026556"/>
            <a:ext cx="4156942" cy="1521694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Acceleration Features</a:t>
            </a:r>
            <a:endParaRPr b="0" i="0" sz="1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81"/>
          <p:cNvSpPr/>
          <p:nvPr/>
        </p:nvSpPr>
        <p:spPr>
          <a:xfrm>
            <a:off x="1347697" y="3919599"/>
            <a:ext cx="1855217" cy="533989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Attention 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81"/>
          <p:cNvSpPr/>
          <p:nvPr/>
        </p:nvSpPr>
        <p:spPr>
          <a:xfrm>
            <a:off x="278027" y="3283513"/>
            <a:ext cx="1026827" cy="780740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Backend</a:t>
            </a:r>
            <a:endParaRPr b="0" i="0" sz="1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81"/>
          <p:cNvSpPr/>
          <p:nvPr/>
        </p:nvSpPr>
        <p:spPr>
          <a:xfrm>
            <a:off x="1347698" y="3283512"/>
            <a:ext cx="1857791" cy="593962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Parallelism</a:t>
            </a:r>
            <a:endParaRPr b="0" i="0" sz="1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81"/>
          <p:cNvSpPr/>
          <p:nvPr/>
        </p:nvSpPr>
        <p:spPr>
          <a:xfrm>
            <a:off x="1889053" y="3605902"/>
            <a:ext cx="374640" cy="229711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6" name="Google Shape;726;p81"/>
          <p:cNvCxnSpPr>
            <a:stCxn id="721" idx="0"/>
            <a:endCxn id="727" idx="2"/>
          </p:cNvCxnSpPr>
          <p:nvPr/>
        </p:nvCxnSpPr>
        <p:spPr>
          <a:xfrm rot="10800000">
            <a:off x="2269429" y="2813856"/>
            <a:ext cx="18600" cy="2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8" name="Google Shape;728;p81"/>
          <p:cNvSpPr/>
          <p:nvPr/>
        </p:nvSpPr>
        <p:spPr>
          <a:xfrm>
            <a:off x="1410764" y="3348196"/>
            <a:ext cx="363564" cy="232296"/>
          </a:xfrm>
          <a:prstGeom prst="rect">
            <a:avLst/>
          </a:prstGeom>
          <a:solidFill>
            <a:srgbClr val="D4F1F5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81"/>
          <p:cNvSpPr/>
          <p:nvPr/>
        </p:nvSpPr>
        <p:spPr>
          <a:xfrm>
            <a:off x="1393215" y="4124056"/>
            <a:ext cx="498257" cy="272864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SDPA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81"/>
          <p:cNvSpPr/>
          <p:nvPr/>
        </p:nvSpPr>
        <p:spPr>
          <a:xfrm>
            <a:off x="1944905" y="4124056"/>
            <a:ext cx="580365" cy="272864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81"/>
          <p:cNvSpPr/>
          <p:nvPr/>
        </p:nvSpPr>
        <p:spPr>
          <a:xfrm>
            <a:off x="383038" y="3502871"/>
            <a:ext cx="790997" cy="236381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CacheDiT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81"/>
          <p:cNvSpPr/>
          <p:nvPr/>
        </p:nvSpPr>
        <p:spPr>
          <a:xfrm>
            <a:off x="380496" y="3795455"/>
            <a:ext cx="788819" cy="236382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TeaCache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81"/>
          <p:cNvSpPr/>
          <p:nvPr/>
        </p:nvSpPr>
        <p:spPr>
          <a:xfrm>
            <a:off x="2603860" y="4129082"/>
            <a:ext cx="553617" cy="272864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81"/>
          <p:cNvSpPr/>
          <p:nvPr/>
        </p:nvSpPr>
        <p:spPr>
          <a:xfrm>
            <a:off x="3272031" y="3913647"/>
            <a:ext cx="1035110" cy="533989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Offload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(module-wise/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layer-wise)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81"/>
          <p:cNvSpPr/>
          <p:nvPr/>
        </p:nvSpPr>
        <p:spPr>
          <a:xfrm>
            <a:off x="3261376" y="3283512"/>
            <a:ext cx="1048635" cy="593962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(FP8/GGUF)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1"/>
          <p:cNvSpPr/>
          <p:nvPr/>
        </p:nvSpPr>
        <p:spPr>
          <a:xfrm>
            <a:off x="274533" y="4094626"/>
            <a:ext cx="1026827" cy="358961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7" name="Google Shape;737;p81"/>
          <p:cNvSpPr/>
          <p:nvPr/>
        </p:nvSpPr>
        <p:spPr>
          <a:xfrm>
            <a:off x="492940" y="4283611"/>
            <a:ext cx="598307" cy="114380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p81"/>
          <p:cNvSpPr/>
          <p:nvPr/>
        </p:nvSpPr>
        <p:spPr>
          <a:xfrm>
            <a:off x="1378510" y="3604610"/>
            <a:ext cx="493909" cy="232296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HSDP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81"/>
          <p:cNvSpPr/>
          <p:nvPr/>
        </p:nvSpPr>
        <p:spPr>
          <a:xfrm>
            <a:off x="2292045" y="3602407"/>
            <a:ext cx="428345" cy="229711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CFG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0" name="Google Shape;740;p81"/>
          <p:cNvSpPr/>
          <p:nvPr/>
        </p:nvSpPr>
        <p:spPr>
          <a:xfrm>
            <a:off x="2740863" y="3605901"/>
            <a:ext cx="434626" cy="229711"/>
          </a:xfrm>
          <a:prstGeom prst="rect">
            <a:avLst/>
          </a:prstGeom>
          <a:solidFill>
            <a:srgbClr val="FFF4CB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VAE</a:t>
            </a:r>
            <a:endParaRPr b="0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1" name="Google Shape;741;p81"/>
          <p:cNvGrpSpPr/>
          <p:nvPr/>
        </p:nvGrpSpPr>
        <p:grpSpPr>
          <a:xfrm>
            <a:off x="274533" y="1013477"/>
            <a:ext cx="3983958" cy="1914664"/>
            <a:chOff x="203632" y="1013477"/>
            <a:chExt cx="4156943" cy="1914664"/>
          </a:xfrm>
        </p:grpSpPr>
        <p:sp>
          <p:nvSpPr>
            <p:cNvPr id="742" name="Google Shape;742;p81"/>
            <p:cNvSpPr/>
            <p:nvPr/>
          </p:nvSpPr>
          <p:spPr>
            <a:xfrm>
              <a:off x="203632" y="1353248"/>
              <a:ext cx="4156943" cy="1574893"/>
            </a:xfrm>
            <a:prstGeom prst="rect">
              <a:avLst/>
            </a:prstGeom>
            <a:solidFill>
              <a:srgbClr val="E1EFD8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Diffusion Worker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3" name="Google Shape;743;p81"/>
            <p:cNvSpPr/>
            <p:nvPr/>
          </p:nvSpPr>
          <p:spPr>
            <a:xfrm>
              <a:off x="203632" y="1013477"/>
              <a:ext cx="4156942" cy="292764"/>
            </a:xfrm>
            <a:prstGeom prst="rect">
              <a:avLst/>
            </a:prstGeom>
            <a:solidFill>
              <a:srgbClr val="E1EFD8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Scheduler(step-wise)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7" name="Google Shape;727;p81"/>
            <p:cNvSpPr/>
            <p:nvPr/>
          </p:nvSpPr>
          <p:spPr>
            <a:xfrm>
              <a:off x="327581" y="1807293"/>
              <a:ext cx="3915019" cy="1006468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Diffusion Pipeline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4" name="Google Shape;744;p81"/>
            <p:cNvSpPr/>
            <p:nvPr/>
          </p:nvSpPr>
          <p:spPr>
            <a:xfrm>
              <a:off x="380463" y="2188047"/>
              <a:ext cx="842950" cy="442890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Prompt Encode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5" name="Google Shape;745;p81"/>
            <p:cNvSpPr/>
            <p:nvPr/>
          </p:nvSpPr>
          <p:spPr>
            <a:xfrm>
              <a:off x="1633290" y="2104297"/>
              <a:ext cx="1294963" cy="605067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N-step Sampling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6" name="Google Shape;746;p81"/>
            <p:cNvSpPr/>
            <p:nvPr/>
          </p:nvSpPr>
          <p:spPr>
            <a:xfrm>
              <a:off x="3361384" y="2184382"/>
              <a:ext cx="765914" cy="442890"/>
            </a:xfrm>
            <a:prstGeom prst="rect">
              <a:avLst/>
            </a:prstGeom>
            <a:solidFill>
              <a:srgbClr val="FFF4CB"/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VAE Decode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7" name="Google Shape;747;p81"/>
            <p:cNvCxnSpPr>
              <a:stCxn id="744" idx="3"/>
              <a:endCxn id="745" idx="1"/>
            </p:cNvCxnSpPr>
            <p:nvPr/>
          </p:nvCxnSpPr>
          <p:spPr>
            <a:xfrm flipH="1" rot="10800000">
              <a:off x="1223413" y="2406792"/>
              <a:ext cx="409800" cy="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48" name="Google Shape;748;p81"/>
            <p:cNvSpPr txBox="1"/>
            <p:nvPr/>
          </p:nvSpPr>
          <p:spPr>
            <a:xfrm>
              <a:off x="1200158" y="2185636"/>
              <a:ext cx="475267" cy="207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embed</a:t>
              </a:r>
              <a:endParaRPr b="0" i="0" sz="7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9" name="Google Shape;749;p81"/>
            <p:cNvCxnSpPr>
              <a:stCxn id="745" idx="3"/>
              <a:endCxn id="746" idx="1"/>
            </p:cNvCxnSpPr>
            <p:nvPr/>
          </p:nvCxnSpPr>
          <p:spPr>
            <a:xfrm flipH="1" rot="10800000">
              <a:off x="2928253" y="2405931"/>
              <a:ext cx="4332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50" name="Google Shape;750;p81"/>
            <p:cNvSpPr txBox="1"/>
            <p:nvPr/>
          </p:nvSpPr>
          <p:spPr>
            <a:xfrm>
              <a:off x="2928253" y="2189799"/>
              <a:ext cx="475267" cy="207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latent</a:t>
              </a:r>
              <a:endParaRPr b="0" i="0" sz="7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p81"/>
            <p:cNvSpPr/>
            <p:nvPr/>
          </p:nvSpPr>
          <p:spPr>
            <a:xfrm>
              <a:off x="1761531" y="2355347"/>
              <a:ext cx="1015612" cy="274085"/>
            </a:xfrm>
            <a:prstGeom prst="roundRect">
              <a:avLst>
                <a:gd fmla="val 16667" name="adj"/>
              </a:avLst>
            </a:prstGeom>
            <a:solidFill>
              <a:srgbClr val="FFF4CB"/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DiT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2" name="Google Shape;752;p81"/>
            <p:cNvSpPr/>
            <p:nvPr/>
          </p:nvSpPr>
          <p:spPr>
            <a:xfrm>
              <a:off x="264583" y="1590151"/>
              <a:ext cx="4035039" cy="1303068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Diffusion Model Runner</a:t>
              </a:r>
              <a:endParaRPr b="0" i="0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Diffusion Dynamic Batching</a:t>
            </a:r>
            <a:endParaRPr sz="2800"/>
          </a:p>
        </p:txBody>
      </p:sp>
      <p:grpSp>
        <p:nvGrpSpPr>
          <p:cNvPr id="758" name="Google Shape;758;p82"/>
          <p:cNvGrpSpPr/>
          <p:nvPr/>
        </p:nvGrpSpPr>
        <p:grpSpPr>
          <a:xfrm>
            <a:off x="178958" y="1150028"/>
            <a:ext cx="5997668" cy="3339381"/>
            <a:chOff x="190755" y="1268015"/>
            <a:chExt cx="8525001" cy="5417199"/>
          </a:xfrm>
        </p:grpSpPr>
        <p:sp>
          <p:nvSpPr>
            <p:cNvPr id="759" name="Google Shape;759;p82"/>
            <p:cNvSpPr/>
            <p:nvPr/>
          </p:nvSpPr>
          <p:spPr>
            <a:xfrm>
              <a:off x="501651" y="1268015"/>
              <a:ext cx="2331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Async arrival over time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0" name="Google Shape;760;p82"/>
            <p:cNvCxnSpPr/>
            <p:nvPr/>
          </p:nvCxnSpPr>
          <p:spPr>
            <a:xfrm>
              <a:off x="190755" y="2731055"/>
              <a:ext cx="2651760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1" name="Google Shape;761;p82"/>
            <p:cNvCxnSpPr/>
            <p:nvPr/>
          </p:nvCxnSpPr>
          <p:spPr>
            <a:xfrm>
              <a:off x="2842515" y="2731055"/>
              <a:ext cx="182880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62" name="Google Shape;762;p82"/>
            <p:cNvSpPr/>
            <p:nvPr/>
          </p:nvSpPr>
          <p:spPr>
            <a:xfrm>
              <a:off x="1434339" y="3105959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82"/>
            <p:cNvSpPr/>
            <p:nvPr/>
          </p:nvSpPr>
          <p:spPr>
            <a:xfrm>
              <a:off x="533655" y="2689907"/>
              <a:ext cx="82296" cy="82296"/>
            </a:xfrm>
            <a:prstGeom prst="ellipse">
              <a:avLst/>
            </a:prstGeom>
            <a:solidFill>
              <a:srgbClr val="111111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82"/>
            <p:cNvSpPr/>
            <p:nvPr/>
          </p:nvSpPr>
          <p:spPr>
            <a:xfrm>
              <a:off x="465075" y="2840783"/>
              <a:ext cx="219456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t0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82"/>
            <p:cNvSpPr/>
            <p:nvPr/>
          </p:nvSpPr>
          <p:spPr>
            <a:xfrm>
              <a:off x="263907" y="2118407"/>
              <a:ext cx="621792" cy="256032"/>
            </a:xfrm>
            <a:prstGeom prst="roundRect">
              <a:avLst>
                <a:gd fmla="val 28571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82"/>
            <p:cNvSpPr/>
            <p:nvPr/>
          </p:nvSpPr>
          <p:spPr>
            <a:xfrm>
              <a:off x="291339" y="2136695"/>
              <a:ext cx="566928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Request A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7" name="Google Shape;767;p82"/>
            <p:cNvCxnSpPr/>
            <p:nvPr/>
          </p:nvCxnSpPr>
          <p:spPr>
            <a:xfrm>
              <a:off x="574803" y="2383583"/>
              <a:ext cx="0" cy="27432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68" name="Google Shape;768;p82"/>
            <p:cNvSpPr/>
            <p:nvPr/>
          </p:nvSpPr>
          <p:spPr>
            <a:xfrm>
              <a:off x="1283463" y="2689907"/>
              <a:ext cx="82296" cy="82296"/>
            </a:xfrm>
            <a:prstGeom prst="ellipse">
              <a:avLst/>
            </a:prstGeom>
            <a:solidFill>
              <a:srgbClr val="111111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82"/>
            <p:cNvSpPr/>
            <p:nvPr/>
          </p:nvSpPr>
          <p:spPr>
            <a:xfrm>
              <a:off x="1214883" y="2840783"/>
              <a:ext cx="219456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t1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82"/>
            <p:cNvSpPr/>
            <p:nvPr/>
          </p:nvSpPr>
          <p:spPr>
            <a:xfrm>
              <a:off x="1013715" y="2118407"/>
              <a:ext cx="621792" cy="256032"/>
            </a:xfrm>
            <a:prstGeom prst="roundRect">
              <a:avLst>
                <a:gd fmla="val 28571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82"/>
            <p:cNvSpPr/>
            <p:nvPr/>
          </p:nvSpPr>
          <p:spPr>
            <a:xfrm>
              <a:off x="1041147" y="2136695"/>
              <a:ext cx="566928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Request C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2" name="Google Shape;772;p82"/>
            <p:cNvCxnSpPr/>
            <p:nvPr/>
          </p:nvCxnSpPr>
          <p:spPr>
            <a:xfrm>
              <a:off x="1324611" y="2383583"/>
              <a:ext cx="0" cy="27432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3" name="Google Shape;773;p82"/>
            <p:cNvSpPr/>
            <p:nvPr/>
          </p:nvSpPr>
          <p:spPr>
            <a:xfrm>
              <a:off x="2024127" y="2689907"/>
              <a:ext cx="82296" cy="82296"/>
            </a:xfrm>
            <a:prstGeom prst="ellipse">
              <a:avLst/>
            </a:prstGeom>
            <a:solidFill>
              <a:srgbClr val="111111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82"/>
            <p:cNvSpPr/>
            <p:nvPr/>
          </p:nvSpPr>
          <p:spPr>
            <a:xfrm>
              <a:off x="1955547" y="2840783"/>
              <a:ext cx="219456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t2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82"/>
            <p:cNvSpPr/>
            <p:nvPr/>
          </p:nvSpPr>
          <p:spPr>
            <a:xfrm>
              <a:off x="1754379" y="2118407"/>
              <a:ext cx="621792" cy="256032"/>
            </a:xfrm>
            <a:prstGeom prst="roundRect">
              <a:avLst>
                <a:gd fmla="val 28571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82"/>
            <p:cNvSpPr/>
            <p:nvPr/>
          </p:nvSpPr>
          <p:spPr>
            <a:xfrm>
              <a:off x="1781811" y="2136695"/>
              <a:ext cx="566928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Request B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7" name="Google Shape;777;p82"/>
            <p:cNvCxnSpPr/>
            <p:nvPr/>
          </p:nvCxnSpPr>
          <p:spPr>
            <a:xfrm>
              <a:off x="2065275" y="2383583"/>
              <a:ext cx="0" cy="27432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8" name="Google Shape;778;p82"/>
            <p:cNvSpPr/>
            <p:nvPr/>
          </p:nvSpPr>
          <p:spPr>
            <a:xfrm>
              <a:off x="2664207" y="2689907"/>
              <a:ext cx="82296" cy="82296"/>
            </a:xfrm>
            <a:prstGeom prst="ellipse">
              <a:avLst/>
            </a:prstGeom>
            <a:solidFill>
              <a:srgbClr val="111111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82"/>
            <p:cNvSpPr/>
            <p:nvPr/>
          </p:nvSpPr>
          <p:spPr>
            <a:xfrm>
              <a:off x="2595627" y="2840783"/>
              <a:ext cx="219456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t3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82"/>
            <p:cNvSpPr/>
            <p:nvPr/>
          </p:nvSpPr>
          <p:spPr>
            <a:xfrm>
              <a:off x="2394459" y="2118407"/>
              <a:ext cx="621792" cy="256032"/>
            </a:xfrm>
            <a:prstGeom prst="roundRect">
              <a:avLst>
                <a:gd fmla="val 28571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82"/>
            <p:cNvSpPr/>
            <p:nvPr/>
          </p:nvSpPr>
          <p:spPr>
            <a:xfrm>
              <a:off x="2421891" y="2136695"/>
              <a:ext cx="566928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Request D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2" name="Google Shape;782;p82"/>
            <p:cNvCxnSpPr/>
            <p:nvPr/>
          </p:nvCxnSpPr>
          <p:spPr>
            <a:xfrm>
              <a:off x="2705355" y="2383583"/>
              <a:ext cx="0" cy="27432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83" name="Google Shape;783;p82"/>
            <p:cNvSpPr/>
            <p:nvPr/>
          </p:nvSpPr>
          <p:spPr>
            <a:xfrm>
              <a:off x="2714499" y="3051095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82"/>
            <p:cNvSpPr/>
            <p:nvPr/>
          </p:nvSpPr>
          <p:spPr>
            <a:xfrm>
              <a:off x="3180843" y="1386888"/>
              <a:ext cx="1353312" cy="2788920"/>
            </a:xfrm>
            <a:prstGeom prst="roundRect">
              <a:avLst>
                <a:gd fmla="val 5405" name="adj"/>
              </a:avLst>
            </a:prstGeom>
            <a:solidFill>
              <a:srgbClr val="F6CED4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82"/>
            <p:cNvSpPr/>
            <p:nvPr/>
          </p:nvSpPr>
          <p:spPr>
            <a:xfrm>
              <a:off x="3290571" y="1551479"/>
              <a:ext cx="1133856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Async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Diffusion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Engine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82"/>
            <p:cNvSpPr/>
            <p:nvPr/>
          </p:nvSpPr>
          <p:spPr>
            <a:xfrm>
              <a:off x="3290571" y="2438447"/>
              <a:ext cx="1133856" cy="502920"/>
            </a:xfrm>
            <a:prstGeom prst="roundRect">
              <a:avLst>
                <a:gd fmla="val 14545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82"/>
            <p:cNvSpPr/>
            <p:nvPr/>
          </p:nvSpPr>
          <p:spPr>
            <a:xfrm>
              <a:off x="3318003" y="2456735"/>
              <a:ext cx="1078992" cy="466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async_add_request()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(accept independently)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82"/>
            <p:cNvSpPr/>
            <p:nvPr/>
          </p:nvSpPr>
          <p:spPr>
            <a:xfrm>
              <a:off x="3290571" y="3307127"/>
              <a:ext cx="1133856" cy="502920"/>
            </a:xfrm>
            <a:prstGeom prst="roundRect">
              <a:avLst>
                <a:gd fmla="val 14545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82"/>
            <p:cNvSpPr/>
            <p:nvPr/>
          </p:nvSpPr>
          <p:spPr>
            <a:xfrm>
              <a:off x="3318003" y="3325415"/>
              <a:ext cx="1078992" cy="466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Future per request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(created immediately)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82"/>
            <p:cNvCxnSpPr/>
            <p:nvPr/>
          </p:nvCxnSpPr>
          <p:spPr>
            <a:xfrm>
              <a:off x="4534155" y="2401871"/>
              <a:ext cx="201168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91" name="Google Shape;791;p82"/>
            <p:cNvSpPr/>
            <p:nvPr/>
          </p:nvSpPr>
          <p:spPr>
            <a:xfrm>
              <a:off x="4735323" y="1386887"/>
              <a:ext cx="1664208" cy="2788920"/>
            </a:xfrm>
            <a:prstGeom prst="roundRect">
              <a:avLst>
                <a:gd fmla="val 4396" name="adj"/>
              </a:avLst>
            </a:prstGeom>
            <a:solidFill>
              <a:srgbClr val="DFF0D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82"/>
            <p:cNvSpPr/>
            <p:nvPr/>
          </p:nvSpPr>
          <p:spPr>
            <a:xfrm>
              <a:off x="4826763" y="1533191"/>
              <a:ext cx="1481328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Scheduler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82"/>
            <p:cNvSpPr/>
            <p:nvPr/>
          </p:nvSpPr>
          <p:spPr>
            <a:xfrm>
              <a:off x="4918203" y="1889807"/>
              <a:ext cx="1298448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Pick compatible requests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across async arrivals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82"/>
            <p:cNvSpPr/>
            <p:nvPr/>
          </p:nvSpPr>
          <p:spPr>
            <a:xfrm>
              <a:off x="4899915" y="2347007"/>
              <a:ext cx="1335024" cy="841248"/>
            </a:xfrm>
            <a:prstGeom prst="roundRect">
              <a:avLst>
                <a:gd fmla="val 5435" name="adj"/>
              </a:avLst>
            </a:prstGeom>
            <a:solidFill>
              <a:srgbClr val="FFFFFF">
                <a:alpha val="0"/>
              </a:srgbClr>
            </a:solidFill>
            <a:ln cap="flat" cmpd="sng" w="1142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82"/>
            <p:cNvSpPr/>
            <p:nvPr/>
          </p:nvSpPr>
          <p:spPr>
            <a:xfrm>
              <a:off x="4991355" y="2411015"/>
              <a:ext cx="1152144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batch compatible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82"/>
            <p:cNvSpPr/>
            <p:nvPr/>
          </p:nvSpPr>
          <p:spPr>
            <a:xfrm>
              <a:off x="4991355" y="2648759"/>
              <a:ext cx="347472" cy="329184"/>
            </a:xfrm>
            <a:prstGeom prst="roundRect">
              <a:avLst>
                <a:gd fmla="val 22222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82"/>
            <p:cNvSpPr/>
            <p:nvPr/>
          </p:nvSpPr>
          <p:spPr>
            <a:xfrm>
              <a:off x="5018787" y="2667047"/>
              <a:ext cx="292608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ready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82"/>
            <p:cNvSpPr/>
            <p:nvPr/>
          </p:nvSpPr>
          <p:spPr>
            <a:xfrm>
              <a:off x="5393691" y="2648759"/>
              <a:ext cx="347472" cy="329184"/>
            </a:xfrm>
            <a:prstGeom prst="roundRect">
              <a:avLst>
                <a:gd fmla="val 22222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82"/>
            <p:cNvSpPr/>
            <p:nvPr/>
          </p:nvSpPr>
          <p:spPr>
            <a:xfrm>
              <a:off x="5421123" y="2667047"/>
              <a:ext cx="292608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same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shape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82"/>
            <p:cNvSpPr/>
            <p:nvPr/>
          </p:nvSpPr>
          <p:spPr>
            <a:xfrm>
              <a:off x="5796027" y="2648759"/>
              <a:ext cx="402336" cy="329184"/>
            </a:xfrm>
            <a:prstGeom prst="roundRect">
              <a:avLst>
                <a:gd fmla="val 22222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82"/>
            <p:cNvSpPr/>
            <p:nvPr/>
          </p:nvSpPr>
          <p:spPr>
            <a:xfrm>
              <a:off x="5823459" y="2667047"/>
              <a:ext cx="347472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same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/>
            </a:p>
          </p:txBody>
        </p:sp>
        <p:cxnSp>
          <p:nvCxnSpPr>
            <p:cNvPr id="802" name="Google Shape;802;p82"/>
            <p:cNvCxnSpPr/>
            <p:nvPr/>
          </p:nvCxnSpPr>
          <p:spPr>
            <a:xfrm>
              <a:off x="5567427" y="3197399"/>
              <a:ext cx="0" cy="219456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03" name="Google Shape;803;p82"/>
            <p:cNvSpPr/>
            <p:nvPr/>
          </p:nvSpPr>
          <p:spPr>
            <a:xfrm>
              <a:off x="4954779" y="3416855"/>
              <a:ext cx="1225296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Selected for next batch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(example)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82"/>
            <p:cNvSpPr/>
            <p:nvPr/>
          </p:nvSpPr>
          <p:spPr>
            <a:xfrm>
              <a:off x="5037075" y="3810047"/>
              <a:ext cx="329184" cy="310896"/>
            </a:xfrm>
            <a:prstGeom prst="roundRect">
              <a:avLst>
                <a:gd fmla="val 2352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82"/>
            <p:cNvSpPr/>
            <p:nvPr/>
          </p:nvSpPr>
          <p:spPr>
            <a:xfrm>
              <a:off x="5064507" y="3828335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82"/>
            <p:cNvSpPr/>
            <p:nvPr/>
          </p:nvSpPr>
          <p:spPr>
            <a:xfrm>
              <a:off x="5430267" y="3810047"/>
              <a:ext cx="329184" cy="310896"/>
            </a:xfrm>
            <a:prstGeom prst="roundRect">
              <a:avLst>
                <a:gd fmla="val 2352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2"/>
            <p:cNvSpPr/>
            <p:nvPr/>
          </p:nvSpPr>
          <p:spPr>
            <a:xfrm>
              <a:off x="5457699" y="3828335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82"/>
            <p:cNvSpPr/>
            <p:nvPr/>
          </p:nvSpPr>
          <p:spPr>
            <a:xfrm>
              <a:off x="5823459" y="3810047"/>
              <a:ext cx="329184" cy="310896"/>
            </a:xfrm>
            <a:prstGeom prst="roundRect">
              <a:avLst>
                <a:gd fmla="val 2352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82"/>
            <p:cNvSpPr/>
            <p:nvPr/>
          </p:nvSpPr>
          <p:spPr>
            <a:xfrm>
              <a:off x="5850891" y="3828335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" name="Google Shape;810;p82"/>
            <p:cNvCxnSpPr/>
            <p:nvPr/>
          </p:nvCxnSpPr>
          <p:spPr>
            <a:xfrm>
              <a:off x="6399531" y="2401871"/>
              <a:ext cx="301752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1" name="Google Shape;811;p82"/>
            <p:cNvSpPr/>
            <p:nvPr/>
          </p:nvSpPr>
          <p:spPr>
            <a:xfrm>
              <a:off x="6701283" y="1386887"/>
              <a:ext cx="1572768" cy="2788920"/>
            </a:xfrm>
            <a:prstGeom prst="roundRect">
              <a:avLst>
                <a:gd fmla="val 4651" name="adj"/>
              </a:avLst>
            </a:prstGeom>
            <a:solidFill>
              <a:srgbClr val="DDECF7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82"/>
            <p:cNvSpPr/>
            <p:nvPr/>
          </p:nvSpPr>
          <p:spPr>
            <a:xfrm>
              <a:off x="6792723" y="1533191"/>
              <a:ext cx="1389888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Worker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82"/>
            <p:cNvSpPr/>
            <p:nvPr/>
          </p:nvSpPr>
          <p:spPr>
            <a:xfrm>
              <a:off x="6865875" y="2072687"/>
              <a:ext cx="1243584" cy="384048"/>
            </a:xfrm>
            <a:prstGeom prst="roundRect">
              <a:avLst>
                <a:gd fmla="val 19048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82"/>
            <p:cNvSpPr/>
            <p:nvPr/>
          </p:nvSpPr>
          <p:spPr>
            <a:xfrm>
              <a:off x="6893307" y="2090975"/>
              <a:ext cx="11887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state manager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82"/>
            <p:cNvSpPr/>
            <p:nvPr/>
          </p:nvSpPr>
          <p:spPr>
            <a:xfrm>
              <a:off x="6865875" y="2621327"/>
              <a:ext cx="1243584" cy="384048"/>
            </a:xfrm>
            <a:prstGeom prst="roundRect">
              <a:avLst>
                <a:gd fmla="val 19048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82"/>
            <p:cNvSpPr/>
            <p:nvPr/>
          </p:nvSpPr>
          <p:spPr>
            <a:xfrm>
              <a:off x="6893307" y="2639615"/>
              <a:ext cx="11887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batch builder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82"/>
            <p:cNvSpPr/>
            <p:nvPr/>
          </p:nvSpPr>
          <p:spPr>
            <a:xfrm>
              <a:off x="6774435" y="3281656"/>
              <a:ext cx="1426464" cy="548640"/>
            </a:xfrm>
            <a:prstGeom prst="roundRect">
              <a:avLst>
                <a:gd fmla="val 6667" name="adj"/>
              </a:avLst>
            </a:prstGeom>
            <a:solidFill>
              <a:srgbClr val="FFFFFF">
                <a:alpha val="0"/>
              </a:srgbClr>
            </a:solidFill>
            <a:ln cap="flat" cmpd="sng" w="1015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82"/>
            <p:cNvSpPr/>
            <p:nvPr/>
          </p:nvSpPr>
          <p:spPr>
            <a:xfrm>
              <a:off x="6929883" y="3345664"/>
              <a:ext cx="1115568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-US" sz="5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Per-request lifestyle</a:t>
              </a:r>
              <a:endPara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82"/>
            <p:cNvSpPr/>
            <p:nvPr/>
          </p:nvSpPr>
          <p:spPr>
            <a:xfrm>
              <a:off x="6820155" y="3546832"/>
              <a:ext cx="1335024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b="0" i="0" lang="en-US" sz="3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waiting → scheduled → running → finished</a:t>
              </a:r>
              <a:endParaRPr b="0" i="0" sz="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82"/>
            <p:cNvSpPr/>
            <p:nvPr/>
          </p:nvSpPr>
          <p:spPr>
            <a:xfrm>
              <a:off x="4332732" y="5084743"/>
              <a:ext cx="1591056" cy="877847"/>
            </a:xfrm>
            <a:prstGeom prst="roundRect">
              <a:avLst>
                <a:gd fmla="val 9091" name="adj"/>
              </a:avLst>
            </a:prstGeom>
            <a:solidFill>
              <a:srgbClr val="FFF2CC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82"/>
            <p:cNvSpPr/>
            <p:nvPr/>
          </p:nvSpPr>
          <p:spPr>
            <a:xfrm>
              <a:off x="4469892" y="5176184"/>
              <a:ext cx="1316736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InputBatch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82"/>
            <p:cNvSpPr/>
            <p:nvPr/>
          </p:nvSpPr>
          <p:spPr>
            <a:xfrm>
              <a:off x="4424172" y="5386496"/>
              <a:ext cx="1408176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(formed from async arrivals)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82"/>
            <p:cNvSpPr/>
            <p:nvPr/>
          </p:nvSpPr>
          <p:spPr>
            <a:xfrm>
              <a:off x="4579620" y="5615096"/>
              <a:ext cx="310896" cy="256032"/>
            </a:xfrm>
            <a:prstGeom prst="roundRect">
              <a:avLst>
                <a:gd fmla="val 28571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82"/>
            <p:cNvSpPr/>
            <p:nvPr/>
          </p:nvSpPr>
          <p:spPr>
            <a:xfrm>
              <a:off x="4607052" y="5633384"/>
              <a:ext cx="256032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82"/>
            <p:cNvSpPr/>
            <p:nvPr/>
          </p:nvSpPr>
          <p:spPr>
            <a:xfrm>
              <a:off x="4972812" y="5615096"/>
              <a:ext cx="310896" cy="256032"/>
            </a:xfrm>
            <a:prstGeom prst="roundRect">
              <a:avLst>
                <a:gd fmla="val 28571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82"/>
            <p:cNvSpPr/>
            <p:nvPr/>
          </p:nvSpPr>
          <p:spPr>
            <a:xfrm>
              <a:off x="5000244" y="5633384"/>
              <a:ext cx="256032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82"/>
            <p:cNvSpPr/>
            <p:nvPr/>
          </p:nvSpPr>
          <p:spPr>
            <a:xfrm>
              <a:off x="5366004" y="5615096"/>
              <a:ext cx="310896" cy="256032"/>
            </a:xfrm>
            <a:prstGeom prst="roundRect">
              <a:avLst>
                <a:gd fmla="val 28571" name="adj"/>
              </a:avLst>
            </a:prstGeom>
            <a:solidFill>
              <a:srgbClr val="FAFAFA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82"/>
            <p:cNvSpPr/>
            <p:nvPr/>
          </p:nvSpPr>
          <p:spPr>
            <a:xfrm>
              <a:off x="5393436" y="5633384"/>
              <a:ext cx="256032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9" name="Google Shape;829;p82"/>
            <p:cNvCxnSpPr/>
            <p:nvPr/>
          </p:nvCxnSpPr>
          <p:spPr>
            <a:xfrm>
              <a:off x="4089145" y="5523666"/>
              <a:ext cx="182880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0" name="Google Shape;830;p82"/>
            <p:cNvSpPr/>
            <p:nvPr/>
          </p:nvSpPr>
          <p:spPr>
            <a:xfrm>
              <a:off x="2421891" y="5084742"/>
              <a:ext cx="1609344" cy="877848"/>
            </a:xfrm>
            <a:prstGeom prst="roundRect">
              <a:avLst>
                <a:gd fmla="val 6897" name="adj"/>
              </a:avLst>
            </a:prstGeom>
            <a:solidFill>
              <a:srgbClr val="E9D9F6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82"/>
            <p:cNvSpPr/>
            <p:nvPr/>
          </p:nvSpPr>
          <p:spPr>
            <a:xfrm>
              <a:off x="2531619" y="5272083"/>
              <a:ext cx="1389888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ModelRunner /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execute_stepwise()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82"/>
            <p:cNvSpPr/>
            <p:nvPr/>
          </p:nvSpPr>
          <p:spPr>
            <a:xfrm>
              <a:off x="2559051" y="5706312"/>
              <a:ext cx="1335024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(process step by step)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82"/>
            <p:cNvSpPr/>
            <p:nvPr/>
          </p:nvSpPr>
          <p:spPr>
            <a:xfrm>
              <a:off x="6723253" y="6301166"/>
              <a:ext cx="8686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1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Return immediately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1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when finished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1" i="0" lang="en-US" sz="4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(resolve Futures)</a:t>
              </a:r>
              <a:endPara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4" name="Google Shape;834;p82"/>
            <p:cNvCxnSpPr/>
            <p:nvPr/>
          </p:nvCxnSpPr>
          <p:spPr>
            <a:xfrm>
              <a:off x="6234939" y="4892720"/>
              <a:ext cx="219456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5" name="Google Shape;835;p82"/>
            <p:cNvSpPr/>
            <p:nvPr/>
          </p:nvSpPr>
          <p:spPr>
            <a:xfrm>
              <a:off x="6527547" y="4764704"/>
              <a:ext cx="731520" cy="237744"/>
            </a:xfrm>
            <a:prstGeom prst="roundRect">
              <a:avLst>
                <a:gd fmla="val 30769" name="adj"/>
              </a:avLst>
            </a:prstGeom>
            <a:solidFill>
              <a:srgbClr val="DFF0D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82"/>
            <p:cNvSpPr/>
            <p:nvPr/>
          </p:nvSpPr>
          <p:spPr>
            <a:xfrm>
              <a:off x="6554979" y="4782992"/>
              <a:ext cx="67665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Result C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82"/>
            <p:cNvSpPr/>
            <p:nvPr/>
          </p:nvSpPr>
          <p:spPr>
            <a:xfrm>
              <a:off x="7444105" y="4850018"/>
              <a:ext cx="329184" cy="128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t4.2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8" name="Google Shape;838;p82"/>
            <p:cNvCxnSpPr/>
            <p:nvPr/>
          </p:nvCxnSpPr>
          <p:spPr>
            <a:xfrm>
              <a:off x="6234939" y="5285912"/>
              <a:ext cx="219456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9" name="Google Shape;839;p82"/>
            <p:cNvSpPr/>
            <p:nvPr/>
          </p:nvSpPr>
          <p:spPr>
            <a:xfrm>
              <a:off x="6527547" y="5157896"/>
              <a:ext cx="731520" cy="237744"/>
            </a:xfrm>
            <a:prstGeom prst="roundRect">
              <a:avLst>
                <a:gd fmla="val 3076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82"/>
            <p:cNvSpPr/>
            <p:nvPr/>
          </p:nvSpPr>
          <p:spPr>
            <a:xfrm>
              <a:off x="6554979" y="5176184"/>
              <a:ext cx="67665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Result A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82"/>
            <p:cNvSpPr/>
            <p:nvPr/>
          </p:nvSpPr>
          <p:spPr>
            <a:xfrm>
              <a:off x="7444105" y="5243210"/>
              <a:ext cx="329184" cy="128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t5.1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2" name="Google Shape;842;p82"/>
            <p:cNvCxnSpPr/>
            <p:nvPr/>
          </p:nvCxnSpPr>
          <p:spPr>
            <a:xfrm>
              <a:off x="6234939" y="5679104"/>
              <a:ext cx="219456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43" name="Google Shape;843;p82"/>
            <p:cNvSpPr/>
            <p:nvPr/>
          </p:nvSpPr>
          <p:spPr>
            <a:xfrm>
              <a:off x="6527547" y="5551088"/>
              <a:ext cx="731520" cy="237744"/>
            </a:xfrm>
            <a:prstGeom prst="roundRect">
              <a:avLst>
                <a:gd fmla="val 3076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82"/>
            <p:cNvSpPr/>
            <p:nvPr/>
          </p:nvSpPr>
          <p:spPr>
            <a:xfrm>
              <a:off x="6554979" y="5569376"/>
              <a:ext cx="67665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Result D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82"/>
            <p:cNvSpPr/>
            <p:nvPr/>
          </p:nvSpPr>
          <p:spPr>
            <a:xfrm>
              <a:off x="7444105" y="5636402"/>
              <a:ext cx="329184" cy="128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t6.3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82"/>
            <p:cNvCxnSpPr/>
            <p:nvPr/>
          </p:nvCxnSpPr>
          <p:spPr>
            <a:xfrm>
              <a:off x="6234939" y="6072296"/>
              <a:ext cx="219456" cy="0"/>
            </a:xfrm>
            <a:prstGeom prst="straightConnector1">
              <a:avLst/>
            </a:prstGeom>
            <a:noFill/>
            <a:ln cap="flat" cmpd="sng" w="17775">
              <a:solidFill>
                <a:srgbClr val="22222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47" name="Google Shape;847;p82"/>
            <p:cNvSpPr/>
            <p:nvPr/>
          </p:nvSpPr>
          <p:spPr>
            <a:xfrm>
              <a:off x="6527547" y="5944280"/>
              <a:ext cx="731520" cy="237744"/>
            </a:xfrm>
            <a:prstGeom prst="roundRect">
              <a:avLst>
                <a:gd fmla="val 30769" name="adj"/>
              </a:avLst>
            </a:prstGeom>
            <a:solidFill>
              <a:srgbClr val="FFF8E8"/>
            </a:solidFill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82"/>
            <p:cNvSpPr/>
            <p:nvPr/>
          </p:nvSpPr>
          <p:spPr>
            <a:xfrm>
              <a:off x="6554979" y="5962568"/>
              <a:ext cx="67665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Result B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82"/>
            <p:cNvSpPr/>
            <p:nvPr/>
          </p:nvSpPr>
          <p:spPr>
            <a:xfrm>
              <a:off x="7444105" y="6029594"/>
              <a:ext cx="329184" cy="128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t7.8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0" name="Google Shape;850;p82"/>
            <p:cNvCxnSpPr/>
            <p:nvPr/>
          </p:nvCxnSpPr>
          <p:spPr>
            <a:xfrm>
              <a:off x="7792212" y="4820722"/>
              <a:ext cx="182880" cy="0"/>
            </a:xfrm>
            <a:prstGeom prst="straightConnector1">
              <a:avLst/>
            </a:prstGeom>
            <a:noFill/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82"/>
            <p:cNvCxnSpPr/>
            <p:nvPr/>
          </p:nvCxnSpPr>
          <p:spPr>
            <a:xfrm>
              <a:off x="7975092" y="4820722"/>
              <a:ext cx="0" cy="1335024"/>
            </a:xfrm>
            <a:prstGeom prst="straightConnector1">
              <a:avLst/>
            </a:prstGeom>
            <a:noFill/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82"/>
            <p:cNvCxnSpPr/>
            <p:nvPr/>
          </p:nvCxnSpPr>
          <p:spPr>
            <a:xfrm>
              <a:off x="7792212" y="6155746"/>
              <a:ext cx="182880" cy="0"/>
            </a:xfrm>
            <a:prstGeom prst="straightConnector1">
              <a:avLst/>
            </a:prstGeom>
            <a:noFill/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3" name="Google Shape;853;p82"/>
            <p:cNvSpPr/>
            <p:nvPr/>
          </p:nvSpPr>
          <p:spPr>
            <a:xfrm>
              <a:off x="8029956" y="5323642"/>
              <a:ext cx="685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B7F2A"/>
                  </a:solidFill>
                  <a:latin typeface="Arial"/>
                  <a:ea typeface="Arial"/>
                  <a:cs typeface="Arial"/>
                  <a:sym typeface="Arial"/>
                </a:rPr>
                <a:t>Out-of-order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1B7F2A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4" name="Google Shape;854;p82"/>
            <p:cNvCxnSpPr/>
            <p:nvPr/>
          </p:nvCxnSpPr>
          <p:spPr>
            <a:xfrm>
              <a:off x="7048755" y="6337472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5" name="Google Shape;855;p82"/>
            <p:cNvCxnSpPr>
              <a:stCxn id="811" idx="2"/>
              <a:endCxn id="830" idx="1"/>
            </p:cNvCxnSpPr>
            <p:nvPr/>
          </p:nvCxnSpPr>
          <p:spPr>
            <a:xfrm rot="5400000">
              <a:off x="4280817" y="2316857"/>
              <a:ext cx="1347900" cy="5065800"/>
            </a:xfrm>
            <a:prstGeom prst="bentConnector4">
              <a:avLst>
                <a:gd fmla="val 191667" name="adj1"/>
                <a:gd fmla="val 87524" name="adj2"/>
              </a:avLst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sp>
        <p:nvSpPr>
          <p:cNvPr id="856" name="Google Shape;856;p82"/>
          <p:cNvSpPr/>
          <p:nvPr/>
        </p:nvSpPr>
        <p:spPr>
          <a:xfrm>
            <a:off x="6129629" y="9305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82"/>
          <p:cNvSpPr/>
          <p:nvPr/>
        </p:nvSpPr>
        <p:spPr>
          <a:xfrm>
            <a:off x="6147917" y="1214036"/>
            <a:ext cx="2743200" cy="1216739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Arial"/>
              <a:buChar char="•"/>
            </a:pPr>
            <a:r>
              <a:rPr b="0" i="0" lang="en-US" sz="111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Image/video requests arrive at different timestamps.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Arial"/>
              <a:buChar char="•"/>
            </a:pPr>
            <a:r>
              <a:rPr b="0" i="0" lang="en-US" sz="111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Synchronous DiffusionEngine execution misses batching opportunitiesand under-utilizes DiT compute.</a:t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82"/>
          <p:cNvSpPr/>
          <p:nvPr/>
        </p:nvSpPr>
        <p:spPr>
          <a:xfrm>
            <a:off x="6200502" y="2820972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82"/>
          <p:cNvSpPr/>
          <p:nvPr/>
        </p:nvSpPr>
        <p:spPr>
          <a:xfrm>
            <a:off x="6215224" y="3059861"/>
            <a:ext cx="2772156" cy="11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Arial"/>
              <a:buChar char="•"/>
            </a:pPr>
            <a:r>
              <a:rPr b="0" i="0" lang="en-US" sz="111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Engine accepts requests asynchronously.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Arial"/>
              <a:buChar char="•"/>
            </a:pPr>
            <a:r>
              <a:rPr b="0" i="0" lang="en-US" sz="111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Scheduler selects compatible requests across arrivals.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Arial"/>
              <a:buChar char="•"/>
            </a:pPr>
            <a:r>
              <a:rPr b="0" i="0" lang="en-US" sz="111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Worker manages states and builds InputBatch for step-wise execution.</a:t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82"/>
          <p:cNvSpPr/>
          <p:nvPr/>
        </p:nvSpPr>
        <p:spPr>
          <a:xfrm>
            <a:off x="178958" y="4154596"/>
            <a:ext cx="4239451" cy="936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Async arrival → dynamic batching → larger effective DiT batch → higher GPU utilization / MFU → higher throughput and lower latency.</a:t>
            </a:r>
            <a:b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CPU batching overhead is negligible:</a:t>
            </a:r>
            <a:b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make_batch &lt; 1 ms vs. execute_stepwise ≈ 1000–1200 ms.</a:t>
            </a:r>
            <a:endParaRPr b="0" i="0" sz="10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parallelism</a:t>
            </a:r>
            <a:endParaRPr sz="2800"/>
          </a:p>
        </p:txBody>
      </p:sp>
      <p:graphicFrame>
        <p:nvGraphicFramePr>
          <p:cNvPr id="866" name="Google Shape;866;p83"/>
          <p:cNvGraphicFramePr/>
          <p:nvPr/>
        </p:nvGraphicFramePr>
        <p:xfrm>
          <a:off x="285750" y="821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{FD78B3ED-F74E-4991-B72F-C2F8A367AB2D}</a:tableStyleId>
              </a:tblPr>
              <a:tblGrid>
                <a:gridCol w="2097600"/>
                <a:gridCol w="3651700"/>
                <a:gridCol w="2654700"/>
              </a:tblGrid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Parallel Methods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Core Description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Configuration Parameters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Tensor Parallelism (TP)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Distributed weight to multiple devices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tensor_parallel_size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Sequence Parallelism (SP)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Split the input along the sequence dimension.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ulysses_degree, ring_degree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Expert Parallelism (EP)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Only MoE Expert MLP Blocks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enable_expert_parallel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30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CFG-Parallelism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CFG's positive and negative branches are assigned to different GPUs.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cfg_parallel_size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HSDP 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Hybrid Sharding Data Parallelism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use_hsdp, hsdp_shard_size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5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 Patch Parallelism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Cross-GPU Distributed VAE Encoding and Decoding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vae_patch_parallel_size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67" name="Google Shape;867;p83"/>
          <p:cNvSpPr/>
          <p:nvPr/>
        </p:nvSpPr>
        <p:spPr>
          <a:xfrm>
            <a:off x="1849080" y="2571750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Core Compatibility Matrix</a:t>
            </a:r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aphicFrame>
        <p:nvGraphicFramePr>
          <p:cNvPr id="868" name="Google Shape;868;p83"/>
          <p:cNvGraphicFramePr/>
          <p:nvPr/>
        </p:nvGraphicFramePr>
        <p:xfrm>
          <a:off x="285750" y="2844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{FD78B3ED-F74E-4991-B72F-C2F8A367AB2D}</a:tableStyleId>
              </a:tblPr>
              <a:tblGrid>
                <a:gridCol w="860425"/>
                <a:gridCol w="552850"/>
                <a:gridCol w="737800"/>
                <a:gridCol w="645325"/>
                <a:gridCol w="645325"/>
                <a:gridCol w="645325"/>
                <a:gridCol w="645325"/>
                <a:gridCol w="645325"/>
              </a:tblGrid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Method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Ulysses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Ring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HSDP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 Patch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5303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Ulysses 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Ring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HSDP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5303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2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 Patch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9" name="Google Shape;869;p83"/>
          <p:cNvSpPr txBox="1"/>
          <p:nvPr/>
        </p:nvSpPr>
        <p:spPr>
          <a:xfrm>
            <a:off x="185830" y="483528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https://github.com/vllm-project/vllm-omni/issues/1217</a:t>
            </a:r>
            <a:endParaRPr/>
          </a:p>
        </p:txBody>
      </p:sp>
      <p:sp>
        <p:nvSpPr>
          <p:cNvPr id="870" name="Google Shape;870;p83"/>
          <p:cNvSpPr/>
          <p:nvPr/>
        </p:nvSpPr>
        <p:spPr>
          <a:xfrm>
            <a:off x="6019924" y="2563201"/>
            <a:ext cx="28575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Wan2.2 supports</a:t>
            </a:r>
            <a:endParaRPr b="0" i="0" sz="105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aphicFrame>
        <p:nvGraphicFramePr>
          <p:cNvPr id="871" name="Google Shape;871;p83"/>
          <p:cNvGraphicFramePr/>
          <p:nvPr/>
        </p:nvGraphicFramePr>
        <p:xfrm>
          <a:off x="6019924" y="285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{FD78B3ED-F74E-4991-B72F-C2F8A367AB2D}</a:tableStyleId>
              </a:tblPr>
              <a:tblGrid>
                <a:gridCol w="1771300"/>
                <a:gridCol w="981100"/>
              </a:tblGrid>
              <a:tr h="39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Parallel Method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Wan2.2 Support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65D"/>
                    </a:solidFill>
                  </a:tcPr>
                </a:tc>
              </a:tr>
              <a:tr h="39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SP (Ulysses and Ring)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 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A365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 - Parallel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 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Tensor Parallel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HSDP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 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 patch parallel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7674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 </a:t>
                      </a:r>
                      <a:endParaRPr b="1"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Expert parallelism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5303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 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/>
              <a:t>Quantization</a:t>
            </a:r>
            <a:endParaRPr/>
          </a:p>
        </p:txBody>
      </p:sp>
      <p:sp>
        <p:nvSpPr>
          <p:cNvPr id="877" name="Google Shape;877;p84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592" lvl="0" marL="4571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</a:pPr>
            <a:r>
              <a:t/>
            </a:r>
            <a:endParaRPr/>
          </a:p>
        </p:txBody>
      </p:sp>
      <p:pic>
        <p:nvPicPr>
          <p:cNvPr descr="ChatGPT Image 2026年5月6日 09_51_09" id="878" name="Google Shape;87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CPU offload Support(1)</a:t>
            </a:r>
            <a:endParaRPr sz="2800"/>
          </a:p>
        </p:txBody>
      </p:sp>
      <p:sp>
        <p:nvSpPr>
          <p:cNvPr id="884" name="Google Shape;884;p85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Sequential Offloading (coarse-grained model component level)</a:t>
            </a:r>
            <a:endParaRPr/>
          </a:p>
          <a:p>
            <a:pPr indent="-423323" lvl="0" marL="4571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Register offload targets on model component (e.g., Encoder/DiT/…)</a:t>
            </a:r>
            <a:endParaRPr/>
          </a:p>
          <a:p>
            <a:pPr indent="-423323" lvl="0" marL="4571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Pre-Hooks registered: offload targets; move self to GPU</a:t>
            </a:r>
            <a:endParaRPr/>
          </a:p>
        </p:txBody>
      </p:sp>
      <p:pic>
        <p:nvPicPr>
          <p:cNvPr id="885" name="Google Shape;88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429" y="1959366"/>
            <a:ext cx="6819241" cy="1923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CPU offload Support(2)</a:t>
            </a:r>
            <a:endParaRPr sz="2800"/>
          </a:p>
        </p:txBody>
      </p:sp>
      <p:sp>
        <p:nvSpPr>
          <p:cNvPr id="891" name="Google Shape;891;p86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Layerwise Offloading</a:t>
            </a:r>
            <a:endParaRPr/>
          </a:p>
          <a:p>
            <a:pPr indent="-423323" lvl="0" marL="4571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Keep a single TransformerBlock on GPU during computing</a:t>
            </a:r>
            <a:endParaRPr/>
          </a:p>
          <a:p>
            <a:pPr indent="-423323" lvl="0" marL="45718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</a:pPr>
            <a:r>
              <a:rPr lang="en-US" sz="1800">
                <a:latin typeface="Lexend"/>
                <a:ea typeface="Lexend"/>
                <a:cs typeface="Lexend"/>
                <a:sym typeface="Lexend"/>
              </a:rPr>
              <a:t>Hooks registered: Pre-fetch params for the next block; release memory after computation</a:t>
            </a:r>
            <a:endParaRPr/>
          </a:p>
          <a:p>
            <a:pPr indent="0" lvl="0" marL="11429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92" name="Google Shape;89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635" y="2195524"/>
            <a:ext cx="7848729" cy="2234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7"/>
          <p:cNvSpPr txBox="1"/>
          <p:nvPr>
            <p:ph type="title"/>
          </p:nvPr>
        </p:nvSpPr>
        <p:spPr>
          <a:xfrm>
            <a:off x="311700" y="1078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500"/>
              <a:t>Diffusion modules with Acceleration Support</a:t>
            </a:r>
            <a:endParaRPr sz="2500"/>
          </a:p>
        </p:txBody>
      </p:sp>
      <p:sp>
        <p:nvSpPr>
          <p:cNvPr id="898" name="Google Shape;898;p87"/>
          <p:cNvSpPr txBox="1"/>
          <p:nvPr/>
        </p:nvSpPr>
        <p:spPr>
          <a:xfrm>
            <a:off x="175805" y="4882145"/>
            <a:ext cx="74396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https://docs.vllm.ai/projects/vllm-omni/en/latest/user_guide/diffusion_features/#imagegen</a:t>
            </a:r>
            <a:endParaRPr b="0" i="0" sz="1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9" name="Google Shape;899;p87"/>
          <p:cNvGraphicFramePr/>
          <p:nvPr/>
        </p:nvGraphicFramePr>
        <p:xfrm>
          <a:off x="410936" y="680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{FD78B3ED-F74E-4991-B72F-C2F8A367AB2D}</a:tableStyleId>
              </a:tblPr>
              <a:tblGrid>
                <a:gridCol w="1290825"/>
                <a:gridCol w="596325"/>
                <a:gridCol w="596325"/>
                <a:gridCol w="627625"/>
                <a:gridCol w="688375"/>
                <a:gridCol w="598125"/>
                <a:gridCol w="557800"/>
                <a:gridCol w="611775"/>
                <a:gridCol w="763075"/>
                <a:gridCol w="809850"/>
                <a:gridCol w="857100"/>
              </a:tblGrid>
              <a:tr h="48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Model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Output modality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TeaCache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Cache-DiT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SP (Ulysses &amp; Ring)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CFG-Parallel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TP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HSDP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VAE-Patch-Parallel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CPU Offload (Layerwise)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Quant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(fp8/fp4…)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8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FLUX.1-dev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Image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FLUX.2-klein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LongCat-Image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LongCat-Image-Edit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Qwen-Image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N.A.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Qwen-Image-Edit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N.A.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Qwen-Image-Layered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N.A.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SD3.5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NextStep1.1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Z-Image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⏳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❌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Wan2.2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Video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✅</a:t>
                      </a:r>
                      <a:endParaRPr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HunyuanVideo1.5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⏳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⏳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⏳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27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Seed-Helios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❌</a:t>
                      </a:r>
                      <a:endParaRPr/>
                    </a:p>
                  </a:txBody>
                  <a:tcPr marT="23825" marB="23825" marR="42875" marL="4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⏳</a:t>
                      </a:r>
                      <a:endParaRPr sz="900" u="none" cap="none" strike="noStrike"/>
                    </a:p>
                  </a:txBody>
                  <a:tcPr marT="8400" marB="8400" marR="15125" marL="151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Hardware plugin system</a:t>
            </a:r>
            <a:endParaRPr sz="2800"/>
          </a:p>
        </p:txBody>
      </p:sp>
      <p:sp>
        <p:nvSpPr>
          <p:cNvPr id="905" name="Google Shape;905;p88"/>
          <p:cNvSpPr txBox="1"/>
          <p:nvPr/>
        </p:nvSpPr>
        <p:spPr>
          <a:xfrm>
            <a:off x="8470935" y="4662401"/>
            <a:ext cx="548486" cy="393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375" lIns="91375" spcFirstLastPara="1" rIns="91375" wrap="square" tIns="9137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999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999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88"/>
          <p:cNvSpPr/>
          <p:nvPr/>
        </p:nvSpPr>
        <p:spPr>
          <a:xfrm>
            <a:off x="3873908" y="4920448"/>
            <a:ext cx="487010" cy="170633"/>
          </a:xfrm>
          <a:prstGeom prst="rect">
            <a:avLst/>
          </a:prstGeom>
          <a:solidFill>
            <a:srgbClr val="FFC8D3"/>
          </a:solidFill>
          <a:ln>
            <a:noFill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88"/>
          <p:cNvSpPr txBox="1"/>
          <p:nvPr/>
        </p:nvSpPr>
        <p:spPr>
          <a:xfrm>
            <a:off x="4243926" y="4896549"/>
            <a:ext cx="11251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Pluggable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08" name="Google Shape;908;p88"/>
          <p:cNvSpPr/>
          <p:nvPr/>
        </p:nvSpPr>
        <p:spPr>
          <a:xfrm>
            <a:off x="255336" y="779100"/>
            <a:ext cx="5167282" cy="41173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99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800"/>
              <a:buFont typeface="Arial"/>
              <a:buNone/>
            </a:pPr>
            <a:r>
              <a:rPr b="0" i="0" lang="en-US" sz="1799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vLLM-Omni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99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99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88"/>
          <p:cNvSpPr/>
          <p:nvPr/>
        </p:nvSpPr>
        <p:spPr>
          <a:xfrm>
            <a:off x="391349" y="2110990"/>
            <a:ext cx="2631472" cy="16730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10" name="Google Shape;910;p88"/>
          <p:cNvSpPr/>
          <p:nvPr/>
        </p:nvSpPr>
        <p:spPr>
          <a:xfrm>
            <a:off x="391533" y="1351577"/>
            <a:ext cx="4682971" cy="69392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EntryPoints</a:t>
            </a:r>
            <a:endParaRPr b="0" i="0" sz="14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D1D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D1D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88"/>
          <p:cNvSpPr/>
          <p:nvPr/>
        </p:nvSpPr>
        <p:spPr>
          <a:xfrm>
            <a:off x="514240" y="1665932"/>
            <a:ext cx="1004907" cy="2546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APIServer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12" name="Google Shape;912;p88"/>
          <p:cNvSpPr/>
          <p:nvPr/>
        </p:nvSpPr>
        <p:spPr>
          <a:xfrm>
            <a:off x="1832348" y="1671015"/>
            <a:ext cx="1529403" cy="2546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Omni/AsyncOmni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13" name="Google Shape;913;p88"/>
          <p:cNvSpPr/>
          <p:nvPr/>
        </p:nvSpPr>
        <p:spPr>
          <a:xfrm>
            <a:off x="3674886" y="1672517"/>
            <a:ext cx="1035496" cy="2546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OmniStage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14" name="Google Shape;914;p88"/>
          <p:cNvSpPr/>
          <p:nvPr/>
        </p:nvSpPr>
        <p:spPr>
          <a:xfrm>
            <a:off x="391533" y="3851200"/>
            <a:ext cx="4682971" cy="28129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Pluggable Layer</a:t>
            </a:r>
            <a:endParaRPr b="0" i="0" sz="14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15" name="Google Shape;915;p88"/>
          <p:cNvSpPr/>
          <p:nvPr/>
        </p:nvSpPr>
        <p:spPr>
          <a:xfrm>
            <a:off x="391525" y="4549313"/>
            <a:ext cx="4682971" cy="306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OmniConnector（E/P/D/G）</a:t>
            </a:r>
            <a:endParaRPr b="0" i="0" sz="14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916" name="Google Shape;916;p88"/>
          <p:cNvGrpSpPr/>
          <p:nvPr/>
        </p:nvGrpSpPr>
        <p:grpSpPr>
          <a:xfrm>
            <a:off x="458518" y="2409689"/>
            <a:ext cx="2505579" cy="1279565"/>
            <a:chOff x="374990" y="3403119"/>
            <a:chExt cx="5400900" cy="1376710"/>
          </a:xfrm>
        </p:grpSpPr>
        <p:sp>
          <p:nvSpPr>
            <p:cNvPr id="917" name="Google Shape;917;p88"/>
            <p:cNvSpPr/>
            <p:nvPr/>
          </p:nvSpPr>
          <p:spPr>
            <a:xfrm>
              <a:off x="374990" y="3403119"/>
              <a:ext cx="5400900" cy="302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LLM Engine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18" name="Google Shape;918;p88"/>
            <p:cNvSpPr/>
            <p:nvPr/>
          </p:nvSpPr>
          <p:spPr>
            <a:xfrm>
              <a:off x="374990" y="4115339"/>
              <a:ext cx="5400900" cy="302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Executor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19" name="Google Shape;919;p88"/>
            <p:cNvSpPr/>
            <p:nvPr/>
          </p:nvSpPr>
          <p:spPr>
            <a:xfrm>
              <a:off x="2555068" y="4473180"/>
              <a:ext cx="3220702" cy="302400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Model Runner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8"/>
            <p:cNvSpPr/>
            <p:nvPr/>
          </p:nvSpPr>
          <p:spPr>
            <a:xfrm>
              <a:off x="374990" y="4477429"/>
              <a:ext cx="2055103" cy="302400"/>
            </a:xfrm>
            <a:prstGeom prst="rect">
              <a:avLst/>
            </a:prstGeom>
            <a:solidFill>
              <a:srgbClr val="FFC8D3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Worker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8"/>
            <p:cNvSpPr/>
            <p:nvPr/>
          </p:nvSpPr>
          <p:spPr>
            <a:xfrm>
              <a:off x="3180767" y="3757006"/>
              <a:ext cx="2595000" cy="302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Cache Engine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8"/>
            <p:cNvSpPr/>
            <p:nvPr/>
          </p:nvSpPr>
          <p:spPr>
            <a:xfrm>
              <a:off x="375627" y="3757006"/>
              <a:ext cx="2595000" cy="302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Scheduler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88"/>
          <p:cNvGrpSpPr/>
          <p:nvPr/>
        </p:nvGrpSpPr>
        <p:grpSpPr>
          <a:xfrm>
            <a:off x="3096938" y="2110990"/>
            <a:ext cx="1977428" cy="1673046"/>
            <a:chOff x="3301912" y="2316885"/>
            <a:chExt cx="1978200" cy="1673700"/>
          </a:xfrm>
        </p:grpSpPr>
        <p:sp>
          <p:nvSpPr>
            <p:cNvPr id="924" name="Google Shape;924;p88"/>
            <p:cNvSpPr/>
            <p:nvPr/>
          </p:nvSpPr>
          <p:spPr>
            <a:xfrm>
              <a:off x="3301912" y="2316885"/>
              <a:ext cx="1978200" cy="1673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Diffusion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25" name="Google Shape;925;p88"/>
            <p:cNvSpPr/>
            <p:nvPr/>
          </p:nvSpPr>
          <p:spPr>
            <a:xfrm>
              <a:off x="3351125" y="2962525"/>
              <a:ext cx="1867500" cy="2766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Scheduler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26" name="Google Shape;926;p88"/>
            <p:cNvSpPr/>
            <p:nvPr/>
          </p:nvSpPr>
          <p:spPr>
            <a:xfrm>
              <a:off x="3351125" y="2603000"/>
              <a:ext cx="1867500" cy="2766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Diffusion Engine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927" name="Google Shape;927;p88"/>
          <p:cNvSpPr/>
          <p:nvPr/>
        </p:nvSpPr>
        <p:spPr>
          <a:xfrm>
            <a:off x="5148450" y="3403850"/>
            <a:ext cx="220414" cy="1077179"/>
          </a:xfrm>
          <a:prstGeom prst="rect">
            <a:avLst/>
          </a:prstGeom>
          <a:solidFill>
            <a:srgbClr val="FFC7D1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Plugin</a:t>
            </a:r>
            <a:endParaRPr b="0" i="0" sz="12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28" name="Google Shape;928;p88"/>
          <p:cNvSpPr/>
          <p:nvPr/>
        </p:nvSpPr>
        <p:spPr>
          <a:xfrm>
            <a:off x="5883088" y="1262312"/>
            <a:ext cx="3055207" cy="31400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1800"/>
              <a:buFont typeface="Arial"/>
              <a:buNone/>
            </a:pPr>
            <a:r>
              <a:rPr b="0" i="0" lang="en-US" sz="1100" u="none" cap="none" strike="noStrike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Hardware Platform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1D1D1A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88"/>
          <p:cNvCxnSpPr/>
          <p:nvPr/>
        </p:nvCxnSpPr>
        <p:spPr>
          <a:xfrm flipH="1" rot="10800000">
            <a:off x="5379759" y="2282013"/>
            <a:ext cx="713721" cy="1116464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88"/>
          <p:cNvSpPr/>
          <p:nvPr/>
        </p:nvSpPr>
        <p:spPr>
          <a:xfrm>
            <a:off x="6102053" y="1568292"/>
            <a:ext cx="2505521" cy="3934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vLLM-Omni Plugin Interface</a:t>
            </a:r>
            <a:endParaRPr b="0" i="0" sz="1400" u="none" cap="none" strike="noStrike">
              <a:solidFill>
                <a:srgbClr val="1D1D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88"/>
          <p:cNvSpPr/>
          <p:nvPr/>
        </p:nvSpPr>
        <p:spPr>
          <a:xfrm>
            <a:off x="3146132" y="3095196"/>
            <a:ext cx="1866771" cy="28099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Executor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32" name="Google Shape;932;p88"/>
          <p:cNvSpPr/>
          <p:nvPr/>
        </p:nvSpPr>
        <p:spPr>
          <a:xfrm>
            <a:off x="3146133" y="3431739"/>
            <a:ext cx="653391" cy="28099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Worker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88"/>
          <p:cNvSpPr/>
          <p:nvPr/>
        </p:nvSpPr>
        <p:spPr>
          <a:xfrm>
            <a:off x="3848719" y="3431739"/>
            <a:ext cx="1164109" cy="28099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Runner</a:t>
            </a:r>
            <a:endParaRPr b="0" i="0" sz="11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4" name="Google Shape;934;p88"/>
          <p:cNvGrpSpPr/>
          <p:nvPr/>
        </p:nvGrpSpPr>
        <p:grpSpPr>
          <a:xfrm>
            <a:off x="6102178" y="2274041"/>
            <a:ext cx="2505599" cy="1773807"/>
            <a:chOff x="3301911" y="2316885"/>
            <a:chExt cx="1978200" cy="1774500"/>
          </a:xfrm>
        </p:grpSpPr>
        <p:sp>
          <p:nvSpPr>
            <p:cNvPr id="935" name="Google Shape;935;p88"/>
            <p:cNvSpPr/>
            <p:nvPr/>
          </p:nvSpPr>
          <p:spPr>
            <a:xfrm>
              <a:off x="3301911" y="2316885"/>
              <a:ext cx="1978200" cy="177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NPU/XPU/ROCm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599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36" name="Google Shape;936;p88"/>
            <p:cNvSpPr/>
            <p:nvPr/>
          </p:nvSpPr>
          <p:spPr>
            <a:xfrm>
              <a:off x="3351125" y="2978633"/>
              <a:ext cx="1867500" cy="2766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Model Runner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937" name="Google Shape;937;p88"/>
            <p:cNvSpPr/>
            <p:nvPr/>
          </p:nvSpPr>
          <p:spPr>
            <a:xfrm>
              <a:off x="3351125" y="2624477"/>
              <a:ext cx="1867500" cy="2766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6C6C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650" lIns="91300" spcFirstLastPara="1" rIns="91300" wrap="square" tIns="45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Worker</a:t>
              </a:r>
              <a:endParaRPr b="0" i="0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cxnSp>
        <p:nvCxnSpPr>
          <p:cNvPr id="938" name="Google Shape;938;p88"/>
          <p:cNvCxnSpPr/>
          <p:nvPr/>
        </p:nvCxnSpPr>
        <p:spPr>
          <a:xfrm flipH="1" rot="10800000">
            <a:off x="5368864" y="4053371"/>
            <a:ext cx="730215" cy="40244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88"/>
          <p:cNvSpPr/>
          <p:nvPr/>
        </p:nvSpPr>
        <p:spPr>
          <a:xfrm>
            <a:off x="1869581" y="4199639"/>
            <a:ext cx="3204848" cy="28129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Attention Backend</a:t>
            </a:r>
            <a:endParaRPr b="0" i="0" sz="14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940" name="Google Shape;940;p88"/>
          <p:cNvCxnSpPr>
            <a:stCxn id="935" idx="0"/>
            <a:endCxn id="930" idx="2"/>
          </p:cNvCxnSpPr>
          <p:nvPr/>
        </p:nvCxnSpPr>
        <p:spPr>
          <a:xfrm rot="10800000">
            <a:off x="7354677" y="1961741"/>
            <a:ext cx="300" cy="312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1" name="Google Shape;941;p88"/>
          <p:cNvSpPr/>
          <p:nvPr/>
        </p:nvSpPr>
        <p:spPr>
          <a:xfrm>
            <a:off x="7354988" y="3602718"/>
            <a:ext cx="1164745" cy="2764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Attention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42" name="Google Shape;942;p88"/>
          <p:cNvSpPr/>
          <p:nvPr/>
        </p:nvSpPr>
        <p:spPr>
          <a:xfrm>
            <a:off x="391533" y="4199639"/>
            <a:ext cx="1386958" cy="281290"/>
          </a:xfrm>
          <a:prstGeom prst="rect">
            <a:avLst/>
          </a:prstGeom>
          <a:solidFill>
            <a:srgbClr val="FFC8D3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IR</a:t>
            </a:r>
            <a:endParaRPr b="0" i="0" sz="14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43" name="Google Shape;943;p88"/>
          <p:cNvSpPr/>
          <p:nvPr/>
        </p:nvSpPr>
        <p:spPr>
          <a:xfrm>
            <a:off x="6160155" y="3602712"/>
            <a:ext cx="1164745" cy="2764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Custom kernels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44" name="Google Shape;944;p88"/>
          <p:cNvSpPr/>
          <p:nvPr/>
        </p:nvSpPr>
        <p:spPr>
          <a:xfrm>
            <a:off x="6160155" y="3260106"/>
            <a:ext cx="2359478" cy="2764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C6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650" lIns="91300" spcFirstLastPara="1" rIns="91300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Custom Layer</a:t>
            </a:r>
            <a:endParaRPr b="0" i="0" sz="12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511" y="770329"/>
            <a:ext cx="4274429" cy="381730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9"/>
          <p:cNvSpPr txBox="1"/>
          <p:nvPr/>
        </p:nvSpPr>
        <p:spPr>
          <a:xfrm>
            <a:off x="4752570" y="804197"/>
            <a:ext cx="4075670" cy="4154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multimodal rollout: </a:t>
            </a: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vLLM-Omni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high-throughput async serving for multimodal generation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training engines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allow easy integration of parallelism(FSDP/SP) and other optimizations for various diffusion models</a:t>
            </a:r>
            <a:endParaRPr/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Flexible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supports both rule-based and model-based reward computations</a:t>
            </a:r>
            <a:endParaRPr/>
          </a:p>
          <a:p>
            <a:pPr indent="-2857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diffusion RL trainers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FlowGRPO trainer achieves ~25% higher E2E training throughput than the diffusers-based implementation</a:t>
            </a:r>
            <a:endParaRPr/>
          </a:p>
          <a:p>
            <a:pPr indent="-196843" lvl="1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Ongoing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43" lvl="8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support: Qwen3-Omni, BAGEL, …</a:t>
            </a:r>
            <a:endParaRPr/>
          </a:p>
          <a:p>
            <a:pPr indent="-285743" lvl="8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support: GSPO, MixGRPO, …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async for efficient diffusion/omni-modality RL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stability: deterministic, staleness control, …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support: NPU</a:t>
            </a:r>
            <a:endParaRPr/>
          </a:p>
          <a:p>
            <a:pPr indent="-285743" lvl="4" marL="2857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951" name="Google Shape;951;p89"/>
          <p:cNvSpPr txBox="1"/>
          <p:nvPr/>
        </p:nvSpPr>
        <p:spPr>
          <a:xfrm>
            <a:off x="149543" y="4761276"/>
            <a:ext cx="46030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https://github.com/verl-project/verl-omni</a:t>
            </a:r>
            <a:r>
              <a:rPr b="0" i="1" lang="en-US" sz="12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2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Welcome</a:t>
            </a:r>
            <a:r>
              <a:rPr b="0" i="1" lang="en-US" sz="12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2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b="0" i="1" lang="en-US" sz="12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1" sz="1200" u="none" cap="none" strike="noStrike">
              <a:solidFill>
                <a:srgbClr val="3856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8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</a:pPr>
            <a:r>
              <a:rPr lang="en-US" sz="2800"/>
              <a:t>RL Support: VeRL-Omni</a:t>
            </a:r>
            <a:endParaRPr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eeb37b98d0_5_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LVSA — Long-Video Sparse Attention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Training-free block-sparse attention for long-video diffusion – vLLM-Omni plugin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58" name="Google Shape;958;g3eeb37b98d0_5_0"/>
          <p:cNvSpPr txBox="1"/>
          <p:nvPr/>
        </p:nvSpPr>
        <p:spPr>
          <a:xfrm>
            <a:off x="7996775" y="152175"/>
            <a:ext cx="108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PR4192</a:t>
            </a:r>
            <a:endParaRPr u="sng">
              <a:solidFill>
                <a:schemeClr val="hlink"/>
              </a:solidFill>
            </a:endParaRPr>
          </a:p>
        </p:txBody>
      </p:sp>
      <p:pic>
        <p:nvPicPr>
          <p:cNvPr id="959" name="Google Shape;959;g3eeb37b98d0_5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569" y="1291225"/>
            <a:ext cx="3927707" cy="184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g3eeb37b98d0_5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5072" y="3139550"/>
            <a:ext cx="3830700" cy="1437222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g3eeb37b98d0_5_0"/>
          <p:cNvSpPr txBox="1"/>
          <p:nvPr/>
        </p:nvSpPr>
        <p:spPr>
          <a:xfrm>
            <a:off x="138875" y="1954050"/>
            <a:ext cx="23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Key1: Adaptive Expanded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Sparse Pattern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2" name="Google Shape;962;g3eeb37b98d0_5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575" y="2393925"/>
            <a:ext cx="2031000" cy="216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g3eeb37b98d0_5_0"/>
          <p:cNvSpPr txBox="1"/>
          <p:nvPr/>
        </p:nvSpPr>
        <p:spPr>
          <a:xfrm>
            <a:off x="5445022" y="873013"/>
            <a:ext cx="33708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Plugin for versions 0.18.0 &amp; 0.22.0, 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support Wan 2.X, HunyuanVideo on NPU and GPU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g3eeb37b98d0_5_0"/>
          <p:cNvSpPr txBox="1"/>
          <p:nvPr/>
        </p:nvSpPr>
        <p:spPr>
          <a:xfrm>
            <a:off x="53275" y="4561800"/>
            <a:ext cx="4359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sng">
                <a:solidFill>
                  <a:schemeClr val="hlink"/>
                </a:solidFill>
                <a:hlinkClick r:id="rId7"/>
              </a:rPr>
              <a:t>https://arxiv.org/abs/2605.31057</a:t>
            </a:r>
            <a:endParaRPr i="1" sz="1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 u="sng">
                <a:solidFill>
                  <a:schemeClr val="hlink"/>
                </a:solidFill>
                <a:hlinkClick r:id="rId8"/>
              </a:rPr>
              <a:t>https://github.com/JiusiServe/LongVideoSparseAttention</a:t>
            </a:r>
            <a:endParaRPr i="1" sz="1200" u="sng">
              <a:solidFill>
                <a:schemeClr val="hlink"/>
              </a:solidFill>
            </a:endParaRPr>
          </a:p>
        </p:txBody>
      </p:sp>
      <p:sp>
        <p:nvSpPr>
          <p:cNvPr id="965" name="Google Shape;965;g3eeb37b98d0_5_0"/>
          <p:cNvSpPr txBox="1"/>
          <p:nvPr/>
        </p:nvSpPr>
        <p:spPr>
          <a:xfrm>
            <a:off x="53275" y="1017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g3eeb37b98d0_5_0"/>
          <p:cNvSpPr txBox="1"/>
          <p:nvPr/>
        </p:nvSpPr>
        <p:spPr>
          <a:xfrm>
            <a:off x="2699588" y="1954038"/>
            <a:ext cx="23733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Key2: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Rotating Keyframes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800">
                <a:solidFill>
                  <a:srgbClr val="424242"/>
                </a:solidFill>
                <a:latin typeface="Lexend"/>
                <a:ea typeface="Lexend"/>
                <a:cs typeface="Lexend"/>
                <a:sym typeface="Lexend"/>
              </a:rPr>
              <a:t>Eliminates long-range temporal artifacts while keeping per-step attention budget constant.</a:t>
            </a:r>
            <a:endParaRPr sz="800">
              <a:solidFill>
                <a:srgbClr val="4242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7" name="Google Shape;967;g3eeb37b98d0_5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8975" y="2906436"/>
            <a:ext cx="2483925" cy="13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eeb37b98d0_5_0"/>
          <p:cNvSpPr txBox="1"/>
          <p:nvPr/>
        </p:nvSpPr>
        <p:spPr>
          <a:xfrm>
            <a:off x="67775" y="873025"/>
            <a:ext cx="50988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Problem: Dense Attention Hits a Wall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42B6F"/>
                </a:solidFill>
                <a:latin typeface="Lexend"/>
                <a:ea typeface="Lexend"/>
                <a:cs typeface="Lexend"/>
                <a:sym typeface="Lexend"/>
              </a:rPr>
              <a:t>Quadratic Compute. </a:t>
            </a:r>
            <a:r>
              <a:rPr lang="en-US" sz="900">
                <a:solidFill>
                  <a:srgbClr val="424242"/>
                </a:solidFill>
                <a:latin typeface="Lexend"/>
                <a:ea typeface="Lexend"/>
                <a:cs typeface="Lexend"/>
                <a:sym typeface="Lexend"/>
              </a:rPr>
              <a:t>Attention over N = T×P tokens scales as O(N²).</a:t>
            </a:r>
            <a:endParaRPr sz="900">
              <a:solidFill>
                <a:srgbClr val="42424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42B6F"/>
                </a:solidFill>
                <a:latin typeface="Lexend"/>
                <a:ea typeface="Lexend"/>
                <a:cs typeface="Lexend"/>
                <a:sym typeface="Lexend"/>
              </a:rPr>
              <a:t>Quality Collapse. </a:t>
            </a:r>
            <a:r>
              <a:rPr lang="en-US" sz="900">
                <a:solidFill>
                  <a:srgbClr val="424242"/>
                </a:solidFill>
                <a:latin typeface="Lexend"/>
                <a:ea typeface="Lexend"/>
                <a:cs typeface="Lexend"/>
                <a:sym typeface="Lexend"/>
              </a:rPr>
              <a:t>Beyond training horizon, dense → ‘frozen video’.</a:t>
            </a:r>
            <a:endParaRPr sz="900">
              <a:solidFill>
                <a:srgbClr val="42424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1000">
                <a:solidFill>
                  <a:srgbClr val="142B6F"/>
                </a:solidFill>
                <a:latin typeface="Lexend"/>
                <a:ea typeface="Lexend"/>
                <a:cs typeface="Lexend"/>
                <a:sym typeface="Lexend"/>
              </a:rPr>
              <a:t>Capability Wall at 14B Scale. </a:t>
            </a:r>
            <a:r>
              <a:rPr lang="en-US" sz="900">
                <a:solidFill>
                  <a:srgbClr val="424242"/>
                </a:solidFill>
                <a:latin typeface="Lexend"/>
                <a:ea typeface="Lexend"/>
                <a:cs typeface="Lexend"/>
                <a:sym typeface="Lexend"/>
              </a:rPr>
              <a:t>Dense 14B at 2×: 72.9 GB. Dense at 4×+: &gt; 2h on single GPU. Long-video serving = not viable at dense cost.</a:t>
            </a:r>
            <a:endParaRPr sz="900">
              <a:solidFill>
                <a:srgbClr val="4242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8"/>
              <a:buNone/>
            </a:pPr>
            <a:r>
              <a:rPr lang="en-US" sz="2500"/>
              <a:t>Summary</a:t>
            </a:r>
            <a:endParaRPr sz="2500"/>
          </a:p>
        </p:txBody>
      </p:sp>
      <p:sp>
        <p:nvSpPr>
          <p:cNvPr id="974" name="Google Shape;974;p24"/>
          <p:cNvSpPr txBox="1"/>
          <p:nvPr>
            <p:ph idx="1" type="body"/>
          </p:nvPr>
        </p:nvSpPr>
        <p:spPr>
          <a:xfrm>
            <a:off x="569998" y="928000"/>
            <a:ext cx="833336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Support Omni-Modality model inference &amp; serving </a:t>
            </a:r>
            <a:endParaRPr sz="20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Consistent and unified API interface with vLLM</a:t>
            </a:r>
            <a:endParaRPr sz="2000">
              <a:solidFill>
                <a:srgbClr val="4A86E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Native disaggregated deployment for different model stages</a:t>
            </a:r>
            <a:endParaRPr sz="20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Pipeline async streaming for multiple stage engines</a:t>
            </a:r>
            <a:endParaRPr sz="20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Native support for diffusion stage acceleration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75" name="Google Shape;97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0"/>
          <p:cNvSpPr txBox="1"/>
          <p:nvPr>
            <p:ph type="ctrTitle"/>
          </p:nvPr>
        </p:nvSpPr>
        <p:spPr>
          <a:xfrm>
            <a:off x="768900" y="287375"/>
            <a:ext cx="7572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0.20.0 release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90"/>
          <p:cNvSpPr txBox="1"/>
          <p:nvPr>
            <p:ph idx="1" type="subTitle"/>
          </p:nvPr>
        </p:nvSpPr>
        <p:spPr>
          <a:xfrm>
            <a:off x="768900" y="2453125"/>
            <a:ext cx="7408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Team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2" name="Google Shape;982;p90"/>
          <p:cNvCxnSpPr/>
          <p:nvPr/>
        </p:nvCxnSpPr>
        <p:spPr>
          <a:xfrm>
            <a:off x="532600" y="1420850"/>
            <a:ext cx="0" cy="16971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vllm-omni 0.20.0 release highlights（1）</a:t>
            </a:r>
            <a:endParaRPr/>
          </a:p>
        </p:txBody>
      </p:sp>
      <p:sp>
        <p:nvSpPr>
          <p:cNvPr id="988" name="Google Shape;988;p91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Rebased to upstream vLLM v0.20.0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with CUDA 13.0 and PyTorch 2.11 alignment, Transformers 5.x compatibility fixes, removal of the old vLLM entrypoint hijack, and runtime changes needed for the 0.20.0 integration path. (#3232, #3082, #3352, #3393, #2306)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CLI and configuration refactor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including the stage CLI refactor, forwarding CLI tokenizer settings into per-stage engine configs, removal of legacy Omni CLI helpers, cleaner deploy/pipeline config migration, and updated CLI documentation. (#2020, #3120, #3144, #2383, #2978)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Hardware plugin and platform optimization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expanding MUSA flash attention and torch.accelerator support, aligning NPU with the v0.20.0/GPU model-runner path, restoring ROCm/AMD CI signal, and refreshing XPU Docker/CI readiness for the PyTorch 2.11 stack. (#2451, #3101, #3325, #3343, #3083, #3393)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More SOTA model support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including Ming-flash-omni-2.0, XiaomiMiMo/MiMo-V2.5-ASR, MOSS-TTS-Nano, VoxCPM2 native AR TTS, HunyuanImage-3.0 IT2I, ERNIE image T2I, AudioX, Wan2.2-S2V, DreamID-Omni HSDP, LTX-2.3, and FastGen Wan 2.1 pipelines. (#2890, #3089, #2753, #2658, #3107, #2861, #2077, #2751, #3138, #2893, #2749)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89" name="Google Shape;98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vllm-omni 0.20.0 release highlights（2）</a:t>
            </a:r>
            <a:endParaRPr/>
          </a:p>
        </p:txBody>
      </p:sp>
      <p:sp>
        <p:nvSpPr>
          <p:cNvPr id="995" name="Google Shape;995;p92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Diffusion continuous batching: 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adding async batch inference in the DiffusionEngine and strengthening step-level/diffusion serving paths with pipeline-declared offload modules, achieved a 7.8% increase in throughput and a 5.8% reduction in mean latency compared to the baseline. CFG/HSDP improvements, VAE tiling, and performance validation. (#2729, #2707, #2427, #2423, #2368, #2899, #2982)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Large-scale serving for Qwen3-Omni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by scaling stages such as talker and code2wav with multiple replicas, this change improves overall throughput for Qwen3-Omni deployment on H20 GPU at 32 concurrency from 0.241 req/s to 0.414 req/s (+72%), while also increasing per-GPU efficiency to 0.138 req/s/GPU (+14%). (#3203, #2376, #3306, #2396, #2598, #2600)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Expanded quantization coverage, 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including </a:t>
            </a: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AutoRound W4A16 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support for Qwen Omni, offline W4A16 quantized model support, OmniGen2 FP8, Z-Image text-encoder FP8 online quantization, HunyuanImage3 NPU quantization, GLM-Image quantization, and fixes for pre-quantized checkpoints. (#2670, #1777, #2441, #3279, #2979, #2292, #2702, #2795)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</p:txBody>
      </p:sp>
      <p:sp>
        <p:nvSpPr>
          <p:cNvPr id="996" name="Google Shape;996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vllm-omni 0.20.0 release highlights（3）</a:t>
            </a:r>
            <a:endParaRPr/>
          </a:p>
        </p:txBody>
      </p:sp>
      <p:sp>
        <p:nvSpPr>
          <p:cNvPr id="1002" name="Google Shape;1002;p93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TTS model speedups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, improving through native decoder construction, CUDA graph capture and shared memory pools, streaming VAE with full-graph, global speaker/reference-audio caches, and deterministic Fast AR sampling, delivering roughly 9x VoxCPM2 RTF reduction (0.946 → 0.106 on H20), -53% Fish Speech Fast AR latency, and ~3.2 GiB Code2Wav memory savings for Qwen3-TTS/Voxtral-TTS. (#2690, #2758, #2803, #2341, #2630, #2657, #2520)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Omni model optimization</a:t>
            </a:r>
            <a:r>
              <a:rPr b="1" i="0" lang="en-US" sz="1200">
                <a:solidFill>
                  <a:srgbClr val="1F2328"/>
                </a:solidFill>
                <a:latin typeface="Mona Sans"/>
                <a:ea typeface="Mona Sans"/>
                <a:cs typeface="Mona Sans"/>
                <a:sym typeface="Mona Sans"/>
              </a:rPr>
              <a:t>, 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enable async scheduling and uni process executor to align with upstream AR performance, delivering TTFT/TPOT 50% reduction. (#3164, #3203)</a:t>
            </a:r>
            <a:endParaRPr/>
          </a:p>
          <a:p>
            <a:pPr indent="-1524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Wan2.2 on NPU </a:t>
            </a:r>
            <a:r>
              <a:rPr lang="en-US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is now production-ready with major I2V performance optimizations, including MindIE-SD LA, fused RoPE/AdaLayerNorm/RMSNorm, VAE BF16 and parallelism fixes, HSDP/USP deployment recipes, delivering 50-60% performance improvement. (#2919, #2393, #2459, #2391, #2585, #2583, #2571, #3067, #2969, #2852, #3063, #2262, #2817)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</p:txBody>
      </p:sp>
      <p:sp>
        <p:nvSpPr>
          <p:cNvPr id="1003" name="Google Shape;1003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Qwen3-Omni</a:t>
            </a:r>
            <a:endParaRPr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09" name="Google Shape;1009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0" name="Google Shape;1010;p94"/>
          <p:cNvSpPr txBox="1"/>
          <p:nvPr/>
        </p:nvSpPr>
        <p:spPr>
          <a:xfrm>
            <a:off x="2540000" y="730422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throughput (Concurrency 32)</a:t>
            </a:r>
            <a:endParaRPr/>
          </a:p>
        </p:txBody>
      </p:sp>
      <p:sp>
        <p:nvSpPr>
          <p:cNvPr id="1011" name="Google Shape;1011;p94"/>
          <p:cNvSpPr txBox="1"/>
          <p:nvPr/>
        </p:nvSpPr>
        <p:spPr>
          <a:xfrm>
            <a:off x="2540000" y="2589066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latency(Concurrency 1)</a:t>
            </a:r>
            <a:endParaRPr/>
          </a:p>
        </p:txBody>
      </p:sp>
      <p:grpSp>
        <p:nvGrpSpPr>
          <p:cNvPr id="1012" name="Google Shape;1012;p94"/>
          <p:cNvGrpSpPr/>
          <p:nvPr/>
        </p:nvGrpSpPr>
        <p:grpSpPr>
          <a:xfrm>
            <a:off x="1327355" y="1099173"/>
            <a:ext cx="6489290" cy="1535457"/>
            <a:chOff x="3222625" y="1131435"/>
            <a:chExt cx="8697100" cy="2160635"/>
          </a:xfrm>
        </p:grpSpPr>
        <p:pic>
          <p:nvPicPr>
            <p:cNvPr descr="high_throughput_rtf_v018_vs_v020" id="1013" name="Google Shape;1013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83675" y="1131435"/>
              <a:ext cx="2836050" cy="21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igh_throughput_tpot_v018_vs_v020" id="1014" name="Google Shape;1014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22625" y="1132070"/>
              <a:ext cx="2843681" cy="21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igh_throughput_ttfp_v018_vs_v020" id="1015" name="Google Shape;1015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66155" y="1132070"/>
              <a:ext cx="3017433" cy="21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6" name="Google Shape;1016;p94"/>
          <p:cNvGrpSpPr/>
          <p:nvPr/>
        </p:nvGrpSpPr>
        <p:grpSpPr>
          <a:xfrm>
            <a:off x="1242117" y="2992052"/>
            <a:ext cx="6659767" cy="1412846"/>
            <a:chOff x="3192145" y="4138070"/>
            <a:chExt cx="8773099" cy="2160635"/>
          </a:xfrm>
        </p:grpSpPr>
        <p:pic>
          <p:nvPicPr>
            <p:cNvPr descr="low_latency_rtf_v018_vs_v020" id="1017" name="Google Shape;1017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013825" y="4138070"/>
              <a:ext cx="2951419" cy="21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w_latency_tpot_v018_vs_v020" id="1018" name="Google Shape;1018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92145" y="4138070"/>
              <a:ext cx="2844344" cy="21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w_latency_ttfp_v018_vs_v020" id="1019" name="Google Shape;1019;p9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59805" y="4138705"/>
              <a:ext cx="2930496" cy="216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0" name="Google Shape;1020;p94"/>
          <p:cNvSpPr txBox="1"/>
          <p:nvPr/>
        </p:nvSpPr>
        <p:spPr>
          <a:xfrm>
            <a:off x="52050" y="4500920"/>
            <a:ext cx="61842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experiments were run on two NVIDIA H100 GPUs.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9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Qwen3-TTS</a:t>
            </a:r>
            <a:endParaRPr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26" name="Google Shape;1026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" name="Google Shape;1027;p95"/>
          <p:cNvSpPr txBox="1"/>
          <p:nvPr/>
        </p:nvSpPr>
        <p:spPr>
          <a:xfrm>
            <a:off x="2540000" y="730422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throughput (Concurrency 32)</a:t>
            </a:r>
            <a:endParaRPr/>
          </a:p>
        </p:txBody>
      </p:sp>
      <p:sp>
        <p:nvSpPr>
          <p:cNvPr id="1028" name="Google Shape;1028;p95"/>
          <p:cNvSpPr txBox="1"/>
          <p:nvPr/>
        </p:nvSpPr>
        <p:spPr>
          <a:xfrm>
            <a:off x="2540000" y="2589066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latency(Concurrency 1)</a:t>
            </a:r>
            <a:endParaRPr/>
          </a:p>
        </p:txBody>
      </p:sp>
      <p:sp>
        <p:nvSpPr>
          <p:cNvPr id="1029" name="Google Shape;1029;p95"/>
          <p:cNvSpPr txBox="1"/>
          <p:nvPr/>
        </p:nvSpPr>
        <p:spPr>
          <a:xfrm>
            <a:off x="52050" y="4500920"/>
            <a:ext cx="61842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experiments were run on Single H20 GPU.</a:t>
            </a:r>
            <a:endParaRPr b="0" i="0" sz="1400" u="none" cap="none" strike="noStrike">
              <a:solidFill>
                <a:srgbClr val="323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0" name="Google Shape;1030;p95"/>
          <p:cNvGrpSpPr/>
          <p:nvPr/>
        </p:nvGrpSpPr>
        <p:grpSpPr>
          <a:xfrm>
            <a:off x="364846" y="1062238"/>
            <a:ext cx="8613973" cy="1449579"/>
            <a:chOff x="365760" y="1143000"/>
            <a:chExt cx="11316922" cy="2377440"/>
          </a:xfrm>
        </p:grpSpPr>
        <p:pic>
          <p:nvPicPr>
            <p:cNvPr descr="CustomVoice_c32_TTFT.png" id="1031" name="Google Shape;1031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760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TTFP.png" id="1032" name="Google Shape;1032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0803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E2EL.png" id="1033" name="Google Shape;1033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5847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RTF.png" id="1034" name="Google Shape;1034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0891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5" name="Google Shape;1035;p95"/>
          <p:cNvGrpSpPr/>
          <p:nvPr/>
        </p:nvGrpSpPr>
        <p:grpSpPr>
          <a:xfrm>
            <a:off x="517161" y="2937500"/>
            <a:ext cx="8418379" cy="1314346"/>
            <a:chOff x="365760" y="1143000"/>
            <a:chExt cx="11316922" cy="2377440"/>
          </a:xfrm>
        </p:grpSpPr>
        <p:pic>
          <p:nvPicPr>
            <p:cNvPr descr="CustomVoice_c32_TTFT.png" id="1036" name="Google Shape;1036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760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TTFP.png" id="1037" name="Google Shape;103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0803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E2EL.png" id="1038" name="Google Shape;1038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5847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ustomVoice_c32_RTF.png" id="1039" name="Google Shape;1039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0891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Fish Speech S2 Pro</a:t>
            </a:r>
            <a:endParaRPr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45" name="Google Shape;1045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6" name="Google Shape;1046;p96"/>
          <p:cNvSpPr txBox="1"/>
          <p:nvPr/>
        </p:nvSpPr>
        <p:spPr>
          <a:xfrm>
            <a:off x="2540000" y="730422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throughput (Concurrency 8)</a:t>
            </a:r>
            <a:endParaRPr/>
          </a:p>
        </p:txBody>
      </p:sp>
      <p:sp>
        <p:nvSpPr>
          <p:cNvPr id="1047" name="Google Shape;1047;p96"/>
          <p:cNvSpPr txBox="1"/>
          <p:nvPr/>
        </p:nvSpPr>
        <p:spPr>
          <a:xfrm>
            <a:off x="2540000" y="2589066"/>
            <a:ext cx="406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latency(Concurrency 1)</a:t>
            </a:r>
            <a:endParaRPr/>
          </a:p>
        </p:txBody>
      </p:sp>
      <p:sp>
        <p:nvSpPr>
          <p:cNvPr id="1048" name="Google Shape;1048;p96"/>
          <p:cNvSpPr txBox="1"/>
          <p:nvPr/>
        </p:nvSpPr>
        <p:spPr>
          <a:xfrm>
            <a:off x="52050" y="4500920"/>
            <a:ext cx="7003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experiments were run on Single H20 GPU.</a:t>
            </a:r>
            <a:endParaRPr/>
          </a:p>
        </p:txBody>
      </p:sp>
      <p:grpSp>
        <p:nvGrpSpPr>
          <p:cNvPr id="1049" name="Google Shape;1049;p96"/>
          <p:cNvGrpSpPr/>
          <p:nvPr/>
        </p:nvGrpSpPr>
        <p:grpSpPr>
          <a:xfrm>
            <a:off x="673306" y="1131010"/>
            <a:ext cx="7999525" cy="1440740"/>
            <a:chOff x="365760" y="1143000"/>
            <a:chExt cx="11316922" cy="2377440"/>
          </a:xfrm>
        </p:grpSpPr>
        <p:pic>
          <p:nvPicPr>
            <p:cNvPr descr="Fish_c8_TTFT.png" id="1050" name="Google Shape;1050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5760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8_TTFP.png" id="1051" name="Google Shape;1051;p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0803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8_E2EL.png" id="1052" name="Google Shape;1052;p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5847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8_RTF.png" id="1053" name="Google Shape;1053;p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0891" y="114300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4" name="Google Shape;1054;p96"/>
          <p:cNvGrpSpPr/>
          <p:nvPr/>
        </p:nvGrpSpPr>
        <p:grpSpPr>
          <a:xfrm>
            <a:off x="595834" y="2791144"/>
            <a:ext cx="8076997" cy="1397410"/>
            <a:chOff x="365760" y="4160520"/>
            <a:chExt cx="11316922" cy="2377440"/>
          </a:xfrm>
        </p:grpSpPr>
        <p:pic>
          <p:nvPicPr>
            <p:cNvPr descr="Fish_c1_TTFT.png" id="1055" name="Google Shape;1055;p9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5760" y="416052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1_TTFP.png" id="1056" name="Google Shape;1056;p9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30803" y="416052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1_E2EL.png" id="1057" name="Google Shape;1057;p9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95847" y="416052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sh_c1_RTF.png" id="1058" name="Google Shape;1058;p9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960891" y="4160520"/>
              <a:ext cx="2721791" cy="23774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9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</a:pPr>
            <a:r>
              <a:rPr lang="en-US">
                <a:latin typeface="Microsoft Yahei"/>
                <a:ea typeface="Microsoft Yahei"/>
                <a:cs typeface="Microsoft Yahei"/>
                <a:sym typeface="Microsoft Yahei"/>
              </a:rPr>
              <a:t>Diffusion models</a:t>
            </a:r>
            <a:endParaRPr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64" name="Google Shape;1064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65" name="Google Shape;1065;p97"/>
          <p:cNvGraphicFramePr/>
          <p:nvPr/>
        </p:nvGraphicFramePr>
        <p:xfrm>
          <a:off x="199958" y="789125"/>
          <a:ext cx="4413956" cy="4356656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066" name="Google Shape;1066;p97"/>
          <p:cNvGraphicFramePr/>
          <p:nvPr/>
        </p:nvGraphicFramePr>
        <p:xfrm>
          <a:off x="4514300" y="1623256"/>
          <a:ext cx="4572000" cy="274320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5"/>
          <p:cNvSpPr txBox="1"/>
          <p:nvPr>
            <p:ph type="ctrTitle"/>
          </p:nvPr>
        </p:nvSpPr>
        <p:spPr>
          <a:xfrm>
            <a:off x="768900" y="287375"/>
            <a:ext cx="7572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Roadmap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25"/>
          <p:cNvSpPr txBox="1"/>
          <p:nvPr>
            <p:ph idx="1" type="subTitle"/>
          </p:nvPr>
        </p:nvSpPr>
        <p:spPr>
          <a:xfrm>
            <a:off x="768900" y="2453125"/>
            <a:ext cx="74088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454545"/>
                </a:solidFill>
                <a:latin typeface="Lexend"/>
                <a:ea typeface="Lexend"/>
                <a:cs typeface="Lexend"/>
                <a:sym typeface="Lexend"/>
              </a:rPr>
              <a:t>vLLM-Omni Team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3" name="Google Shape;1073;p25"/>
          <p:cNvCxnSpPr/>
          <p:nvPr/>
        </p:nvCxnSpPr>
        <p:spPr>
          <a:xfrm>
            <a:off x="532600" y="1420850"/>
            <a:ext cx="0" cy="16971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Future Roadmap (Overview)</a:t>
            </a:r>
            <a:endParaRPr/>
          </a:p>
        </p:txBody>
      </p:sp>
      <p:sp>
        <p:nvSpPr>
          <p:cNvPr id="1079" name="Google Shape;1079;p26"/>
          <p:cNvSpPr/>
          <p:nvPr/>
        </p:nvSpPr>
        <p:spPr>
          <a:xfrm>
            <a:off x="564800" y="878137"/>
            <a:ext cx="8014400" cy="1642813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P0: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CI/CD: Performance monitoring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 scale deployment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Diffusion continuous batching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Quantization(fp8/fp4/autoround w4a16…)</a:t>
            </a:r>
            <a:endParaRPr/>
          </a:p>
        </p:txBody>
      </p:sp>
      <p:sp>
        <p:nvSpPr>
          <p:cNvPr id="1080" name="Google Shape;1080;p26"/>
          <p:cNvSpPr/>
          <p:nvPr/>
        </p:nvSpPr>
        <p:spPr>
          <a:xfrm>
            <a:off x="564800" y="3035300"/>
            <a:ext cx="8014400" cy="1695833"/>
          </a:xfrm>
          <a:prstGeom prst="roundRect">
            <a:avLst>
              <a:gd fmla="val 16667" name="adj"/>
            </a:avLst>
          </a:prstGeom>
          <a:solidFill>
            <a:srgbClr val="D8E6F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P1: </a:t>
            </a:r>
            <a:endParaRPr b="0" i="0" sz="1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Auto-regressive DiT models (interactive/world models)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Diffusers backend support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ModelRunnerV2 fully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Video streaming input/output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6"/>
          <p:cNvSpPr txBox="1"/>
          <p:nvPr/>
        </p:nvSpPr>
        <p:spPr>
          <a:xfrm>
            <a:off x="564800" y="4803964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https://github.com/vllm-project/vllm-omni/issues/2136</a:t>
            </a:r>
            <a:endParaRPr b="0" i="0" sz="1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solidFill>
                  <a:schemeClr val="lt1"/>
                </a:solidFill>
              </a:rPr>
              <a:t>vLLM</a:t>
            </a:r>
            <a:r>
              <a:rPr lang="en-US"/>
              <a:t> </a:t>
            </a:r>
            <a:r>
              <a:rPr lang="en-US">
                <a:solidFill>
                  <a:srgbClr val="454545"/>
                </a:solidFill>
              </a:rPr>
              <a:t>Networking Hour!</a:t>
            </a:r>
            <a:endParaRPr>
              <a:solidFill>
                <a:srgbClr val="454545"/>
              </a:solidFill>
            </a:endParaRPr>
          </a:p>
        </p:txBody>
      </p:sp>
      <p:pic>
        <p:nvPicPr>
          <p:cNvPr id="1087" name="Google Shape;10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139" y="1279304"/>
            <a:ext cx="465684" cy="46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139" y="2450610"/>
            <a:ext cx="465668" cy="46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27"/>
          <p:cNvSpPr txBox="1"/>
          <p:nvPr/>
        </p:nvSpPr>
        <p:spPr>
          <a:xfrm>
            <a:off x="1269699" y="1080625"/>
            <a:ext cx="501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https://github.com/vllm-project/vllm</a:t>
            </a:r>
            <a:r>
              <a:rPr b="0" i="0" lang="en-US" sz="2400" u="sng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-omni</a:t>
            </a:r>
            <a:r>
              <a:rPr b="0" i="0" lang="en-US" sz="2400" u="none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2400" u="none" cap="none" strike="noStrike">
              <a:solidFill>
                <a:srgbClr val="1D9B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0" name="Google Shape;1090;p27"/>
          <p:cNvSpPr txBox="1"/>
          <p:nvPr/>
        </p:nvSpPr>
        <p:spPr>
          <a:xfrm>
            <a:off x="1269699" y="2251925"/>
            <a:ext cx="4920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9BF0"/>
                </a:solidFill>
                <a:latin typeface="Consolas"/>
                <a:ea typeface="Consolas"/>
                <a:cs typeface="Consolas"/>
                <a:sym typeface="Consolas"/>
              </a:rPr>
              <a:t>https://blog.vllm.ai/2025/11/30/vllm-omni.html </a:t>
            </a:r>
            <a:endParaRPr b="0" i="0" sz="2400" u="none" cap="none" strike="noStrike">
              <a:solidFill>
                <a:srgbClr val="1D9B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vllm-omni" id="1091" name="Google Shape;109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1863" y="348125"/>
            <a:ext cx="2177331" cy="3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139" y="3658459"/>
            <a:ext cx="498675" cy="4432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7"/>
          <p:cNvSpPr/>
          <p:nvPr/>
        </p:nvSpPr>
        <p:spPr>
          <a:xfrm>
            <a:off x="1372575" y="3423250"/>
            <a:ext cx="5277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https://communityinviter.com/apps/vllm-dev/join-vllm-developers-slack</a:t>
            </a:r>
            <a:endParaRPr b="0" i="0" sz="2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Scan ME to scan me to joint the wechat group" id="1094" name="Google Shape;1094;p27"/>
          <p:cNvPicPr preferRelativeResize="0"/>
          <p:nvPr/>
        </p:nvPicPr>
        <p:blipFill rotWithShape="1">
          <a:blip r:embed="rId9">
            <a:alphaModFix/>
          </a:blip>
          <a:srcRect b="0" l="0" r="0" t="80831"/>
          <a:stretch/>
        </p:blipFill>
        <p:spPr>
          <a:xfrm>
            <a:off x="6974299" y="4101726"/>
            <a:ext cx="1898976" cy="465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lm-omni" id="1095" name="Google Shape;109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1863" y="348125"/>
            <a:ext cx="2177331" cy="3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15275" y="314525"/>
            <a:ext cx="1817025" cy="18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27"/>
          <p:cNvPicPr preferRelativeResize="0"/>
          <p:nvPr/>
        </p:nvPicPr>
        <p:blipFill rotWithShape="1">
          <a:blip r:embed="rId11">
            <a:alphaModFix/>
          </a:blip>
          <a:srcRect b="16277" l="14143" r="13855" t="37177"/>
          <a:stretch/>
        </p:blipFill>
        <p:spPr>
          <a:xfrm>
            <a:off x="7094580" y="2399507"/>
            <a:ext cx="1673736" cy="170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liuhongsheng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1774916001</vt:lpwstr>
  </property>
</Properties>
</file>