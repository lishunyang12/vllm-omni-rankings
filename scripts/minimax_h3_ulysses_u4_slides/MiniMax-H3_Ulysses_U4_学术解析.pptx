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66928"/>
            <a:ext cx="1965960" cy="310896"/>
          </a:xfrm>
          <a:prstGeom prst="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76072"/>
            <a:ext cx="1911095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4E3B"/>
                </a:solidFill>
                <a:latin typeface="Consolas"/>
              </a:rPr>
              <a:t>MINIMAX-H3 · SP=8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78992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827"/>
                </a:solidFill>
                <a:latin typeface="Microsoft YaHei"/>
              </a:rPr>
              <a:t>Ulysses 热路径与 direct-copy 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975104"/>
            <a:ext cx="1042416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64E3B"/>
                </a:solidFill>
                <a:latin typeface="Microsoft YaHei"/>
              </a:rPr>
              <a:t>从原始 Nsight Systems trace 到 RoPE 直写 NCCL packed Q/K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2633472"/>
            <a:ext cx="10826496" cy="27432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6656" y="2999232"/>
            <a:ext cx="2542032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99815"/>
            <a:ext cx="22494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8× B300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11296"/>
            <a:ext cx="2249424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硬件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39"/>
            <a:ext cx="2249424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NV18 full fabric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2999232"/>
            <a:ext cx="2542032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3099815"/>
            <a:ext cx="22494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TP1 · U8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3511296"/>
            <a:ext cx="2249424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DiT 并行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3749039"/>
            <a:ext cx="2249424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Ring1 · TRTLLM_ATTN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3328" y="2999232"/>
            <a:ext cx="2542032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3099815"/>
            <a:ext cx="22494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50 blocks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3511296"/>
            <a:ext cx="2249424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重复热路径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3749039"/>
            <a:ext cx="2249424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4 A2A / block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41664" y="2999232"/>
            <a:ext cx="2761488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3099815"/>
            <a:ext cx="2468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419.38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3511296"/>
            <a:ext cx="2468880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diffuse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7968" y="3749039"/>
            <a:ext cx="2468880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2-step profile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" y="4370832"/>
            <a:ext cx="10826496" cy="1133856"/>
          </a:xfrm>
          <a:prstGeom prst="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08576"/>
            <a:ext cx="199339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64E3B"/>
                </a:solidFill>
                <a:latin typeface="Microsoft YaHei"/>
              </a:rPr>
              <a:t>核心结论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4526280"/>
            <a:ext cx="8339327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827"/>
                </a:solidFill>
                <a:latin typeface="Microsoft YaHei"/>
              </a:rPr>
              <a:t>NCCL 前的 elementwise_kernel 是 transpose().contiguous() 产生的 64.53 MiB direct-copy。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827"/>
                </a:solidFill>
                <a:latin typeface="Microsoft YaHei"/>
              </a:rPr>
              <a:t>让 _rope_combine_kernel 直接写 Ulysses send layout，可消掉 Q/K 两次 pack。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5925312"/>
            <a:ext cx="106984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F6B76"/>
                </a:solidFill>
                <a:latin typeface="Consolas"/>
              </a:rPr>
              <a:t>分析版本：agent/minimax-h3-pillar1 @ 50cf90da7（不是 PR #5990 的单-pass kernel）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6437376"/>
            <a:ext cx="11082528" cy="9144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492240"/>
            <a:ext cx="10241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原始 profile：agent/minimax-h3-pillar1@50cf90da7 · 2026-08-20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18520" y="6473952"/>
            <a:ext cx="5669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47857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65176"/>
            <a:ext cx="43891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Consola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201168"/>
            <a:ext cx="105156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</a:rPr>
              <a:t>SP=8 的数据所有权转换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749808"/>
            <a:ext cx="11082528" cy="22860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59536"/>
            <a:ext cx="1097280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Microsoft YaHei"/>
              </a:rPr>
              <a:t>Attention 内部从 sequence-shard 变成 head-shard；Attention 外恢复 sequence-shard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554480"/>
            <a:ext cx="1737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59" y="1673352"/>
            <a:ext cx="1609343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1827"/>
                </a:solidFill>
                <a:latin typeface="Microsoft YaHei"/>
              </a:rPr>
              <a:t>本地 Q/K/V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59" y="2057400"/>
            <a:ext cx="1609343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F6B76"/>
                </a:solidFill>
                <a:latin typeface="Consolas"/>
              </a:rPr>
              <a:t>[1, 4,720, 56, 128]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22576" y="1828800"/>
            <a:ext cx="310896" cy="384048"/>
          </a:xfrm>
          <a:prstGeom prst="rightArrow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1554480"/>
            <a:ext cx="1865376" cy="960120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52344" y="1673352"/>
            <a:ext cx="17373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64E3B"/>
                </a:solidFill>
                <a:latin typeface="Microsoft YaHei"/>
              </a:rPr>
              <a:t>pack send buffer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2344" y="2057400"/>
            <a:ext cx="17373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F6B76"/>
                </a:solidFill>
                <a:latin typeface="Consolas"/>
              </a:rPr>
              <a:t>[8, 4,720, 1, 7, 128]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608576" y="1828800"/>
            <a:ext cx="310896" cy="384048"/>
          </a:xfrm>
          <a:prstGeom prst="rightArrow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74336" y="1554480"/>
            <a:ext cx="1773936" cy="960120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8344" y="1673352"/>
            <a:ext cx="1645919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64E3B"/>
                </a:solidFill>
                <a:latin typeface="Microsoft YaHei"/>
              </a:rPr>
              <a:t>Q/K/V All-to-All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057400"/>
            <a:ext cx="16459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F6B76"/>
                </a:solidFill>
                <a:latin typeface="Consolas"/>
              </a:rPr>
              <a:t>3 × all_to_all_single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03136" y="1828800"/>
            <a:ext cx="310896" cy="384048"/>
          </a:xfrm>
          <a:prstGeom prst="rightArrow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68896" y="1554480"/>
            <a:ext cx="177393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904" y="1673352"/>
            <a:ext cx="1645919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1827"/>
                </a:solidFill>
                <a:latin typeface="Microsoft YaHei"/>
              </a:rPr>
              <a:t>TRT-LLM FMHA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2057400"/>
            <a:ext cx="16459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F6B76"/>
                </a:solidFill>
                <a:latin typeface="Consolas"/>
              </a:rPr>
              <a:t>[1, 37,760, 7, 128]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997696" y="1828800"/>
            <a:ext cx="310896" cy="384048"/>
          </a:xfrm>
          <a:prstGeom prst="rightArrow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63456" y="1554480"/>
            <a:ext cx="2139696" cy="960120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27464" y="1673352"/>
            <a:ext cx="2011679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64E3B"/>
                </a:solidFill>
                <a:latin typeface="Microsoft YaHei"/>
              </a:rPr>
              <a:t>Output All-to-All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2057400"/>
            <a:ext cx="201167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F6B76"/>
                </a:solidFill>
                <a:latin typeface="Consolas"/>
              </a:rPr>
              <a:t>恢复 [1, 4,720, 56, 128]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26080"/>
            <a:ext cx="110459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163824"/>
            <a:ext cx="123444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64E3B"/>
                </a:solidFill>
                <a:latin typeface="Microsoft YaHei"/>
              </a:rPr>
              <a:t>元素守恒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3099816"/>
            <a:ext cx="4059936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827"/>
                </a:solidFill>
                <a:latin typeface="Consolas"/>
              </a:rPr>
              <a:t>(S/P)·H·D = S·(H/P)·D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3136392"/>
            <a:ext cx="4663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F6B76"/>
                </a:solidFill>
                <a:latin typeface="Microsoft YaHei"/>
              </a:rPr>
              <a:t>Ulysses 改变 ownership，不减少 attention 数学量。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15968"/>
            <a:ext cx="3383280" cy="1481328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315968"/>
            <a:ext cx="50292" cy="1481328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453128"/>
            <a:ext cx="3072384" cy="301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47857"/>
                </a:solidFill>
                <a:latin typeface="Microsoft YaHei"/>
              </a:rPr>
              <a:t>每层通信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837176"/>
            <a:ext cx="3072384" cy="8503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827"/>
                </a:solidFill>
                <a:latin typeface="Microsoft YaHei"/>
              </a:rPr>
              <a:t>Q + K + V + Output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827"/>
                </a:solidFill>
                <a:latin typeface="Microsoft YaHei"/>
              </a:rPr>
              <a:t>= 4 次 All-to-All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96512" y="4315968"/>
            <a:ext cx="3383280" cy="1481328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96512" y="4315968"/>
            <a:ext cx="50292" cy="1481328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9392" y="4453128"/>
            <a:ext cx="3072384" cy="301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47857"/>
                </a:solidFill>
                <a:latin typeface="Microsoft YaHei"/>
              </a:rPr>
              <a:t>50 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9392" y="4837176"/>
            <a:ext cx="3072384" cy="8503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827"/>
                </a:solidFill>
                <a:latin typeface="Microsoft YaHei"/>
              </a:rPr>
              <a:t>4 × 50 = 200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827"/>
                </a:solidFill>
                <a:latin typeface="Microsoft YaHei"/>
              </a:rPr>
              <a:t>NCCL SendRecv / GPU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44383" y="4315968"/>
            <a:ext cx="3950208" cy="1481328"/>
          </a:xfrm>
          <a:prstGeom prst="rect">
            <a:avLst/>
          </a:prstGeom>
          <a:solidFill>
            <a:srgbClr val="FFFBEB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44383" y="4315968"/>
            <a:ext cx="50292" cy="1481328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27263" y="4453128"/>
            <a:ext cx="3639312" cy="301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Microsoft YaHei"/>
              </a:rPr>
              <a:t>关键执行事实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7263" y="4837176"/>
            <a:ext cx="3639312" cy="8503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827"/>
                </a:solidFill>
                <a:latin typeface="Microsoft YaHei"/>
              </a:rPr>
              <a:t>1331 个 Ulysses 区间 kernel 全在 CUDA stream 7；本次没有计算—通信 overlap。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0352" y="6437376"/>
            <a:ext cx="11082528" cy="9144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6492240"/>
            <a:ext cx="10241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源码：minimax_h3_transformer.py → attention/layer.py → attention/parallel/ulysses.py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18520" y="6473952"/>
            <a:ext cx="5669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47857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65176"/>
            <a:ext cx="43891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Consola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201168"/>
            <a:ext cx="105156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</a:rPr>
              <a:t>单个 DiT block：trace 与源码逐项对齐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749808"/>
            <a:ext cx="11082528" cy="22860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59536"/>
            <a:ext cx="1097280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Microsoft YaHei"/>
              </a:rPr>
              <a:t>代表性 GPU0 中间层；时间用于说明关键路径结构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874519" cy="438912"/>
          </a:xfrm>
          <a:prstGeom prst="rect">
            <a:avLst/>
          </a:prstGeom>
          <a:solidFill>
            <a:srgbClr val="064E3B"/>
          </a:solidFill>
          <a:ln w="762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3" y="1463040"/>
            <a:ext cx="1764791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Consolas"/>
              </a:rPr>
              <a:t>阶段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2423160" y="1389888"/>
            <a:ext cx="1572768" cy="438912"/>
          </a:xfrm>
          <a:prstGeom prst="rect">
            <a:avLst/>
          </a:prstGeom>
          <a:solidFill>
            <a:srgbClr val="064E3B"/>
          </a:solidFill>
          <a:ln w="762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78024" y="1463040"/>
            <a:ext cx="1463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Consolas"/>
              </a:rPr>
              <a:t>代表耗时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95928" y="1389888"/>
            <a:ext cx="3054096" cy="438912"/>
          </a:xfrm>
          <a:prstGeom prst="rect">
            <a:avLst/>
          </a:prstGeom>
          <a:solidFill>
            <a:srgbClr val="064E3B"/>
          </a:solidFill>
          <a:ln w="762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50791" y="1463040"/>
            <a:ext cx="294436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Microsoft YaHei"/>
              </a:rPr>
              <a:t>trace kernel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50024" y="1389888"/>
            <a:ext cx="4041648" cy="438912"/>
          </a:xfrm>
          <a:prstGeom prst="rect">
            <a:avLst/>
          </a:prstGeom>
          <a:solidFill>
            <a:srgbClr val="064E3B"/>
          </a:solidFill>
          <a:ln w="762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04888" y="1463040"/>
            <a:ext cx="39319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Microsoft YaHei"/>
              </a:rPr>
              <a:t>源码归因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874519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3" y="1901952"/>
            <a:ext cx="1764791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RoPE products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23160" y="1828800"/>
            <a:ext cx="1572768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78024" y="1901952"/>
            <a:ext cx="1463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51.7 µs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95928" y="1828800"/>
            <a:ext cx="3054096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50791" y="1901952"/>
            <a:ext cx="294436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_rope_products_kernel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50024" y="1828800"/>
            <a:ext cx="4041648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04888" y="1901952"/>
            <a:ext cx="39319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fused_qk_norm_rope.py:55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267712"/>
            <a:ext cx="1874519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3" y="2340864"/>
            <a:ext cx="1764791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RoPE combine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3160" y="2267712"/>
            <a:ext cx="1572768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8024" y="2340864"/>
            <a:ext cx="1463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67.1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95928" y="2267712"/>
            <a:ext cx="3054096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50791" y="2340864"/>
            <a:ext cx="294436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_rope_combine_kernel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0024" y="2267712"/>
            <a:ext cx="4041648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04888" y="2340864"/>
            <a:ext cx="39319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fused_qk_norm_rope.py:147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2706624"/>
            <a:ext cx="1874519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3" y="2779776"/>
            <a:ext cx="1764791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Q pack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23160" y="2706624"/>
            <a:ext cx="1572768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78024" y="2779776"/>
            <a:ext cx="1463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91.3 µs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95928" y="2706624"/>
            <a:ext cx="3054096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0791" y="2779776"/>
            <a:ext cx="294436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elementwise/direct_copy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50024" y="2706624"/>
            <a:ext cx="4041648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04888" y="2779776"/>
            <a:ext cx="39319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comm.py:44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145536"/>
            <a:ext cx="1874519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3" y="3218688"/>
            <a:ext cx="1764791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Q A2A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23160" y="3145536"/>
            <a:ext cx="1572768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78024" y="3218688"/>
            <a:ext cx="1463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160.6 µs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5928" y="3145536"/>
            <a:ext cx="3054096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50791" y="3218688"/>
            <a:ext cx="294436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ncclDevKernel_SendRecv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50024" y="3145536"/>
            <a:ext cx="4041648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04888" y="3218688"/>
            <a:ext cx="39319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comm.py:51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584448"/>
            <a:ext cx="1874519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503" y="3657600"/>
            <a:ext cx="1764791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K pack + A2A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3160" y="3584448"/>
            <a:ext cx="1572768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8024" y="3657600"/>
            <a:ext cx="1463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90.2 + 152.9 µs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95928" y="3584448"/>
            <a:ext cx="3054096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50791" y="3657600"/>
            <a:ext cx="294436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direct_copy → SendRecv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50024" y="3584448"/>
            <a:ext cx="4041648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04888" y="3657600"/>
            <a:ext cx="39319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ulysses.py:333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4023360"/>
            <a:ext cx="1874519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3503" y="4096512"/>
            <a:ext cx="1764791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V pack + A2A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23160" y="4023360"/>
            <a:ext cx="1572768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78024" y="4096512"/>
            <a:ext cx="1463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90.6 + 150.7 µs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95928" y="4023360"/>
            <a:ext cx="3054096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50791" y="4096512"/>
            <a:ext cx="294436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direct_copy → SendRecv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0024" y="4023360"/>
            <a:ext cx="4041648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04888" y="4096512"/>
            <a:ext cx="39319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ulysses.py:334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8640" y="4462272"/>
            <a:ext cx="1874519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3503" y="4535424"/>
            <a:ext cx="1764791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Attention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423160" y="4462272"/>
            <a:ext cx="1572768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478024" y="4535424"/>
            <a:ext cx="1463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3,441.3 µs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95928" y="4462272"/>
            <a:ext cx="3054096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50791" y="4535424"/>
            <a:ext cx="294436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fmha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50024" y="4462272"/>
            <a:ext cx="4041648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04888" y="4535424"/>
            <a:ext cx="39319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trtllm_attn.py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4901183"/>
            <a:ext cx="1874519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3503" y="4974336"/>
            <a:ext cx="1764791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O pack + A2A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23160" y="4901183"/>
            <a:ext cx="1572768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8024" y="4974336"/>
            <a:ext cx="1463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97.7 + 156.3 µs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995928" y="4901183"/>
            <a:ext cx="3054096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50791" y="4974336"/>
            <a:ext cx="294436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direct_copy → SendRecv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050024" y="4901183"/>
            <a:ext cx="4041648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04888" y="4974336"/>
            <a:ext cx="39319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comm.py:74–86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8640" y="5340096"/>
            <a:ext cx="1874519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3503" y="5413248"/>
            <a:ext cx="1764791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O unpack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23160" y="5340096"/>
            <a:ext cx="1572768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478024" y="5413248"/>
            <a:ext cx="1463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86.5 µs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95928" y="5340096"/>
            <a:ext cx="3054096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50791" y="5413248"/>
            <a:ext cx="294436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elementwise/direct_copy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0024" y="5340096"/>
            <a:ext cx="4041648" cy="438912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4888" y="5413248"/>
            <a:ext cx="39319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comm.py:96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82528" cy="310896"/>
          </a:xfrm>
          <a:prstGeom prst="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49808" y="5998464"/>
            <a:ext cx="10716768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4E3B"/>
                </a:solidFill>
                <a:latin typeface="Microsoft YaHei"/>
              </a:rPr>
              <a:t>ncclDevKernel_SendRecv 是 dist.all_to_all_single 的 NCCL 实现，不是模型显式调用的独立 Send/Recv 算子。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30352" y="6437376"/>
            <a:ext cx="11082528" cy="9144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48640" y="6492240"/>
            <a:ext cx="10241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Trace：minimax_h3_sp8_2step_b300_20260820.nsys-rep · representative GPU0 block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18520" y="6473952"/>
            <a:ext cx="5669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47857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65176"/>
            <a:ext cx="43891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Consola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201168"/>
            <a:ext cx="105156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</a:rPr>
              <a:t>direct-copy 的根因：NCCL send layout 需要物化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749808"/>
            <a:ext cx="11082528" cy="22860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59536"/>
            <a:ext cx="1097280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Microsoft YaHei"/>
              </a:rPr>
              <a:t>transpose 只是 view；真正产生 elementwise_kernel 的是 contiguous()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5394960" cy="1847088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50292" cy="1847088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17904"/>
            <a:ext cx="5084064" cy="16093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11827"/>
                </a:solidFill>
                <a:latin typeface="Consolas"/>
              </a:rPr>
              <a:t># distributed/comm.py:44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11827"/>
                </a:solidFill>
                <a:latin typeface="Consolas"/>
              </a:rPr>
              <a:t>input_t = input.reshape(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11827"/>
                </a:solidFill>
                <a:latin typeface="Consolas"/>
              </a:rPr>
              <a:t>    B, S_local, P, H_local, 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11827"/>
                </a:solidFill>
                <a:latin typeface="Consolas"/>
              </a:rPr>
              <a:t>).transpose(0, 2).contiguous()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11827"/>
                </a:solidFill>
                <a:latin typeface="Consolas"/>
              </a:rPr>
              <a:t># distributed/comm.py:51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11827"/>
                </a:solidFill>
                <a:latin typeface="Consolas"/>
              </a:rPr>
              <a:t>dist.all_to_all_single(output, input_t, group=group)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1389888"/>
            <a:ext cx="5413248" cy="1847088"/>
          </a:xfrm>
          <a:prstGeom prst="rect">
            <a:avLst/>
          </a:prstGeom>
          <a:solidFill>
            <a:srgbClr val="ECFDF5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1389888"/>
            <a:ext cx="50292" cy="1847088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527048"/>
            <a:ext cx="5102352" cy="301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47857"/>
                </a:solidFill>
                <a:latin typeface="Microsoft YaHei"/>
              </a:rPr>
              <a:t>物理布局变化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911095"/>
            <a:ext cx="5102352" cy="12161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[1, 4,720, 56, 128]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→ view [8, 4,720, 1, 7, 128]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→ contiguous：读写整个 64.53 MiB tensor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02736"/>
            <a:ext cx="2615184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3703320"/>
            <a:ext cx="232257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64.53 MiB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4114800"/>
            <a:ext cx="2322576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每次 pack tensor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352544"/>
            <a:ext cx="2322576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BF16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46704" y="3602736"/>
            <a:ext cx="2615184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3008" y="3703320"/>
            <a:ext cx="232257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5 / block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14800"/>
            <a:ext cx="2322576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Q、K、V、O pack、O unpack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602736"/>
            <a:ext cx="2615184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3703320"/>
            <a:ext cx="232257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250 / 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4114800"/>
            <a:ext cx="2322576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50 层 direct-copy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4352544"/>
            <a:ext cx="2322576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5 × 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42832" y="3602736"/>
            <a:ext cx="2651760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89136" y="3703320"/>
            <a:ext cx="235915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22.37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4114800"/>
            <a:ext cx="2359152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累计 critical copy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9136" y="4352544"/>
            <a:ext cx="2359152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约 diffuse 5.33%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19472"/>
            <a:ext cx="11045952" cy="1042415"/>
          </a:xfrm>
          <a:prstGeom prst="rect">
            <a:avLst/>
          </a:prstGeom>
          <a:solidFill>
            <a:srgbClr val="FFFBEB"/>
          </a:solidFill>
          <a:ln w="1016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129784"/>
            <a:ext cx="210312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Microsoft YaHei"/>
              </a:rPr>
              <a:t>为什么不能删 contiguous？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5074920"/>
            <a:ext cx="8229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7"/>
                </a:solidFill>
                <a:latin typeface="Microsoft YaHei"/>
              </a:rPr>
              <a:t>NCCL 按连续 send chunk 解释 buffer。直接传 transpose view 会按错误物理顺序通信；正确做法是让上游 producer 直接按 send layout 写。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" y="6437376"/>
            <a:ext cx="11082528" cy="9144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92240"/>
            <a:ext cx="10241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Nsight demangled：at::native::direct_copy_kernel_cuda · gridX=66080, blockX=128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18520" y="6473952"/>
            <a:ext cx="5669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47857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65176"/>
            <a:ext cx="43891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Consola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201168"/>
            <a:ext cx="105156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</a:rPr>
              <a:t>第一阶段优化：RoPE 直接生成 packed Q/K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749808"/>
            <a:ext cx="11082528" cy="22860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59536"/>
            <a:ext cx="1097280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Microsoft YaHei"/>
              </a:rPr>
              <a:t>只改变最终 store 地址；RoPE 数学顺序与 bitwise-exact 中间边界保持不变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175504" cy="1975104"/>
          </a:xfrm>
          <a:prstGeom prst="rect">
            <a:avLst/>
          </a:prstGeom>
          <a:solidFill>
            <a:srgbClr val="FEF2F2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0292" cy="19751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4864608" cy="301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91C1C"/>
                </a:solidFill>
                <a:latin typeface="Microsoft YaHei"/>
              </a:rPr>
              <a:t>当前路径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92807"/>
            <a:ext cx="4864608" cy="1344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827"/>
                </a:solidFill>
                <a:latin typeface="Microsoft YaHei"/>
              </a:rPr>
              <a:t>_rope_combine_kernel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827"/>
                </a:solidFill>
                <a:latin typeface="Microsoft YaHei"/>
              </a:rPr>
              <a:t>  ↓ 写 [T_local, H, D]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827"/>
                </a:solidFill>
                <a:latin typeface="Microsoft YaHei"/>
              </a:rPr>
              <a:t>q_out / k_out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827"/>
                </a:solidFill>
                <a:latin typeface="Microsoft YaHei"/>
              </a:rPr>
              <a:t>  ↓ transpose().contiguous()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827"/>
                </a:solidFill>
                <a:latin typeface="Microsoft YaHei"/>
              </a:rPr>
              <a:t>NCCL send buffer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16168" y="2121408"/>
            <a:ext cx="457200" cy="493776"/>
          </a:xfrm>
          <a:prstGeom prst="rightArrow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65392" y="1371600"/>
            <a:ext cx="5029200" cy="1975104"/>
          </a:xfrm>
          <a:prstGeom prst="rect">
            <a:avLst/>
          </a:prstGeom>
          <a:solidFill>
            <a:srgbClr val="ECFDF5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65392" y="1371600"/>
            <a:ext cx="50292" cy="1975104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48272" y="1508760"/>
            <a:ext cx="4718304" cy="301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47857"/>
                </a:solidFill>
                <a:latin typeface="Microsoft YaHei"/>
              </a:rPr>
              <a:t>优化路径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1892807"/>
            <a:ext cx="4718304" cy="1344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827"/>
                </a:solidFill>
                <a:latin typeface="Microsoft YaHei"/>
              </a:rPr>
              <a:t>_rope_combine_kernel_packed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827"/>
                </a:solidFill>
                <a:latin typeface="Microsoft YaHei"/>
              </a:rPr>
              <a:t>  ↓ 写 [P, T_local, B, H_local, D]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827"/>
                </a:solidFill>
                <a:latin typeface="Microsoft YaHei"/>
              </a:rPr>
              <a:t>prepacked Q / 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827"/>
                </a:solidFill>
                <a:latin typeface="Microsoft YaHei"/>
              </a:rPr>
              <a:t>  ↓ all_to_all_single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827"/>
                </a:solidFill>
                <a:latin typeface="Microsoft YaHei"/>
              </a:rPr>
              <a:t>不再执行 Q/K contiguous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675887"/>
            <a:ext cx="5669280" cy="153619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675887"/>
            <a:ext cx="50292" cy="1536192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803903"/>
            <a:ext cx="5358384" cy="1298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11827"/>
                </a:solidFill>
                <a:latin typeface="Consolas"/>
              </a:rPr>
              <a:t>heads_per_rank = H // P       # 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11827"/>
                </a:solidFill>
                <a:latin typeface="Consolas"/>
              </a:rPr>
              <a:t>dst_rank = head // heads_per_rank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11827"/>
                </a:solidFill>
                <a:latin typeface="Consolas"/>
              </a:rPr>
              <a:t>rank_head = head % heads_per_rank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11827"/>
                </a:solidFill>
                <a:latin typeface="Consolas"/>
              </a:rPr>
              <a:t>packed[dst_rank, token, 0, rank_head, dim] = rope_result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55664" y="3675887"/>
            <a:ext cx="5138928" cy="1536192"/>
          </a:xfrm>
          <a:prstGeom prst="rect">
            <a:avLst/>
          </a:prstGeom>
          <a:solidFill>
            <a:srgbClr val="FFFBEB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55664" y="3675887"/>
            <a:ext cx="50292" cy="1536192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8544" y="3813048"/>
            <a:ext cx="4828032" cy="301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Microsoft YaHei"/>
              </a:rPr>
              <a:t>Ulysses 接口必须同步修改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4" y="4197096"/>
            <a:ext cx="4828032" cy="9052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827"/>
                </a:solidFill>
                <a:latin typeface="Microsoft YaHei"/>
              </a:rPr>
              <a:t>新增 prepacked helper：直接分配 output 并调用 all_to_all_single。不能继续走 SeqAllToAll4D，否则 comm.py:44 会再次 pack。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468112"/>
            <a:ext cx="11045952" cy="512064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577840"/>
            <a:ext cx="106527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64E3B"/>
                </a:solidFill>
                <a:latin typeface="Microsoft YaHei"/>
              </a:rPr>
              <a:t>与 PR #5990 的关系：#5990 优化 RMSNorm+RoPE 计算；本方案优化 RoPE 输出→Ulysses 通信布局。两者互补。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" y="6437376"/>
            <a:ext cx="11082528" cy="9144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0241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修改点：fused_qk_norm_rope.py:147/292 · ulysses.py:332–334 · distributed/comm.py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18520" y="6473952"/>
            <a:ext cx="5669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47857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65176"/>
            <a:ext cx="43891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Consola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201168"/>
            <a:ext cx="105156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</a:rPr>
              <a:t>预期收益与边界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749808"/>
            <a:ext cx="11082528" cy="22860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59536"/>
            <a:ext cx="1097280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Microsoft YaHei"/>
              </a:rPr>
              <a:t>以下是原始 trace 推导的理论上限；实现后必须重新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2615184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490472"/>
            <a:ext cx="232257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250 → 150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01952"/>
            <a:ext cx="2322576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direct-copy /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139696"/>
            <a:ext cx="2322576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每层消掉 Q、K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6704" y="1389888"/>
            <a:ext cx="2615184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490472"/>
            <a:ext cx="232257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−100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1901952"/>
            <a:ext cx="2322576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kernel launches / 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2139696"/>
            <a:ext cx="2322576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2 × 50 blocks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389888"/>
            <a:ext cx="2615184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490472"/>
            <a:ext cx="232257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≈ 8.90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1901952"/>
            <a:ext cx="2322576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Q+K pack critical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2139696"/>
            <a:ext cx="2322576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4.47 + 4.43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42832" y="1389888"/>
            <a:ext cx="2651760" cy="987552"/>
          </a:xfrm>
          <a:prstGeom prst="rect">
            <a:avLst/>
          </a:prstGeom>
          <a:solidFill>
            <a:srgbClr val="F8FAFC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1490472"/>
            <a:ext cx="235915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64E3B"/>
                </a:solidFill>
                <a:latin typeface="Consolas"/>
              </a:rPr>
              <a:t>≈ 2.1%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9136" y="1901952"/>
            <a:ext cx="2359152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Microsoft YaHei"/>
              </a:rPr>
              <a:t>diffuse 理论上限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2139696"/>
            <a:ext cx="2359152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未验证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761488"/>
            <a:ext cx="2743200" cy="429768"/>
          </a:xfrm>
          <a:prstGeom prst="rect">
            <a:avLst/>
          </a:prstGeom>
          <a:solidFill>
            <a:srgbClr val="064E3B"/>
          </a:solidFill>
          <a:ln w="762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3" y="2834640"/>
            <a:ext cx="2633472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Consolas"/>
              </a:rPr>
              <a:t>项目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2761488"/>
            <a:ext cx="2770632" cy="429768"/>
          </a:xfrm>
          <a:prstGeom prst="rect">
            <a:avLst/>
          </a:prstGeom>
          <a:solidFill>
            <a:srgbClr val="064E3B"/>
          </a:solidFill>
          <a:ln w="762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46704" y="2834640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Consolas"/>
              </a:rPr>
              <a:t>优化前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62472" y="2761488"/>
            <a:ext cx="2770632" cy="429768"/>
          </a:xfrm>
          <a:prstGeom prst="rect">
            <a:avLst/>
          </a:prstGeom>
          <a:solidFill>
            <a:srgbClr val="064E3B"/>
          </a:solidFill>
          <a:ln w="762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17336" y="2834640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Microsoft YaHei"/>
              </a:rPr>
              <a:t>优化后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33104" y="2761488"/>
            <a:ext cx="2770632" cy="429768"/>
          </a:xfrm>
          <a:prstGeom prst="rect">
            <a:avLst/>
          </a:prstGeom>
          <a:solidFill>
            <a:srgbClr val="064E3B"/>
          </a:solidFill>
          <a:ln w="762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87968" y="2834640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Microsoft YaHei"/>
              </a:rPr>
              <a:t>是否变化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191256"/>
            <a:ext cx="2743200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3" y="3264408"/>
            <a:ext cx="2633472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Q/K direct-copy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3191256"/>
            <a:ext cx="2770632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6704" y="3264408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2 / block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62472" y="3191256"/>
            <a:ext cx="2770632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17336" y="3264408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0 / block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33104" y="3191256"/>
            <a:ext cx="2770632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87968" y="3264408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减少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621024"/>
            <a:ext cx="2743200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3" y="3694176"/>
            <a:ext cx="2633472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V direct-copy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3621024"/>
            <a:ext cx="2770632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6704" y="3694176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1 / block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62472" y="3621024"/>
            <a:ext cx="2770632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17336" y="3694176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1 / block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33104" y="3621024"/>
            <a:ext cx="2770632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87968" y="3694176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不变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050791"/>
            <a:ext cx="2743200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503" y="4123944"/>
            <a:ext cx="2633472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Output pack/unpack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4050791"/>
            <a:ext cx="2770632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6704" y="4123944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2 / block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62472" y="4050791"/>
            <a:ext cx="2770632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17336" y="4123944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2 / block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33104" y="4050791"/>
            <a:ext cx="2770632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87968" y="4123944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不变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4480560"/>
            <a:ext cx="2743200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3503" y="4553712"/>
            <a:ext cx="2633472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NCCL SendRecv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91840" y="4480560"/>
            <a:ext cx="2770632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6704" y="4553712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4 / block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62472" y="4480560"/>
            <a:ext cx="2770632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17336" y="4553712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4 / block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33104" y="4480560"/>
            <a:ext cx="2770632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87968" y="4553712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不变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8640" y="4910327"/>
            <a:ext cx="2743200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3503" y="4983479"/>
            <a:ext cx="2633472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通信 payload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91840" y="4910327"/>
            <a:ext cx="2770632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346704" y="4983479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原始字节数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62472" y="4910327"/>
            <a:ext cx="2770632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17336" y="4983479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原始字节数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833104" y="4910327"/>
            <a:ext cx="2770632" cy="42976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87968" y="4983479"/>
            <a:ext cx="2660903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不变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504688"/>
            <a:ext cx="345643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8640" y="5504688"/>
            <a:ext cx="50292" cy="658368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" y="5577840"/>
            <a:ext cx="3145536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47857"/>
                </a:solidFill>
                <a:latin typeface="Microsoft YaHei"/>
              </a:rPr>
              <a:t>下一步：V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520" y="5843016"/>
            <a:ext cx="314553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Microsoft YaHei"/>
              </a:rPr>
              <a:t>融合到 QKV projection epilogue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78808" y="5504688"/>
            <a:ext cx="345643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78808" y="5504688"/>
            <a:ext cx="50292" cy="658368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61688" y="5577840"/>
            <a:ext cx="3145536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47857"/>
                </a:solidFill>
                <a:latin typeface="Microsoft YaHei"/>
              </a:rPr>
              <a:t>下一步：Output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61688" y="5843016"/>
            <a:ext cx="314553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Microsoft YaHei"/>
              </a:rPr>
              <a:t>FMHA 输出或 OutProj 消费特殊布局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808975" y="5504688"/>
            <a:ext cx="3785615" cy="658368"/>
          </a:xfrm>
          <a:prstGeom prst="rect">
            <a:avLst/>
          </a:prstGeom>
          <a:solidFill>
            <a:srgbClr val="FFFBEB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808975" y="5504688"/>
            <a:ext cx="50292" cy="658368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991855" y="5577840"/>
            <a:ext cx="34747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Microsoft YaHei"/>
              </a:rPr>
              <a:t>不优先：只合并 NCCL launch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991855" y="5843016"/>
            <a:ext cx="34747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Microsoft YaHei"/>
              </a:rPr>
              <a:t>不能消除 HBM pack 流量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0352" y="6437376"/>
            <a:ext cx="11082528" cy="9144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" y="6492240"/>
            <a:ext cx="10241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原始 trace：Q pack 4.468 ms · K pack 4.429 ms · total direct-copy 22.371 ms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018520" y="6473952"/>
            <a:ext cx="5669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47857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65176"/>
            <a:ext cx="43891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Consola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201168"/>
            <a:ext cx="105156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</a:rPr>
              <a:t>实现与验证清单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749808"/>
            <a:ext cx="11082528" cy="22860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59536"/>
            <a:ext cx="1097280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Microsoft YaHei"/>
              </a:rPr>
              <a:t>性能改动必须同时满足数值、分布式语义和 profiler 证据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53312"/>
            <a:ext cx="3054096" cy="475488"/>
          </a:xfrm>
          <a:prstGeom prst="rect">
            <a:avLst/>
          </a:prstGeom>
          <a:solidFill>
            <a:srgbClr val="064E3B"/>
          </a:solidFill>
          <a:ln w="762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3" y="1426464"/>
            <a:ext cx="2944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Consolas"/>
              </a:rPr>
              <a:t>代码位置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2736" y="1353312"/>
            <a:ext cx="3767328" cy="475488"/>
          </a:xfrm>
          <a:prstGeom prst="rect">
            <a:avLst/>
          </a:prstGeom>
          <a:solidFill>
            <a:srgbClr val="064E3B"/>
          </a:solidFill>
          <a:ln w="762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426464"/>
            <a:ext cx="36576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Consolas"/>
              </a:rPr>
              <a:t>需要修改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70064" y="1353312"/>
            <a:ext cx="4224528" cy="475488"/>
          </a:xfrm>
          <a:prstGeom prst="rect">
            <a:avLst/>
          </a:prstGeom>
          <a:solidFill>
            <a:srgbClr val="064E3B"/>
          </a:solidFill>
          <a:ln w="762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4928" y="1426464"/>
            <a:ext cx="41148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Microsoft YaHei"/>
              </a:rPr>
              <a:t>验收点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28800"/>
            <a:ext cx="3054096" cy="47548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1901952"/>
            <a:ext cx="2944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fused_qk_norm_rope.py:147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2736" y="1828800"/>
            <a:ext cx="3767328" cy="47548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901952"/>
            <a:ext cx="36576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packed store 地址与输出 shape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70064" y="1828800"/>
            <a:ext cx="4224528" cy="47548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4928" y="1901952"/>
            <a:ext cx="41148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unpack 后 torch.equal(reference)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04288"/>
            <a:ext cx="3054096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3" y="2377440"/>
            <a:ext cx="2944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fused_qk_norm_rope.py:292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2736" y="2304288"/>
            <a:ext cx="3767328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2377440"/>
            <a:ext cx="36576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分配 q_send / k_send；fake impl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70064" y="2304288"/>
            <a:ext cx="4224528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4928" y="2377440"/>
            <a:ext cx="41148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SP4、SP8、空序列与 fallback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779776"/>
            <a:ext cx="3054096" cy="47548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3" y="2852928"/>
            <a:ext cx="2944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ulysses.py:332–334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2736" y="2779776"/>
            <a:ext cx="3767328" cy="47548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2852928"/>
            <a:ext cx="36576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Q/K 用 prepacked helper；V 走旧路径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70064" y="2779776"/>
            <a:ext cx="4224528" cy="47548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24928" y="2852928"/>
            <a:ext cx="41148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输出等于 SeqAllToAll4D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255264"/>
            <a:ext cx="3054096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3" y="3328416"/>
            <a:ext cx="2944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distributed/comm.py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2736" y="3255264"/>
            <a:ext cx="3767328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0" y="3328416"/>
            <a:ext cx="36576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新增 all_to_all_4D_prepacked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70064" y="3255264"/>
            <a:ext cx="4224528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24928" y="3328416"/>
            <a:ext cx="41148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不执行 transpose().contiguous()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730752"/>
            <a:ext cx="3054096" cy="47548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3" y="3803904"/>
            <a:ext cx="2944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tests/...fused_kernel.py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02736" y="3730752"/>
            <a:ext cx="3767328" cy="47548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0" y="3803904"/>
            <a:ext cx="36576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Consolas"/>
              </a:rPr>
              <a:t>H=56、D=128、P=4/8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70064" y="3730752"/>
            <a:ext cx="4224528" cy="475488"/>
          </a:xfrm>
          <a:prstGeom prst="rect">
            <a:avLst/>
          </a:prstGeom>
          <a:solidFill>
            <a:srgbClr val="F8FAFC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24928" y="3803904"/>
            <a:ext cx="41148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11827"/>
                </a:solidFill>
                <a:latin typeface="Microsoft YaHei"/>
              </a:rPr>
              <a:t>bitwise exact + e2e 固定 seed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352544"/>
            <a:ext cx="11045952" cy="1078992"/>
          </a:xfrm>
          <a:prstGeom prst="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4553712"/>
            <a:ext cx="2322576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64E3B"/>
                </a:solidFill>
                <a:latin typeface="Microsoft YaHei"/>
              </a:rPr>
              <a:t>优化后期望 trace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52928" y="4489704"/>
            <a:ext cx="8394192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7"/>
                </a:solidFill>
                <a:latin typeface="Consolas"/>
              </a:rPr>
              <a:t>rope_combine_packed → NCCL(Q) → NCCL(K) → direct_copy(V) → NCCL(V)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7"/>
                </a:solidFill>
                <a:latin typeface="Consolas"/>
              </a:rPr>
              <a:t>NCCL 数量保持 200；direct_copy 从 250 降到 150。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" y="5669279"/>
            <a:ext cx="64008" cy="64008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7824" y="5577840"/>
            <a:ext cx="1062532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Microsoft YaHei"/>
              </a:rPr>
              <a:t>同一 model / prompt / seed / 分辨率 / frames / steps / backend / SP 配置做 before-after。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" y="5998464"/>
            <a:ext cx="64008" cy="64008"/>
          </a:xfrm>
          <a:prstGeom prst="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7824" y="5907024"/>
            <a:ext cx="10625328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Microsoft YaHei"/>
              </a:rPr>
              <a:t>先验证输出正确，再报告 diffuse、E2E、copy 数量和 exposed NCCL time。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352" y="6437376"/>
            <a:ext cx="11082528" cy="9144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492240"/>
            <a:ext cx="10241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F6B76"/>
                </a:solidFill>
                <a:latin typeface="Consolas"/>
              </a:rPr>
              <a:t>验收原则：same workload · no correctness regression · repeated measurement · trace attribution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8520" y="6473952"/>
            <a:ext cx="5669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47857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MiniMax-H3 Ulysses SP=8：Nsight Systems 与 direct-copy 优化</dc:title>
  <dc:subject>SP=8 profile, layout copies, and packed Q/K optimization</dc:subject>
  <dc:creator>Codex · local source and Nsight Systems analysis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