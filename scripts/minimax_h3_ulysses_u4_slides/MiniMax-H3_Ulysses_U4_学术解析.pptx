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256032"/>
            <a:ext cx="10972800" cy="502920"/>
          </a:xfrm>
        </p:spPr>
        <p:txBody>
          <a:bodyPr/>
          <a:lstStyle/>
          <a:p>
            <a:r>
              <a:rPr sz="2600" b="1">
                <a:solidFill>
                  <a:srgbClr val="1F1F1F"/>
                </a:solidFill>
                <a:latin typeface="Aptos"/>
              </a:rPr>
              <a:t>Contents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12648" y="868680"/>
            <a:ext cx="10954512" cy="0"/>
          </a:xfrm>
          <a:prstGeom prst="line">
            <a:avLst/>
          </a:prstGeom>
          <a:ln w="1778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97280" y="1225296"/>
            <a:ext cx="5029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548235"/>
                </a:solidFill>
                <a:latin typeface="Consola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225296"/>
            <a:ext cx="90525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F1F1F"/>
                </a:solidFill>
                <a:latin typeface="Aptos"/>
              </a:rPr>
              <a:t>Profile Baseline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7280" y="1700784"/>
            <a:ext cx="9875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" y="1993392"/>
            <a:ext cx="5029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548235"/>
                </a:solidFill>
                <a:latin typeface="Consola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93392"/>
            <a:ext cx="90525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F1F1F"/>
                </a:solidFill>
                <a:latin typeface="Aptos"/>
              </a:rPr>
              <a:t>Original Data Layout Flow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97280" y="2468880"/>
            <a:ext cx="9875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97280" y="2761488"/>
            <a:ext cx="5029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548235"/>
                </a:solidFill>
                <a:latin typeface="Consola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761488"/>
            <a:ext cx="90525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F1F1F"/>
                </a:solidFill>
                <a:latin typeface="Aptos"/>
              </a:rPr>
              <a:t>Bottleneck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7280" y="3236976"/>
            <a:ext cx="9875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97280" y="3529584"/>
            <a:ext cx="5029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548235"/>
                </a:solidFill>
                <a:latin typeface="Consola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529584"/>
            <a:ext cx="90525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F1F1F"/>
                </a:solidFill>
                <a:latin typeface="Aptos"/>
              </a:rPr>
              <a:t>Optimization 1 — Pack Q/K in RoPE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97280" y="4005072"/>
            <a:ext cx="9875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97280" y="4297680"/>
            <a:ext cx="5029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548235"/>
                </a:solidFill>
                <a:latin typeface="Consolas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297680"/>
            <a:ext cx="90525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F1F1F"/>
                </a:solidFill>
                <a:latin typeface="Aptos"/>
              </a:rPr>
              <a:t>Optimization 2 — Pack V in QKV Projection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97280" y="4773168"/>
            <a:ext cx="9875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97280" y="5065776"/>
            <a:ext cx="5029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548235"/>
                </a:solidFill>
                <a:latin typeface="Consola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065776"/>
            <a:ext cx="90525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F1F1F"/>
                </a:solidFill>
                <a:latin typeface="Aptos"/>
              </a:rPr>
              <a:t>Optimization 3 — Remove Output Copies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97280" y="5541264"/>
            <a:ext cx="9875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2648" y="6446520"/>
            <a:ext cx="10954512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6492240"/>
            <a:ext cx="98755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Consolas"/>
              </a:rPr>
              <a:t>Original profile: agent/minimax-h3-pillar1@50cf90da7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83096"/>
            <a:ext cx="54864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256032"/>
            <a:ext cx="10972800" cy="502920"/>
          </a:xfrm>
        </p:spPr>
        <p:txBody>
          <a:bodyPr/>
          <a:lstStyle/>
          <a:p>
            <a:r>
              <a:rPr sz="2600" b="1">
                <a:solidFill>
                  <a:srgbClr val="1F1F1F"/>
                </a:solidFill>
                <a:latin typeface="Aptos"/>
              </a:rPr>
              <a:t>Profile Baseline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12648" y="868680"/>
            <a:ext cx="10954512" cy="0"/>
          </a:xfrm>
          <a:prstGeom prst="line">
            <a:avLst/>
          </a:prstGeom>
          <a:ln w="1778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234440"/>
          <a:ext cx="106527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8412480"/>
              </a:tblGrid>
              <a:tr h="53721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548235"/>
                          </a:solidFill>
                          <a:latin typeface="Aptos"/>
                        </a:rPr>
                        <a:t>Item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548235"/>
                          </a:solidFill>
                          <a:latin typeface="Aptos"/>
                        </a:rPr>
                        <a:t>Value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1F1F"/>
                          </a:solidFill>
                          <a:latin typeface="Consolas"/>
                        </a:rPr>
                        <a:t>Hardware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1F1F"/>
                          </a:solidFill>
                          <a:latin typeface="Aptos"/>
                        </a:rPr>
                        <a:t>8× NVIDIA B300, full NV18 fabric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1F1F"/>
                          </a:solidFill>
                          <a:latin typeface="Consolas"/>
                        </a:rPr>
                        <a:t>Parallelism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1F1F"/>
                          </a:solidFill>
                          <a:latin typeface="Aptos"/>
                        </a:rPr>
                        <a:t>TP1 · Ulysses8 · Ring1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1F1F"/>
                          </a:solidFill>
                          <a:latin typeface="Consolas"/>
                        </a:rPr>
                        <a:t>Attention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1F1F"/>
                          </a:solidFill>
                          <a:latin typeface="Aptos"/>
                        </a:rPr>
                        <a:t>TRTLLM_ATTN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1F1F"/>
                          </a:solidFill>
                          <a:latin typeface="Consolas"/>
                        </a:rPr>
                        <a:t>Model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1F1F"/>
                          </a:solidFill>
                          <a:latin typeface="Aptos"/>
                        </a:rPr>
                        <a:t>50 DiT blocks · 56 heads · head_dim 128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1F1F"/>
                          </a:solidFill>
                          <a:latin typeface="Consolas"/>
                        </a:rPr>
                        <a:t>Workload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1F1F"/>
                          </a:solidFill>
                          <a:latin typeface="Aptos"/>
                        </a:rPr>
                        <a:t>124 frames · 768×1344 · 2 profiler steps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1F1F"/>
                          </a:solidFill>
                          <a:latin typeface="Consolas"/>
                        </a:rPr>
                        <a:t>Diffuse time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1F1F"/>
                          </a:solidFill>
                          <a:latin typeface="Aptos"/>
                        </a:rPr>
                        <a:t>419.38 ms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1F1F"/>
                          </a:solidFill>
                          <a:latin typeface="Consolas"/>
                        </a:rPr>
                        <a:t>Trace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1F1F"/>
                          </a:solidFill>
                          <a:latin typeface="Aptos"/>
                        </a:rPr>
                        <a:t>minimax_h3_sp8_2step_b300_20260820.nsys-rep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4672" y="5779008"/>
            <a:ext cx="10515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48235"/>
                </a:solidFill>
                <a:latin typeface="Consolas"/>
              </a:rPr>
              <a:t>Local Q/K/V: [1, 4,720, 56, 128]  →  Attention: [1, 37,760, 7, 128]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6446520"/>
            <a:ext cx="10954512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492240"/>
            <a:ext cx="98755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Consolas"/>
              </a:rPr>
              <a:t>Original profile: agent/minimax-h3-pillar1@50cf90da7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83096"/>
            <a:ext cx="54864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256032"/>
            <a:ext cx="10972800" cy="502920"/>
          </a:xfrm>
        </p:spPr>
        <p:txBody>
          <a:bodyPr/>
          <a:lstStyle/>
          <a:p>
            <a:r>
              <a:rPr sz="2600" b="1">
                <a:solidFill>
                  <a:srgbClr val="1F1F1F"/>
                </a:solidFill>
                <a:latin typeface="Aptos"/>
              </a:rPr>
              <a:t>Original Data Layout 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12648" y="868680"/>
            <a:ext cx="10954512" cy="0"/>
          </a:xfrm>
          <a:prstGeom prst="line">
            <a:avLst/>
          </a:prstGeom>
          <a:ln w="1778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02920" y="1783080"/>
            <a:ext cx="1691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856231"/>
            <a:ext cx="1545336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1F1F"/>
                </a:solidFill>
                <a:latin typeface="Aptos"/>
              </a:rPr>
              <a:t>QKV Projection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1F1F"/>
                </a:solidFill>
                <a:latin typeface="Aptos"/>
              </a:rPr>
              <a:t>+ split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783080"/>
            <a:ext cx="1691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16352" y="1856231"/>
            <a:ext cx="1545336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1F1F"/>
                </a:solidFill>
                <a:latin typeface="Aptos"/>
              </a:rPr>
              <a:t>Q/K Norm + RoPE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1F1F"/>
                </a:solidFill>
                <a:latin typeface="Aptos"/>
              </a:rPr>
              <a:t>V bypass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4983480" y="1783080"/>
            <a:ext cx="1691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56632" y="1856231"/>
            <a:ext cx="1545336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1F1F"/>
                </a:solidFill>
                <a:latin typeface="Aptos"/>
              </a:rPr>
              <a:t>Input pack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1783080"/>
            <a:ext cx="1691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856231"/>
            <a:ext cx="1545336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1F1F"/>
                </a:solidFill>
                <a:latin typeface="Aptos"/>
              </a:rPr>
              <a:t>3× NCCL A2A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64040" y="1783080"/>
            <a:ext cx="1691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37192" y="1856231"/>
            <a:ext cx="1545336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1F1F"/>
                </a:solidFill>
                <a:latin typeface="Aptos"/>
              </a:rPr>
              <a:t>TRTLLM Attention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231136" y="2029968"/>
            <a:ext cx="475488" cy="256032"/>
          </a:xfrm>
          <a:prstGeom prst="rightArrow">
            <a:avLst/>
          </a:prstGeom>
          <a:solidFill>
            <a:srgbClr val="548235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6464" y="1243584"/>
            <a:ext cx="2084831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48235"/>
                </a:solidFill>
                <a:latin typeface="Consolas"/>
              </a:rPr>
              <a:t>[T_local, H, D] ×3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471416" y="2029968"/>
            <a:ext cx="475488" cy="256032"/>
          </a:xfrm>
          <a:prstGeom prst="rightArrow">
            <a:avLst/>
          </a:prstGeom>
          <a:solidFill>
            <a:srgbClr val="548235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66744" y="1243584"/>
            <a:ext cx="2084831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48235"/>
                </a:solidFill>
                <a:latin typeface="Consolas"/>
              </a:rPr>
              <a:t>[B, T_local, H, D]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711696" y="2029968"/>
            <a:ext cx="475488" cy="256032"/>
          </a:xfrm>
          <a:prstGeom prst="rightArrow">
            <a:avLst/>
          </a:prstGeom>
          <a:solidFill>
            <a:srgbClr val="548235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07024" y="1243584"/>
            <a:ext cx="2084831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48235"/>
                </a:solidFill>
                <a:latin typeface="Consolas"/>
              </a:rPr>
              <a:t>[P, T_local, B, H/P, D]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951976" y="2029968"/>
            <a:ext cx="475488" cy="256032"/>
          </a:xfrm>
          <a:prstGeom prst="rightArrow">
            <a:avLst/>
          </a:prstGeom>
          <a:solidFill>
            <a:srgbClr val="548235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47304" y="1243584"/>
            <a:ext cx="2084831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48235"/>
                </a:solidFill>
                <a:latin typeface="Consolas"/>
              </a:rPr>
              <a:t>[B, T_global, H/P, D]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10168128" y="2770632"/>
            <a:ext cx="292608" cy="694944"/>
          </a:xfrm>
          <a:prstGeom prst="downArrow">
            <a:avLst/>
          </a:prstGeom>
          <a:solidFill>
            <a:srgbClr val="548235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962656"/>
            <a:ext cx="1645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48235"/>
                </a:solidFill>
                <a:latin typeface="Consolas"/>
              </a:rPr>
              <a:t>[B, T_global, H/P, D]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64040" y="4069080"/>
            <a:ext cx="1691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37192" y="4142232"/>
            <a:ext cx="1545336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1F1F"/>
                </a:solidFill>
                <a:latin typeface="Aptos"/>
              </a:rPr>
              <a:t>Output pack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0" y="4069080"/>
            <a:ext cx="1691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96912" y="4142232"/>
            <a:ext cx="1545336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1F1F"/>
                </a:solidFill>
                <a:latin typeface="Aptos"/>
              </a:rPr>
              <a:t>NCCL A2A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4069080"/>
            <a:ext cx="1691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56632" y="4142232"/>
            <a:ext cx="1545336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1F1F"/>
                </a:solidFill>
                <a:latin typeface="Aptos"/>
              </a:rPr>
              <a:t>Output unpack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4069080"/>
            <a:ext cx="1691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16352" y="4142232"/>
            <a:ext cx="1545336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1F1F"/>
                </a:solidFill>
                <a:latin typeface="Aptos"/>
              </a:rPr>
              <a:t>Out Projection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069080"/>
            <a:ext cx="1691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4142232"/>
            <a:ext cx="1545336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1F1F"/>
                </a:solidFill>
                <a:latin typeface="Aptos"/>
              </a:rPr>
              <a:t>Block output</a:t>
            </a:r>
          </a:p>
        </p:txBody>
      </p:sp>
      <p:sp>
        <p:nvSpPr>
          <p:cNvPr id="34" name="Left Arrow 33"/>
          <p:cNvSpPr/>
          <p:nvPr/>
        </p:nvSpPr>
        <p:spPr>
          <a:xfrm>
            <a:off x="8951976" y="4315968"/>
            <a:ext cx="475488" cy="256032"/>
          </a:xfrm>
          <a:prstGeom prst="leftArrow">
            <a:avLst/>
          </a:prstGeom>
          <a:solidFill>
            <a:srgbClr val="548235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3" y="3547872"/>
            <a:ext cx="2084831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48235"/>
                </a:solidFill>
                <a:latin typeface="Consolas"/>
              </a:rPr>
              <a:t>[P, H/P, T_local, B, D]</a:t>
            </a:r>
          </a:p>
        </p:txBody>
      </p:sp>
      <p:sp>
        <p:nvSpPr>
          <p:cNvPr id="36" name="Left Arrow 35"/>
          <p:cNvSpPr/>
          <p:nvPr/>
        </p:nvSpPr>
        <p:spPr>
          <a:xfrm>
            <a:off x="6711696" y="4315968"/>
            <a:ext cx="475488" cy="256032"/>
          </a:xfrm>
          <a:prstGeom prst="leftArrow">
            <a:avLst/>
          </a:prstGeom>
          <a:solidFill>
            <a:srgbClr val="548235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07024" y="3547872"/>
            <a:ext cx="2084831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48235"/>
                </a:solidFill>
                <a:latin typeface="Consolas"/>
              </a:rPr>
              <a:t>[P, H/P, T_local, B, D]</a:t>
            </a:r>
          </a:p>
        </p:txBody>
      </p:sp>
      <p:sp>
        <p:nvSpPr>
          <p:cNvPr id="38" name="Left Arrow 37"/>
          <p:cNvSpPr/>
          <p:nvPr/>
        </p:nvSpPr>
        <p:spPr>
          <a:xfrm>
            <a:off x="4471416" y="4315968"/>
            <a:ext cx="475488" cy="256032"/>
          </a:xfrm>
          <a:prstGeom prst="leftArrow">
            <a:avLst/>
          </a:prstGeom>
          <a:solidFill>
            <a:srgbClr val="548235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66744" y="3547872"/>
            <a:ext cx="2084831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48235"/>
                </a:solidFill>
                <a:latin typeface="Consolas"/>
              </a:rPr>
              <a:t>[B, T_local, H, D]</a:t>
            </a:r>
          </a:p>
        </p:txBody>
      </p:sp>
      <p:sp>
        <p:nvSpPr>
          <p:cNvPr id="40" name="Left Arrow 39"/>
          <p:cNvSpPr/>
          <p:nvPr/>
        </p:nvSpPr>
        <p:spPr>
          <a:xfrm>
            <a:off x="2231136" y="4315968"/>
            <a:ext cx="475488" cy="256032"/>
          </a:xfrm>
          <a:prstGeom prst="leftArrow">
            <a:avLst/>
          </a:prstGeom>
          <a:solidFill>
            <a:srgbClr val="548235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26464" y="3547872"/>
            <a:ext cx="2084831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48235"/>
                </a:solidFill>
                <a:latin typeface="Consolas"/>
              </a:rPr>
              <a:t>[T_local, hidden]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650992"/>
            <a:ext cx="108356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Consolas"/>
              </a:rPr>
              <a:t>P=8 · T_local=4,720 · T_global=37,760 · H=56 · H/P=7 · D=128 · B=1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12648" y="6446520"/>
            <a:ext cx="10954512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40080" y="6492240"/>
            <a:ext cx="98755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Consolas"/>
              </a:rPr>
              <a:t>Original profile: agent/minimax-h3-pillar1@50cf90da7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83096"/>
            <a:ext cx="54864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256032"/>
            <a:ext cx="10972800" cy="502920"/>
          </a:xfrm>
        </p:spPr>
        <p:txBody>
          <a:bodyPr/>
          <a:lstStyle/>
          <a:p>
            <a:r>
              <a:rPr sz="2600" b="1">
                <a:solidFill>
                  <a:srgbClr val="1F1F1F"/>
                </a:solidFill>
                <a:latin typeface="Aptos"/>
              </a:rPr>
              <a:t>Bottleneck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12648" y="868680"/>
            <a:ext cx="10954512" cy="0"/>
          </a:xfrm>
          <a:prstGeom prst="line">
            <a:avLst/>
          </a:prstGeom>
          <a:ln w="1778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143000"/>
          <a:ext cx="1083564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514600"/>
                <a:gridCol w="5440680"/>
              </a:tblGrid>
              <a:tr h="4826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548235"/>
                          </a:solidFill>
                          <a:latin typeface="Aptos"/>
                        </a:rPr>
                        <a:t>Stage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548235"/>
                          </a:solidFill>
                          <a:latin typeface="Aptos"/>
                        </a:rPr>
                        <a:t>Representative time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548235"/>
                          </a:solidFill>
                          <a:latin typeface="Aptos"/>
                        </a:rPr>
                        <a:t>Kernel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1F1F"/>
                          </a:solidFill>
                          <a:latin typeface="Consolas"/>
                        </a:rPr>
                        <a:t>RoPE products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1F1F"/>
                          </a:solidFill>
                          <a:latin typeface="Aptos"/>
                        </a:rPr>
                        <a:t>51.7 µs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1F1F"/>
                          </a:solidFill>
                          <a:latin typeface="Aptos"/>
                        </a:rPr>
                        <a:t>_rope_products_kernel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1F1F"/>
                          </a:solidFill>
                          <a:latin typeface="Consolas"/>
                        </a:rPr>
                        <a:t>RoPE combine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1F1F"/>
                          </a:solidFill>
                          <a:latin typeface="Aptos"/>
                        </a:rPr>
                        <a:t>67.1 µs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1F1F"/>
                          </a:solidFill>
                          <a:latin typeface="Aptos"/>
                        </a:rPr>
                        <a:t>_rope_combine_kernel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1F1F"/>
                          </a:solidFill>
                          <a:latin typeface="Consolas"/>
                        </a:rPr>
                        <a:t>Q pack + A2A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1F1F"/>
                          </a:solidFill>
                          <a:latin typeface="Aptos"/>
                        </a:rPr>
                        <a:t>91.3 + 160.6 µs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1F1F"/>
                          </a:solidFill>
                          <a:latin typeface="Aptos"/>
                        </a:rPr>
                        <a:t>direct_copy → SendRecv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1F1F"/>
                          </a:solidFill>
                          <a:latin typeface="Consolas"/>
                        </a:rPr>
                        <a:t>K pack + A2A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1F1F"/>
                          </a:solidFill>
                          <a:latin typeface="Aptos"/>
                        </a:rPr>
                        <a:t>90.2 + 152.9 µs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1F1F"/>
                          </a:solidFill>
                          <a:latin typeface="Aptos"/>
                        </a:rPr>
                        <a:t>direct_copy → SendRecv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1F1F"/>
                          </a:solidFill>
                          <a:latin typeface="Consolas"/>
                        </a:rPr>
                        <a:t>V pack + A2A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1F1F"/>
                          </a:solidFill>
                          <a:latin typeface="Aptos"/>
                        </a:rPr>
                        <a:t>90.6 + 150.7 µs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1F1F"/>
                          </a:solidFill>
                          <a:latin typeface="Aptos"/>
                        </a:rPr>
                        <a:t>direct_copy → SendRecv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1F1F"/>
                          </a:solidFill>
                          <a:latin typeface="Consolas"/>
                        </a:rPr>
                        <a:t>Attention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1F1F"/>
                          </a:solidFill>
                          <a:latin typeface="Aptos"/>
                        </a:rPr>
                        <a:t>3,441.3 µs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1F1F"/>
                          </a:solidFill>
                          <a:latin typeface="Aptos"/>
                        </a:rPr>
                        <a:t>fmha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1F1F"/>
                          </a:solidFill>
                          <a:latin typeface="Consolas"/>
                        </a:rPr>
                        <a:t>Output pack + A2A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1F1F"/>
                          </a:solidFill>
                          <a:latin typeface="Aptos"/>
                        </a:rPr>
                        <a:t>97.7 + 156.3 µs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1F1F"/>
                          </a:solidFill>
                          <a:latin typeface="Aptos"/>
                        </a:rPr>
                        <a:t>direct_copy → SendRecv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1F1F"/>
                          </a:solidFill>
                          <a:latin typeface="Consolas"/>
                        </a:rPr>
                        <a:t>Output unpack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1F1F"/>
                          </a:solidFill>
                          <a:latin typeface="Aptos"/>
                        </a:rPr>
                        <a:t>86.5 µs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F1F1F"/>
                          </a:solidFill>
                          <a:latin typeface="Aptos"/>
                        </a:rPr>
                        <a:t>direct_copy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" y="5650992"/>
            <a:ext cx="2286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48235"/>
                </a:solidFill>
                <a:latin typeface="Apto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650992"/>
            <a:ext cx="1035100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1F1F"/>
                </a:solidFill>
                <a:latin typeface="Aptos"/>
              </a:rPr>
              <a:t>Each direct-copy moves 64.53 MiB.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961888"/>
            <a:ext cx="2286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48235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961888"/>
            <a:ext cx="1035100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1F1F"/>
                </a:solidFill>
                <a:latin typeface="Aptos"/>
              </a:rPr>
              <a:t>5 copies per block · 250 per GPU · 22.37 ms critical copy time.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" y="6446520"/>
            <a:ext cx="10954512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492240"/>
            <a:ext cx="98755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Consolas"/>
              </a:rPr>
              <a:t>Original profile: agent/minimax-h3-pillar1@50cf90da7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83096"/>
            <a:ext cx="54864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256032"/>
            <a:ext cx="10972800" cy="502920"/>
          </a:xfrm>
        </p:spPr>
        <p:txBody>
          <a:bodyPr/>
          <a:lstStyle/>
          <a:p>
            <a:r>
              <a:rPr sz="2600" b="1">
                <a:solidFill>
                  <a:srgbClr val="1F1F1F"/>
                </a:solidFill>
                <a:latin typeface="Aptos"/>
              </a:rPr>
              <a:t>Optimization 1 — Pack Q/K in RoPE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12648" y="868680"/>
            <a:ext cx="10954512" cy="0"/>
          </a:xfrm>
          <a:prstGeom prst="line">
            <a:avLst/>
          </a:prstGeom>
          <a:ln w="1778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61872"/>
          <a:ext cx="107442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2100"/>
                <a:gridCol w="5372100"/>
              </a:tblGrid>
              <a:tr h="11658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548235"/>
                          </a:solidFill>
                          <a:latin typeface="Aptos"/>
                        </a:rPr>
                        <a:t>Current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548235"/>
                          </a:solidFill>
                          <a:latin typeface="Aptos"/>
                        </a:rPr>
                        <a:t>Proposed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</a:tr>
              <a:tr h="11658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1F1F"/>
                          </a:solidFill>
                          <a:latin typeface="Consolas"/>
                        </a:rPr>
                        <a:t>_rope_combine_kernel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1F1F"/>
                          </a:solidFill>
                          <a:latin typeface="Consolas"/>
                        </a:rPr>
                        <a:t>→ [T_local, H, D]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1F1F"/>
                          </a:solidFill>
                          <a:latin typeface="Consolas"/>
                        </a:rPr>
                        <a:t>→ transpose().contiguous()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1F1F"/>
                          </a:solidFill>
                          <a:latin typeface="Consolas"/>
                        </a:rPr>
                        <a:t>→ NCCL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1F1F"/>
                          </a:solidFill>
                          <a:latin typeface="Aptos"/>
                        </a:rPr>
                        <a:t>_rope_combine_kernel_packed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1F1F"/>
                          </a:solidFill>
                          <a:latin typeface="Aptos"/>
                        </a:rPr>
                        <a:t>→ [P, T_local, B, H/P, D]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1F1F"/>
                          </a:solidFill>
                          <a:latin typeface="Aptos"/>
                        </a:rPr>
                        <a:t>→ NCCL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14400" y="3886200"/>
            <a:ext cx="10332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1F1F"/>
                </a:solidFill>
                <a:latin typeface="Consolas"/>
              </a:rPr>
              <a:t>dst_rank = head // heads_per_rank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1F1F"/>
                </a:solidFill>
                <a:latin typeface="Consolas"/>
              </a:rPr>
              <a:t>rank_head = head % heads_per_rank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1F1F"/>
                </a:solidFill>
                <a:latin typeface="Consolas"/>
              </a:rPr>
              <a:t>packed[dst_rank, token, 0, rank_head, dim] = rope_result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85232"/>
            <a:ext cx="2286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48235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5285232"/>
            <a:ext cx="10259568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1F1F"/>
                </a:solidFill>
                <a:latin typeface="Aptos"/>
              </a:rPr>
              <a:t>Add a prepacked All-to-All helper.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669280"/>
            <a:ext cx="2286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48235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5669280"/>
            <a:ext cx="10259568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1F1F"/>
                </a:solidFill>
                <a:latin typeface="Aptos"/>
              </a:rPr>
              <a:t>Target: remove 100 Q/K copies per GPU; 8.90 ms trace-derived upper bound.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2648" y="6446520"/>
            <a:ext cx="10954512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6492240"/>
            <a:ext cx="98755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Consolas"/>
              </a:rPr>
              <a:t>Original profile: agent/minimax-h3-pillar1@50cf90da7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83096"/>
            <a:ext cx="54864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256032"/>
            <a:ext cx="10972800" cy="502920"/>
          </a:xfrm>
        </p:spPr>
        <p:txBody>
          <a:bodyPr/>
          <a:lstStyle/>
          <a:p>
            <a:r>
              <a:rPr sz="2600" b="1">
                <a:solidFill>
                  <a:srgbClr val="1F1F1F"/>
                </a:solidFill>
                <a:latin typeface="Aptos"/>
              </a:rPr>
              <a:t>Optimization 2 — Pack V in QKV Projection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12648" y="868680"/>
            <a:ext cx="10954512" cy="0"/>
          </a:xfrm>
          <a:prstGeom prst="line">
            <a:avLst/>
          </a:prstGeom>
          <a:ln w="1778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61872"/>
          <a:ext cx="107442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2100"/>
                <a:gridCol w="5372100"/>
              </a:tblGrid>
              <a:tr h="11658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548235"/>
                          </a:solidFill>
                          <a:latin typeface="Aptos"/>
                        </a:rPr>
                        <a:t>Current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548235"/>
                          </a:solidFill>
                          <a:latin typeface="Aptos"/>
                        </a:rPr>
                        <a:t>Proposed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</a:tr>
              <a:tr h="11658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1F1F"/>
                          </a:solidFill>
                          <a:latin typeface="Consolas"/>
                        </a:rPr>
                        <a:t>QKV projection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1F1F"/>
                          </a:solidFill>
                          <a:latin typeface="Consolas"/>
                        </a:rPr>
                        <a:t>→ V [T_local, H, D]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1F1F"/>
                          </a:solidFill>
                          <a:latin typeface="Consolas"/>
                        </a:rPr>
                        <a:t>→ transpose().contiguous()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1F1F"/>
                          </a:solidFill>
                          <a:latin typeface="Consolas"/>
                        </a:rPr>
                        <a:t>→ NCCL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1F1F"/>
                          </a:solidFill>
                          <a:latin typeface="Aptos"/>
                        </a:rPr>
                        <a:t>QKV projection epilogue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1F1F"/>
                          </a:solidFill>
                          <a:latin typeface="Aptos"/>
                        </a:rPr>
                        <a:t>→ V [P, T_local, B, H/P, D]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1F1F"/>
                          </a:solidFill>
                          <a:latin typeface="Aptos"/>
                        </a:rPr>
                        <a:t>→ NCCL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005072"/>
            <a:ext cx="2286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48235"/>
                </a:solidFill>
                <a:latin typeface="Apto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4005072"/>
            <a:ext cx="10076688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1F1F"/>
                </a:solidFill>
                <a:latin typeface="Aptos"/>
              </a:rPr>
              <a:t>Write V directly in Ulysses send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07992"/>
            <a:ext cx="2286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48235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507992"/>
            <a:ext cx="10076688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1F1F"/>
                </a:solidFill>
                <a:latin typeface="Aptos"/>
              </a:rPr>
              <a:t>Keep Q/K on the RMSNorm + RoPE path.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10912"/>
            <a:ext cx="2286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48235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5010912"/>
            <a:ext cx="10076688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1F1F"/>
                </a:solidFill>
                <a:latin typeface="Aptos"/>
              </a:rPr>
              <a:t>Target: remove 50 V copies per GPU; 4.45 ms trace-derived upper bound.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13832"/>
            <a:ext cx="2286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48235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5513832"/>
            <a:ext cx="10076688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1F1F"/>
                </a:solidFill>
                <a:latin typeface="Aptos"/>
              </a:rPr>
              <a:t>Requires a custom QKV projection epilogue.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2648" y="6446520"/>
            <a:ext cx="10954512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6492240"/>
            <a:ext cx="98755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Consolas"/>
              </a:rPr>
              <a:t>Original profile: agent/minimax-h3-pillar1@50cf90da7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83096"/>
            <a:ext cx="54864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256032"/>
            <a:ext cx="10972800" cy="502920"/>
          </a:xfrm>
        </p:spPr>
        <p:txBody>
          <a:bodyPr/>
          <a:lstStyle/>
          <a:p>
            <a:r>
              <a:rPr sz="2600" b="1">
                <a:solidFill>
                  <a:srgbClr val="1F1F1F"/>
                </a:solidFill>
                <a:latin typeface="Aptos"/>
              </a:rPr>
              <a:t>Optimization 3 — Remove Output Copies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12648" y="868680"/>
            <a:ext cx="10954512" cy="0"/>
          </a:xfrm>
          <a:prstGeom prst="line">
            <a:avLst/>
          </a:prstGeom>
          <a:ln w="1778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77240" y="1261872"/>
            <a:ext cx="10652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1F1F"/>
                </a:solidFill>
                <a:latin typeface="Consolas"/>
              </a:rPr>
              <a:t>FMHA [B, S, H/P, D]  →  output pack  →  NCCL  →  output unpack  →  [B, S/P, H, D]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22860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48235"/>
                </a:solidFill>
                <a:latin typeface="Apto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2697480"/>
            <a:ext cx="1007668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F1F1F"/>
                </a:solidFill>
                <a:latin typeface="Aptos"/>
              </a:rPr>
              <a:t>Option A: make FMHA write the reverse All-to-All send layout.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64408"/>
            <a:ext cx="22860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48235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3264408"/>
            <a:ext cx="1007668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F1F1F"/>
                </a:solidFill>
                <a:latin typeface="Aptos"/>
              </a:rPr>
              <a:t>Option B: let the output projection consume the NCCL receive layout.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31336"/>
            <a:ext cx="22860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48235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3831336"/>
            <a:ext cx="1007668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F1F1F"/>
                </a:solidFill>
                <a:latin typeface="Aptos"/>
              </a:rPr>
              <a:t>Target: remove 100 output copies per GPU.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98264"/>
            <a:ext cx="22860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48235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4398264"/>
            <a:ext cx="1007668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F1F1F"/>
                </a:solidFill>
                <a:latin typeface="Aptos"/>
              </a:rPr>
              <a:t>Trace-derived upper bound: 9.02 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65192"/>
            <a:ext cx="22860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48235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4965192"/>
            <a:ext cx="1007668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F1F1F"/>
                </a:solidFill>
                <a:latin typeface="Aptos"/>
              </a:rPr>
              <a:t>Highest implementation risk.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648" y="6446520"/>
            <a:ext cx="10954512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6492240"/>
            <a:ext cx="98755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Consolas"/>
              </a:rPr>
              <a:t>Original profile: agent/minimax-h3-pillar1@50cf90da7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83096"/>
            <a:ext cx="54864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6666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MiniMax-H3 Ulysses SP=8 Optimizations</dc:title>
  <dc:subject>Nsight Systems analysis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