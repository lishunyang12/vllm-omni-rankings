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256032"/>
            <a:ext cx="10972800" cy="502920"/>
          </a:xfrm>
        </p:spPr>
        <p:txBody>
          <a:bodyPr/>
          <a:lstStyle/>
          <a:p>
            <a:r>
              <a:rPr sz="2600" b="1">
                <a:solidFill>
                  <a:srgbClr val="1F1F1F"/>
                </a:solidFill>
                <a:latin typeface="Aptos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12648" y="868680"/>
            <a:ext cx="10954512" cy="0"/>
          </a:xfrm>
          <a:prstGeom prst="line">
            <a:avLst/>
          </a:prstGeom>
          <a:ln w="1778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1353312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48235"/>
                </a:solidFill>
                <a:latin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353312"/>
            <a:ext cx="9052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1F1F"/>
                </a:solidFill>
                <a:latin typeface="Aptos"/>
              </a:rPr>
              <a:t>Profile Baseline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1883664"/>
            <a:ext cx="9875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7280" y="2221991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48235"/>
                </a:solidFill>
                <a:latin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221991"/>
            <a:ext cx="9052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1F1F"/>
                </a:solidFill>
                <a:latin typeface="Aptos"/>
              </a:rPr>
              <a:t>Bottleneck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97280" y="2752344"/>
            <a:ext cx="9875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3090672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48235"/>
                </a:solidFill>
                <a:latin typeface="Consola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090672"/>
            <a:ext cx="9052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1F1F"/>
                </a:solidFill>
                <a:latin typeface="Aptos"/>
              </a:rPr>
              <a:t>Optimization 1 — Pack Q/K in RoPE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97280" y="3621024"/>
            <a:ext cx="9875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97280" y="3959352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48235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959352"/>
            <a:ext cx="9052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1F1F"/>
                </a:solidFill>
                <a:latin typeface="Aptos"/>
              </a:rPr>
              <a:t>Optimization 2 — Pack V in QKV Projection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4489704"/>
            <a:ext cx="9875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97280" y="4828031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548235"/>
                </a:solidFill>
                <a:latin typeface="Consola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828031"/>
            <a:ext cx="9052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F1F1F"/>
                </a:solidFill>
                <a:latin typeface="Aptos"/>
              </a:rPr>
              <a:t>Optimization 3 — Remove Output Copies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97280" y="5358383"/>
            <a:ext cx="9875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2648" y="6446520"/>
            <a:ext cx="10954512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492240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Consolas"/>
              </a:rPr>
              <a:t>Original profile: agent/minimax-h3-pillar1@50cf90da7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83096"/>
            <a:ext cx="548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256032"/>
            <a:ext cx="10972800" cy="502920"/>
          </a:xfrm>
        </p:spPr>
        <p:txBody>
          <a:bodyPr/>
          <a:lstStyle/>
          <a:p>
            <a:r>
              <a:rPr sz="2600" b="1">
                <a:solidFill>
                  <a:srgbClr val="1F1F1F"/>
                </a:solidFill>
                <a:latin typeface="Aptos"/>
              </a:rPr>
              <a:t>Profile Baseline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12648" y="868680"/>
            <a:ext cx="10954512" cy="0"/>
          </a:xfrm>
          <a:prstGeom prst="line">
            <a:avLst/>
          </a:prstGeom>
          <a:ln w="1778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34440"/>
          <a:ext cx="106527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412480"/>
              </a:tblGrid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548235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548235"/>
                          </a:solidFill>
                          <a:latin typeface="Aptos"/>
                        </a:rPr>
                        <a:t>Value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Consolas"/>
                        </a:rPr>
                        <a:t>Hardware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Aptos"/>
                        </a:rPr>
                        <a:t>8× NVIDIA B300, full NV18 fabric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Consolas"/>
                        </a:rPr>
                        <a:t>Parallelism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Aptos"/>
                        </a:rPr>
                        <a:t>TP1 · Ulysses8 · Ring1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Consolas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Aptos"/>
                        </a:rPr>
                        <a:t>TRTLLM_ATTN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Consolas"/>
                        </a:rPr>
                        <a:t>Model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Aptos"/>
                        </a:rPr>
                        <a:t>50 DiT blocks · 56 heads · head_dim 128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Consolas"/>
                        </a:rPr>
                        <a:t>Workload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Aptos"/>
                        </a:rPr>
                        <a:t>124 frames · 768×1344 · 2 profiler steps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Consolas"/>
                        </a:rPr>
                        <a:t>Diffuse time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Aptos"/>
                        </a:rPr>
                        <a:t>419.38 ms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Consolas"/>
                        </a:rPr>
                        <a:t>Trace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1F1F"/>
                          </a:solidFill>
                          <a:latin typeface="Aptos"/>
                        </a:rPr>
                        <a:t>minimax_h3_sp8_2step_b300_20260820.nsys-rep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4672" y="5779008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48235"/>
                </a:solidFill>
                <a:latin typeface="Consolas"/>
              </a:rPr>
              <a:t>Local Q/K/V: [1, 4,720, 56, 128]  →  Attention: [1, 37,760, 7, 128]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2648" y="6446520"/>
            <a:ext cx="10954512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92240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Consolas"/>
              </a:rPr>
              <a:t>Original profile: agent/minimax-h3-pillar1@50cf90da7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83096"/>
            <a:ext cx="548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256032"/>
            <a:ext cx="10972800" cy="502920"/>
          </a:xfrm>
        </p:spPr>
        <p:txBody>
          <a:bodyPr/>
          <a:lstStyle/>
          <a:p>
            <a:r>
              <a:rPr sz="2600" b="1">
                <a:solidFill>
                  <a:srgbClr val="1F1F1F"/>
                </a:solidFill>
                <a:latin typeface="Aptos"/>
              </a:rPr>
              <a:t>Bottleneck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12648" y="868680"/>
            <a:ext cx="10954512" cy="0"/>
          </a:xfrm>
          <a:prstGeom prst="line">
            <a:avLst/>
          </a:prstGeom>
          <a:ln w="1778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43000"/>
          <a:ext cx="108356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514600"/>
                <a:gridCol w="5440680"/>
              </a:tblGrid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548235"/>
                          </a:solidFill>
                          <a:latin typeface="Aptos"/>
                        </a:rPr>
                        <a:t>Stage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548235"/>
                          </a:solidFill>
                          <a:latin typeface="Aptos"/>
                        </a:rPr>
                        <a:t>Representative time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548235"/>
                          </a:solidFill>
                          <a:latin typeface="Aptos"/>
                        </a:rPr>
                        <a:t>Kernel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RoPE products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51.7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_rope_products_kernel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RoPE combine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67.1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_rope_combine_kernel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Q pack + A2A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91.3 + 160.6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direct_copy → SendRecv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K pack + A2A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90.2 + 152.9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direct_copy → SendRecv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V pack + A2A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90.6 + 150.7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direct_copy → SendRecv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3,441.3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fmha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Output pack + A2A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97.7 + 156.3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direct_copy → SendRecv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Consolas"/>
                        </a:rPr>
                        <a:t>Output unpack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86.5 µs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F1F1F"/>
                          </a:solidFill>
                          <a:latin typeface="Aptos"/>
                        </a:rPr>
                        <a:t>direct_copy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5650992"/>
            <a:ext cx="2286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50992"/>
            <a:ext cx="103510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1F1F"/>
                </a:solidFill>
                <a:latin typeface="Aptos"/>
              </a:rPr>
              <a:t>Each direct-copy moves 64.53 MiB.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61888"/>
            <a:ext cx="2286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61888"/>
            <a:ext cx="103510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1F1F"/>
                </a:solidFill>
                <a:latin typeface="Aptos"/>
              </a:rPr>
              <a:t>5 copies per block · 250 per GPU · 22.37 ms critical copy time.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6446520"/>
            <a:ext cx="10954512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492240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Consolas"/>
              </a:rPr>
              <a:t>Original profile: agent/minimax-h3-pillar1@50cf90da7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83096"/>
            <a:ext cx="548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256032"/>
            <a:ext cx="10972800" cy="502920"/>
          </a:xfrm>
        </p:spPr>
        <p:txBody>
          <a:bodyPr/>
          <a:lstStyle/>
          <a:p>
            <a:r>
              <a:rPr sz="2600" b="1">
                <a:solidFill>
                  <a:srgbClr val="1F1F1F"/>
                </a:solidFill>
                <a:latin typeface="Aptos"/>
              </a:rPr>
              <a:t>Optimization 1 — Pack Q/K in RoPE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12648" y="868680"/>
            <a:ext cx="10954512" cy="0"/>
          </a:xfrm>
          <a:prstGeom prst="line">
            <a:avLst/>
          </a:prstGeom>
          <a:ln w="1778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61872"/>
          <a:ext cx="107442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2100"/>
                <a:gridCol w="5372100"/>
              </a:tblGrid>
              <a:tr h="116586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548235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548235"/>
                          </a:solidFill>
                          <a:latin typeface="Aptos"/>
                        </a:rPr>
                        <a:t>Proposed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_rope_combine_kernel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→ [T_local, H, D]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→ transpose().contiguous()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→ NCCL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Aptos"/>
                        </a:rPr>
                        <a:t>_rope_combine_kernel_packed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Aptos"/>
                        </a:rPr>
                        <a:t>→ [P, T_local, B, H/P, D]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Aptos"/>
                        </a:rPr>
                        <a:t>→ NCCL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3886200"/>
            <a:ext cx="103327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1F1F"/>
                </a:solidFill>
                <a:latin typeface="Consolas"/>
              </a:rPr>
              <a:t>dst_rank = head // heads_per_rank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1F1F"/>
                </a:solidFill>
                <a:latin typeface="Consolas"/>
              </a:rPr>
              <a:t>rank_head = head % heads_per_rank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1F1F"/>
                </a:solidFill>
                <a:latin typeface="Consolas"/>
              </a:rPr>
              <a:t>packed[dst_rank, token, 0, rank_head, dim] = rope_result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85232"/>
            <a:ext cx="2286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5285232"/>
            <a:ext cx="1025956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Aptos"/>
              </a:rPr>
              <a:t>Add a prepacked All-to-All helper.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69280"/>
            <a:ext cx="2286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" y="5669280"/>
            <a:ext cx="1025956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Aptos"/>
              </a:rPr>
              <a:t>Target: remove 100 Q/K copies per GPU; 8.90 ms trace-derived upper bound.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8" y="6446520"/>
            <a:ext cx="10954512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6492240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Consolas"/>
              </a:rPr>
              <a:t>Original profile: agent/minimax-h3-pillar1@50cf90da7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83096"/>
            <a:ext cx="548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256032"/>
            <a:ext cx="10972800" cy="502920"/>
          </a:xfrm>
        </p:spPr>
        <p:txBody>
          <a:bodyPr/>
          <a:lstStyle/>
          <a:p>
            <a:r>
              <a:rPr sz="2600" b="1">
                <a:solidFill>
                  <a:srgbClr val="1F1F1F"/>
                </a:solidFill>
                <a:latin typeface="Aptos"/>
              </a:rPr>
              <a:t>Optimization 2 — Pack V in QKV Projection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12648" y="868680"/>
            <a:ext cx="10954512" cy="0"/>
          </a:xfrm>
          <a:prstGeom prst="line">
            <a:avLst/>
          </a:prstGeom>
          <a:ln w="1778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61872"/>
          <a:ext cx="107442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2100"/>
                <a:gridCol w="5372100"/>
              </a:tblGrid>
              <a:tr h="116586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548235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548235"/>
                          </a:solidFill>
                          <a:latin typeface="Aptos"/>
                        </a:rPr>
                        <a:t>Proposed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QKV projection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→ V [T_local, H, D]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→ transpose().contiguous()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Consolas"/>
                        </a:rPr>
                        <a:t>→ NCCL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Aptos"/>
                        </a:rPr>
                        <a:t>QKV projection epilogue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Aptos"/>
                        </a:rPr>
                        <a:t>→ V [P, T_local, B, H/P, D]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1F1F"/>
                          </a:solidFill>
                          <a:latin typeface="Aptos"/>
                        </a:rPr>
                        <a:t>→ NCCL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005072"/>
            <a:ext cx="2286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005072"/>
            <a:ext cx="1007668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1F1F"/>
                </a:solidFill>
                <a:latin typeface="Aptos"/>
              </a:rPr>
              <a:t>Write V directly in Ulysses send order.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07992"/>
            <a:ext cx="2286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07992"/>
            <a:ext cx="1007668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1F1F"/>
                </a:solidFill>
                <a:latin typeface="Aptos"/>
              </a:rPr>
              <a:t>Keep Q/K on the RMSNorm + RoPE path.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10912"/>
            <a:ext cx="2286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5010912"/>
            <a:ext cx="1007668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1F1F"/>
                </a:solidFill>
                <a:latin typeface="Aptos"/>
              </a:rPr>
              <a:t>Target: remove 50 V copies per GPU; 4.45 ms trace-derived upper bound.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13832"/>
            <a:ext cx="2286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5513832"/>
            <a:ext cx="1007668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1F1F"/>
                </a:solidFill>
                <a:latin typeface="Aptos"/>
              </a:rPr>
              <a:t>Requires a custom QKV projection epilogue.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2648" y="6446520"/>
            <a:ext cx="10954512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6492240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Consolas"/>
              </a:rPr>
              <a:t>Original profile: agent/minimax-h3-pillar1@50cf90da7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83096"/>
            <a:ext cx="548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256032"/>
            <a:ext cx="10972800" cy="502920"/>
          </a:xfrm>
        </p:spPr>
        <p:txBody>
          <a:bodyPr/>
          <a:lstStyle/>
          <a:p>
            <a:r>
              <a:rPr sz="2600" b="1">
                <a:solidFill>
                  <a:srgbClr val="1F1F1F"/>
                </a:solidFill>
                <a:latin typeface="Aptos"/>
              </a:rPr>
              <a:t>Optimization 3 — Remove Output Copies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12648" y="868680"/>
            <a:ext cx="10954512" cy="0"/>
          </a:xfrm>
          <a:prstGeom prst="line">
            <a:avLst/>
          </a:prstGeom>
          <a:ln w="1778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77240" y="1261872"/>
            <a:ext cx="106527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1F1F"/>
                </a:solidFill>
                <a:latin typeface="Consolas"/>
              </a:rPr>
              <a:t>FMHA [B, S, H/P, D]  →  output pack  →  NCCL  →  output unpack  →  [B, S/P, H, D]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2286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697480"/>
            <a:ext cx="10076688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F1F1F"/>
                </a:solidFill>
                <a:latin typeface="Aptos"/>
              </a:rPr>
              <a:t>Option A: make FMHA write the reverse All-to-All send layout.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64408"/>
            <a:ext cx="2286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3264408"/>
            <a:ext cx="10076688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F1F1F"/>
                </a:solidFill>
                <a:latin typeface="Aptos"/>
              </a:rPr>
              <a:t>Option B: let the output projection consume the NCCL receive layout.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31336"/>
            <a:ext cx="2286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831336"/>
            <a:ext cx="10076688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F1F1F"/>
                </a:solidFill>
                <a:latin typeface="Aptos"/>
              </a:rPr>
              <a:t>Target: remove 100 output copies per GPU.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98264"/>
            <a:ext cx="2286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4398264"/>
            <a:ext cx="10076688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F1F1F"/>
                </a:solidFill>
                <a:latin typeface="Aptos"/>
              </a:rPr>
              <a:t>Trace-derived upper bound: 9.02 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65192"/>
            <a:ext cx="22860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48235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965192"/>
            <a:ext cx="10076688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F1F1F"/>
                </a:solidFill>
                <a:latin typeface="Aptos"/>
              </a:rPr>
              <a:t>Highest implementation risk.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" y="6446520"/>
            <a:ext cx="10954512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6492240"/>
            <a:ext cx="987552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Consolas"/>
              </a:rPr>
              <a:t>Original profile: agent/minimax-h3-pillar1@50cf90da7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83096"/>
            <a:ext cx="548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6666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MiniMax-H3 Ulysses SP=8 Optimizations</dc:title>
  <dc:subject>Nsight Systems analysis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