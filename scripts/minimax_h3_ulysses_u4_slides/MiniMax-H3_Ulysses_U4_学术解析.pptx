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4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48640"/>
            <a:ext cx="2011680" cy="310896"/>
          </a:xfrm>
          <a:prstGeom prst="roundRect">
            <a:avLst/>
          </a:prstGeom>
          <a:solidFill>
            <a:srgbClr val="2DD4BF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57784"/>
            <a:ext cx="2011680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7141F"/>
                </a:solidFill>
                <a:latin typeface="Menlo"/>
              </a:rPr>
              <a:t>SYSTEMS · ACADEMIC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698480" cy="114300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4F8FA"/>
                </a:solidFill>
                <a:latin typeface="PingFang SC"/>
              </a:rPr>
              <a:t>MiniMax-H3 负载中的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F4F8FA"/>
                </a:solidFill>
                <a:latin typeface="PingFang SC"/>
              </a:rPr>
              <a:t>Ulysses Sequence Parallelism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2788920"/>
            <a:ext cx="9875520" cy="56692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8BBC7"/>
                </a:solidFill>
                <a:latin typeface="PingFang SC"/>
              </a:rPr>
              <a:t>从 packed multimodal sequence 到 Q/K/V All-to-All、反向重分片与最终 AllGather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" y="3886200"/>
            <a:ext cx="10789920" cy="1417320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178808"/>
            <a:ext cx="2834640" cy="2743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DD4BF"/>
                </a:solidFill>
                <a:latin typeface="Menlo"/>
              </a:rPr>
              <a:t>研究对象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4535424"/>
            <a:ext cx="2834640" cy="47548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4F8FA"/>
                </a:solidFill>
                <a:latin typeface="PingFang SC"/>
              </a:rPr>
              <a:t>H3 DiT · U4 · TP1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15968" y="4178808"/>
            <a:ext cx="2834640" cy="2743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Menlo"/>
              </a:rPr>
              <a:t>核心尺度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5968" y="4535424"/>
            <a:ext cx="2834640" cy="47548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4F8FA"/>
                </a:solidFill>
                <a:latin typeface="Menlo"/>
              </a:rPr>
              <a:t>S=37,760 · H=5,376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09560" y="4178808"/>
            <a:ext cx="2834640" cy="2743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78BFA"/>
                </a:solidFill>
                <a:latin typeface="Menlo"/>
              </a:rPr>
              <a:t>证据基础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4535424"/>
            <a:ext cx="2834640" cy="47548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4F8FA"/>
                </a:solidFill>
                <a:latin typeface="PingFang SC"/>
              </a:rPr>
              <a:t>源码 + B300 实验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5943600"/>
            <a:ext cx="1078992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A8BBC7"/>
                </a:solidFill>
                <a:latin typeface="Menlo"/>
              </a:rPr>
              <a:t>agent/minimax-h3-online-fp8 @ f76f8e58fb  ·  2026-08-20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6473952"/>
            <a:ext cx="11018520" cy="10972"/>
          </a:xfrm>
          <a:prstGeom prst="rect">
            <a:avLst/>
          </a:prstGeom>
          <a:solidFill>
            <a:srgbClr val="274656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6519672"/>
            <a:ext cx="1024128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8BBC7"/>
                </a:solidFill>
                <a:latin typeface="Menlo"/>
              </a:rPr>
              <a:t>本地源码与实验记录；分析日期 2026-08-20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501384"/>
            <a:ext cx="603504" cy="20116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DD4BF"/>
                </a:solidFill>
                <a:latin typeface="Menlo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4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DD4BF"/>
                </a:solidFill>
                <a:latin typeface="Menlo"/>
              </a:rPr>
              <a:t>01 · RESEARCH FRAMING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029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4F8FA"/>
                </a:solidFill>
                <a:latin typeface="PingFang SC"/>
              </a:rPr>
              <a:t>研究问题与核心结论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25296"/>
            <a:ext cx="1051560" cy="32004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783080" y="1124712"/>
            <a:ext cx="9784080" cy="2743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8BBC7"/>
                </a:solidFill>
                <a:latin typeface="PingFang SC"/>
              </a:rPr>
              <a:t>先给出系统层答案，再逐层证明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5212080" cy="4526280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810512"/>
            <a:ext cx="4480560" cy="34747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DD4BF"/>
                </a:solidFill>
                <a:latin typeface="PingFang SC"/>
              </a:rPr>
              <a:t>三个研究问题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523744"/>
            <a:ext cx="73152" cy="73152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395728"/>
            <a:ext cx="4343400" cy="8961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A"/>
                </a:solidFill>
                <a:latin typeface="PingFang SC"/>
              </a:rPr>
              <a:t>H3 在哪里进入、退出 sequence-parallel 区域？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419856"/>
            <a:ext cx="73152" cy="73152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291840"/>
            <a:ext cx="4343400" cy="8961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A"/>
                </a:solidFill>
                <a:latin typeface="PingFang SC"/>
              </a:rPr>
              <a:t>为什么每个 DiT block 有 3×QKV + 1×Output All-to-All？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4315968"/>
            <a:ext cx="73152" cy="73152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4187952"/>
            <a:ext cx="4343400" cy="8961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A"/>
                </a:solidFill>
                <a:latin typeface="PingFang SC"/>
              </a:rPr>
              <a:t>为什么末端仍有 AllGather；如何把 payload 缩小 42×？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16752" y="1554480"/>
            <a:ext cx="5577840" cy="4526280"/>
          </a:xfrm>
          <a:prstGeom prst="roundRect">
            <a:avLst/>
          </a:prstGeom>
          <a:solidFill>
            <a:srgbClr val="16313F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810512"/>
            <a:ext cx="4846320" cy="34747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59E0B"/>
                </a:solidFill>
                <a:latin typeface="PingFang SC"/>
              </a:rPr>
              <a:t>四条结论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27648" y="2432304"/>
            <a:ext cx="73152" cy="73152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2304288"/>
            <a:ext cx="4553712" cy="7680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59E0B"/>
                </a:solidFill>
                <a:latin typeface="PingFang SC"/>
              </a:rPr>
              <a:t>_sp_plan 只定义边界；Ulysses 真正执行在通用 Attention strategy。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27648" y="3200400"/>
            <a:ext cx="73152" cy="73152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3072384"/>
            <a:ext cx="4553712" cy="7680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59E0B"/>
                </a:solidFill>
                <a:latin typeface="PingFang SC"/>
              </a:rPr>
              <a:t>核心是 S-shard ↔ H-shard 的分布式转置，而非简单 AllGather K/V。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27648" y="3968496"/>
            <a:ext cx="73152" cy="73152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528" y="3840480"/>
            <a:ext cx="4553712" cy="7680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59E0B"/>
                </a:solidFill>
                <a:latin typeface="PingFang SC"/>
              </a:rPr>
              <a:t>U4 每次 transformer forward 有 200 次 All-to-All；5 sigma 点对应 4 次 forward。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27648" y="4736592"/>
            <a:ext cx="73152" cy="73152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4608576"/>
            <a:ext cx="4553712" cy="7680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59E0B"/>
                </a:solidFill>
                <a:latin typeface="PingFang SC"/>
              </a:rPr>
              <a:t>当前分支先 gather [S,5376]；严格边界优化应先本地投影到 [S/4,128]。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6473952"/>
            <a:ext cx="11018520" cy="10972"/>
          </a:xfrm>
          <a:prstGeom prst="rect">
            <a:avLst/>
          </a:prstGeom>
          <a:solidFill>
            <a:srgbClr val="274656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519672"/>
            <a:ext cx="1024128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8BBC7"/>
                </a:solidFill>
                <a:latin typeface="Menlo"/>
              </a:rPr>
              <a:t>本地源码与实验记录；分析日期 2026-08-20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501384"/>
            <a:ext cx="603504" cy="20116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DD4BF"/>
                </a:solidFill>
                <a:latin typeface="Menl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4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DD4BF"/>
                </a:solidFill>
                <a:latin typeface="Menlo"/>
              </a:rPr>
              <a:t>02 · EXPERIMENTAL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029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4F8FA"/>
                </a:solidFill>
                <a:latin typeface="PingFang SC"/>
              </a:rPr>
              <a:t>可复现实验基线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25296"/>
            <a:ext cx="1051560" cy="32004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783080" y="1124712"/>
            <a:ext cx="9784080" cy="2743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8BBC7"/>
                </a:solidFill>
                <a:latin typeface="PingFang SC"/>
              </a:rPr>
              <a:t>所有计数与尺寸均对应同一 U4 配置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72768"/>
            <a:ext cx="2615184" cy="1060704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82495"/>
            <a:ext cx="2286000" cy="4389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2DD4BF"/>
                </a:solidFill>
                <a:latin typeface="Menlo"/>
              </a:rPr>
              <a:t>4× B300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48840"/>
            <a:ext cx="228600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F8FA"/>
                </a:solidFill>
                <a:latin typeface="PingFang SC"/>
              </a:rPr>
              <a:t>GPU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04872"/>
            <a:ext cx="228600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8BBC7"/>
                </a:solidFill>
                <a:latin typeface="PingFang SC"/>
              </a:rPr>
              <a:t>267.68 GiB / GPU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1572768"/>
            <a:ext cx="2615184" cy="1060704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02152" y="1682495"/>
            <a:ext cx="2286000" cy="4389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4EA8DE"/>
                </a:solidFill>
                <a:latin typeface="Menlo"/>
              </a:rPr>
              <a:t>TP1 · U4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2152" y="2148840"/>
            <a:ext cx="228600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F8FA"/>
                </a:solidFill>
                <a:latin typeface="PingFang SC"/>
              </a:rPr>
              <a:t>DiT parallelism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02152" y="2404872"/>
            <a:ext cx="228600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8BBC7"/>
                </a:solidFill>
                <a:latin typeface="PingFang SC"/>
              </a:rPr>
              <a:t>Ring degree = 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08192" y="1572768"/>
            <a:ext cx="2615184" cy="1060704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1682495"/>
            <a:ext cx="2286000" cy="4389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59E0B"/>
                </a:solidFill>
                <a:latin typeface="Menlo"/>
              </a:rPr>
              <a:t>768×1344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3" y="2148840"/>
            <a:ext cx="228600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F8FA"/>
                </a:solidFill>
                <a:latin typeface="PingFang SC"/>
              </a:rPr>
              <a:t>输出分辨率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72783" y="2404872"/>
            <a:ext cx="228600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8BBC7"/>
                </a:solidFill>
                <a:latin typeface="PingFang SC"/>
              </a:rPr>
              <a:t>124 frames @ 24 fps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78824" y="1572768"/>
            <a:ext cx="2706624" cy="1060704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43416" y="1682495"/>
            <a:ext cx="2377440" cy="4389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A78BFA"/>
                </a:solidFill>
                <a:latin typeface="Menlo"/>
              </a:rPr>
              <a:t>5 σ points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416" y="2148840"/>
            <a:ext cx="237744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F8FA"/>
                </a:solidFill>
                <a:latin typeface="PingFang SC"/>
              </a:rPr>
              <a:t>采样设置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43416" y="2404872"/>
            <a:ext cx="237744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8BBC7"/>
                </a:solidFill>
                <a:latin typeface="PingFang SC"/>
              </a:rPr>
              <a:t>4 denoise transitions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07792"/>
            <a:ext cx="6638544" cy="3090672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3154680"/>
            <a:ext cx="6035040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DD4BF"/>
                </a:solidFill>
                <a:latin typeface="PingFang SC"/>
              </a:rPr>
              <a:t>运行配置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3602736"/>
            <a:ext cx="6071616" cy="1408176"/>
          </a:xfrm>
          <a:prstGeom prst="roundRect">
            <a:avLst/>
          </a:prstGeom>
          <a:solidFill>
            <a:srgbClr val="0B1D28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41248" y="3602736"/>
            <a:ext cx="50292" cy="1408176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3739896"/>
            <a:ext cx="5760720" cy="117957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D8E5EC"/>
                </a:solidFill>
                <a:latin typeface="Menlo"/>
              </a:rPr>
              <a:t>tp1_ulysses4_ring1</a:t>
            </a:r>
          </a:p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D8E5EC"/>
                </a:solidFill>
                <a:latin typeface="Menlo"/>
              </a:rPr>
              <a:t>text_encoder_tp4_vae_tile4</a:t>
            </a:r>
          </a:p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D8E5EC"/>
                </a:solidFill>
                <a:latin typeface="Menlo"/>
              </a:rPr>
              <a:t>attention_backend = CUDNN_ATTN</a:t>
            </a:r>
          </a:p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D8E5EC"/>
                </a:solidFill>
                <a:latin typeface="Menlo"/>
              </a:rPr>
              <a:t>precision = checkpoint BF16/FP32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212080"/>
            <a:ext cx="5943600" cy="51206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8BBC7"/>
                </a:solidFill>
                <a:latin typeface="PingFang SC"/>
              </a:rPr>
              <a:t>注意：Text Encoder TP4 与 VAE tile4 是外围并行，本文的 Ulysses 分析聚焦 DiT denoise hot path。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52360" y="2907792"/>
            <a:ext cx="4142232" cy="3090672"/>
          </a:xfrm>
          <a:prstGeom prst="roundRect">
            <a:avLst/>
          </a:prstGeom>
          <a:solidFill>
            <a:srgbClr val="16313F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35824" y="3154680"/>
            <a:ext cx="3566160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59E0B"/>
                </a:solidFill>
                <a:latin typeface="PingFang SC"/>
              </a:rPr>
              <a:t>观测到的阶段耗时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35824" y="3703320"/>
            <a:ext cx="1417320" cy="23774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8BBC7"/>
                </a:solidFill>
                <a:latin typeface="Menlo"/>
              </a:rPr>
              <a:t>T2VA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3611880"/>
            <a:ext cx="1828800" cy="36576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4F8FA"/>
                </a:solidFill>
                <a:latin typeface="Menlo"/>
              </a:rPr>
              <a:t>4.559 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35824" y="4224528"/>
            <a:ext cx="1417320" cy="23774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8BBC7"/>
                </a:solidFill>
                <a:latin typeface="Menlo"/>
              </a:rPr>
              <a:t>FL2VA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89136" y="4133087"/>
            <a:ext cx="1828800" cy="36576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4F8FA"/>
                </a:solidFill>
                <a:latin typeface="Menlo"/>
              </a:rPr>
              <a:t>3.310 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35824" y="4754880"/>
            <a:ext cx="3337560" cy="69494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8BBC7"/>
                </a:solidFill>
                <a:latin typeface="PingFang SC"/>
              </a:rPr>
              <a:t>以上为 diffuse 阶段墙钟时间；本 deck 不将其误解为纯通信时间。通信结论来自源码归因与尺寸模型。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6473952"/>
            <a:ext cx="11018520" cy="10972"/>
          </a:xfrm>
          <a:prstGeom prst="rect">
            <a:avLst/>
          </a:prstGeom>
          <a:solidFill>
            <a:srgbClr val="274656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6519672"/>
            <a:ext cx="1024128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8BBC7"/>
                </a:solidFill>
                <a:latin typeface="Menlo"/>
              </a:rPr>
              <a:t>results/h3-b300-tp1-u4-steps5/{summary.json,run.log}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501384"/>
            <a:ext cx="603504" cy="20116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DD4BF"/>
                </a:solidFill>
                <a:latin typeface="Menl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4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DD4BF"/>
                </a:solidFill>
                <a:latin typeface="Menlo"/>
              </a:rPr>
              <a:t>03 · WORKLOAD ANATOMY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029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4F8FA"/>
                </a:solidFill>
                <a:latin typeface="PingFang SC"/>
              </a:rPr>
              <a:t>H3 DiT 的结构尺度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25296"/>
            <a:ext cx="1051560" cy="32004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783080" y="1124712"/>
            <a:ext cx="9784080" cy="2743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8BBC7"/>
                </a:solidFill>
                <a:latin typeface="PingFang SC"/>
              </a:rPr>
              <a:t>Ulysses 的收益与代价由 S、head 数和 block 数共同决定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72768"/>
            <a:ext cx="2615184" cy="1060704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82495"/>
            <a:ext cx="2286000" cy="4389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2DD4BF"/>
                </a:solidFill>
                <a:latin typeface="Menlo"/>
              </a:rPr>
              <a:t>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48840"/>
            <a:ext cx="228600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F8FA"/>
                </a:solidFill>
                <a:latin typeface="PingFang SC"/>
              </a:rPr>
              <a:t>DiT blocks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1572768"/>
            <a:ext cx="2615184" cy="1060704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02152" y="1682495"/>
            <a:ext cx="2286000" cy="4389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4EA8DE"/>
                </a:solidFill>
                <a:latin typeface="Menlo"/>
              </a:rPr>
              <a:t>5,376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2152" y="2148840"/>
            <a:ext cx="228600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F8FA"/>
                </a:solidFill>
                <a:latin typeface="PingFang SC"/>
              </a:rPr>
              <a:t>hidden size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08192" y="1572768"/>
            <a:ext cx="2615184" cy="1060704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2783" y="1682495"/>
            <a:ext cx="2286000" cy="4389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59E0B"/>
                </a:solidFill>
                <a:latin typeface="Menlo"/>
              </a:rPr>
              <a:t>56 × 128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72783" y="2148840"/>
            <a:ext cx="228600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F8FA"/>
                </a:solidFill>
                <a:latin typeface="PingFang SC"/>
              </a:rPr>
              <a:t>heads × head dim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78824" y="1572768"/>
            <a:ext cx="2615184" cy="1060704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43415" y="1682495"/>
            <a:ext cx="2286000" cy="4389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A78BFA"/>
                </a:solidFill>
                <a:latin typeface="Menlo"/>
              </a:rPr>
              <a:t>14,336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43415" y="2148840"/>
            <a:ext cx="228600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F8FA"/>
                </a:solidFill>
                <a:latin typeface="PingFang SC"/>
              </a:rPr>
              <a:t>FFN hidden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2926080"/>
            <a:ext cx="2331720" cy="2450592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2926080"/>
            <a:ext cx="54864" cy="245059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044952"/>
            <a:ext cx="2057400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78BFA"/>
                </a:solidFill>
                <a:latin typeface="PingFang SC"/>
              </a:rPr>
              <a:t>Token refiner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401568"/>
            <a:ext cx="2057400" cy="188366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4F8FA"/>
                </a:solidFill>
                <a:latin typeface="PingFang SC"/>
              </a:rPr>
              <a:t>2 layers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4F8FA"/>
                </a:solidFill>
                <a:latin typeface="PingFang SC"/>
              </a:rPr>
              <a:t>完整 sequence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4F8FA"/>
                </a:solidFill>
                <a:latin typeface="PingFang SC"/>
              </a:rPr>
              <a:t>skip_sequence_parallel=True</a:t>
            </a:r>
          </a:p>
        </p:txBody>
      </p:sp>
      <p:sp>
        <p:nvSpPr>
          <p:cNvPr id="22" name="Chevron 21"/>
          <p:cNvSpPr/>
          <p:nvPr/>
        </p:nvSpPr>
        <p:spPr>
          <a:xfrm>
            <a:off x="3017520" y="3858768"/>
            <a:ext cx="347472" cy="438912"/>
          </a:xfrm>
          <a:prstGeom prst="chevron">
            <a:avLst/>
          </a:prstGeom>
          <a:solidFill>
            <a:srgbClr val="2DD4BF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520440" y="2926080"/>
            <a:ext cx="4681728" cy="2450592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520440" y="2926080"/>
            <a:ext cx="54864" cy="2450592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85032" y="3044952"/>
            <a:ext cx="4407408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DD4BF"/>
                </a:solidFill>
                <a:latin typeface="PingFang SC"/>
              </a:rPr>
              <a:t>Main DiT stack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85032" y="3401568"/>
            <a:ext cx="4407408" cy="188366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4F8FA"/>
                </a:solidFill>
                <a:latin typeface="PingFang SC"/>
              </a:rPr>
              <a:t>50 × {AdaLN → Self-Attention → MLP}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4F8FA"/>
                </a:solidFill>
                <a:latin typeface="PingFang SC"/>
              </a:rPr>
              <a:t>Ulysses 仅在这个 sharded region 内生效</a:t>
            </a:r>
          </a:p>
        </p:txBody>
      </p:sp>
      <p:sp>
        <p:nvSpPr>
          <p:cNvPr id="27" name="Chevron 26"/>
          <p:cNvSpPr/>
          <p:nvPr/>
        </p:nvSpPr>
        <p:spPr>
          <a:xfrm>
            <a:off x="8339327" y="3858768"/>
            <a:ext cx="347472" cy="438912"/>
          </a:xfrm>
          <a:prstGeom prst="chevron">
            <a:avLst/>
          </a:prstGeom>
          <a:solidFill>
            <a:srgbClr val="2DD4BF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842248" y="2926080"/>
            <a:ext cx="2752344" cy="2450592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842248" y="2926080"/>
            <a:ext cx="54864" cy="2450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6840" y="3044952"/>
            <a:ext cx="2478024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59E0B"/>
                </a:solidFill>
                <a:latin typeface="PingFang SC"/>
              </a:rPr>
              <a:t>Final layer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6840" y="3401568"/>
            <a:ext cx="2478024" cy="188366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4F8FA"/>
                </a:solidFill>
                <a:latin typeface="PingFang SC"/>
              </a:rPr>
              <a:t>video width = 96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4F8FA"/>
                </a:solidFill>
                <a:latin typeface="PingFang SC"/>
              </a:rPr>
              <a:t>audio width = 32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4F8FA"/>
                </a:solidFill>
                <a:latin typeface="PingFang SC"/>
              </a:rPr>
              <a:t>combined = 128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660136"/>
            <a:ext cx="10698480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4F8FA"/>
                </a:solidFill>
                <a:latin typeface="PingFang SC"/>
              </a:rPr>
              <a:t>关键观察：当前分支在 5,376→128 的投影之前退出 SP，这是末端大 AllGather 的根因。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6473952"/>
            <a:ext cx="11018520" cy="10972"/>
          </a:xfrm>
          <a:prstGeom prst="rect">
            <a:avLst/>
          </a:prstGeom>
          <a:solidFill>
            <a:srgbClr val="274656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6519672"/>
            <a:ext cx="1024128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8BBC7"/>
                </a:solidFill>
                <a:latin typeface="Menlo"/>
              </a:rPr>
              <a:t>bench_inputs/MiniMax-H3/FL2VA/transformer/config.json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501384"/>
            <a:ext cx="603504" cy="20116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DD4BF"/>
                </a:solidFill>
                <a:latin typeface="Menl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4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DD4BF"/>
                </a:solidFill>
                <a:latin typeface="Menlo"/>
              </a:rPr>
              <a:t>04 · PACKED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029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4F8FA"/>
                </a:solidFill>
                <a:latin typeface="PingFang SC"/>
              </a:rPr>
              <a:t>多模态 token 如何打包成一个序列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25296"/>
            <a:ext cx="1051560" cy="32004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783080" y="1124712"/>
            <a:ext cx="9784080" cy="2743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8BBC7"/>
                </a:solidFill>
                <a:latin typeface="PingFang SC"/>
              </a:rPr>
              <a:t>H3 不是 joint-attention 分支，而是把所有模态放进同一 packed sequence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74519"/>
            <a:ext cx="1325880" cy="1051560"/>
          </a:xfrm>
          <a:prstGeom prst="rect">
            <a:avLst/>
          </a:prstGeom>
          <a:solidFill>
            <a:srgbClr val="A78BFA"/>
          </a:solidFill>
          <a:ln w="12700">
            <a:solidFill>
              <a:srgbClr val="0714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2075688"/>
            <a:ext cx="1234439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7141F"/>
                </a:solidFill>
                <a:latin typeface="Menlo"/>
              </a:rPr>
              <a:t>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432303"/>
            <a:ext cx="1234439" cy="23774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7141F"/>
                </a:solidFill>
                <a:latin typeface="Menlo"/>
              </a:rPr>
              <a:t>25</a:t>
            </a:r>
          </a:p>
        </p:txBody>
      </p:sp>
      <p:sp>
        <p:nvSpPr>
          <p:cNvPr id="9" name="Rectangle 8"/>
          <p:cNvSpPr/>
          <p:nvPr/>
        </p:nvSpPr>
        <p:spPr>
          <a:xfrm>
            <a:off x="1984248" y="1874519"/>
            <a:ext cx="1600200" cy="1051560"/>
          </a:xfrm>
          <a:prstGeom prst="rect">
            <a:avLst/>
          </a:prstGeom>
          <a:solidFill>
            <a:srgbClr val="4EA8DE"/>
          </a:solidFill>
          <a:ln w="12700">
            <a:solidFill>
              <a:srgbClr val="0714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29967" y="2075688"/>
            <a:ext cx="1508760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7141F"/>
                </a:solidFill>
                <a:latin typeface="Menlo"/>
              </a:rPr>
              <a:t>img/vid cond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29967" y="2432303"/>
            <a:ext cx="1508760" cy="23774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7141F"/>
                </a:solidFill>
                <a:latin typeface="Menlo"/>
              </a:rPr>
              <a:t>0 (T2VA)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84448" y="1874519"/>
            <a:ext cx="1508760" cy="1051560"/>
          </a:xfrm>
          <a:prstGeom prst="rect">
            <a:avLst/>
          </a:prstGeom>
          <a:solidFill>
            <a:srgbClr val="F59E0B"/>
          </a:solidFill>
          <a:ln w="12700">
            <a:solidFill>
              <a:srgbClr val="0714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0168" y="2075688"/>
            <a:ext cx="1417319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7141F"/>
                </a:solidFill>
                <a:latin typeface="Menlo"/>
              </a:rPr>
              <a:t>audio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2432303"/>
            <a:ext cx="1417319" cy="23774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7141F"/>
                </a:solidFill>
                <a:latin typeface="Menlo"/>
              </a:rPr>
              <a:t>414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93208" y="1874519"/>
            <a:ext cx="5074920" cy="1051560"/>
          </a:xfrm>
          <a:prstGeom prst="rect">
            <a:avLst/>
          </a:prstGeom>
          <a:solidFill>
            <a:srgbClr val="2DD4BF"/>
          </a:solidFill>
          <a:ln w="12700">
            <a:solidFill>
              <a:srgbClr val="0714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38928" y="2075688"/>
            <a:ext cx="4983480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7141F"/>
                </a:solidFill>
                <a:latin typeface="Menlo"/>
              </a:rPr>
              <a:t>video target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38928" y="2432303"/>
            <a:ext cx="4983480" cy="23774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7141F"/>
                </a:solidFill>
                <a:latin typeface="Menlo"/>
              </a:rPr>
              <a:t>37,296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168128" y="1874519"/>
            <a:ext cx="1353312" cy="1051560"/>
          </a:xfrm>
          <a:prstGeom prst="rect">
            <a:avLst/>
          </a:prstGeom>
          <a:solidFill>
            <a:srgbClr val="A8BBC7"/>
          </a:solidFill>
          <a:ln w="12700">
            <a:solidFill>
              <a:srgbClr val="0714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13848" y="2075688"/>
            <a:ext cx="1261872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7141F"/>
                </a:solidFill>
                <a:latin typeface="Menlo"/>
              </a:rPr>
              <a:t>pad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13848" y="2432303"/>
            <a:ext cx="1261872" cy="23774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7141F"/>
                </a:solidFill>
                <a:latin typeface="Menlo"/>
              </a:rPr>
              <a:t>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236976"/>
            <a:ext cx="10789920" cy="4389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4F8FA"/>
                </a:solidFill>
                <a:latin typeface="Menlo"/>
              </a:rPr>
              <a:t>layout = [ text | imgvid_cond | audio | video_target | alignment pad ]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3986784"/>
            <a:ext cx="10863072" cy="1481328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" y="4270248"/>
            <a:ext cx="2880360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59E0B"/>
                </a:solidFill>
                <a:latin typeface="PingFang SC"/>
              </a:rPr>
              <a:t>为什么需要 pad？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" y="4663440"/>
            <a:ext cx="2926080" cy="42976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BC7"/>
                </a:solidFill>
                <a:latin typeface="PingFang SC"/>
              </a:rPr>
              <a:t>将总长度对齐到 64，保证 U4 等分和后端友好的 tile。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4270248"/>
            <a:ext cx="2834640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DD4BF"/>
                </a:solidFill>
                <a:latin typeface="Menlo"/>
              </a:rPr>
              <a:t>packed attention metadata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24528" y="4663440"/>
            <a:ext cx="2880360" cy="42976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4F8FA"/>
                </a:solidFill>
                <a:latin typeface="Menlo"/>
              </a:rPr>
              <a:t>cu_seqlens = [0, 37,735, 37,760]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4F8FA"/>
                </a:solidFill>
                <a:latin typeface="Menlo"/>
              </a:rPr>
              <a:t>pad 作为第二个 document。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43800" y="4270248"/>
            <a:ext cx="3108960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78BFA"/>
                </a:solidFill>
                <a:latin typeface="PingFang SC"/>
              </a:rPr>
              <a:t>Ulysses 后的语义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43800" y="4626864"/>
            <a:ext cx="3108960" cy="56692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8BBC7"/>
                </a:solidFill>
                <a:latin typeface="PingFang SC"/>
              </a:rPr>
              <a:t>每个 head-owner rank 得到完整 packed sequence，metadata 仍使用全局边界。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6473952"/>
            <a:ext cx="11018520" cy="10972"/>
          </a:xfrm>
          <a:prstGeom prst="rect">
            <a:avLst/>
          </a:prstGeom>
          <a:solidFill>
            <a:srgbClr val="274656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6519672"/>
            <a:ext cx="1024128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8BBC7"/>
                </a:solidFill>
                <a:latin typeface="Menlo"/>
              </a:rPr>
              <a:t>models/minimax_h3/packed_sequence.py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0" y="6501384"/>
            <a:ext cx="603504" cy="20116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DD4BF"/>
                </a:solidFill>
                <a:latin typeface="Menl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4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DD4BF"/>
                </a:solidFill>
                <a:latin typeface="Menlo"/>
              </a:rPr>
              <a:t>05 · SHAPE DERIVATION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029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4F8FA"/>
                </a:solidFill>
                <a:latin typeface="PingFang SC"/>
              </a:rPr>
              <a:t>T2VA 的 S=37,760 如何得到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25296"/>
            <a:ext cx="1051560" cy="32004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783080" y="1124712"/>
            <a:ext cx="9784080" cy="2743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8BBC7"/>
                </a:solidFill>
                <a:latin typeface="PingFang SC"/>
              </a:rPr>
              <a:t>显式推导，避免把逻辑序列长度与 padded 长度混淆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72768"/>
            <a:ext cx="3127248" cy="1298448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572768"/>
            <a:ext cx="54864" cy="1298448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91640"/>
            <a:ext cx="2852928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D4BF"/>
                </a:solidFill>
                <a:latin typeface="PingFang SC"/>
              </a:rPr>
              <a:t>Video latent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048256"/>
            <a:ext cx="2852928" cy="731519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4F8FA"/>
                </a:solidFill>
                <a:latin typeface="PingFang SC"/>
              </a:rPr>
              <a:t>T=124 → latent_t=37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4F8FA"/>
                </a:solidFill>
                <a:latin typeface="PingFang SC"/>
              </a:rPr>
              <a:t>H=768→48，W=1344→84</a:t>
            </a:r>
          </a:p>
        </p:txBody>
      </p:sp>
      <p:sp>
        <p:nvSpPr>
          <p:cNvPr id="10" name="Chevron 9"/>
          <p:cNvSpPr/>
          <p:nvPr/>
        </p:nvSpPr>
        <p:spPr>
          <a:xfrm>
            <a:off x="3822191" y="2011680"/>
            <a:ext cx="347472" cy="438912"/>
          </a:xfrm>
          <a:prstGeom prst="chevron">
            <a:avLst/>
          </a:prstGeom>
          <a:solidFill>
            <a:srgbClr val="2DD4BF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15968" y="1572768"/>
            <a:ext cx="3127248" cy="1298448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15968" y="1572768"/>
            <a:ext cx="54864" cy="1298448"/>
          </a:xfrm>
          <a:prstGeom prst="rect">
            <a:avLst/>
          </a:prstGeom>
          <a:solidFill>
            <a:srgbClr val="4EA8DE"/>
          </a:solidFill>
          <a:ln w="12700">
            <a:solidFill>
              <a:srgbClr val="4EA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59" y="1691640"/>
            <a:ext cx="2852928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4EA8DE"/>
                </a:solidFill>
                <a:latin typeface="PingFang SC"/>
              </a:rPr>
              <a:t>Spatial patch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2048256"/>
            <a:ext cx="2852928" cy="731519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4F8FA"/>
                </a:solidFill>
                <a:latin typeface="PingFang SC"/>
              </a:rPr>
              <a:t>patch=2×2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4F8FA"/>
                </a:solidFill>
                <a:latin typeface="PingFang SC"/>
              </a:rPr>
              <a:t>每帧 24×42 = 1,008 rows</a:t>
            </a:r>
          </a:p>
        </p:txBody>
      </p:sp>
      <p:sp>
        <p:nvSpPr>
          <p:cNvPr id="15" name="Chevron 14"/>
          <p:cNvSpPr/>
          <p:nvPr/>
        </p:nvSpPr>
        <p:spPr>
          <a:xfrm>
            <a:off x="7580375" y="2011680"/>
            <a:ext cx="347472" cy="438912"/>
          </a:xfrm>
          <a:prstGeom prst="chevron">
            <a:avLst/>
          </a:prstGeom>
          <a:solidFill>
            <a:srgbClr val="2DD4BF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1572768"/>
            <a:ext cx="3511296" cy="1298448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4152" y="1572768"/>
            <a:ext cx="54864" cy="12984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38744" y="1691640"/>
            <a:ext cx="3236976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59E0B"/>
                </a:solidFill>
                <a:latin typeface="PingFang SC"/>
              </a:rPr>
              <a:t>Video rows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2048256"/>
            <a:ext cx="3236976" cy="731519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4F8FA"/>
                </a:solidFill>
                <a:latin typeface="PingFang SC"/>
              </a:rPr>
              <a:t>37 × 1,008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4F8FA"/>
                </a:solidFill>
                <a:latin typeface="PingFang SC"/>
              </a:rPr>
              <a:t>= 37,296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3246120"/>
            <a:ext cx="11018520" cy="2212848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547872"/>
            <a:ext cx="10424160" cy="45720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4F8FA"/>
                </a:solidFill>
                <a:latin typeface="Menlo"/>
              </a:rPr>
              <a:t>used = text + audio + video = 25 + 414 + 37,296 = 37,735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160520"/>
            <a:ext cx="10424160" cy="45720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2DD4BF"/>
                </a:solidFill>
                <a:latin typeface="Menlo"/>
              </a:rPr>
              <a:t>S = align₆₄(37,735) = 37,760  →  padding = 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800600"/>
            <a:ext cx="10424160" cy="32918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59E0B"/>
                </a:solidFill>
                <a:latin typeface="Menlo"/>
              </a:rPr>
              <a:t>U4 local sequence = S / 4 = 9,440 rows per rank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6473952"/>
            <a:ext cx="11018520" cy="10972"/>
          </a:xfrm>
          <a:prstGeom prst="rect">
            <a:avLst/>
          </a:prstGeom>
          <a:solidFill>
            <a:srgbClr val="274656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519672"/>
            <a:ext cx="1024128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8BBC7"/>
                </a:solidFill>
                <a:latin typeface="Menlo"/>
              </a:rPr>
              <a:t>packed_sequence.py + time_request.py；T2VA text presentation length=25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501384"/>
            <a:ext cx="603504" cy="20116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DD4BF"/>
                </a:solidFill>
                <a:latin typeface="Menl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4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DD4BF"/>
                </a:solidFill>
                <a:latin typeface="Menlo"/>
              </a:rPr>
              <a:t>06 · PARALLEL TOPOLOGY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029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4F8FA"/>
                </a:solidFill>
                <a:latin typeface="PingFang SC"/>
              </a:rPr>
              <a:t>TP1 · Ulysses4 · Ring1 的进程组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25296"/>
            <a:ext cx="1051560" cy="32004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783080" y="1124712"/>
            <a:ext cx="9784080" cy="2743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8BBC7"/>
                </a:solidFill>
                <a:latin typeface="PingFang SC"/>
              </a:rPr>
              <a:t>四张卡属于同一个 Ulysses group；每个 Ring group 是单例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" y="1719072"/>
            <a:ext cx="2359152" cy="658368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04672" y="1883664"/>
            <a:ext cx="566928" cy="310896"/>
          </a:xfrm>
          <a:prstGeom prst="roundRect">
            <a:avLst/>
          </a:prstGeom>
          <a:solidFill>
            <a:srgbClr val="2DD4BF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892807"/>
            <a:ext cx="566928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7141F"/>
                </a:solidFill>
                <a:latin typeface="Menlo"/>
              </a:rPr>
              <a:t>R0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90472" y="1810512"/>
            <a:ext cx="1426464" cy="21945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4F8FA"/>
                </a:solidFill>
                <a:latin typeface="Menlo"/>
              </a:rPr>
              <a:t>seq = S/4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0472" y="2075688"/>
            <a:ext cx="1426464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8BBC7"/>
                </a:solidFill>
                <a:latin typeface="Menlo"/>
              </a:rPr>
              <a:t>heads = 56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1296" y="1719072"/>
            <a:ext cx="2359152" cy="658368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4EA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21024" y="1883664"/>
            <a:ext cx="566928" cy="310896"/>
          </a:xfrm>
          <a:prstGeom prst="roundRect">
            <a:avLst/>
          </a:prstGeom>
          <a:solidFill>
            <a:srgbClr val="4EA8DE"/>
          </a:solidFill>
          <a:ln w="12700">
            <a:solidFill>
              <a:srgbClr val="4EA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21024" y="1892807"/>
            <a:ext cx="566928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7141F"/>
                </a:solidFill>
                <a:latin typeface="Menlo"/>
              </a:rPr>
              <a:t>R1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6824" y="1810512"/>
            <a:ext cx="1426464" cy="21945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4F8FA"/>
                </a:solidFill>
                <a:latin typeface="Menlo"/>
              </a:rPr>
              <a:t>seq = S/4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6824" y="2075688"/>
            <a:ext cx="1426464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8BBC7"/>
                </a:solidFill>
                <a:latin typeface="Menlo"/>
              </a:rPr>
              <a:t>heads = 56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27648" y="1719072"/>
            <a:ext cx="2359152" cy="658368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37376" y="1883664"/>
            <a:ext cx="566928" cy="310896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7376" y="1892807"/>
            <a:ext cx="566928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7141F"/>
                </a:solidFill>
                <a:latin typeface="Menlo"/>
              </a:rPr>
              <a:t>R2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23176" y="1810512"/>
            <a:ext cx="1426464" cy="21945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4F8FA"/>
                </a:solidFill>
                <a:latin typeface="Menlo"/>
              </a:rPr>
              <a:t>seq = S/4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23176" y="2075688"/>
            <a:ext cx="1426464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8BBC7"/>
                </a:solidFill>
                <a:latin typeface="Menlo"/>
              </a:rPr>
              <a:t>heads = 56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1719072"/>
            <a:ext cx="2359152" cy="658368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253728" y="1883664"/>
            <a:ext cx="566928" cy="310896"/>
          </a:xfrm>
          <a:prstGeom prst="roundRect">
            <a:avLst/>
          </a:prstGeom>
          <a:solidFill>
            <a:srgbClr val="A78BFA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3728" y="1892807"/>
            <a:ext cx="566928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7141F"/>
                </a:solidFill>
                <a:latin typeface="Menlo"/>
              </a:rPr>
              <a:t>R3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39528" y="1810512"/>
            <a:ext cx="1426464" cy="21945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4F8FA"/>
                </a:solidFill>
                <a:latin typeface="Menlo"/>
              </a:rPr>
              <a:t>seq = S/4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39528" y="2075688"/>
            <a:ext cx="1426464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8BBC7"/>
                </a:solidFill>
                <a:latin typeface="Menlo"/>
              </a:rPr>
              <a:t>heads = 56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2670048"/>
            <a:ext cx="10808208" cy="585216"/>
          </a:xfrm>
          <a:prstGeom prst="roundRect">
            <a:avLst/>
          </a:prstGeom>
          <a:solidFill>
            <a:srgbClr val="16313F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2816352"/>
            <a:ext cx="10515600" cy="23774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D4BF"/>
                </a:solidFill>
                <a:latin typeface="Menlo"/>
              </a:rPr>
              <a:t>ulysses_group = [0, 1, 2, 3]   ·   sp_size = 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4944" y="3547872"/>
            <a:ext cx="2359152" cy="530352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6384" y="3685032"/>
            <a:ext cx="2176272" cy="20116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BBC7"/>
                </a:solidFill>
                <a:latin typeface="Menlo"/>
              </a:rPr>
              <a:t>ring_group = [0]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511296" y="3547872"/>
            <a:ext cx="2359152" cy="530352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02736" y="3685032"/>
            <a:ext cx="2176272" cy="20116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BBC7"/>
                </a:solidFill>
                <a:latin typeface="Menlo"/>
              </a:rPr>
              <a:t>ring_group = [1]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27648" y="3547872"/>
            <a:ext cx="2359152" cy="530352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685032"/>
            <a:ext cx="2176272" cy="20116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BBC7"/>
                </a:solidFill>
                <a:latin typeface="Menlo"/>
              </a:rPr>
              <a:t>ring_group = [2]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44000" y="3547872"/>
            <a:ext cx="2359152" cy="530352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35440" y="3685032"/>
            <a:ext cx="2176272" cy="20116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8BBC7"/>
                </a:solidFill>
                <a:latin typeface="Menlo"/>
              </a:rPr>
              <a:t>ring_group = [3]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94944" y="4443984"/>
            <a:ext cx="10808208" cy="1115568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" y="4681728"/>
            <a:ext cx="2889504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59E0B"/>
                </a:solidFill>
                <a:latin typeface="PingFang SC"/>
              </a:rPr>
              <a:t>序列并行前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" y="4956048"/>
            <a:ext cx="2889504" cy="4114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4F8FA"/>
                </a:solidFill>
                <a:latin typeface="Menlo"/>
              </a:rPr>
              <a:t>各 rank：S/4 tokens × 56 heads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34840" y="4681728"/>
            <a:ext cx="2889504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DD4BF"/>
                </a:solidFill>
                <a:latin typeface="PingFang SC"/>
              </a:rPr>
              <a:t>Attention 内部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34840" y="5001768"/>
            <a:ext cx="2889504" cy="2743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4F8FA"/>
                </a:solidFill>
                <a:latin typeface="Menlo"/>
              </a:rPr>
              <a:t>各 rank：S tokens × 14 heads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82127" y="4681728"/>
            <a:ext cx="2889504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A78BFA"/>
                </a:solidFill>
                <a:latin typeface="PingFang SC"/>
              </a:rPr>
              <a:t>本配置没有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82127" y="5001768"/>
            <a:ext cx="2889504" cy="2743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4F8FA"/>
                </a:solidFill>
                <a:latin typeface="Menlo"/>
              </a:rPr>
              <a:t>Ring P2P / DiT TP collectives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6928" y="6473952"/>
            <a:ext cx="11018520" cy="10972"/>
          </a:xfrm>
          <a:prstGeom prst="rect">
            <a:avLst/>
          </a:prstGeom>
          <a:solidFill>
            <a:srgbClr val="274656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6928" y="6519672"/>
            <a:ext cx="1024128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8BBC7"/>
                </a:solidFill>
                <a:latin typeface="Menlo"/>
              </a:rPr>
              <a:t>run.log:45–52；parallel_state.py:620–682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0" y="6501384"/>
            <a:ext cx="603504" cy="20116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DD4BF"/>
                </a:solidFill>
                <a:latin typeface="Menl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4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DD4BF"/>
                </a:solidFill>
                <a:latin typeface="Menlo"/>
              </a:rPr>
              <a:t>07 · SP BOUNDARY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029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4F8FA"/>
                </a:solidFill>
                <a:latin typeface="PingFang SC"/>
              </a:rPr>
              <a:t>_sp_plan：用 hook 声明进入与退出边界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25296"/>
            <a:ext cx="1051560" cy="32004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783080" y="1124712"/>
            <a:ext cx="9784080" cy="2743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8BBC7"/>
                </a:solidFill>
                <a:latin typeface="PingFang SC"/>
              </a:rPr>
              <a:t>0/1/2 是 tuple 位置；split_dim=0 才是 tensor 维度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5687568" cy="4517136"/>
          </a:xfrm>
          <a:prstGeom prst="roundRect">
            <a:avLst/>
          </a:prstGeom>
          <a:solidFill>
            <a:srgbClr val="0B1D28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554480"/>
            <a:ext cx="50292" cy="4517136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91639"/>
            <a:ext cx="5376672" cy="428853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8E5EC"/>
                </a:solidFill>
                <a:latin typeface="Menlo"/>
              </a:rPr>
              <a:t>_sp_plan = {</a:t>
            </a:r>
          </a:p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8E5EC"/>
                </a:solidFill>
                <a:latin typeface="Menlo"/>
              </a:rPr>
              <a:t>  "sp_prepare": {</a:t>
            </a:r>
          </a:p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8E5EC"/>
                </a:solidFill>
                <a:latin typeface="Menlo"/>
              </a:rPr>
              <a:t>    0: SequenceParallelInput(split_dim=0,</a:t>
            </a:r>
          </a:p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8E5EC"/>
                </a:solidFill>
                <a:latin typeface="Menlo"/>
              </a:rPr>
              <a:t>         expected_dims=2, split_output=True),</a:t>
            </a:r>
          </a:p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8E5EC"/>
                </a:solidFill>
                <a:latin typeface="Menlo"/>
              </a:rPr>
              <a:t>    1: SequenceParallelInput(split_dim=0,</a:t>
            </a:r>
          </a:p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8E5EC"/>
                </a:solidFill>
                <a:latin typeface="Menlo"/>
              </a:rPr>
              <a:t>         expected_dims=2, split_output=True),</a:t>
            </a:r>
          </a:p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8E5EC"/>
                </a:solidFill>
                <a:latin typeface="Menlo"/>
              </a:rPr>
              <a:t>    2: SequenceParallelInput(split_dim=0,</a:t>
            </a:r>
          </a:p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8E5EC"/>
                </a:solidFill>
                <a:latin typeface="Menlo"/>
              </a:rPr>
              <a:t>         expected_dims=1, split_output=True),</a:t>
            </a:r>
          </a:p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8E5EC"/>
                </a:solidFill>
                <a:latin typeface="Menlo"/>
              </a:rPr>
              <a:t>  },</a:t>
            </a:r>
          </a:p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8E5EC"/>
                </a:solidFill>
                <a:latin typeface="Menlo"/>
              </a:rPr>
              <a:t>  "sp_gather": SequenceParallelOutput(</a:t>
            </a:r>
          </a:p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8E5EC"/>
                </a:solidFill>
                <a:latin typeface="Menlo"/>
              </a:rPr>
              <a:t>       gather_dim=0, expected_dims=2),</a:t>
            </a:r>
          </a:p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8E5EC"/>
                </a:solidFill>
                <a:latin typeface="Menlo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47104" y="1554480"/>
            <a:ext cx="5038344" cy="1170432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47104" y="1554480"/>
            <a:ext cx="54864" cy="1170432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11696" y="1673352"/>
            <a:ext cx="4764024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D4BF"/>
                </a:solidFill>
                <a:latin typeface="PingFang SC"/>
              </a:rPr>
              <a:t>sp_prepare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11696" y="2029967"/>
            <a:ext cx="4764024" cy="60350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4F8FA"/>
                </a:solidFill>
                <a:latin typeface="PingFang SC"/>
              </a:rPr>
              <a:t>passthrough module 返回三元 tuple；post-hook 对三个输出沿 S 同步切片。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47104" y="2907792"/>
            <a:ext cx="5038344" cy="1170432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47104" y="2907792"/>
            <a:ext cx="54864" cy="117043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11696" y="3026664"/>
            <a:ext cx="4764024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59E0B"/>
                </a:solidFill>
                <a:latin typeface="PingFang SC"/>
              </a:rPr>
              <a:t>SP 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11696" y="3383280"/>
            <a:ext cx="4764024" cy="60350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4F8FA"/>
                </a:solidFill>
                <a:latin typeface="PingFang SC"/>
              </a:rPr>
              <a:t>实际发生切分后：_sp_shard_depth += 1，因此 Attention strategy 激活。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47104" y="4261104"/>
            <a:ext cx="5038344" cy="1170432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47104" y="4261104"/>
            <a:ext cx="54864" cy="117043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11696" y="4379976"/>
            <a:ext cx="4764024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78BFA"/>
                </a:solidFill>
                <a:latin typeface="PingFang SC"/>
              </a:rPr>
              <a:t>sp_gather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11696" y="4736592"/>
            <a:ext cx="4764024" cy="60350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4F8FA"/>
                </a:solidFill>
                <a:latin typeface="PingFang SC"/>
              </a:rPr>
              <a:t>对 hidden 输出执行 AllGather(dim=0)，随后 _sp_shard_depth -= 1。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5596128"/>
            <a:ext cx="4892040" cy="4389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F8FA"/>
                </a:solidFill>
                <a:latin typeface="PingFang SC"/>
              </a:rPr>
              <a:t>边界定义 ≠ Ulysses 算法；真正 A2A 在 Attention strategy。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473952"/>
            <a:ext cx="11018520" cy="10972"/>
          </a:xfrm>
          <a:prstGeom prst="rect">
            <a:avLst/>
          </a:prstGeom>
          <a:solidFill>
            <a:srgbClr val="274656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6519672"/>
            <a:ext cx="1024128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8BBC7"/>
                </a:solidFill>
                <a:latin typeface="Menlo"/>
              </a:rPr>
              <a:t>minimax_h3_transformer.py:743–759,785–804；sequence_parallel.py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501384"/>
            <a:ext cx="603504" cy="20116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DD4BF"/>
                </a:solidFill>
                <a:latin typeface="Menl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4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DD4BF"/>
                </a:solidFill>
                <a:latin typeface="Menlo"/>
              </a:rPr>
              <a:t>08 · ENTERING 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029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4F8FA"/>
                </a:solidFill>
                <a:latin typeface="PingFang SC"/>
              </a:rPr>
              <a:t>sp_prepare 调用前后发生了什么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25296"/>
            <a:ext cx="1051560" cy="32004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783080" y="1124712"/>
            <a:ext cx="9784080" cy="2743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8BBC7"/>
                </a:solidFill>
                <a:latin typeface="PingFang SC"/>
              </a:rPr>
              <a:t>本地切片不产生 NCCL 通信，但它打开后续 Ulysses 的动态作用域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00784"/>
            <a:ext cx="3054096" cy="3218688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00784"/>
            <a:ext cx="54864" cy="321868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19656"/>
            <a:ext cx="2779776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78BFA"/>
                </a:solidFill>
                <a:latin typeface="PingFang SC"/>
              </a:rPr>
              <a:t>调用前：replicated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76272"/>
            <a:ext cx="2779776" cy="265176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4F8FA"/>
                </a:solidFill>
                <a:latin typeface="PingFang SC"/>
              </a:rPr>
              <a:t>hidden [37,760, 5,376]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4F8FA"/>
                </a:solidFill>
                <a:latin typeface="PingFang SC"/>
              </a:rPr>
              <a:t>rope   [37,760, …]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4F8FA"/>
                </a:solidFill>
                <a:latin typeface="PingFang SC"/>
              </a:rPr>
              <a:t>combined [37,760]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4F8FA"/>
                </a:solidFill>
                <a:latin typeface="PingFang SC"/>
              </a:rPr>
              <a:t>每个 rank 持有相同完整输入</a:t>
            </a:r>
          </a:p>
        </p:txBody>
      </p:sp>
      <p:sp>
        <p:nvSpPr>
          <p:cNvPr id="10" name="Chevron 9"/>
          <p:cNvSpPr/>
          <p:nvPr/>
        </p:nvSpPr>
        <p:spPr>
          <a:xfrm>
            <a:off x="3822191" y="2962656"/>
            <a:ext cx="457200" cy="658368"/>
          </a:xfrm>
          <a:prstGeom prst="chevron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89704" y="1700784"/>
            <a:ext cx="3163824" cy="3218688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9704" y="1700784"/>
            <a:ext cx="54864" cy="321868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54296" y="1819656"/>
            <a:ext cx="2889504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59E0B"/>
                </a:solidFill>
                <a:latin typeface="PingFang SC"/>
              </a:rPr>
              <a:t>sp_prepare hook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176272"/>
            <a:ext cx="2889504" cy="265176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4F8FA"/>
                </a:solidFill>
                <a:latin typeface="PingFang SC"/>
              </a:rPr>
              <a:t>三个 tensor 使用相同 rank slice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4F8FA"/>
                </a:solidFill>
                <a:latin typeface="PingFang SC"/>
              </a:rPr>
              <a:t>rank r rows: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4F8FA"/>
                </a:solidFill>
                <a:latin typeface="PingFang SC"/>
              </a:rPr>
              <a:t>[r·9,440 : (r+1)·9,440]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4F8FA"/>
                </a:solidFill>
                <a:latin typeface="PingFang SC"/>
              </a:rPr>
              <a:t>ctx.sp_active = True</a:t>
            </a:r>
          </a:p>
        </p:txBody>
      </p:sp>
      <p:sp>
        <p:nvSpPr>
          <p:cNvPr id="15" name="Chevron 14"/>
          <p:cNvSpPr/>
          <p:nvPr/>
        </p:nvSpPr>
        <p:spPr>
          <a:xfrm>
            <a:off x="7872983" y="2962656"/>
            <a:ext cx="457200" cy="658368"/>
          </a:xfrm>
          <a:prstGeom prst="chevron">
            <a:avLst/>
          </a:prstGeom>
          <a:solidFill>
            <a:srgbClr val="2DD4BF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549640" y="1700784"/>
            <a:ext cx="3035808" cy="3218688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49640" y="1700784"/>
            <a:ext cx="54864" cy="3218688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1819656"/>
            <a:ext cx="2761488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DD4BF"/>
                </a:solidFill>
                <a:latin typeface="PingFang SC"/>
              </a:rPr>
              <a:t>调用后：sharded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14232" y="2176272"/>
            <a:ext cx="2761488" cy="265176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4F8FA"/>
                </a:solidFill>
                <a:latin typeface="PingFang SC"/>
              </a:rPr>
              <a:t>hidden [9,440, 5,376]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4F8FA"/>
                </a:solidFill>
                <a:latin typeface="PingFang SC"/>
              </a:rPr>
              <a:t>rope   [9,440, …]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4F8FA"/>
                </a:solidFill>
                <a:latin typeface="PingFang SC"/>
              </a:rPr>
              <a:t>combined [9,440]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4F8FA"/>
                </a:solidFill>
                <a:latin typeface="PingFang SC"/>
              </a:rPr>
              <a:t>进入 50 层 local block stack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266944"/>
            <a:ext cx="11018520" cy="612648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" y="5431536"/>
            <a:ext cx="1056132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4F8FA"/>
                </a:solidFill>
                <a:latin typeface="PingFang SC"/>
              </a:rPr>
              <a:t>cu_seqlens / max_seqlen 保持全局语义：A2A 后每个 head-owner rank 会看到完整 S。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473952"/>
            <a:ext cx="11018520" cy="10972"/>
          </a:xfrm>
          <a:prstGeom prst="rect">
            <a:avLst/>
          </a:prstGeom>
          <a:solidFill>
            <a:srgbClr val="274656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6519672"/>
            <a:ext cx="1024128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8BBC7"/>
                </a:solidFill>
                <a:latin typeface="Menlo"/>
              </a:rPr>
              <a:t>minimax_h3_transformer.py:1098–1123；hooks/sequence_parallel.py:236–268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501384"/>
            <a:ext cx="603504" cy="20116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DD4BF"/>
                </a:solidFill>
                <a:latin typeface="Menl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4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DD4BF"/>
                </a:solidFill>
                <a:latin typeface="Menlo"/>
              </a:rPr>
              <a:t>09 · CALL-PATH ATTRIBUTION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029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4F8FA"/>
                </a:solidFill>
                <a:latin typeface="PingFang SC"/>
              </a:rPr>
              <a:t>从 H3 forward 到 NCCL kernel 的完整调用链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25296"/>
            <a:ext cx="1051560" cy="32004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783080" y="1124712"/>
            <a:ext cx="9784080" cy="2743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8BBC7"/>
                </a:solidFill>
                <a:latin typeface="PingFang SC"/>
              </a:rPr>
              <a:t>代码归因比仅凭 profiler kernel 名称更可靠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1536192"/>
            <a:ext cx="2779776" cy="694944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645919"/>
            <a:ext cx="1051560" cy="20116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DD4BF"/>
                </a:solidFill>
                <a:latin typeface="Menlo"/>
              </a:rPr>
              <a:t>H3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1636776"/>
            <a:ext cx="1371600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4F8FA"/>
                </a:solidFill>
                <a:latin typeface="Menlo"/>
              </a:rPr>
              <a:t>sp_prepare → for block in blocks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3744" y="2176272"/>
            <a:ext cx="2779776" cy="694944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4EA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70048" y="2286000"/>
            <a:ext cx="1051560" cy="20116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4EA8DE"/>
                </a:solidFill>
                <a:latin typeface="Menlo"/>
              </a:rPr>
              <a:t>H3 block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39896" y="2276856"/>
            <a:ext cx="1371600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4F8FA"/>
                </a:solidFill>
                <a:latin typeface="Menlo"/>
              </a:rPr>
              <a:t>self.attn(h, rope, metadata)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2816352"/>
            <a:ext cx="2779776" cy="694944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52544" y="2926079"/>
            <a:ext cx="1051560" cy="20116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59E0B"/>
                </a:solidFill>
                <a:latin typeface="Menlo"/>
              </a:rPr>
              <a:t>H3 attention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22392" y="2916936"/>
            <a:ext cx="1371600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4F8FA"/>
                </a:solidFill>
                <a:latin typeface="Menlo"/>
              </a:rPr>
              <a:t>QKV proj → norm/RoPE → Attention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88736" y="3456431"/>
            <a:ext cx="2779776" cy="694944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0" y="3566159"/>
            <a:ext cx="1051560" cy="20116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A78BFA"/>
                </a:solidFill>
                <a:latin typeface="Menlo"/>
              </a:rPr>
              <a:t>generic layer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4888" y="3557015"/>
            <a:ext cx="1371600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4F8FA"/>
                </a:solidFill>
                <a:latin typeface="Menlo"/>
              </a:rPr>
              <a:t>strategy.pre_attention / post_attention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71232" y="4096511"/>
            <a:ext cx="2779776" cy="694944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FB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17536" y="4206240"/>
            <a:ext cx="1051560" cy="20116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B7185"/>
                </a:solidFill>
                <a:latin typeface="Menlo"/>
              </a:rPr>
              <a:t>Ulysses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87384" y="4197096"/>
            <a:ext cx="1371600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4F8FA"/>
                </a:solidFill>
                <a:latin typeface="Menlo"/>
              </a:rPr>
              <a:t>SeqAllToAll4D.apply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53728" y="4736592"/>
            <a:ext cx="2779776" cy="694944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00032" y="4846320"/>
            <a:ext cx="1051560" cy="20116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86EFAC"/>
                </a:solidFill>
                <a:latin typeface="Menlo"/>
              </a:rPr>
              <a:t>distributed comm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69880" y="4837176"/>
            <a:ext cx="1371600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4F8FA"/>
                </a:solidFill>
                <a:latin typeface="Menlo"/>
              </a:rPr>
              <a:t>dist.all_to_all_single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532120"/>
            <a:ext cx="11018520" cy="438912"/>
          </a:xfrm>
          <a:prstGeom prst="roundRect">
            <a:avLst/>
          </a:prstGeom>
          <a:solidFill>
            <a:srgbClr val="16313F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" y="5641848"/>
            <a:ext cx="1056132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DD4BF"/>
                </a:solidFill>
                <a:latin typeface="Menlo"/>
              </a:rPr>
              <a:t>关键断点：ulysses.py:332–334（Q/K/V）· ulysses.py:473（Output）· comm.py:51/86（collective）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6473952"/>
            <a:ext cx="11018520" cy="10972"/>
          </a:xfrm>
          <a:prstGeom prst="rect">
            <a:avLst/>
          </a:prstGeom>
          <a:solidFill>
            <a:srgbClr val="274656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519672"/>
            <a:ext cx="1024128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8BBC7"/>
                </a:solidFill>
                <a:latin typeface="Menlo"/>
              </a:rPr>
              <a:t>minimax_h3_transformer.py → attention/layer.py → attention/parallel/ulysses.py → distributed/comm.py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501384"/>
            <a:ext cx="603504" cy="20116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DD4BF"/>
                </a:solidFill>
                <a:latin typeface="Menl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4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DD4BF"/>
                </a:solidFill>
                <a:latin typeface="Menlo"/>
              </a:rPr>
              <a:t>10 · ONE DIT BLOCK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029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4F8FA"/>
                </a:solidFill>
                <a:latin typeface="PingFang SC"/>
              </a:rPr>
              <a:t>单个 H3 block 的计算—通信时序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25296"/>
            <a:ext cx="1051560" cy="32004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783080" y="1124712"/>
            <a:ext cx="9784080" cy="2743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8BBC7"/>
                </a:solidFill>
                <a:latin typeface="PingFang SC"/>
              </a:rPr>
              <a:t>MLP 保持 sequence-sharded；只有 Attention 内部临时切换为 head-sharded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" y="2121408"/>
            <a:ext cx="1600200" cy="1572768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02336" y="2121408"/>
            <a:ext cx="54864" cy="157276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240279"/>
            <a:ext cx="1325880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78BFA"/>
                </a:solidFill>
                <a:latin typeface="PingFang SC"/>
              </a:rPr>
              <a:t>AdaLN + Norm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596896"/>
            <a:ext cx="1325880" cy="10058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4F8FA"/>
                </a:solidFill>
                <a:latin typeface="PingFang SC"/>
              </a:rPr>
              <a:t>[S/4,5376]</a:t>
            </a:r>
          </a:p>
        </p:txBody>
      </p:sp>
      <p:sp>
        <p:nvSpPr>
          <p:cNvPr id="10" name="Chevron 9"/>
          <p:cNvSpPr/>
          <p:nvPr/>
        </p:nvSpPr>
        <p:spPr>
          <a:xfrm>
            <a:off x="2048256" y="2697480"/>
            <a:ext cx="237744" cy="402336"/>
          </a:xfrm>
          <a:prstGeom prst="chevron">
            <a:avLst/>
          </a:prstGeom>
          <a:solidFill>
            <a:srgbClr val="A78BFA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340864" y="2121408"/>
            <a:ext cx="1600200" cy="1572768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40864" y="2121408"/>
            <a:ext cx="54864" cy="1572768"/>
          </a:xfrm>
          <a:prstGeom prst="rect">
            <a:avLst/>
          </a:prstGeom>
          <a:solidFill>
            <a:srgbClr val="4EA8DE"/>
          </a:solidFill>
          <a:ln w="12700">
            <a:solidFill>
              <a:srgbClr val="4EA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05456" y="2240279"/>
            <a:ext cx="1325880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EA8DE"/>
                </a:solidFill>
                <a:latin typeface="PingFang SC"/>
              </a:rPr>
              <a:t>QKV proj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05456" y="2596896"/>
            <a:ext cx="1325880" cy="10058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4F8FA"/>
                </a:solidFill>
                <a:latin typeface="PingFang SC"/>
              </a:rPr>
              <a:t>3×[S/4,56,128]</a:t>
            </a:r>
          </a:p>
        </p:txBody>
      </p:sp>
      <p:sp>
        <p:nvSpPr>
          <p:cNvPr id="15" name="Chevron 14"/>
          <p:cNvSpPr/>
          <p:nvPr/>
        </p:nvSpPr>
        <p:spPr>
          <a:xfrm>
            <a:off x="3986784" y="2697480"/>
            <a:ext cx="237744" cy="402336"/>
          </a:xfrm>
          <a:prstGeom prst="chevron">
            <a:avLst/>
          </a:prstGeom>
          <a:solidFill>
            <a:srgbClr val="4EA8DE"/>
          </a:solidFill>
          <a:ln>
            <a:solidFill>
              <a:srgbClr val="4EA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279392" y="2121408"/>
            <a:ext cx="1600200" cy="1572768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79392" y="2121408"/>
            <a:ext cx="54864" cy="15727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43984" y="2240279"/>
            <a:ext cx="1325880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59E0B"/>
                </a:solidFill>
                <a:latin typeface="PingFang SC"/>
              </a:rPr>
              <a:t>Q/K/V A2A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43984" y="2596896"/>
            <a:ext cx="1325880" cy="10058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4F8FA"/>
                </a:solidFill>
                <a:latin typeface="PingFang SC"/>
              </a:rPr>
              <a:t>3 collectives</a:t>
            </a:r>
          </a:p>
        </p:txBody>
      </p:sp>
      <p:sp>
        <p:nvSpPr>
          <p:cNvPr id="20" name="Chevron 19"/>
          <p:cNvSpPr/>
          <p:nvPr/>
        </p:nvSpPr>
        <p:spPr>
          <a:xfrm>
            <a:off x="5925312" y="2697480"/>
            <a:ext cx="237744" cy="402336"/>
          </a:xfrm>
          <a:prstGeom prst="chevron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17920" y="2121408"/>
            <a:ext cx="1600200" cy="1572768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2121408"/>
            <a:ext cx="54864" cy="1572768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2512" y="2240279"/>
            <a:ext cx="1325880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DD4BF"/>
                </a:solidFill>
                <a:latin typeface="PingFang SC"/>
              </a:rPr>
              <a:t>Attention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2596896"/>
            <a:ext cx="1325880" cy="10058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4F8FA"/>
                </a:solidFill>
                <a:latin typeface="PingFang SC"/>
              </a:rPr>
              <a:t>[S,14,128]</a:t>
            </a:r>
          </a:p>
        </p:txBody>
      </p:sp>
      <p:sp>
        <p:nvSpPr>
          <p:cNvPr id="25" name="Chevron 24"/>
          <p:cNvSpPr/>
          <p:nvPr/>
        </p:nvSpPr>
        <p:spPr>
          <a:xfrm>
            <a:off x="7863840" y="2697480"/>
            <a:ext cx="237744" cy="402336"/>
          </a:xfrm>
          <a:prstGeom prst="chevron">
            <a:avLst/>
          </a:prstGeom>
          <a:solidFill>
            <a:srgbClr val="2DD4BF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156448" y="2121408"/>
            <a:ext cx="1600200" cy="1572768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56448" y="2121408"/>
            <a:ext cx="54864" cy="15727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21040" y="2240279"/>
            <a:ext cx="1325880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59E0B"/>
                </a:solidFill>
                <a:latin typeface="PingFang SC"/>
              </a:rPr>
              <a:t>Output A2A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2596896"/>
            <a:ext cx="1325880" cy="10058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4F8FA"/>
                </a:solidFill>
                <a:latin typeface="PingFang SC"/>
              </a:rPr>
              <a:t>1 collective</a:t>
            </a:r>
          </a:p>
        </p:txBody>
      </p:sp>
      <p:sp>
        <p:nvSpPr>
          <p:cNvPr id="30" name="Chevron 29"/>
          <p:cNvSpPr/>
          <p:nvPr/>
        </p:nvSpPr>
        <p:spPr>
          <a:xfrm>
            <a:off x="9802368" y="2697480"/>
            <a:ext cx="237744" cy="402336"/>
          </a:xfrm>
          <a:prstGeom prst="chevron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094976" y="2121408"/>
            <a:ext cx="1600200" cy="1572768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094976" y="2121408"/>
            <a:ext cx="54864" cy="157276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59568" y="2240279"/>
            <a:ext cx="1325880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78BFA"/>
                </a:solidFill>
                <a:latin typeface="PingFang SC"/>
              </a:rPr>
              <a:t>OutProj + MLP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59568" y="2596896"/>
            <a:ext cx="1325880" cy="10058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4F8FA"/>
                </a:solidFill>
                <a:latin typeface="PingFang SC"/>
              </a:rPr>
              <a:t>[S/4,5376]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66928" y="4187952"/>
            <a:ext cx="11018520" cy="1225296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" y="4443984"/>
            <a:ext cx="2926080" cy="2743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59E0B"/>
                </a:solidFill>
                <a:latin typeface="PingFang SC"/>
              </a:rPr>
              <a:t>通信区域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4800600"/>
            <a:ext cx="292608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4F8FA"/>
                </a:solidFill>
                <a:latin typeface="Menlo"/>
              </a:rPr>
              <a:t>4 × All-to-All / block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69663" y="4443984"/>
            <a:ext cx="2926080" cy="2743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DD4BF"/>
                </a:solidFill>
                <a:latin typeface="PingFang SC"/>
              </a:rPr>
              <a:t>计算区域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69663" y="4754880"/>
            <a:ext cx="2926080" cy="40233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4F8FA"/>
                </a:solidFill>
                <a:latin typeface="Menlo"/>
              </a:rPr>
              <a:t>full S × 14 heads / rank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35824" y="4443984"/>
            <a:ext cx="2926080" cy="2743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A78BFA"/>
                </a:solidFill>
                <a:latin typeface="PingFang SC"/>
              </a:rPr>
              <a:t>输出布局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35824" y="4800600"/>
            <a:ext cx="292608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4F8FA"/>
                </a:solidFill>
                <a:latin typeface="PingFang SC"/>
              </a:rPr>
              <a:t>恢复 S/4，下一层无需 gather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6928" y="6473952"/>
            <a:ext cx="11018520" cy="10972"/>
          </a:xfrm>
          <a:prstGeom prst="rect">
            <a:avLst/>
          </a:prstGeom>
          <a:solidFill>
            <a:srgbClr val="274656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6519672"/>
            <a:ext cx="1024128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8BBC7"/>
                </a:solidFill>
                <a:latin typeface="Menlo"/>
              </a:rPr>
              <a:t>minimax_h3_transformer.py:638–681；attention/layer.py:263–290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72800" y="6501384"/>
            <a:ext cx="603504" cy="20116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DD4BF"/>
                </a:solidFill>
                <a:latin typeface="Menl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4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DD4BF"/>
                </a:solidFill>
                <a:latin typeface="Menlo"/>
              </a:rPr>
              <a:t>11 · ULYSSES MATHEMATICS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029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4F8FA"/>
                </a:solidFill>
                <a:latin typeface="PingFang SC"/>
              </a:rPr>
              <a:t>核心操作：分布式的 S/H 转置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25296"/>
            <a:ext cx="1051560" cy="32004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783080" y="1124712"/>
            <a:ext cx="9784080" cy="2743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8BBC7"/>
                </a:solidFill>
                <a:latin typeface="PingFang SC"/>
              </a:rPr>
              <a:t>保持每 rank 元素数不变，改变谁拥有 token 与 head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45920"/>
            <a:ext cx="4645152" cy="3611880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41248" y="1920240"/>
            <a:ext cx="1188720" cy="310896"/>
          </a:xfrm>
          <a:prstGeom prst="roundRect">
            <a:avLst/>
          </a:prstGeom>
          <a:solidFill>
            <a:srgbClr val="A78BFA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1929384"/>
            <a:ext cx="1188720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7141F"/>
                </a:solidFill>
                <a:latin typeface="Menlo"/>
              </a:rPr>
              <a:t>BEFORE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450592"/>
            <a:ext cx="4023360" cy="47548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4F8FA"/>
                </a:solidFill>
                <a:latin typeface="Menlo"/>
              </a:rPr>
              <a:t>Xᵣ ∈ ℝᴮ×ˢ⁄ᴾ×ᴴ×ᴰ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3136392"/>
            <a:ext cx="3657600" cy="12344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A8BBC7"/>
                </a:solidFill>
                <a:latin typeface="PingFang SC"/>
              </a:rPr>
              <a:t>rank r 拥有：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A8BBC7"/>
                </a:solidFill>
                <a:latin typeface="PingFang SC"/>
              </a:rPr>
              <a:t>• 一段 sequence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A8BBC7"/>
                </a:solidFill>
                <a:latin typeface="PingFang SC"/>
              </a:rPr>
              <a:t>• 全部 attention heads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4617720"/>
            <a:ext cx="4023360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78BFA"/>
                </a:solidFill>
                <a:latin typeface="Menlo"/>
              </a:rPr>
              <a:t>[1, 9,440, 56, 128]</a:t>
            </a:r>
          </a:p>
        </p:txBody>
      </p:sp>
      <p:sp>
        <p:nvSpPr>
          <p:cNvPr id="12" name="Chevron 11"/>
          <p:cNvSpPr/>
          <p:nvPr/>
        </p:nvSpPr>
        <p:spPr>
          <a:xfrm>
            <a:off x="5449824" y="3063240"/>
            <a:ext cx="1115568" cy="749808"/>
          </a:xfrm>
          <a:prstGeom prst="chevron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0" y="3931920"/>
            <a:ext cx="1417320" cy="56692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59E0B"/>
                </a:solidFill>
                <a:latin typeface="Menlo"/>
              </a:rPr>
              <a:t>All-to-All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59E0B"/>
                </a:solidFill>
                <a:latin typeface="Menlo"/>
              </a:rPr>
              <a:t>scatter H · gather 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76288" y="1645920"/>
            <a:ext cx="4709160" cy="3611880"/>
          </a:xfrm>
          <a:prstGeom prst="roundRect">
            <a:avLst/>
          </a:prstGeom>
          <a:solidFill>
            <a:srgbClr val="16313F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150608" y="1920240"/>
            <a:ext cx="1188720" cy="310896"/>
          </a:xfrm>
          <a:prstGeom prst="roundRect">
            <a:avLst/>
          </a:prstGeom>
          <a:solidFill>
            <a:srgbClr val="2DD4BF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50608" y="1929384"/>
            <a:ext cx="1188720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7141F"/>
                </a:solidFill>
                <a:latin typeface="Menlo"/>
              </a:rPr>
              <a:t>AFTER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50608" y="2450592"/>
            <a:ext cx="4096512" cy="47548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4F8FA"/>
                </a:solidFill>
                <a:latin typeface="Menlo"/>
              </a:rPr>
              <a:t>X′ᵣ ∈ ℝᴮ×ˢ×ᴴ⁄ᴾ×ᴰ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33488" y="3136392"/>
            <a:ext cx="3657600" cy="12344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A8BBC7"/>
                </a:solidFill>
                <a:latin typeface="PingFang SC"/>
              </a:rPr>
              <a:t>rank r 拥有：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A8BBC7"/>
                </a:solidFill>
                <a:latin typeface="PingFang SC"/>
              </a:rPr>
              <a:t>• 完整 sequence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A8BBC7"/>
                </a:solidFill>
                <a:latin typeface="PingFang SC"/>
              </a:rPr>
              <a:t>• 一组 attention heads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50608" y="4617720"/>
            <a:ext cx="4096512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DD4BF"/>
                </a:solidFill>
                <a:latin typeface="Menlo"/>
              </a:rPr>
              <a:t>[1, 37,760, 14, 128]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650992"/>
            <a:ext cx="10716768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4F8FA"/>
                </a:solidFill>
                <a:latin typeface="PingFang SC"/>
              </a:rPr>
              <a:t>元素守恒：(S/P)·H·D = S·(H/P)·D；Ulysses 不是复制，而是 ownership 重映射。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6473952"/>
            <a:ext cx="11018520" cy="10972"/>
          </a:xfrm>
          <a:prstGeom prst="rect">
            <a:avLst/>
          </a:prstGeom>
          <a:solidFill>
            <a:srgbClr val="274656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6519672"/>
            <a:ext cx="1024128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8BBC7"/>
                </a:solidFill>
                <a:latin typeface="Menlo"/>
              </a:rPr>
              <a:t>attention/parallel/ulysses.py:320–334；distributed/comm.py:36–62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501384"/>
            <a:ext cx="603504" cy="20116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DD4BF"/>
                </a:solidFill>
                <a:latin typeface="Menl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4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DD4BF"/>
                </a:solidFill>
                <a:latin typeface="Menlo"/>
              </a:rPr>
              <a:t>12 · THREE COLLECTIVES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029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4F8FA"/>
                </a:solidFill>
                <a:latin typeface="PingFang SC"/>
              </a:rPr>
              <a:t>为什么 Q、K、V 要做三次 All-to-All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25296"/>
            <a:ext cx="1051560" cy="32004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783080" y="1124712"/>
            <a:ext cx="9784080" cy="2743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8BBC7"/>
                </a:solidFill>
                <a:latin typeface="PingFang SC"/>
              </a:rPr>
              <a:t>三个 tensor 都必须从 sequence-owner 布局变成 head-owner 布局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847088"/>
            <a:ext cx="658368" cy="310896"/>
          </a:xfrm>
          <a:prstGeom prst="roundRect">
            <a:avLst/>
          </a:prstGeom>
          <a:solidFill>
            <a:srgbClr val="A78BFA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856231"/>
            <a:ext cx="658368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7141F"/>
                </a:solidFill>
                <a:latin typeface="Menlo"/>
              </a:rPr>
              <a:t>Q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72768" y="1627632"/>
            <a:ext cx="9784080" cy="877824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47088" y="1764792"/>
            <a:ext cx="3346704" cy="2743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A78BFA"/>
                </a:solidFill>
                <a:latin typeface="PingFang SC"/>
              </a:rPr>
              <a:t>获得其他 rank 的 query tokens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85232" y="1755648"/>
            <a:ext cx="5577840" cy="4389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4F8FA"/>
                </a:solidFill>
                <a:latin typeface="PingFang SC"/>
              </a:rPr>
              <a:t>每个 head-owner rank 要输出所有 token 的本地 head 子集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2990088"/>
            <a:ext cx="658368" cy="310896"/>
          </a:xfrm>
          <a:prstGeom prst="roundRect">
            <a:avLst/>
          </a:prstGeom>
          <a:solidFill>
            <a:srgbClr val="4EA8DE"/>
          </a:solidFill>
          <a:ln w="12700">
            <a:solidFill>
              <a:srgbClr val="4EA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2999232"/>
            <a:ext cx="658368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7141F"/>
                </a:solidFill>
                <a:latin typeface="Menlo"/>
              </a:rPr>
              <a:t>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72768" y="2770632"/>
            <a:ext cx="9784080" cy="877824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47088" y="2907792"/>
            <a:ext cx="3346704" cy="2743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EA8DE"/>
                </a:solidFill>
                <a:latin typeface="PingFang SC"/>
              </a:rPr>
              <a:t>获得完整 key sequence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85232" y="2898648"/>
            <a:ext cx="5577840" cy="4389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4F8FA"/>
                </a:solidFill>
                <a:latin typeface="PingFang SC"/>
              </a:rPr>
              <a:t>每个 query 必须与全局 keys 交互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133088"/>
            <a:ext cx="658368" cy="310896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4142232"/>
            <a:ext cx="658368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7141F"/>
                </a:solidFill>
                <a:latin typeface="Menlo"/>
              </a:rPr>
              <a:t>V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572768" y="3913632"/>
            <a:ext cx="9784080" cy="877824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47088" y="4050792"/>
            <a:ext cx="3346704" cy="2743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59E0B"/>
                </a:solidFill>
                <a:latin typeface="PingFang SC"/>
              </a:rPr>
              <a:t>获得完整 value sequence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85232" y="4041648"/>
            <a:ext cx="5577840" cy="4389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4F8FA"/>
                </a:solidFill>
                <a:latin typeface="PingFang SC"/>
              </a:rPr>
              <a:t>softmax 权重需要聚合全局 values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5266944"/>
            <a:ext cx="10643616" cy="676656"/>
          </a:xfrm>
          <a:prstGeom prst="roundRect">
            <a:avLst/>
          </a:prstGeom>
          <a:solidFill>
            <a:srgbClr val="16313F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5431536"/>
            <a:ext cx="2359152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DD4BF"/>
                </a:solidFill>
                <a:latin typeface="PingFang SC"/>
              </a:rPr>
              <a:t>可否融合为一次？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10128" y="5376672"/>
            <a:ext cx="7735824" cy="36576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8BBC7"/>
                </a:solidFill>
                <a:latin typeface="PingFang SC"/>
              </a:rPr>
              <a:t>H3 形状上可评估 pack(Q,K,V)，但总字节数不变；收益主要来自减少 launch/sync，且需承担 pack/unpack copy。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6473952"/>
            <a:ext cx="11018520" cy="10972"/>
          </a:xfrm>
          <a:prstGeom prst="rect">
            <a:avLst/>
          </a:prstGeom>
          <a:solidFill>
            <a:srgbClr val="274656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519672"/>
            <a:ext cx="1024128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8BBC7"/>
                </a:solidFill>
                <a:latin typeface="Menlo"/>
              </a:rPr>
              <a:t>attention/parallel/ulysses.py:331–334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501384"/>
            <a:ext cx="603504" cy="20116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DD4BF"/>
                </a:solidFill>
                <a:latin typeface="Menl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4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DD4BF"/>
                </a:solidFill>
                <a:latin typeface="Menlo"/>
              </a:rPr>
              <a:t>13 · LOCAL ATTENTION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029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4F8FA"/>
                </a:solidFill>
                <a:latin typeface="PingFang SC"/>
              </a:rPr>
              <a:t>A2A 后：每张卡计算完整 S 的 14 个 heads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25296"/>
            <a:ext cx="1051560" cy="32004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783080" y="1124712"/>
            <a:ext cx="9784080" cy="2743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8BBC7"/>
                </a:solidFill>
                <a:latin typeface="PingFang SC"/>
              </a:rPr>
              <a:t>Flash/CuDNN attention 不需要物化 S×S score matrix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19072"/>
            <a:ext cx="2487168" cy="3291840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59" y="1920240"/>
            <a:ext cx="658368" cy="310896"/>
          </a:xfrm>
          <a:prstGeom prst="roundRect">
            <a:avLst/>
          </a:prstGeom>
          <a:solidFill>
            <a:srgbClr val="2DD4BF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929384"/>
            <a:ext cx="658368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7141F"/>
                </a:solidFill>
                <a:latin typeface="Menlo"/>
              </a:rPr>
              <a:t>R0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487168"/>
            <a:ext cx="2103120" cy="36576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4F8FA"/>
                </a:solidFill>
                <a:latin typeface="Menlo"/>
              </a:rPr>
              <a:t>heads 0–13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3127248"/>
            <a:ext cx="2103120" cy="53035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D4BF"/>
                </a:solidFill>
                <a:latin typeface="Menlo"/>
              </a:rPr>
              <a:t>完整 packed 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D4BF"/>
                </a:solidFill>
                <a:latin typeface="Menlo"/>
              </a:rPr>
              <a:t>= 37,760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4041648"/>
            <a:ext cx="2103120" cy="42062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BC7"/>
                </a:solidFill>
                <a:latin typeface="Menlo"/>
              </a:rPr>
              <a:t>QKᵀ → softmax → 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19856" y="1719072"/>
            <a:ext cx="2487168" cy="3291840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4EA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84448" y="1920240"/>
            <a:ext cx="658368" cy="310896"/>
          </a:xfrm>
          <a:prstGeom prst="roundRect">
            <a:avLst/>
          </a:prstGeom>
          <a:solidFill>
            <a:srgbClr val="4EA8DE"/>
          </a:solidFill>
          <a:ln w="12700">
            <a:solidFill>
              <a:srgbClr val="4EA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4448" y="1929384"/>
            <a:ext cx="658368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7141F"/>
                </a:solidFill>
                <a:latin typeface="Menlo"/>
              </a:rPr>
              <a:t>R1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02736" y="2487168"/>
            <a:ext cx="2103120" cy="36576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4F8FA"/>
                </a:solidFill>
                <a:latin typeface="Menlo"/>
              </a:rPr>
              <a:t>heads 14–27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2736" y="3127248"/>
            <a:ext cx="2103120" cy="53035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4EA8DE"/>
                </a:solidFill>
                <a:latin typeface="Menlo"/>
              </a:rPr>
              <a:t>完整 packed 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4EA8DE"/>
                </a:solidFill>
                <a:latin typeface="Menlo"/>
              </a:rPr>
              <a:t>= 37,760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2736" y="4041648"/>
            <a:ext cx="2103120" cy="42062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BC7"/>
                </a:solidFill>
                <a:latin typeface="Menlo"/>
              </a:rPr>
              <a:t>QKᵀ → softmax → V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81344" y="1719072"/>
            <a:ext cx="2487168" cy="3291840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45936" y="1920240"/>
            <a:ext cx="658368" cy="310896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5936" y="1929384"/>
            <a:ext cx="658368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7141F"/>
                </a:solidFill>
                <a:latin typeface="Menlo"/>
              </a:rPr>
              <a:t>R2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4224" y="2487168"/>
            <a:ext cx="2103120" cy="36576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4F8FA"/>
                </a:solidFill>
                <a:latin typeface="Menlo"/>
              </a:rPr>
              <a:t>heads 28–41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224" y="3127248"/>
            <a:ext cx="2103120" cy="53035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59E0B"/>
                </a:solidFill>
                <a:latin typeface="Menlo"/>
              </a:rPr>
              <a:t>完整 packed 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59E0B"/>
                </a:solidFill>
                <a:latin typeface="Menlo"/>
              </a:rPr>
              <a:t>= 37,760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4224" y="4041648"/>
            <a:ext cx="2103120" cy="42062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BC7"/>
                </a:solidFill>
                <a:latin typeface="Menlo"/>
              </a:rPr>
              <a:t>QKᵀ → softmax → V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42832" y="1719072"/>
            <a:ext cx="2487168" cy="3291840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107424" y="1920240"/>
            <a:ext cx="658368" cy="310896"/>
          </a:xfrm>
          <a:prstGeom prst="roundRect">
            <a:avLst/>
          </a:prstGeom>
          <a:solidFill>
            <a:srgbClr val="A78BFA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07424" y="1929384"/>
            <a:ext cx="658368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7141F"/>
                </a:solidFill>
                <a:latin typeface="Menlo"/>
              </a:rPr>
              <a:t>R3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25712" y="2487168"/>
            <a:ext cx="2103120" cy="36576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4F8FA"/>
                </a:solidFill>
                <a:latin typeface="Menlo"/>
              </a:rPr>
              <a:t>heads 42–55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25712" y="3127248"/>
            <a:ext cx="2103120" cy="53035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78BFA"/>
                </a:solidFill>
                <a:latin typeface="Menlo"/>
              </a:rPr>
              <a:t>完整 packed 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78BFA"/>
                </a:solidFill>
                <a:latin typeface="Menlo"/>
              </a:rPr>
              <a:t>= 37,760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5712" y="4041648"/>
            <a:ext cx="2103120" cy="42062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BC7"/>
                </a:solidFill>
                <a:latin typeface="Menlo"/>
              </a:rPr>
              <a:t>QKᵀ → softmax → V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358384"/>
            <a:ext cx="10771632" cy="530352"/>
          </a:xfrm>
          <a:prstGeom prst="roundRect">
            <a:avLst/>
          </a:prstGeom>
          <a:solidFill>
            <a:srgbClr val="16313F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5504688"/>
            <a:ext cx="10287000" cy="22860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4F8FA"/>
                </a:solidFill>
                <a:latin typeface="PingFang SC"/>
              </a:rPr>
              <a:t>全局计算量基本不变；Ulysses 将 head 维并行化，并把 activation/attention 工作均匀分布到 4 张卡。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6473952"/>
            <a:ext cx="11018520" cy="10972"/>
          </a:xfrm>
          <a:prstGeom prst="rect">
            <a:avLst/>
          </a:prstGeom>
          <a:solidFill>
            <a:srgbClr val="274656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6519672"/>
            <a:ext cx="1024128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8BBC7"/>
                </a:solidFill>
                <a:latin typeface="Menlo"/>
              </a:rPr>
              <a:t>attention/layer.py:280–288；H3 num_attention_heads=56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501384"/>
            <a:ext cx="603504" cy="20116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DD4BF"/>
                </a:solidFill>
                <a:latin typeface="Menl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4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DD4BF"/>
                </a:solidFill>
                <a:latin typeface="Menlo"/>
              </a:rPr>
              <a:t>14 · REVERSE RESHARD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029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4F8FA"/>
                </a:solidFill>
                <a:latin typeface="PingFang SC"/>
              </a:rPr>
              <a:t>为什么 Attention 输出还要再做一次 All-to-All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25296"/>
            <a:ext cx="1051560" cy="32004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783080" y="1124712"/>
            <a:ext cx="9784080" cy="2743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8BBC7"/>
                </a:solidFill>
                <a:latin typeface="PingFang SC"/>
              </a:rPr>
              <a:t>下一步 OutProj、残差与 MLP 需要恢复 sequence-sharded、完整 hidden 的布局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828800"/>
            <a:ext cx="2944368" cy="2487168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28800"/>
            <a:ext cx="54864" cy="2487168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947672"/>
            <a:ext cx="2670048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DD4BF"/>
                </a:solidFill>
                <a:latin typeface="PingFang SC"/>
              </a:rPr>
              <a:t>Attention output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304288"/>
            <a:ext cx="2670048" cy="19202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A"/>
                </a:solidFill>
                <a:latin typeface="PingFang SC"/>
              </a:rPr>
              <a:t>[1, S, 14, 128]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A"/>
                </a:solidFill>
                <a:latin typeface="PingFang SC"/>
              </a:rPr>
              <a:t>完整 sequence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A"/>
                </a:solidFill>
                <a:latin typeface="PingFang SC"/>
              </a:rPr>
              <a:t>局部 heads</a:t>
            </a:r>
          </a:p>
        </p:txBody>
      </p:sp>
      <p:sp>
        <p:nvSpPr>
          <p:cNvPr id="10" name="Chevron 9"/>
          <p:cNvSpPr/>
          <p:nvPr/>
        </p:nvSpPr>
        <p:spPr>
          <a:xfrm>
            <a:off x="3840480" y="2706624"/>
            <a:ext cx="640080" cy="694944"/>
          </a:xfrm>
          <a:prstGeom prst="chevron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00016" y="1828800"/>
            <a:ext cx="2944368" cy="2487168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00016" y="1828800"/>
            <a:ext cx="54864" cy="24871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64607" y="1947672"/>
            <a:ext cx="2670048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59E0B"/>
                </a:solidFill>
                <a:latin typeface="PingFang SC"/>
              </a:rPr>
              <a:t>Reverse A2A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4607" y="2304288"/>
            <a:ext cx="2670048" cy="19202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4F8FA"/>
                </a:solidFill>
                <a:latin typeface="PingFang SC"/>
              </a:rPr>
              <a:t>scatter sequence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4F8FA"/>
                </a:solidFill>
                <a:latin typeface="PingFang SC"/>
              </a:rPr>
              <a:t>gather heads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4F8FA"/>
                </a:solidFill>
                <a:latin typeface="PingFang SC"/>
              </a:rPr>
              <a:t>第 4 次 collective</a:t>
            </a:r>
          </a:p>
        </p:txBody>
      </p:sp>
      <p:sp>
        <p:nvSpPr>
          <p:cNvPr id="15" name="Chevron 14"/>
          <p:cNvSpPr/>
          <p:nvPr/>
        </p:nvSpPr>
        <p:spPr>
          <a:xfrm>
            <a:off x="7872983" y="2706624"/>
            <a:ext cx="640080" cy="694944"/>
          </a:xfrm>
          <a:prstGeom prst="chevron">
            <a:avLst/>
          </a:prstGeom>
          <a:solidFill>
            <a:srgbClr val="A78BFA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741664" y="1828800"/>
            <a:ext cx="2834640" cy="2487168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41664" y="1828800"/>
            <a:ext cx="54864" cy="248716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06256" y="1947672"/>
            <a:ext cx="2560320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A78BFA"/>
                </a:solidFill>
                <a:latin typeface="PingFang SC"/>
              </a:rPr>
              <a:t>Local continuation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06256" y="2304288"/>
            <a:ext cx="2560320" cy="19202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4F8FA"/>
                </a:solidFill>
                <a:latin typeface="PingFang SC"/>
              </a:rPr>
              <a:t>[S/4, 56, 128]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4F8FA"/>
                </a:solidFill>
                <a:latin typeface="PingFang SC"/>
              </a:rPr>
              <a:t>→ [S/4, 5,376]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4F8FA"/>
                </a:solidFill>
                <a:latin typeface="PingFang SC"/>
              </a:rPr>
              <a:t>OutProj + MLP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791456"/>
            <a:ext cx="10917936" cy="859536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5020056"/>
            <a:ext cx="10442448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4F8FA"/>
                </a:solidFill>
                <a:latin typeface="PingFang SC"/>
              </a:rPr>
              <a:t>如果不恢复布局，下一层的 sequence-local MLP 会变成 head-sharded hidden，残差连接和 RowParallelLinear 语义都不再成立。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473952"/>
            <a:ext cx="11018520" cy="10972"/>
          </a:xfrm>
          <a:prstGeom prst="rect">
            <a:avLst/>
          </a:prstGeom>
          <a:solidFill>
            <a:srgbClr val="274656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6519672"/>
            <a:ext cx="1024128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8BBC7"/>
                </a:solidFill>
                <a:latin typeface="Menlo"/>
              </a:rPr>
              <a:t>attention/parallel/ulysses.py:414–473；minimax_h3_transformer.py:457–458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501384"/>
            <a:ext cx="603504" cy="20116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DD4BF"/>
                </a:solidFill>
                <a:latin typeface="Menl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4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DD4BF"/>
                </a:solidFill>
                <a:latin typeface="Menlo"/>
              </a:rPr>
              <a:t>15 · COMMUNICATION COUNT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029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4F8FA"/>
                </a:solidFill>
                <a:latin typeface="PingFang SC"/>
              </a:rPr>
              <a:t>从一个 block 放大到一次请求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25296"/>
            <a:ext cx="1051560" cy="32004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783080" y="1124712"/>
            <a:ext cx="9784080" cy="2743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8BBC7"/>
                </a:solidFill>
                <a:latin typeface="PingFang SC"/>
              </a:rPr>
              <a:t>计数来自源码循环；不包含 warmup、Text Encoder 与 VAE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27632"/>
            <a:ext cx="2615184" cy="1060704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2286000" cy="4389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59E0B"/>
                </a:solidFill>
                <a:latin typeface="Menlo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03704"/>
            <a:ext cx="228600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F8FA"/>
                </a:solidFill>
                <a:latin typeface="PingFang SC"/>
              </a:rPr>
              <a:t>All-to-All / block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59736"/>
            <a:ext cx="228600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8BBC7"/>
                </a:solidFill>
                <a:latin typeface="PingFang SC"/>
              </a:rPr>
              <a:t>Q + K + V + Output</a:t>
            </a:r>
          </a:p>
        </p:txBody>
      </p:sp>
      <p:sp>
        <p:nvSpPr>
          <p:cNvPr id="10" name="Chevron 9"/>
          <p:cNvSpPr/>
          <p:nvPr/>
        </p:nvSpPr>
        <p:spPr>
          <a:xfrm>
            <a:off x="3273552" y="1920240"/>
            <a:ext cx="347472" cy="438912"/>
          </a:xfrm>
          <a:prstGeom prst="chevron">
            <a:avLst/>
          </a:prstGeom>
          <a:solidFill>
            <a:srgbClr val="2DD4BF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30752" y="1627632"/>
            <a:ext cx="2615184" cy="1060704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95344" y="1737360"/>
            <a:ext cx="2286000" cy="4389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2DD4BF"/>
                </a:solidFill>
                <a:latin typeface="Menlo"/>
              </a:rPr>
              <a:t>200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95344" y="2203704"/>
            <a:ext cx="228600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F8FA"/>
                </a:solidFill>
                <a:latin typeface="PingFang SC"/>
              </a:rPr>
              <a:t>All-to-All / forward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5344" y="2459736"/>
            <a:ext cx="228600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8BBC7"/>
                </a:solidFill>
                <a:latin typeface="PingFang SC"/>
              </a:rPr>
              <a:t>4 × 50 blocks</a:t>
            </a:r>
          </a:p>
        </p:txBody>
      </p:sp>
      <p:sp>
        <p:nvSpPr>
          <p:cNvPr id="15" name="Chevron 14"/>
          <p:cNvSpPr/>
          <p:nvPr/>
        </p:nvSpPr>
        <p:spPr>
          <a:xfrm>
            <a:off x="6446520" y="1920240"/>
            <a:ext cx="347472" cy="438912"/>
          </a:xfrm>
          <a:prstGeom prst="chevron">
            <a:avLst/>
          </a:prstGeom>
          <a:solidFill>
            <a:srgbClr val="A78BFA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912864" y="1627632"/>
            <a:ext cx="2615184" cy="1060704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77455" y="1737360"/>
            <a:ext cx="2286000" cy="4389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A78BFA"/>
                </a:solidFill>
                <a:latin typeface="Menlo"/>
              </a:rPr>
              <a:t>800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77455" y="2203704"/>
            <a:ext cx="228600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F8FA"/>
                </a:solidFill>
                <a:latin typeface="PingFang SC"/>
              </a:rPr>
              <a:t>All-to-All / request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5" y="2459736"/>
            <a:ext cx="228600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8BBC7"/>
                </a:solidFill>
                <a:latin typeface="PingFang SC"/>
              </a:rPr>
              <a:t>200 × 4 transitions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10928" y="1627632"/>
            <a:ext cx="1874519" cy="1060704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75519" y="1737360"/>
            <a:ext cx="1545336" cy="4389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B7185"/>
                </a:solidFill>
                <a:latin typeface="Menlo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19" y="2203704"/>
            <a:ext cx="1545336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F8FA"/>
                </a:solidFill>
                <a:latin typeface="PingFang SC"/>
              </a:rPr>
              <a:t>final AllGather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19" y="2459736"/>
            <a:ext cx="1545336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8BBC7"/>
                </a:solidFill>
                <a:latin typeface="PingFang SC"/>
              </a:rPr>
              <a:t>1 × transition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090672"/>
            <a:ext cx="11018520" cy="2340864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" y="3401568"/>
            <a:ext cx="4645152" cy="34747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DD4BF"/>
                </a:solidFill>
                <a:latin typeface="PingFang SC"/>
              </a:rPr>
              <a:t>采样步数的精确定义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" y="3931920"/>
            <a:ext cx="4754880" cy="8412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A"/>
                </a:solidFill>
                <a:latin typeface="Menlo"/>
              </a:rPr>
              <a:t>num_inference_steps =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A"/>
                </a:solidFill>
                <a:latin typeface="Menlo"/>
              </a:rPr>
              <a:t>生成 5 个 sigma points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4F8FA"/>
                </a:solidFill>
                <a:latin typeface="Menlo"/>
              </a:rPr>
              <a:t>循环 len(sigmas)-1 = 4 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53328" y="3401568"/>
            <a:ext cx="4663440" cy="34747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59E0B"/>
                </a:solidFill>
                <a:latin typeface="PingFang SC"/>
              </a:rPr>
              <a:t>为何不是 1,000 次 A2A？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53328" y="3931920"/>
            <a:ext cx="4754880" cy="8412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A8BBC7"/>
                </a:solidFill>
                <a:latin typeface="PingFang SC"/>
              </a:rPr>
              <a:t>H3 是 CFG-distilled：每个 transition 只执行一次 transformer forward，不做正/负条件双分支。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6473952"/>
            <a:ext cx="11018520" cy="10972"/>
          </a:xfrm>
          <a:prstGeom prst="rect">
            <a:avLst/>
          </a:prstGeom>
          <a:solidFill>
            <a:srgbClr val="274656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6519672"/>
            <a:ext cx="1024128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8BBC7"/>
                </a:solidFill>
                <a:latin typeface="Menlo"/>
              </a:rPr>
              <a:t>denoise_loop.py；MiniMaxH3DiTModel._cache_dit_adapter_config.has_separate_cfg=False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0" y="6501384"/>
            <a:ext cx="603504" cy="20116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DD4BF"/>
                </a:solidFill>
                <a:latin typeface="Menl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4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DD4BF"/>
                </a:solidFill>
                <a:latin typeface="Menlo"/>
              </a:rPr>
              <a:t>16 · ANALYTICAL TRAFFIC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029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4F8FA"/>
                </a:solidFill>
                <a:latin typeface="PingFang SC"/>
              </a:rPr>
              <a:t>U4 下 Attention A2A 的理论通信体量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25296"/>
            <a:ext cx="1051560" cy="32004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783080" y="1124712"/>
            <a:ext cx="9784080" cy="2743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8BBC7"/>
                </a:solidFill>
                <a:latin typeface="PingFang SC"/>
              </a:rPr>
              <a:t>BF16；按每 rank 远端发送量估算，receive volume 相同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11018520" cy="932688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46504"/>
            <a:ext cx="10561320" cy="23774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4F8FA"/>
                </a:solidFill>
                <a:latin typeface="Menlo"/>
              </a:rPr>
              <a:t>local tensor = (S/P)·H·D·2 B = 9,440·56·128·2 = 129.06 MiB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075688"/>
            <a:ext cx="10561320" cy="21945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DD4BF"/>
                </a:solidFill>
                <a:latin typeface="Menlo"/>
              </a:rPr>
              <a:t>remote fraction ≈ (P−1)/P = 3/4  →  96.80 MiB / collective / rank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889504"/>
            <a:ext cx="2615184" cy="1060704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999232"/>
            <a:ext cx="2286000" cy="4389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4EA8DE"/>
                </a:solidFill>
                <a:latin typeface="Menlo"/>
              </a:rPr>
              <a:t>96.8 MiB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465576"/>
            <a:ext cx="228600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F8FA"/>
                </a:solidFill>
                <a:latin typeface="PingFang SC"/>
              </a:rPr>
              <a:t>one A2A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721608"/>
            <a:ext cx="228600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8BBC7"/>
                </a:solidFill>
                <a:latin typeface="PingFang SC"/>
              </a:rPr>
              <a:t>remote send / rank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7560" y="2889504"/>
            <a:ext cx="2615184" cy="1060704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02152" y="2999232"/>
            <a:ext cx="2286000" cy="4389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59E0B"/>
                </a:solidFill>
                <a:latin typeface="Menlo"/>
              </a:rPr>
              <a:t>387.2 MiB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02152" y="3465576"/>
            <a:ext cx="228600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F8FA"/>
                </a:solidFill>
                <a:latin typeface="PingFang SC"/>
              </a:rPr>
              <a:t>one block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02152" y="3721608"/>
            <a:ext cx="228600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8BBC7"/>
                </a:solidFill>
                <a:latin typeface="PingFang SC"/>
              </a:rPr>
              <a:t>4 collectives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08192" y="2889504"/>
            <a:ext cx="2615184" cy="1060704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2783" y="2999232"/>
            <a:ext cx="2286000" cy="4389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2DD4BF"/>
                </a:solidFill>
                <a:latin typeface="Menlo"/>
              </a:rPr>
              <a:t>18.9 GiB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2783" y="3465576"/>
            <a:ext cx="228600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F8FA"/>
                </a:solidFill>
                <a:latin typeface="PingFang SC"/>
              </a:rPr>
              <a:t>one forward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2783" y="3721608"/>
            <a:ext cx="228600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8BBC7"/>
                </a:solidFill>
                <a:latin typeface="PingFang SC"/>
              </a:rPr>
              <a:t>50 blocks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878824" y="2889504"/>
            <a:ext cx="2706624" cy="1060704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43416" y="2999232"/>
            <a:ext cx="2377440" cy="4389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A78BFA"/>
                </a:solidFill>
                <a:latin typeface="Menlo"/>
              </a:rPr>
              <a:t>75.6 GiB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43416" y="3465576"/>
            <a:ext cx="237744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F8FA"/>
                </a:solidFill>
                <a:latin typeface="PingFang SC"/>
              </a:rPr>
              <a:t>one request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43416" y="3721608"/>
            <a:ext cx="237744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8BBC7"/>
                </a:solidFill>
                <a:latin typeface="PingFang SC"/>
              </a:rPr>
              <a:t>4 transitions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279392"/>
            <a:ext cx="11018520" cy="1124712"/>
          </a:xfrm>
          <a:prstGeom prst="roundRect">
            <a:avLst/>
          </a:prstGeom>
          <a:solidFill>
            <a:srgbClr val="16313F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4517136"/>
            <a:ext cx="2304288" cy="2743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B7185"/>
                </a:solidFill>
                <a:latin typeface="PingFang SC"/>
              </a:rPr>
              <a:t>解释边界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99232" y="4453128"/>
            <a:ext cx="8211312" cy="53035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BC7"/>
                </a:solidFill>
                <a:latin typeface="PingFang SC"/>
              </a:rPr>
              <a:t>这是尺寸模型而非链路计数器：实际 NCCL 协议、NVLink/NVSwitch 拓扑、算法与 overlap 会改变时延，但不会改变必须重分布的逻辑 payload。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6473952"/>
            <a:ext cx="11018520" cy="10972"/>
          </a:xfrm>
          <a:prstGeom prst="rect">
            <a:avLst/>
          </a:prstGeom>
          <a:solidFill>
            <a:srgbClr val="274656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6519672"/>
            <a:ext cx="1024128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8BBC7"/>
                </a:solidFill>
                <a:latin typeface="Menlo"/>
              </a:rPr>
              <a:t>Derived from S=37,760, P=4, H=56, D=128, BF16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501384"/>
            <a:ext cx="603504" cy="20116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DD4BF"/>
                </a:solidFill>
                <a:latin typeface="Menl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4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DD4BF"/>
                </a:solidFill>
                <a:latin typeface="Menlo"/>
              </a:rPr>
              <a:t>17 · EXIT BOUNDARY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029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4F8FA"/>
                </a:solidFill>
                <a:latin typeface="PingFang SC"/>
              </a:rPr>
              <a:t>为什么 50 层之后还有一个大 AllGather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25296"/>
            <a:ext cx="1051560" cy="32004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783080" y="1124712"/>
            <a:ext cx="9784080" cy="2743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8BBC7"/>
                </a:solidFill>
                <a:latin typeface="PingFang SC"/>
              </a:rPr>
              <a:t>当前架构：DiT 内部 sharded，denoise state 在 DiT 外部 replicated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19072"/>
            <a:ext cx="3072384" cy="2340864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19072"/>
            <a:ext cx="54864" cy="2340864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37943"/>
            <a:ext cx="2798064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DD4BF"/>
                </a:solidFill>
                <a:latin typeface="PingFang SC"/>
              </a:rPr>
              <a:t>Block stack output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94560"/>
            <a:ext cx="2798064" cy="177393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4F8FA"/>
                </a:solidFill>
                <a:latin typeface="PingFang SC"/>
              </a:rPr>
              <a:t>每 rank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4F8FA"/>
                </a:solidFill>
                <a:latin typeface="PingFang SC"/>
              </a:rPr>
              <a:t>[S/4, 5,376]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4F8FA"/>
                </a:solidFill>
                <a:latin typeface="PingFang SC"/>
              </a:rPr>
              <a:t>= [9,440, 5,376]</a:t>
            </a:r>
          </a:p>
        </p:txBody>
      </p:sp>
      <p:sp>
        <p:nvSpPr>
          <p:cNvPr id="10" name="Chevron 9"/>
          <p:cNvSpPr/>
          <p:nvPr/>
        </p:nvSpPr>
        <p:spPr>
          <a:xfrm>
            <a:off x="3867912" y="2487168"/>
            <a:ext cx="566928" cy="658368"/>
          </a:xfrm>
          <a:prstGeom prst="chevron">
            <a:avLst/>
          </a:prstGeom>
          <a:solidFill>
            <a:srgbClr val="FB7185"/>
          </a:solidFill>
          <a:ln>
            <a:solidFill>
              <a:srgbClr val="FB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45152" y="1719072"/>
            <a:ext cx="3072384" cy="2340864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45152" y="1719072"/>
            <a:ext cx="54864" cy="2340864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9744" y="1837943"/>
            <a:ext cx="2798064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B7185"/>
                </a:solidFill>
                <a:latin typeface="PingFang SC"/>
              </a:rPr>
              <a:t>sp_gather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9744" y="2194560"/>
            <a:ext cx="2798064" cy="177393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4F8FA"/>
                </a:solidFill>
                <a:latin typeface="PingFang SC"/>
              </a:rPr>
              <a:t>AllGather(dim=0)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4F8FA"/>
                </a:solidFill>
                <a:latin typeface="PingFang SC"/>
              </a:rPr>
              <a:t>每 rank 得到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F4F8FA"/>
                </a:solidFill>
                <a:latin typeface="PingFang SC"/>
              </a:rPr>
              <a:t>[S, 5,376]</a:t>
            </a:r>
          </a:p>
        </p:txBody>
      </p:sp>
      <p:sp>
        <p:nvSpPr>
          <p:cNvPr id="15" name="Chevron 14"/>
          <p:cNvSpPr/>
          <p:nvPr/>
        </p:nvSpPr>
        <p:spPr>
          <a:xfrm>
            <a:off x="7946136" y="2487168"/>
            <a:ext cx="566928" cy="658368"/>
          </a:xfrm>
          <a:prstGeom prst="chevron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723376" y="1719072"/>
            <a:ext cx="2862072" cy="2340864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23376" y="1719072"/>
            <a:ext cx="54864" cy="2340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87967" y="1837943"/>
            <a:ext cx="2587752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59E0B"/>
                </a:solidFill>
                <a:latin typeface="PingFang SC"/>
              </a:rPr>
              <a:t>Replicated tail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87967" y="2194560"/>
            <a:ext cx="2587752" cy="177393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4F8FA"/>
                </a:solidFill>
                <a:latin typeface="PingFang SC"/>
              </a:rPr>
              <a:t>final layer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4F8FA"/>
                </a:solidFill>
                <a:latin typeface="PingFang SC"/>
              </a:rPr>
              <a:t>unpack logits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4F8FA"/>
                </a:solidFill>
                <a:latin typeface="PingFang SC"/>
              </a:rPr>
              <a:t>scheduler update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4F8FA"/>
                </a:solidFill>
                <a:latin typeface="PingFang SC"/>
              </a:rPr>
              <a:t>next-step state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43984"/>
            <a:ext cx="3200400" cy="1060704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553712"/>
            <a:ext cx="2871216" cy="4389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B7185"/>
                </a:solidFill>
                <a:latin typeface="Menlo"/>
              </a:rPr>
              <a:t>387.2 MiB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020056"/>
            <a:ext cx="2871216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F8FA"/>
                </a:solidFill>
                <a:latin typeface="PingFang SC"/>
              </a:rPr>
              <a:t>materialized hidden / rank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276088"/>
            <a:ext cx="2871216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8BBC7"/>
                </a:solidFill>
                <a:latin typeface="PingFang SC"/>
              </a:rPr>
              <a:t>S·5376·2 bytes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014215" y="4443984"/>
            <a:ext cx="3200400" cy="1060704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78807" y="4553712"/>
            <a:ext cx="2871216" cy="43891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59E0B"/>
                </a:solidFill>
                <a:latin typeface="Menlo"/>
              </a:rPr>
              <a:t>≈290.4 MiB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78807" y="5020056"/>
            <a:ext cx="2871216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4F8FA"/>
                </a:solidFill>
                <a:latin typeface="PingFang SC"/>
              </a:rPr>
              <a:t>ring recv / rank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8807" y="5276088"/>
            <a:ext cx="2871216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8BBC7"/>
                </a:solidFill>
                <a:latin typeface="PingFang SC"/>
              </a:rPr>
              <a:t>(P−1)/P estimate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61504" y="4443984"/>
            <a:ext cx="4123944" cy="1060704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99248" y="4636008"/>
            <a:ext cx="361188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DD4BF"/>
                </a:solidFill>
                <a:latin typeface="PingFang SC"/>
              </a:rPr>
              <a:t>为什么是 AllGather 而不是 Gather？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99248" y="4983480"/>
            <a:ext cx="3611880" cy="2743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4F8FA"/>
                </a:solidFill>
                <a:latin typeface="PingFang SC"/>
              </a:rPr>
              <a:t>每个 rank 都继续维护完整 denoise state。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473952"/>
            <a:ext cx="11018520" cy="10972"/>
          </a:xfrm>
          <a:prstGeom prst="rect">
            <a:avLst/>
          </a:prstGeom>
          <a:solidFill>
            <a:srgbClr val="274656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519672"/>
            <a:ext cx="1024128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8BBC7"/>
                </a:solidFill>
                <a:latin typeface="Menlo"/>
              </a:rPr>
              <a:t>minimax_h3_transformer.py:1123–1129；hooks/sequence_parallel.py:518–532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501384"/>
            <a:ext cx="603504" cy="20116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DD4BF"/>
                </a:solidFill>
                <a:latin typeface="Menl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4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DD4BF"/>
                </a:solidFill>
                <a:latin typeface="Menlo"/>
              </a:rPr>
              <a:t>18 · STRICT BOUNDARY OPTIMIZATION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029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4F8FA"/>
                </a:solidFill>
                <a:latin typeface="PingFang SC"/>
              </a:rPr>
              <a:t>先本地 final layer，再 AllGather 紧凑 logits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25296"/>
            <a:ext cx="1051560" cy="32004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783080" y="1124712"/>
            <a:ext cx="9784080" cy="2743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8BBC7"/>
                </a:solidFill>
                <a:latin typeface="PingFang SC"/>
              </a:rPr>
              <a:t>通信宽度 5,376 → 96+32=128，逻辑 payload 缩小 42×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72768"/>
            <a:ext cx="5248656" cy="3493008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FB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41248" y="1847088"/>
            <a:ext cx="1408176" cy="310896"/>
          </a:xfrm>
          <a:prstGeom prst="roundRect">
            <a:avLst/>
          </a:prstGeom>
          <a:solidFill>
            <a:srgbClr val="FB7185"/>
          </a:solidFill>
          <a:ln w="12700">
            <a:solidFill>
              <a:srgbClr val="FB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1856231"/>
            <a:ext cx="1408176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7141F"/>
                </a:solidFill>
                <a:latin typeface="Menlo"/>
              </a:rPr>
              <a:t>CURRENT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450592"/>
            <a:ext cx="4663440" cy="138988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4F8FA"/>
                </a:solidFill>
                <a:latin typeface="Menlo"/>
              </a:rPr>
              <a:t>[S/4, 5,376]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4F8FA"/>
                </a:solidFill>
                <a:latin typeface="Menlo"/>
              </a:rPr>
              <a:t>↓ AllGather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4F8FA"/>
                </a:solidFill>
                <a:latin typeface="Menlo"/>
              </a:rPr>
              <a:t>[S, 5,376]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4F8FA"/>
                </a:solidFill>
                <a:latin typeface="Menlo"/>
              </a:rPr>
              <a:t>↓ final layer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4F8FA"/>
                </a:solidFill>
                <a:latin typeface="Menlo"/>
              </a:rPr>
              <a:t>[S, 128]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4270248"/>
            <a:ext cx="4663440" cy="32918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B7185"/>
                </a:solidFill>
                <a:latin typeface="Menlo"/>
              </a:rPr>
              <a:t>materialized = 387.2 MiB / rank</a:t>
            </a:r>
          </a:p>
        </p:txBody>
      </p:sp>
      <p:sp>
        <p:nvSpPr>
          <p:cNvPr id="11" name="Chevron 10"/>
          <p:cNvSpPr/>
          <p:nvPr/>
        </p:nvSpPr>
        <p:spPr>
          <a:xfrm>
            <a:off x="5952744" y="2880360"/>
            <a:ext cx="384048" cy="566928"/>
          </a:xfrm>
          <a:prstGeom prst="chevron">
            <a:avLst/>
          </a:prstGeom>
          <a:solidFill>
            <a:srgbClr val="2DD4BF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1572768"/>
            <a:ext cx="5047488" cy="3493008"/>
          </a:xfrm>
          <a:prstGeom prst="roundRect">
            <a:avLst/>
          </a:prstGeom>
          <a:solidFill>
            <a:srgbClr val="16313F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812280" y="1847088"/>
            <a:ext cx="1627632" cy="310896"/>
          </a:xfrm>
          <a:prstGeom prst="roundRect">
            <a:avLst/>
          </a:prstGeom>
          <a:solidFill>
            <a:srgbClr val="2DD4BF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12280" y="1856231"/>
            <a:ext cx="1627632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7141F"/>
                </a:solidFill>
                <a:latin typeface="Menlo"/>
              </a:rPr>
              <a:t>OPTIMIZED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30568" y="2450592"/>
            <a:ext cx="4480560" cy="138988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4F8FA"/>
                </a:solidFill>
                <a:latin typeface="Menlo"/>
              </a:rPr>
              <a:t>[S/4, 5,376]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4F8FA"/>
                </a:solidFill>
                <a:latin typeface="Menlo"/>
              </a:rPr>
              <a:t>↓ local final layer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4F8FA"/>
                </a:solidFill>
                <a:latin typeface="Menlo"/>
              </a:rPr>
              <a:t>[S/4, 128]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4F8FA"/>
                </a:solidFill>
                <a:latin typeface="Menlo"/>
              </a:rPr>
              <a:t>↓ AllGather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4F8FA"/>
                </a:solidFill>
                <a:latin typeface="Menlo"/>
              </a:rPr>
              <a:t>[S, 128]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30568" y="4270248"/>
            <a:ext cx="4480560" cy="32918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DD4BF"/>
                </a:solidFill>
                <a:latin typeface="Menlo"/>
              </a:rPr>
              <a:t>materialized = 9.22 MiB / rank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349240"/>
            <a:ext cx="11018520" cy="530352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5486400"/>
            <a:ext cx="10561320" cy="22860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8BBC7"/>
                </a:solidFill>
                <a:latin typeface="Menlo"/>
              </a:rPr>
              <a:t>该优化已存在于后续提交 7b76b6446（#6173），但不在当前 f76f8e58fb 分支；Attention 内 800 次 A2A 不受影响。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6473952"/>
            <a:ext cx="11018520" cy="10972"/>
          </a:xfrm>
          <a:prstGeom prst="rect">
            <a:avLst/>
          </a:prstGeom>
          <a:solidFill>
            <a:srgbClr val="274656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6519672"/>
            <a:ext cx="1024128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8BBC7"/>
                </a:solidFill>
                <a:latin typeface="Menlo"/>
              </a:rPr>
              <a:t>Later commit: 7b76b6446 · Optimize MiniMax-H3 strict Ulysses boundaries (#6173)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501384"/>
            <a:ext cx="603504" cy="20116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DD4BF"/>
                </a:solidFill>
                <a:latin typeface="Menl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4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DD4BF"/>
                </a:solidFill>
                <a:latin typeface="Menlo"/>
              </a:rPr>
              <a:t>19 · OPTIMIZATION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029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4F8FA"/>
                </a:solidFill>
                <a:latin typeface="PingFang SC"/>
              </a:rPr>
              <a:t>后续优化应按 payload、频次与实现风险排序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25296"/>
            <a:ext cx="1051560" cy="32004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783080" y="1124712"/>
            <a:ext cx="9784080" cy="2743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8BBC7"/>
                </a:solidFill>
                <a:latin typeface="PingFang SC"/>
              </a:rPr>
              <a:t>必须以固定输入与正确性校验验证，不接受质量回归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572768"/>
            <a:ext cx="2834640" cy="530352"/>
          </a:xfrm>
          <a:prstGeom prst="rect">
            <a:avLst/>
          </a:prstGeom>
          <a:solidFill>
            <a:srgbClr val="2DD4BF"/>
          </a:solidFill>
          <a:ln w="12700">
            <a:solidFill>
              <a:srgbClr val="0714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691640"/>
            <a:ext cx="2724912" cy="21945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7141F"/>
                </a:solidFill>
                <a:latin typeface="PingFang SC"/>
              </a:rPr>
              <a:t>候选项</a:t>
            </a:r>
          </a:p>
        </p:txBody>
      </p:sp>
      <p:sp>
        <p:nvSpPr>
          <p:cNvPr id="8" name="Rectangle 7"/>
          <p:cNvSpPr/>
          <p:nvPr/>
        </p:nvSpPr>
        <p:spPr>
          <a:xfrm>
            <a:off x="3456432" y="1572768"/>
            <a:ext cx="2788920" cy="530352"/>
          </a:xfrm>
          <a:prstGeom prst="rect">
            <a:avLst/>
          </a:prstGeom>
          <a:solidFill>
            <a:srgbClr val="2DD4BF"/>
          </a:solidFill>
          <a:ln w="12700">
            <a:solidFill>
              <a:srgbClr val="0714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11296" y="1691640"/>
            <a:ext cx="2679191" cy="21945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7141F"/>
                </a:solidFill>
                <a:latin typeface="PingFang SC"/>
              </a:rPr>
              <a:t>主要收益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1572768"/>
            <a:ext cx="1554480" cy="530352"/>
          </a:xfrm>
          <a:prstGeom prst="rect">
            <a:avLst/>
          </a:prstGeom>
          <a:solidFill>
            <a:srgbClr val="2DD4BF"/>
          </a:solidFill>
          <a:ln w="12700">
            <a:solidFill>
              <a:srgbClr val="0714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0216" y="1691640"/>
            <a:ext cx="1444752" cy="21945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7141F"/>
                </a:solidFill>
                <a:latin typeface="PingFang SC"/>
              </a:rPr>
              <a:t>通信字节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99831" y="1572768"/>
            <a:ext cx="1508760" cy="530352"/>
          </a:xfrm>
          <a:prstGeom prst="rect">
            <a:avLst/>
          </a:prstGeom>
          <a:solidFill>
            <a:srgbClr val="2DD4BF"/>
          </a:solidFill>
          <a:ln w="12700">
            <a:solidFill>
              <a:srgbClr val="0714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54696" y="1691640"/>
            <a:ext cx="1399031" cy="21945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7141F"/>
                </a:solidFill>
                <a:latin typeface="PingFang SC"/>
              </a:rPr>
              <a:t>实现风险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08592" y="1572768"/>
            <a:ext cx="1325880" cy="530352"/>
          </a:xfrm>
          <a:prstGeom prst="rect">
            <a:avLst/>
          </a:prstGeom>
          <a:solidFill>
            <a:srgbClr val="2DD4BF"/>
          </a:solidFill>
          <a:ln w="12700">
            <a:solidFill>
              <a:srgbClr val="0714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63456" y="1691640"/>
            <a:ext cx="1216152" cy="21945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7141F"/>
                </a:solidFill>
                <a:latin typeface="PingFang SC"/>
              </a:rPr>
              <a:t>优先级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" y="2103120"/>
            <a:ext cx="2834640" cy="704088"/>
          </a:xfrm>
          <a:prstGeom prst="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" y="2258568"/>
            <a:ext cx="2688336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DD4BF"/>
                </a:solidFill>
                <a:latin typeface="PingFang SC"/>
              </a:rPr>
              <a:t>严格 SP 出口边界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56432" y="2103120"/>
            <a:ext cx="2788920" cy="704088"/>
          </a:xfrm>
          <a:prstGeom prst="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9584" y="2258568"/>
            <a:ext cx="2642615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4F8FA"/>
                </a:solidFill>
                <a:latin typeface="PingFang SC"/>
              </a:rPr>
              <a:t>final layer 本地化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5352" y="2103120"/>
            <a:ext cx="1554480" cy="704088"/>
          </a:xfrm>
          <a:prstGeom prst="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18504" y="2258568"/>
            <a:ext cx="1408176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4F8FA"/>
                </a:solidFill>
                <a:latin typeface="PingFang SC"/>
              </a:rPr>
              <a:t>42×↓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99831" y="2103120"/>
            <a:ext cx="1508760" cy="704088"/>
          </a:xfrm>
          <a:prstGeom prst="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72983" y="2258568"/>
            <a:ext cx="1362456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4F8FA"/>
                </a:solidFill>
                <a:latin typeface="PingFang SC"/>
              </a:rPr>
              <a:t>低—中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08592" y="2103120"/>
            <a:ext cx="1325880" cy="704088"/>
          </a:xfrm>
          <a:prstGeom prst="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81744" y="2258568"/>
            <a:ext cx="1179576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DD4BF"/>
                </a:solidFill>
                <a:latin typeface="PingFang SC"/>
              </a:rPr>
              <a:t>P0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" y="2807208"/>
            <a:ext cx="2834640" cy="704088"/>
          </a:xfrm>
          <a:prstGeom prst="rect">
            <a:avLst/>
          </a:prstGeom>
          <a:solidFill>
            <a:srgbClr val="16313F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4944" y="2962656"/>
            <a:ext cx="2688336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PingFang SC"/>
              </a:rPr>
              <a:t>融合 QKV A2A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56432" y="2807208"/>
            <a:ext cx="2788920" cy="704088"/>
          </a:xfrm>
          <a:prstGeom prst="rect">
            <a:avLst/>
          </a:prstGeom>
          <a:solidFill>
            <a:srgbClr val="16313F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9584" y="2962656"/>
            <a:ext cx="2642615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4F8FA"/>
                </a:solidFill>
                <a:latin typeface="PingFang SC"/>
              </a:rPr>
              <a:t>减少 launch/sync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45352" y="2807208"/>
            <a:ext cx="1554480" cy="704088"/>
          </a:xfrm>
          <a:prstGeom prst="rect">
            <a:avLst/>
          </a:prstGeom>
          <a:solidFill>
            <a:srgbClr val="16313F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18504" y="2962656"/>
            <a:ext cx="1408176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4F8FA"/>
                </a:solidFill>
                <a:latin typeface="PingFang SC"/>
              </a:rPr>
              <a:t>基本不变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99831" y="2807208"/>
            <a:ext cx="1508760" cy="704088"/>
          </a:xfrm>
          <a:prstGeom prst="rect">
            <a:avLst/>
          </a:prstGeom>
          <a:solidFill>
            <a:srgbClr val="16313F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72983" y="2962656"/>
            <a:ext cx="1362456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4F8FA"/>
                </a:solidFill>
                <a:latin typeface="PingFang SC"/>
              </a:rPr>
              <a:t>中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308592" y="2807208"/>
            <a:ext cx="1325880" cy="704088"/>
          </a:xfrm>
          <a:prstGeom prst="rect">
            <a:avLst/>
          </a:prstGeom>
          <a:solidFill>
            <a:srgbClr val="16313F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81744" y="2962656"/>
            <a:ext cx="1179576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PingFang SC"/>
              </a:rPr>
              <a:t>P1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" y="3511296"/>
            <a:ext cx="2834640" cy="704088"/>
          </a:xfrm>
          <a:prstGeom prst="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4944" y="3666744"/>
            <a:ext cx="2688336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EA8DE"/>
                </a:solidFill>
                <a:latin typeface="PingFang SC"/>
              </a:rPr>
              <a:t>通信—计算 overlap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56432" y="3511296"/>
            <a:ext cx="2788920" cy="704088"/>
          </a:xfrm>
          <a:prstGeom prst="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29584" y="3666744"/>
            <a:ext cx="2642615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4F8FA"/>
                </a:solidFill>
                <a:latin typeface="PingFang SC"/>
              </a:rPr>
              <a:t>隐藏 exposed latency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45352" y="3511296"/>
            <a:ext cx="1554480" cy="704088"/>
          </a:xfrm>
          <a:prstGeom prst="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18504" y="3666744"/>
            <a:ext cx="1408176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4F8FA"/>
                </a:solidFill>
                <a:latin typeface="PingFang SC"/>
              </a:rPr>
              <a:t>不变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99831" y="3511296"/>
            <a:ext cx="1508760" cy="704088"/>
          </a:xfrm>
          <a:prstGeom prst="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72983" y="3666744"/>
            <a:ext cx="1362456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4F8FA"/>
                </a:solidFill>
                <a:latin typeface="PingFang SC"/>
              </a:rPr>
              <a:t>中—高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308592" y="3511296"/>
            <a:ext cx="1325880" cy="704088"/>
          </a:xfrm>
          <a:prstGeom prst="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81744" y="3666744"/>
            <a:ext cx="1179576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EA8DE"/>
                </a:solidFill>
                <a:latin typeface="PingFang SC"/>
              </a:rPr>
              <a:t>P1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1792" y="4215383"/>
            <a:ext cx="2834640" cy="704088"/>
          </a:xfrm>
          <a:prstGeom prst="rect">
            <a:avLst/>
          </a:prstGeom>
          <a:solidFill>
            <a:srgbClr val="16313F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4944" y="4370831"/>
            <a:ext cx="2688336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78BFA"/>
                </a:solidFill>
                <a:latin typeface="PingFang SC"/>
              </a:rPr>
              <a:t>端到端 sharded denoise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456432" y="4215383"/>
            <a:ext cx="2788920" cy="704088"/>
          </a:xfrm>
          <a:prstGeom prst="rect">
            <a:avLst/>
          </a:prstGeom>
          <a:solidFill>
            <a:srgbClr val="16313F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29584" y="4370831"/>
            <a:ext cx="2642615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4F8FA"/>
                </a:solidFill>
                <a:latin typeface="PingFang SC"/>
              </a:rPr>
              <a:t>移除末端 AllGather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45352" y="4215383"/>
            <a:ext cx="1554480" cy="704088"/>
          </a:xfrm>
          <a:prstGeom prst="rect">
            <a:avLst/>
          </a:prstGeom>
          <a:solidFill>
            <a:srgbClr val="16313F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18504" y="4370831"/>
            <a:ext cx="1408176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4F8FA"/>
                </a:solidFill>
                <a:latin typeface="PingFang SC"/>
              </a:rPr>
              <a:t>进一步↓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799831" y="4215383"/>
            <a:ext cx="1508760" cy="704088"/>
          </a:xfrm>
          <a:prstGeom prst="rect">
            <a:avLst/>
          </a:prstGeom>
          <a:solidFill>
            <a:srgbClr val="16313F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872983" y="4370831"/>
            <a:ext cx="1362456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4F8FA"/>
                </a:solidFill>
                <a:latin typeface="PingFang SC"/>
              </a:rPr>
              <a:t>高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308592" y="4215383"/>
            <a:ext cx="1325880" cy="704088"/>
          </a:xfrm>
          <a:prstGeom prst="rect">
            <a:avLst/>
          </a:prstGeom>
          <a:solidFill>
            <a:srgbClr val="16313F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381744" y="4370831"/>
            <a:ext cx="1179576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78BFA"/>
                </a:solidFill>
                <a:latin typeface="PingFang SC"/>
              </a:rPr>
              <a:t>P2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1792" y="4919472"/>
            <a:ext cx="2834640" cy="704088"/>
          </a:xfrm>
          <a:prstGeom prst="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94944" y="5074920"/>
            <a:ext cx="2688336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6EFAC"/>
                </a:solidFill>
                <a:latin typeface="PingFang SC"/>
              </a:rPr>
              <a:t>局部 embedding/RoPE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456432" y="4919472"/>
            <a:ext cx="2788920" cy="704088"/>
          </a:xfrm>
          <a:prstGeom prst="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529584" y="5074920"/>
            <a:ext cx="2642615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4F8FA"/>
                </a:solidFill>
                <a:latin typeface="PingFang SC"/>
              </a:rPr>
              <a:t>减少 replicated work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45352" y="4919472"/>
            <a:ext cx="1554480" cy="704088"/>
          </a:xfrm>
          <a:prstGeom prst="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18504" y="5074920"/>
            <a:ext cx="1408176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4F8FA"/>
                </a:solidFill>
                <a:latin typeface="PingFang SC"/>
              </a:rPr>
              <a:t>间接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799831" y="4919472"/>
            <a:ext cx="1508760" cy="704088"/>
          </a:xfrm>
          <a:prstGeom prst="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72983" y="5074920"/>
            <a:ext cx="1362456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4F8FA"/>
                </a:solidFill>
                <a:latin typeface="PingFang SC"/>
              </a:rPr>
              <a:t>中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308592" y="4919472"/>
            <a:ext cx="1325880" cy="704088"/>
          </a:xfrm>
          <a:prstGeom prst="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381744" y="5074920"/>
            <a:ext cx="1179576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6EFAC"/>
                </a:solidFill>
                <a:latin typeface="PingFang SC"/>
              </a:rPr>
              <a:t>P1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58368" y="5897880"/>
            <a:ext cx="10789920" cy="23774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8BBC7"/>
                </a:solidFill>
                <a:latin typeface="PingFang SC"/>
              </a:rPr>
              <a:t>P0 优先移除明显过宽的边界通信；QKV fusion 只有在 profiler 证明 launch-bound 时才值得推进。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" y="6473952"/>
            <a:ext cx="11018520" cy="10972"/>
          </a:xfrm>
          <a:prstGeom prst="rect">
            <a:avLst/>
          </a:prstGeom>
          <a:solidFill>
            <a:srgbClr val="274656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66928" y="6519672"/>
            <a:ext cx="1024128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8BBC7"/>
                </a:solidFill>
                <a:latin typeface="Menlo"/>
              </a:rPr>
              <a:t>优化原则：先消除不必要 work，再优化必要 collective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72800" y="6501384"/>
            <a:ext cx="603504" cy="20116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DD4BF"/>
                </a:solidFill>
                <a:latin typeface="Menl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4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DD4BF"/>
                </a:solidFill>
                <a:latin typeface="Menlo"/>
              </a:rPr>
              <a:t>20 · PROFILING PROTOCOL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029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4F8FA"/>
                </a:solidFill>
                <a:latin typeface="PingFang SC"/>
              </a:rPr>
              <a:t>如何用 Nsight Systems 验证 Ulysses 热路径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25296"/>
            <a:ext cx="1051560" cy="32004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783080" y="1124712"/>
            <a:ext cx="9784080" cy="2743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8BBC7"/>
                </a:solidFill>
                <a:latin typeface="PingFang SC"/>
              </a:rPr>
              <a:t>Linux/B300 采集 .nsys-rep；Mac 使用 Nsight Systems GUI 打开分析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91056"/>
            <a:ext cx="3127248" cy="3639312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591056"/>
            <a:ext cx="54864" cy="3639312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09928"/>
            <a:ext cx="2852928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DD4BF"/>
                </a:solidFill>
                <a:latin typeface="PingFang SC"/>
              </a:rPr>
              <a:t>1 · Fixed workload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066543"/>
            <a:ext cx="2852928" cy="307238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4F8FA"/>
                </a:solidFill>
                <a:latin typeface="PingFang SC"/>
              </a:rPr>
              <a:t>固定：prompt / seed / H/W/T / steps / backend / U4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4F8FA"/>
                </a:solidFill>
                <a:latin typeface="PingFang SC"/>
              </a:rPr>
              <a:t>性能 profile 建议 2 steps；端到端报告使用真实 steps。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22776" y="1591056"/>
            <a:ext cx="3675887" cy="3639312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22776" y="1591056"/>
            <a:ext cx="54864" cy="363931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87368" y="1709928"/>
            <a:ext cx="3401568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59E0B"/>
                </a:solidFill>
                <a:latin typeface="PingFang SC"/>
              </a:rPr>
              <a:t>2 · Nsight Systems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87368" y="2066543"/>
            <a:ext cx="3401568" cy="307238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4F8FA"/>
                </a:solidFill>
                <a:latin typeface="PingFang SC"/>
              </a:rPr>
              <a:t>观察：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4F8FA"/>
                </a:solidFill>
                <a:latin typeface="PingFang SC"/>
              </a:rPr>
              <a:t>• NCCL AllToAll 时间线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4F8FA"/>
                </a:solidFill>
                <a:latin typeface="PingFang SC"/>
              </a:rPr>
              <a:t>• kernel 与 collective gap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4F8FA"/>
                </a:solidFill>
                <a:latin typeface="PingFang SC"/>
              </a:rPr>
              <a:t>• exposed communication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4F8FA"/>
                </a:solidFill>
                <a:latin typeface="PingFang SC"/>
              </a:rPr>
              <a:t>• block 周期是否稳定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4F8FA"/>
                </a:solidFill>
                <a:latin typeface="PingFang SC"/>
              </a:rPr>
              <a:t>• final AllGather payload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27264" y="1591056"/>
            <a:ext cx="3758184" cy="3639312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27264" y="1591056"/>
            <a:ext cx="54864" cy="363931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91856" y="1709928"/>
            <a:ext cx="3483864" cy="2926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78BFA"/>
                </a:solidFill>
                <a:latin typeface="PingFang SC"/>
              </a:rPr>
              <a:t>3 · Source attribution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1856" y="2066543"/>
            <a:ext cx="3483864" cy="3072384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4F8FA"/>
                </a:solidFill>
                <a:latin typeface="PingFang SC"/>
              </a:rPr>
              <a:t>期望计数：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4F8FA"/>
                </a:solidFill>
                <a:latin typeface="PingFang SC"/>
              </a:rPr>
              <a:t>• 4 A2A / block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4F8FA"/>
                </a:solidFill>
                <a:latin typeface="PingFang SC"/>
              </a:rPr>
              <a:t>• 200 A2A / forward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4F8FA"/>
                </a:solidFill>
                <a:latin typeface="PingFang SC"/>
              </a:rPr>
              <a:t>• 800 A2A / request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4F8FA"/>
                </a:solidFill>
                <a:latin typeface="PingFang SC"/>
              </a:rPr>
              <a:t>• 4 final AllGather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4F8FA"/>
                </a:solidFill>
                <a:latin typeface="PingFang SC"/>
              </a:rPr>
              <a:t>用 NVTX/call stack 映射源码。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504688"/>
            <a:ext cx="11018520" cy="438912"/>
          </a:xfrm>
          <a:prstGeom prst="roundRect">
            <a:avLst/>
          </a:prstGeom>
          <a:solidFill>
            <a:srgbClr val="16313F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5605272"/>
            <a:ext cx="10561320" cy="21945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4F8FA"/>
                </a:solidFill>
                <a:latin typeface="PingFang SC"/>
              </a:rPr>
              <a:t>nsys 回答系统时间线；ncu 仅用于单个 attention/GEMM kernel 的深层硬件指标，两者不能互相替代。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6473952"/>
            <a:ext cx="11018520" cy="10972"/>
          </a:xfrm>
          <a:prstGeom prst="rect">
            <a:avLst/>
          </a:prstGeom>
          <a:solidFill>
            <a:srgbClr val="274656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6519672"/>
            <a:ext cx="1024128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8BBC7"/>
                </a:solidFill>
                <a:latin typeface="Menlo"/>
              </a:rPr>
              <a:t>profiling/minimax-h3-sp8-nsys-20260820/trace/nsys_smoke.nsys-rep（现有 trace 为 U8，仅供同构路径参考）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501384"/>
            <a:ext cx="603504" cy="20116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DD4BF"/>
                </a:solidFill>
                <a:latin typeface="Menl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4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DD4BF"/>
                </a:solidFill>
                <a:latin typeface="Menlo"/>
              </a:rPr>
              <a:t>21 · EVALUATION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029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4F8FA"/>
                </a:solidFill>
                <a:latin typeface="PingFang SC"/>
              </a:rPr>
              <a:t>优化前后如何做学术上可信的对比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25296"/>
            <a:ext cx="1051560" cy="32004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783080" y="1124712"/>
            <a:ext cx="9784080" cy="2743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8BBC7"/>
                </a:solidFill>
                <a:latin typeface="PingFang SC"/>
              </a:rPr>
              <a:t>分离 correctness、wall clock、communication 与 kernel 指标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27632"/>
            <a:ext cx="2615184" cy="4315968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856231"/>
            <a:ext cx="1920240" cy="310896"/>
          </a:xfrm>
          <a:prstGeom prst="roundRect">
            <a:avLst/>
          </a:prstGeom>
          <a:solidFill>
            <a:srgbClr val="2DD4BF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865375"/>
            <a:ext cx="1920240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7141F"/>
                </a:solidFill>
                <a:latin typeface="Menlo"/>
              </a:rPr>
              <a:t>CORRECTNESS</a:t>
            </a:r>
          </a:p>
        </p:txBody>
      </p:sp>
      <p:sp>
        <p:nvSpPr>
          <p:cNvPr id="9" name="Rectangle 8"/>
          <p:cNvSpPr/>
          <p:nvPr/>
        </p:nvSpPr>
        <p:spPr>
          <a:xfrm>
            <a:off x="795528" y="2542032"/>
            <a:ext cx="64008" cy="64008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414016"/>
            <a:ext cx="1920240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4F8FA"/>
                </a:solidFill>
                <a:latin typeface="PingFang SC"/>
              </a:rPr>
              <a:t>相同 seed/input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8" y="3218687"/>
            <a:ext cx="64008" cy="64008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90672"/>
            <a:ext cx="1920240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4F8FA"/>
                </a:solidFill>
                <a:latin typeface="PingFang SC"/>
              </a:rPr>
              <a:t>输出 shape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895344"/>
            <a:ext cx="64008" cy="64008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767328"/>
            <a:ext cx="1920240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4F8FA"/>
                </a:solidFill>
                <a:latin typeface="PingFang SC"/>
              </a:rPr>
              <a:t>音视频 hash 或容差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4572000"/>
            <a:ext cx="64008" cy="64008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443983"/>
            <a:ext cx="1920240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4F8FA"/>
                </a:solidFill>
                <a:latin typeface="PingFang SC"/>
              </a:rPr>
              <a:t>无 NaN/同步错误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5413248"/>
            <a:ext cx="2121408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DD4BF"/>
                </a:solidFill>
                <a:latin typeface="Menlo"/>
              </a:rPr>
              <a:t>CHECK 1/4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37560" y="1627632"/>
            <a:ext cx="2615184" cy="4315968"/>
          </a:xfrm>
          <a:prstGeom prst="roundRect">
            <a:avLst/>
          </a:prstGeom>
          <a:solidFill>
            <a:srgbClr val="16313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520440" y="1856231"/>
            <a:ext cx="1920240" cy="310896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20440" y="1865375"/>
            <a:ext cx="1920240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7141F"/>
                </a:solidFill>
                <a:latin typeface="Menlo"/>
              </a:rPr>
              <a:t>PERFORMANCE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66160" y="2542032"/>
            <a:ext cx="64008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30752" y="2414016"/>
            <a:ext cx="1920240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4F8FA"/>
                </a:solidFill>
                <a:latin typeface="PingFang SC"/>
              </a:rPr>
              <a:t>DiT / diffuse latency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66160" y="3218687"/>
            <a:ext cx="64008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30752" y="3090672"/>
            <a:ext cx="1920240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4F8FA"/>
                </a:solidFill>
                <a:latin typeface="PingFang SC"/>
              </a:rPr>
              <a:t>E2E latency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66160" y="3895344"/>
            <a:ext cx="64008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30752" y="3767328"/>
            <a:ext cx="1920240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4F8FA"/>
                </a:solidFill>
                <a:latin typeface="PingFang SC"/>
              </a:rPr>
              <a:t>GPU peak memory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66160" y="4572000"/>
            <a:ext cx="64008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30752" y="4443983"/>
            <a:ext cx="1920240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4F8FA"/>
                </a:solidFill>
                <a:latin typeface="PingFang SC"/>
              </a:rPr>
              <a:t>至少复现一次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7015" y="5413248"/>
            <a:ext cx="2121408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59E0B"/>
                </a:solidFill>
                <a:latin typeface="Menlo"/>
              </a:rPr>
              <a:t>CHECK 2/4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08192" y="1627632"/>
            <a:ext cx="2615184" cy="4315968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291072" y="1856231"/>
            <a:ext cx="1920240" cy="310896"/>
          </a:xfrm>
          <a:prstGeom prst="roundRect">
            <a:avLst/>
          </a:prstGeom>
          <a:solidFill>
            <a:srgbClr val="A78BFA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91072" y="1865375"/>
            <a:ext cx="1920240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7141F"/>
                </a:solidFill>
                <a:latin typeface="Menlo"/>
              </a:rPr>
              <a:t>COMMUNICATION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36792" y="2542032"/>
            <a:ext cx="64008" cy="6400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01383" y="2414016"/>
            <a:ext cx="1920240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4F8FA"/>
                </a:solidFill>
                <a:latin typeface="PingFang SC"/>
              </a:rPr>
              <a:t>collective 次数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36792" y="3218687"/>
            <a:ext cx="64008" cy="6400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01383" y="3090672"/>
            <a:ext cx="1920240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4F8FA"/>
                </a:solidFill>
                <a:latin typeface="PingFang SC"/>
              </a:rPr>
              <a:t>payload bytes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36792" y="3895344"/>
            <a:ext cx="64008" cy="6400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01383" y="3767328"/>
            <a:ext cx="1920240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4F8FA"/>
                </a:solidFill>
                <a:latin typeface="PingFang SC"/>
              </a:rPr>
              <a:t>exposed NCCL time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36792" y="4572000"/>
            <a:ext cx="64008" cy="6400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01383" y="4443983"/>
            <a:ext cx="1920240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4F8FA"/>
                </a:solidFill>
                <a:latin typeface="PingFang SC"/>
              </a:rPr>
              <a:t>overlap ratio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27648" y="5413248"/>
            <a:ext cx="2121408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A78BFA"/>
                </a:solidFill>
                <a:latin typeface="Menlo"/>
              </a:rPr>
              <a:t>CHECK 3/4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878824" y="1627632"/>
            <a:ext cx="2615184" cy="4315968"/>
          </a:xfrm>
          <a:prstGeom prst="roundRect">
            <a:avLst/>
          </a:prstGeom>
          <a:solidFill>
            <a:srgbClr val="16313F"/>
          </a:solidFill>
          <a:ln w="12700">
            <a:solidFill>
              <a:srgbClr val="4EA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9061703" y="1856231"/>
            <a:ext cx="1920240" cy="310896"/>
          </a:xfrm>
          <a:prstGeom prst="roundRect">
            <a:avLst/>
          </a:prstGeom>
          <a:solidFill>
            <a:srgbClr val="4EA8DE"/>
          </a:solidFill>
          <a:ln w="12700">
            <a:solidFill>
              <a:srgbClr val="4EA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61703" y="1865375"/>
            <a:ext cx="1920240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7141F"/>
                </a:solidFill>
                <a:latin typeface="Menlo"/>
              </a:rPr>
              <a:t>ATTRIBUTION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07424" y="2542032"/>
            <a:ext cx="64008" cy="64008"/>
          </a:xfrm>
          <a:prstGeom prst="rect">
            <a:avLst/>
          </a:prstGeom>
          <a:solidFill>
            <a:srgbClr val="4EA8DE"/>
          </a:solidFill>
          <a:ln w="12700">
            <a:solidFill>
              <a:srgbClr val="4EA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72015" y="2414016"/>
            <a:ext cx="1920240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4F8FA"/>
                </a:solidFill>
                <a:latin typeface="PingFang SC"/>
              </a:rPr>
              <a:t>相同 backend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107424" y="3218687"/>
            <a:ext cx="64008" cy="64008"/>
          </a:xfrm>
          <a:prstGeom prst="rect">
            <a:avLst/>
          </a:prstGeom>
          <a:solidFill>
            <a:srgbClr val="4EA8DE"/>
          </a:solidFill>
          <a:ln w="12700">
            <a:solidFill>
              <a:srgbClr val="4EA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72015" y="3090672"/>
            <a:ext cx="1920240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4F8FA"/>
                </a:solidFill>
                <a:latin typeface="PingFang SC"/>
              </a:rPr>
              <a:t>相同 U4 topology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07424" y="3895344"/>
            <a:ext cx="64008" cy="64008"/>
          </a:xfrm>
          <a:prstGeom prst="rect">
            <a:avLst/>
          </a:prstGeom>
          <a:solidFill>
            <a:srgbClr val="4EA8DE"/>
          </a:solidFill>
          <a:ln w="12700">
            <a:solidFill>
              <a:srgbClr val="4EA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272015" y="3767328"/>
            <a:ext cx="1920240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4F8FA"/>
                </a:solidFill>
                <a:latin typeface="PingFang SC"/>
              </a:rPr>
              <a:t>相同 compile state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107424" y="4572000"/>
            <a:ext cx="64008" cy="64008"/>
          </a:xfrm>
          <a:prstGeom prst="rect">
            <a:avLst/>
          </a:prstGeom>
          <a:solidFill>
            <a:srgbClr val="4EA8DE"/>
          </a:solidFill>
          <a:ln w="12700">
            <a:solidFill>
              <a:srgbClr val="4EA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272015" y="4443983"/>
            <a:ext cx="1920240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4F8FA"/>
                </a:solidFill>
                <a:latin typeface="PingFang SC"/>
              </a:rPr>
              <a:t>source→trace 对齐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98280" y="5413248"/>
            <a:ext cx="2121408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4EA8DE"/>
                </a:solidFill>
                <a:latin typeface="Menlo"/>
              </a:rPr>
              <a:t>CHECK 4/4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66928" y="6473952"/>
            <a:ext cx="11018520" cy="10972"/>
          </a:xfrm>
          <a:prstGeom prst="rect">
            <a:avLst/>
          </a:prstGeom>
          <a:solidFill>
            <a:srgbClr val="274656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6519672"/>
            <a:ext cx="1024128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8BBC7"/>
                </a:solidFill>
                <a:latin typeface="Menlo"/>
              </a:rPr>
              <a:t>Benchmark discipline: same model/input/shape/steps/parallel config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0" y="6501384"/>
            <a:ext cx="603504" cy="20116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DD4BF"/>
                </a:solidFill>
                <a:latin typeface="Menl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4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097280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DD4BF"/>
                </a:solidFill>
                <a:latin typeface="Menlo"/>
              </a:rPr>
              <a:t>22 ·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0972800" cy="5029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4F8FA"/>
                </a:solidFill>
                <a:latin typeface="PingFang SC"/>
              </a:rPr>
              <a:t>结论与源码索引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25296"/>
            <a:ext cx="1051560" cy="32004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783080" y="1124712"/>
            <a:ext cx="9784080" cy="2743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8BBC7"/>
                </a:solidFill>
                <a:latin typeface="PingFang SC"/>
              </a:rPr>
              <a:t>Ulysses 的本质是 ownership 转换；性能分析必须同时看边界和层内通信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72768"/>
            <a:ext cx="5504688" cy="4443984"/>
          </a:xfrm>
          <a:prstGeom prst="roundRect">
            <a:avLst/>
          </a:prstGeom>
          <a:solidFill>
            <a:srgbClr val="102633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828800"/>
            <a:ext cx="4892040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DD4BF"/>
                </a:solidFill>
                <a:latin typeface="PingFang SC"/>
              </a:rPr>
              <a:t>最终结论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459736"/>
            <a:ext cx="73152" cy="73152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331720"/>
            <a:ext cx="4553712" cy="7498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4F8FA"/>
                </a:solidFill>
                <a:latin typeface="PingFang SC"/>
              </a:rPr>
              <a:t>H3 用 _sp_plan 将 50 层 DiT 包在一个 SP dynamic scope 内。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209544"/>
            <a:ext cx="73152" cy="73152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081527"/>
            <a:ext cx="4553712" cy="7498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4F8FA"/>
                </a:solidFill>
                <a:latin typeface="PingFang SC"/>
              </a:rPr>
              <a:t>每层通过 3×QKV A2A 获得 full-S/head-shard，再通过 1×Output A2A 恢复 S-shard。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3959351"/>
            <a:ext cx="73152" cy="73152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31335"/>
            <a:ext cx="4553712" cy="7498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4F8FA"/>
                </a:solidFill>
                <a:latin typeface="PingFang SC"/>
              </a:rPr>
              <a:t>U4 请求的主要重复通信是 800 次 A2A；末端另有 4 次 AllGather。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4709159"/>
            <a:ext cx="73152" cy="73152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581144"/>
            <a:ext cx="4553712" cy="74980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4F8FA"/>
                </a:solidFill>
                <a:latin typeface="PingFang SC"/>
              </a:rPr>
              <a:t>先本地 final layer 可把末端 gather 宽度从 5,376 降到 128；进一步消除 gather 需要端到端 sharded denoise。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1572768"/>
            <a:ext cx="5276088" cy="4443984"/>
          </a:xfrm>
          <a:prstGeom prst="roundRect">
            <a:avLst/>
          </a:prstGeom>
          <a:solidFill>
            <a:srgbClr val="16313F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1828800"/>
            <a:ext cx="4681728" cy="31089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59E0B"/>
                </a:solidFill>
                <a:latin typeface="PingFang SC"/>
              </a:rPr>
              <a:t>关键源码索引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2359152"/>
            <a:ext cx="4572000" cy="2743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4F8FA"/>
                </a:solidFill>
                <a:latin typeface="Menlo"/>
              </a:rPr>
              <a:t>01  minimax_h3_transformer.py:785–804, 1109–1129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1968" y="2798064"/>
            <a:ext cx="4572000" cy="2743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4F8FA"/>
                </a:solidFill>
                <a:latin typeface="Menlo"/>
              </a:rPr>
              <a:t>02  minimax_h3_transformer.py:328–459, 617–681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1968" y="3236976"/>
            <a:ext cx="4572000" cy="2743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4F8FA"/>
                </a:solidFill>
                <a:latin typeface="Menlo"/>
              </a:rPr>
              <a:t>03  attention/layer.py:263–290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01968" y="3675887"/>
            <a:ext cx="4572000" cy="2743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4F8FA"/>
                </a:solidFill>
                <a:latin typeface="Menlo"/>
              </a:rPr>
              <a:t>04  attention/parallel/ulysses.py:319–334, 414–473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4114800"/>
            <a:ext cx="4572000" cy="2743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4F8FA"/>
                </a:solidFill>
                <a:latin typeface="Menlo"/>
              </a:rPr>
              <a:t>05  distributed/comm.py:16–98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01968" y="4553712"/>
            <a:ext cx="4572000" cy="2743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4F8FA"/>
                </a:solidFill>
                <a:latin typeface="Menlo"/>
              </a:rPr>
              <a:t>06  hooks/sequence_parallel.py:236–268, 518–532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01968" y="4992624"/>
            <a:ext cx="4572000" cy="2743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F4F8FA"/>
                </a:solidFill>
                <a:latin typeface="Menlo"/>
              </a:rPr>
              <a:t>07  results/h3-b300-tp1-u4-steps5/summary.json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827264" y="5486400"/>
            <a:ext cx="2194560" cy="310896"/>
          </a:xfrm>
          <a:prstGeom prst="roundRect">
            <a:avLst/>
          </a:prstGeom>
          <a:solidFill>
            <a:srgbClr val="2DD4BF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27264" y="5495544"/>
            <a:ext cx="2194560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7141F"/>
                </a:solidFill>
                <a:latin typeface="Menlo"/>
              </a:rPr>
              <a:t>END · DISCUSSION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6473952"/>
            <a:ext cx="11018520" cy="10972"/>
          </a:xfrm>
          <a:prstGeom prst="rect">
            <a:avLst/>
          </a:prstGeom>
          <a:solidFill>
            <a:srgbClr val="274656"/>
          </a:solidFill>
          <a:ln w="12700">
            <a:solidFill>
              <a:srgbClr val="274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6519672"/>
            <a:ext cx="10241280" cy="18288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8BBC7"/>
                </a:solidFill>
                <a:latin typeface="Menlo"/>
              </a:rPr>
              <a:t>Local evidence package · branch f76f8e58fb · later optimization 7b76b6446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501384"/>
            <a:ext cx="603504" cy="20116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DD4BF"/>
                </a:solidFill>
                <a:latin typeface="Menlo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MiniMax-H3 负载中的 Ulysses Sequence Parallelism</dc:title>
  <dc:subject>H3 U4 execution path, communication model, profiling and optimization</dc:subject>
  <dc:creator>Codex × Local source analysis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