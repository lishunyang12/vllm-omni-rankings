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3"/>
  </p:normalViewPr>
  <p:slideViewPr>
    <p:cSldViewPr snapToGrid="0" snapToObjects="1">
      <p:cViewPr varScale="1">
        <p:scale>
          <a:sx n="118" d="100"/>
          <a:sy n="118" d="100"/>
        </p:scale>
        <p:origin x="552" y="2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690192-7BAF-944E-8FAE-E444A2F0E733}" type="datetimeFigureOut">
              <a:rPr lang="en-US" smtClean="0"/>
              <a:t>7/27/26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872A00-B93C-3F4C-93D8-BEEC383423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67605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872A00-B93C-3F4C-93D8-BEEC3834230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5075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417320"/>
            <a:ext cx="10058400" cy="365760"/>
          </a:xfrm>
          <a:prstGeom prst="rect">
            <a:avLst/>
          </a:prstGeom>
          <a:noFill/>
          <a:effectLst/>
        </p:spPr>
        <p:txBody>
          <a:bodyPr wrap="square" lIns="45720" tIns="27432" rIns="45720" bIns="27432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 i="0">
                <a:solidFill>
                  <a:srgbClr val="3E5FD9"/>
                </a:solidFill>
                <a:latin typeface="Consolas"/>
                <a:ea typeface="Consolas"/>
                <a:cs typeface="Consolas"/>
              </a:rPr>
              <a:t>vLLM MEETUP · 架构演化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874519"/>
            <a:ext cx="10972800" cy="1828800"/>
          </a:xfrm>
          <a:prstGeom prst="rect">
            <a:avLst/>
          </a:prstGeom>
          <a:noFill/>
          <a:effectLst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3800" b="1" i="0">
                <a:solidFill>
                  <a:srgbClr val="16181C"/>
                </a:solidFill>
                <a:latin typeface="Microsoft YaHei"/>
                <a:ea typeface="Microsoft YaHei"/>
                <a:cs typeface="Microsoft YaHei"/>
              </a:rPr>
              <a:t>当模型开始「全模态」</a:t>
            </a:r>
          </a:p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3800" b="1" i="0">
                <a:solidFill>
                  <a:srgbClr val="16181C"/>
                </a:solidFill>
                <a:latin typeface="Microsoft YaHei"/>
                <a:ea typeface="Microsoft YaHei"/>
                <a:cs typeface="Microsoft YaHei"/>
              </a:rPr>
              <a:t>vLLM-Omni 的架构演化之路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4160520"/>
            <a:ext cx="11183112" cy="0"/>
          </a:xfrm>
          <a:prstGeom prst="line">
            <a:avLst/>
          </a:prstGeom>
          <a:ln w="12700">
            <a:solidFill>
              <a:srgbClr val="D6D6C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2920" y="4297680"/>
            <a:ext cx="10972800" cy="822960"/>
          </a:xfrm>
          <a:prstGeom prst="rect">
            <a:avLst/>
          </a:prstGeom>
          <a:noFill/>
          <a:effectLst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1700" b="1" i="0">
                <a:solidFill>
                  <a:srgbClr val="16181C"/>
                </a:solidFill>
                <a:latin typeface="Microsoft YaHei"/>
                <a:ea typeface="Microsoft YaHei"/>
                <a:cs typeface="Microsoft YaHei"/>
              </a:rPr>
              <a:t>汪志鹏</a:t>
            </a:r>
          </a:p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1150" b="0" i="0">
                <a:solidFill>
                  <a:srgbClr val="4A4E57"/>
                </a:solidFill>
                <a:latin typeface="Microsoft YaHei"/>
                <a:ea typeface="Microsoft YaHei"/>
                <a:cs typeface="Microsoft YaHei"/>
              </a:rPr>
              <a:t>Rakuten AI Infra 工程师 · vLLM-Omni / veRL-Omni / vime committer · vLLM B站主理人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257800"/>
            <a:ext cx="886968" cy="82296"/>
          </a:xfrm>
          <a:prstGeom prst="roundRect">
            <a:avLst>
              <a:gd name="adj" fmla="val 40000"/>
            </a:avLst>
          </a:prstGeom>
          <a:solidFill>
            <a:srgbClr val="A96F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417320" y="5257800"/>
            <a:ext cx="886968" cy="82296"/>
          </a:xfrm>
          <a:prstGeom prst="roundRect">
            <a:avLst>
              <a:gd name="adj" fmla="val 40000"/>
            </a:avLst>
          </a:prstGeom>
          <a:solidFill>
            <a:srgbClr val="0E8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2331720" y="5257800"/>
            <a:ext cx="886968" cy="82296"/>
          </a:xfrm>
          <a:prstGeom prst="roundRect">
            <a:avLst>
              <a:gd name="adj" fmla="val 40000"/>
            </a:avLst>
          </a:prstGeom>
          <a:solidFill>
            <a:srgbClr val="6A4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246120" y="5257800"/>
            <a:ext cx="886968" cy="82296"/>
          </a:xfrm>
          <a:prstGeom prst="roundRect">
            <a:avLst>
              <a:gd name="adj" fmla="val 40000"/>
            </a:avLst>
          </a:prstGeom>
          <a:solidFill>
            <a:srgbClr val="C432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185855" y="6473952"/>
            <a:ext cx="731520" cy="274320"/>
          </a:xfrm>
          <a:prstGeom prst="rect">
            <a:avLst/>
          </a:prstGeom>
          <a:noFill/>
          <a:effectLst/>
        </p:spPr>
        <p:txBody>
          <a:bodyPr wrap="square" lIns="45720" tIns="27432" rIns="45720" bIns="27432" anchor="b">
            <a:spAutoFit/>
          </a:bodyPr>
          <a:lstStyle/>
          <a:p>
            <a:pPr algn="r">
              <a:spcBef>
                <a:spcPts val="0"/>
              </a:spcBef>
            </a:pPr>
            <a:r>
              <a:rPr sz="850" b="0" i="0">
                <a:solidFill>
                  <a:srgbClr val="7C818B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457200" cy="237744"/>
          </a:xfrm>
          <a:prstGeom prst="roundRect">
            <a:avLst>
              <a:gd name="adj" fmla="val 16000"/>
            </a:avLst>
          </a:prstGeom>
          <a:solidFill>
            <a:srgbClr val="3E5FD9"/>
          </a:solidFill>
          <a:ln w="12700">
            <a:solidFill>
              <a:srgbClr val="3E5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27432" rIns="36576" bIns="27432" rtlCol="0" anchor="ctr"/>
          <a:lstStyle/>
          <a:p>
            <a:pPr algn="ctr">
              <a:spcBef>
                <a:spcPts val="0"/>
              </a:spcBef>
            </a:pPr>
            <a:r>
              <a:rPr sz="8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起点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" y="356616"/>
            <a:ext cx="8229600" cy="256032"/>
          </a:xfrm>
          <a:prstGeom prst="rect">
            <a:avLst/>
          </a:prstGeom>
          <a:noFill/>
          <a:effectLst/>
        </p:spPr>
        <p:txBody>
          <a:bodyPr wrap="square" lIns="45720" tIns="27432" rIns="45720" bIns="27432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850" b="0" i="0">
                <a:solidFill>
                  <a:srgbClr val="7C818B"/>
                </a:solidFill>
                <a:latin typeface="Consolas"/>
                <a:ea typeface="Consolas"/>
                <a:cs typeface="Consolas"/>
              </a:rPr>
              <a:t>VLLM V1 完整架构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31520"/>
            <a:ext cx="11155680" cy="868680"/>
          </a:xfrm>
          <a:prstGeom prst="rect">
            <a:avLst/>
          </a:prstGeom>
          <a:noFill/>
          <a:effectLst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100" b="1" i="0">
                <a:solidFill>
                  <a:srgbClr val="16181C"/>
                </a:solidFill>
                <a:latin typeface="Microsoft YaHei"/>
                <a:ea typeface="Microsoft YaHei"/>
                <a:cs typeface="Microsoft YaHei"/>
              </a:rPr>
              <a:t>vLLM V1 架构，与它的三条假设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572768"/>
            <a:ext cx="4297680" cy="237744"/>
          </a:xfrm>
          <a:prstGeom prst="rect">
            <a:avLst/>
          </a:prstGeom>
          <a:noFill/>
          <a:effectLst/>
        </p:spPr>
        <p:txBody>
          <a:bodyPr wrap="square" lIns="45720" tIns="27432" rIns="45720" bIns="18288" anchor="b">
            <a:spAutoFit/>
          </a:bodyPr>
          <a:lstStyle/>
          <a:p>
            <a:pPr algn="l">
              <a:spcBef>
                <a:spcPts val="0"/>
              </a:spcBef>
            </a:pPr>
            <a:r>
              <a:rPr sz="850" b="1" i="0">
                <a:solidFill>
                  <a:srgbClr val="7C818B"/>
                </a:solidFill>
                <a:latin typeface="Consolas"/>
                <a:ea typeface="Consolas"/>
                <a:cs typeface="Consolas"/>
              </a:rPr>
              <a:t>三条假设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572768"/>
            <a:ext cx="4297680" cy="237744"/>
          </a:xfrm>
          <a:prstGeom prst="rect">
            <a:avLst/>
          </a:prstGeom>
          <a:noFill/>
          <a:effectLst/>
        </p:spPr>
        <p:txBody>
          <a:bodyPr wrap="square" lIns="45720" tIns="27432" rIns="45720" bIns="18288" anchor="b">
            <a:spAutoFit/>
          </a:bodyPr>
          <a:lstStyle/>
          <a:p>
            <a:pPr algn="r">
              <a:spcBef>
                <a:spcPts val="0"/>
              </a:spcBef>
            </a:pPr>
            <a:r>
              <a:rPr sz="750" b="0" i="0">
                <a:solidFill>
                  <a:srgbClr val="7C818B"/>
                </a:solidFill>
                <a:latin typeface="Consolas"/>
                <a:ea typeface="Consolas"/>
                <a:cs typeface="Consolas"/>
              </a:rPr>
              <a:t>BASELINE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02920" y="1828800"/>
            <a:ext cx="4297680" cy="0"/>
          </a:xfrm>
          <a:prstGeom prst="line">
            <a:avLst/>
          </a:prstGeom>
          <a:ln w="12700">
            <a:solidFill>
              <a:srgbClr val="7C818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02920" y="1993392"/>
            <a:ext cx="4297680" cy="960120"/>
          </a:xfrm>
          <a:prstGeom prst="roundRect">
            <a:avLst>
              <a:gd name="adj" fmla="val 5000"/>
            </a:avLst>
          </a:prstGeom>
          <a:solidFill>
            <a:srgbClr val="EDEDE8"/>
          </a:solidFill>
          <a:ln w="12700">
            <a:solidFill>
              <a:srgbClr val="D6D6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09728" rIns="128016" bIns="91440" rtlCol="0" anchor="t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750" b="0" i="0">
                <a:solidFill>
                  <a:srgbClr val="7C818B"/>
                </a:solidFill>
                <a:latin typeface="Consolas"/>
                <a:ea typeface="Consolas"/>
                <a:cs typeface="Consolas"/>
              </a:rPr>
              <a:t>ASSUMPTION 01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6181C"/>
                </a:solidFill>
                <a:latin typeface="Microsoft YaHei"/>
                <a:ea typeface="Microsoft YaHei"/>
                <a:cs typeface="Microsoft YaHei"/>
              </a:rPr>
              <a:t>输入是 token</a:t>
            </a:r>
          </a:p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950" b="0" i="0">
                <a:solidFill>
                  <a:srgbClr val="4A4E57"/>
                </a:solidFill>
                <a:latin typeface="Microsoft YaHei"/>
                <a:ea typeface="Microsoft YaHei"/>
                <a:cs typeface="Microsoft YaHei"/>
              </a:rPr>
              <a:t>文本 → token id → 一次 prefill。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072384"/>
            <a:ext cx="4297680" cy="960120"/>
          </a:xfrm>
          <a:prstGeom prst="roundRect">
            <a:avLst>
              <a:gd name="adj" fmla="val 5000"/>
            </a:avLst>
          </a:prstGeom>
          <a:solidFill>
            <a:srgbClr val="EDEDE8"/>
          </a:solidFill>
          <a:ln w="12700">
            <a:solidFill>
              <a:srgbClr val="D6D6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09728" rIns="128016" bIns="91440" rtlCol="0" anchor="t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750" b="0" i="0">
                <a:solidFill>
                  <a:srgbClr val="7C818B"/>
                </a:solidFill>
                <a:latin typeface="Consolas"/>
                <a:ea typeface="Consolas"/>
                <a:cs typeface="Consolas"/>
              </a:rPr>
              <a:t>ASSUMPTION 02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6181C"/>
                </a:solidFill>
                <a:latin typeface="Microsoft YaHei"/>
                <a:ea typeface="Microsoft YaHei"/>
                <a:cs typeface="Microsoft YaHei"/>
              </a:rPr>
              <a:t>输出是 token</a:t>
            </a:r>
          </a:p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950" b="0" i="0">
                <a:solidFill>
                  <a:srgbClr val="4A4E57"/>
                </a:solidFill>
                <a:latin typeface="Microsoft YaHei"/>
                <a:ea typeface="Microsoft YaHei"/>
                <a:cs typeface="Microsoft YaHei"/>
              </a:rPr>
              <a:t>采样出 token，遇到 EOS 结束。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4151376"/>
            <a:ext cx="4297680" cy="960120"/>
          </a:xfrm>
          <a:prstGeom prst="roundRect">
            <a:avLst>
              <a:gd name="adj" fmla="val 5000"/>
            </a:avLst>
          </a:prstGeom>
          <a:solidFill>
            <a:srgbClr val="EDEDE8"/>
          </a:solidFill>
          <a:ln w="12700">
            <a:solidFill>
              <a:srgbClr val="D6D6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09728" rIns="128016" bIns="91440" rtlCol="0" anchor="t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750" b="0" i="0">
                <a:solidFill>
                  <a:srgbClr val="7C818B"/>
                </a:solidFill>
                <a:latin typeface="Consolas"/>
                <a:ea typeface="Consolas"/>
                <a:cs typeface="Consolas"/>
              </a:rPr>
              <a:t>ASSUMPTION 03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6181C"/>
                </a:solidFill>
                <a:latin typeface="Microsoft YaHei"/>
                <a:ea typeface="Microsoft YaHei"/>
                <a:cs typeface="Microsoft YaHei"/>
              </a:rPr>
              <a:t>结构是自回归</a:t>
            </a:r>
          </a:p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950" b="0" i="0">
                <a:solidFill>
                  <a:srgbClr val="4A4E57"/>
                </a:solidFill>
                <a:latin typeface="Microsoft YaHei"/>
                <a:ea typeface="Microsoft YaHei"/>
                <a:cs typeface="Microsoft YaHei"/>
              </a:rPr>
              <a:t>一个模型、一个 KV Cache、一条直线。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74920" y="1572768"/>
            <a:ext cx="6583680" cy="237744"/>
          </a:xfrm>
          <a:prstGeom prst="rect">
            <a:avLst/>
          </a:prstGeom>
          <a:noFill/>
          <a:effectLst/>
        </p:spPr>
        <p:txBody>
          <a:bodyPr wrap="square" lIns="45720" tIns="27432" rIns="45720" bIns="18288" anchor="b">
            <a:spAutoFit/>
          </a:bodyPr>
          <a:lstStyle/>
          <a:p>
            <a:pPr algn="l">
              <a:spcBef>
                <a:spcPts val="0"/>
              </a:spcBef>
            </a:pPr>
            <a:r>
              <a:rPr sz="850" b="1" i="0">
                <a:solidFill>
                  <a:srgbClr val="7C818B"/>
                </a:solidFill>
                <a:latin typeface="Consolas"/>
                <a:ea typeface="Consolas"/>
                <a:cs typeface="Consolas"/>
              </a:rPr>
              <a:t>VLLM V1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74920" y="1572768"/>
            <a:ext cx="6583680" cy="237744"/>
          </a:xfrm>
          <a:prstGeom prst="rect">
            <a:avLst/>
          </a:prstGeom>
          <a:noFill/>
          <a:effectLst/>
        </p:spPr>
        <p:txBody>
          <a:bodyPr wrap="square" lIns="45720" tIns="27432" rIns="45720" bIns="18288" anchor="b">
            <a:spAutoFit/>
          </a:bodyPr>
          <a:lstStyle/>
          <a:p>
            <a:pPr algn="r">
              <a:spcBef>
                <a:spcPts val="0"/>
              </a:spcBef>
            </a:pPr>
            <a:r>
              <a:rPr sz="750" b="0" i="0">
                <a:solidFill>
                  <a:srgbClr val="7C818B"/>
                </a:solidFill>
                <a:latin typeface="Consolas"/>
                <a:ea typeface="Consolas"/>
                <a:cs typeface="Consolas"/>
              </a:rPr>
              <a:t>1 ENGINE · 1 MODEL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074920" y="1828800"/>
            <a:ext cx="6583680" cy="0"/>
          </a:xfrm>
          <a:prstGeom prst="line">
            <a:avLst/>
          </a:prstGeom>
          <a:ln w="12700">
            <a:solidFill>
              <a:srgbClr val="7C818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074920" y="1993392"/>
            <a:ext cx="6583680" cy="1216152"/>
          </a:xfrm>
          <a:prstGeom prst="roundRect">
            <a:avLst>
              <a:gd name="adj" fmla="val 3000"/>
            </a:avLst>
          </a:prstGeom>
          <a:solidFill>
            <a:srgbClr val="EDEDE8"/>
          </a:solidFill>
          <a:ln w="15875">
            <a:solidFill>
              <a:srgbClr val="A9A9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184648" y="1892808"/>
            <a:ext cx="512064" cy="201168"/>
          </a:xfrm>
          <a:prstGeom prst="rect">
            <a:avLst/>
          </a:prstGeom>
          <a:solidFill>
            <a:srgbClr val="EDE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spcBef>
                <a:spcPts val="0"/>
              </a:spcBef>
            </a:pPr>
            <a:r>
              <a:rPr sz="650" b="0" i="0">
                <a:solidFill>
                  <a:srgbClr val="7C818B"/>
                </a:solidFill>
                <a:latin typeface="Consolas"/>
                <a:ea typeface="Consolas"/>
                <a:cs typeface="Consolas"/>
              </a:rPr>
              <a:t>前端进程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84648" y="2231136"/>
            <a:ext cx="6364224" cy="3840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A9A9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 i="0">
                <a:solidFill>
                  <a:srgbClr val="16181C"/>
                </a:solidFill>
                <a:latin typeface="Microsoft YaHei"/>
                <a:ea typeface="Microsoft YaHei"/>
                <a:cs typeface="Microsoft YaHei"/>
              </a:rPr>
              <a:t>API Server</a:t>
            </a:r>
          </a:p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650" b="0" i="0">
                <a:solidFill>
                  <a:srgbClr val="7C818B"/>
                </a:solidFill>
                <a:latin typeface="Consolas"/>
                <a:ea typeface="Consolas"/>
                <a:cs typeface="Consolas"/>
              </a:rPr>
              <a:t>OpenAI 兼容路由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84648" y="2706624"/>
            <a:ext cx="2060448" cy="3840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A9A9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 i="0">
                <a:solidFill>
                  <a:srgbClr val="16181C"/>
                </a:solidFill>
                <a:latin typeface="Microsoft YaHei"/>
                <a:ea typeface="Microsoft YaHei"/>
                <a:cs typeface="Microsoft YaHei"/>
              </a:rPr>
              <a:t>Processor</a:t>
            </a:r>
          </a:p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650" b="0" i="0">
                <a:solidFill>
                  <a:srgbClr val="7C818B"/>
                </a:solidFill>
                <a:latin typeface="Consolas"/>
                <a:ea typeface="Consolas"/>
                <a:cs typeface="Consolas"/>
              </a:rPr>
              <a:t>tokenize · MM 预处理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36536" y="2706624"/>
            <a:ext cx="2060448" cy="3840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A9A9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 i="0">
                <a:solidFill>
                  <a:srgbClr val="16181C"/>
                </a:solidFill>
                <a:latin typeface="Microsoft YaHei"/>
                <a:ea typeface="Microsoft YaHei"/>
                <a:cs typeface="Microsoft YaHei"/>
              </a:rPr>
              <a:t>AsyncLLM</a:t>
            </a:r>
          </a:p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650" b="0" i="0">
                <a:solidFill>
                  <a:srgbClr val="7C818B"/>
                </a:solidFill>
                <a:latin typeface="Consolas"/>
                <a:ea typeface="Consolas"/>
                <a:cs typeface="Consolas"/>
              </a:rPr>
              <a:t>请求入口 · 输出流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488424" y="2706624"/>
            <a:ext cx="2060448" cy="3840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A9A9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 i="0">
                <a:solidFill>
                  <a:srgbClr val="16181C"/>
                </a:solidFill>
                <a:latin typeface="Microsoft YaHei"/>
                <a:ea typeface="Microsoft YaHei"/>
                <a:cs typeface="Microsoft YaHei"/>
              </a:rPr>
              <a:t>OutputProcessor</a:t>
            </a:r>
          </a:p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650" b="0" i="0">
                <a:solidFill>
                  <a:srgbClr val="7C818B"/>
                </a:solidFill>
                <a:latin typeface="Consolas"/>
                <a:ea typeface="Consolas"/>
                <a:cs typeface="Consolas"/>
              </a:rPr>
              <a:t>detokenize · 增量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74920" y="3227832"/>
            <a:ext cx="6583680" cy="219456"/>
          </a:xfrm>
          <a:prstGeom prst="rect">
            <a:avLst/>
          </a:prstGeom>
          <a:noFill/>
          <a:effectLst/>
        </p:spPr>
        <p:txBody>
          <a:bodyPr wrap="square" lIns="45720" tIns="27432" rIns="45720" bIns="27432" anchor="ctr">
            <a:spAutoFit/>
          </a:bodyPr>
          <a:lstStyle/>
          <a:p>
            <a:pPr algn="ctr">
              <a:spcBef>
                <a:spcPts val="0"/>
              </a:spcBef>
            </a:pPr>
            <a:r>
              <a:rPr sz="750" b="0" i="0">
                <a:solidFill>
                  <a:srgbClr val="7C818B"/>
                </a:solidFill>
                <a:latin typeface="Consolas"/>
                <a:ea typeface="Consolas"/>
                <a:cs typeface="Consolas"/>
              </a:rPr>
              <a:t>↓ EngineCoreClient · ZMQ ↓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74920" y="3520440"/>
            <a:ext cx="6583680" cy="2048256"/>
          </a:xfrm>
          <a:prstGeom prst="roundRect">
            <a:avLst>
              <a:gd name="adj" fmla="val 3000"/>
            </a:avLst>
          </a:prstGeom>
          <a:solidFill>
            <a:srgbClr val="EDEDE8"/>
          </a:solidFill>
          <a:ln w="15875">
            <a:solidFill>
              <a:srgbClr val="A9A9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184648" y="3419856"/>
            <a:ext cx="1335024" cy="201168"/>
          </a:xfrm>
          <a:prstGeom prst="rect">
            <a:avLst/>
          </a:prstGeom>
          <a:solidFill>
            <a:srgbClr val="EDE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spcBef>
                <a:spcPts val="0"/>
              </a:spcBef>
            </a:pPr>
            <a:r>
              <a:rPr sz="650" b="0" i="0">
                <a:solidFill>
                  <a:srgbClr val="7C818B"/>
                </a:solidFill>
                <a:latin typeface="Consolas"/>
                <a:ea typeface="Consolas"/>
                <a:cs typeface="Consolas"/>
              </a:rPr>
              <a:t>ENGINECORE 进程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184648" y="3776472"/>
            <a:ext cx="3136392" cy="3840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A9A9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 i="0">
                <a:solidFill>
                  <a:srgbClr val="16181C"/>
                </a:solidFill>
                <a:latin typeface="Microsoft YaHei"/>
                <a:ea typeface="Microsoft YaHei"/>
                <a:cs typeface="Microsoft YaHei"/>
              </a:rPr>
              <a:t>Scheduler</a:t>
            </a:r>
          </a:p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650" b="0" i="0">
                <a:solidFill>
                  <a:srgbClr val="7C818B"/>
                </a:solidFill>
                <a:latin typeface="Consolas"/>
                <a:ea typeface="Consolas"/>
                <a:cs typeface="Consolas"/>
              </a:rPr>
              <a:t>连续批处理 · chunked prefill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412480" y="3776472"/>
            <a:ext cx="3136392" cy="3840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A9A9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 i="0">
                <a:solidFill>
                  <a:srgbClr val="16181C"/>
                </a:solidFill>
                <a:latin typeface="Microsoft YaHei"/>
                <a:ea typeface="Microsoft YaHei"/>
                <a:cs typeface="Microsoft YaHei"/>
              </a:rPr>
              <a:t>KV Cache Manager</a:t>
            </a:r>
          </a:p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650" b="0" i="0">
                <a:solidFill>
                  <a:srgbClr val="7C818B"/>
                </a:solidFill>
                <a:latin typeface="Consolas"/>
                <a:ea typeface="Consolas"/>
                <a:cs typeface="Consolas"/>
              </a:rPr>
              <a:t>块表 · 前缀复用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184648" y="4251960"/>
            <a:ext cx="6364224" cy="3840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A9A9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 i="0">
                <a:solidFill>
                  <a:srgbClr val="16181C"/>
                </a:solidFill>
                <a:latin typeface="Microsoft YaHei"/>
                <a:ea typeface="Microsoft YaHei"/>
                <a:cs typeface="Microsoft YaHei"/>
              </a:rPr>
              <a:t>Executor</a:t>
            </a:r>
          </a:p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650" b="0" i="0">
                <a:solidFill>
                  <a:srgbClr val="7C818B"/>
                </a:solidFill>
                <a:latin typeface="Consolas"/>
                <a:ea typeface="Consolas"/>
                <a:cs typeface="Consolas"/>
              </a:rPr>
              <a:t>multiproc · TP/PP 广播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294376" y="4727448"/>
            <a:ext cx="6144768" cy="694943"/>
          </a:xfrm>
          <a:prstGeom prst="roundRect">
            <a:avLst>
              <a:gd name="adj" fmla="val 3000"/>
            </a:avLst>
          </a:prstGeom>
          <a:noFill/>
          <a:ln w="15875">
            <a:solidFill>
              <a:srgbClr val="A9A99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404104" y="4626864"/>
            <a:ext cx="1335024" cy="2011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spcBef>
                <a:spcPts val="0"/>
              </a:spcBef>
            </a:pPr>
            <a:r>
              <a:rPr sz="650" b="0" i="0">
                <a:solidFill>
                  <a:srgbClr val="7C818B"/>
                </a:solidFill>
                <a:latin typeface="Consolas"/>
                <a:ea typeface="Consolas"/>
                <a:cs typeface="Consolas"/>
              </a:rPr>
              <a:t>WORKER 进程 ×TP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04104" y="4946904"/>
            <a:ext cx="1914144" cy="3840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A9A9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 i="0">
                <a:solidFill>
                  <a:srgbClr val="16181C"/>
                </a:solidFill>
                <a:latin typeface="Microsoft YaHei"/>
                <a:ea typeface="Microsoft YaHei"/>
                <a:cs typeface="Microsoft YaHei"/>
              </a:rPr>
              <a:t>Worker</a:t>
            </a:r>
          </a:p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650" b="0" i="0">
                <a:solidFill>
                  <a:srgbClr val="7C818B"/>
                </a:solidFill>
                <a:latin typeface="Consolas"/>
                <a:ea typeface="Consolas"/>
                <a:cs typeface="Consolas"/>
              </a:rPr>
              <a:t>持有 GPU · KV blocks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409688" y="4946904"/>
            <a:ext cx="1914144" cy="3840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A9A9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 i="0">
                <a:solidFill>
                  <a:srgbClr val="16181C"/>
                </a:solidFill>
                <a:latin typeface="Microsoft YaHei"/>
                <a:ea typeface="Microsoft YaHei"/>
                <a:cs typeface="Microsoft YaHei"/>
              </a:rPr>
              <a:t>Model Runner</a:t>
            </a:r>
          </a:p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650" b="0" i="0">
                <a:solidFill>
                  <a:srgbClr val="7C818B"/>
                </a:solidFill>
                <a:latin typeface="Consolas"/>
                <a:ea typeface="Consolas"/>
                <a:cs typeface="Consolas"/>
              </a:rPr>
              <a:t>建 batch · forward · 采样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415272" y="4946904"/>
            <a:ext cx="1914144" cy="3840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A9A9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 i="0">
                <a:solidFill>
                  <a:srgbClr val="16181C"/>
                </a:solidFill>
                <a:latin typeface="Microsoft YaHei"/>
                <a:ea typeface="Microsoft YaHei"/>
                <a:cs typeface="Microsoft YaHei"/>
              </a:rPr>
              <a:t>Model</a:t>
            </a:r>
          </a:p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650" b="0" i="0">
                <a:solidFill>
                  <a:srgbClr val="7C818B"/>
                </a:solidFill>
                <a:latin typeface="Consolas"/>
                <a:ea typeface="Consolas"/>
                <a:cs typeface="Consolas"/>
              </a:rPr>
              <a:t>Llama / Qwen …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502920" y="6053328"/>
            <a:ext cx="11183112" cy="0"/>
          </a:xfrm>
          <a:prstGeom prst="line">
            <a:avLst/>
          </a:prstGeom>
          <a:ln w="12700">
            <a:solidFill>
              <a:srgbClr val="D6D6C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502920" y="6108192"/>
            <a:ext cx="11183112" cy="457200"/>
          </a:xfrm>
          <a:prstGeom prst="rect">
            <a:avLst/>
          </a:prstGeom>
          <a:noFill/>
          <a:effectLst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50" b="1" i="0">
                <a:solidFill>
                  <a:srgbClr val="3E5FD9"/>
                </a:solidFill>
                <a:latin typeface="Consolas"/>
                <a:ea typeface="Consolas"/>
                <a:cs typeface="Consolas"/>
              </a:rPr>
              <a:t>四层纵深   </a:t>
            </a:r>
            <a:r>
              <a:rPr sz="1050" b="0" i="0">
                <a:solidFill>
                  <a:srgbClr val="16181C"/>
                </a:solidFill>
                <a:latin typeface="Microsoft YaHei"/>
                <a:ea typeface="Microsoft YaHei"/>
                <a:cs typeface="Microsoft YaHei"/>
              </a:rPr>
              <a:t>Scheduler 决定算什么 · Executor 分发 · Worker 持有显存 · ModelRunner 跑前向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85855" y="6473952"/>
            <a:ext cx="731520" cy="274320"/>
          </a:xfrm>
          <a:prstGeom prst="rect">
            <a:avLst/>
          </a:prstGeom>
          <a:noFill/>
          <a:effectLst/>
        </p:spPr>
        <p:txBody>
          <a:bodyPr wrap="square" lIns="45720" tIns="27432" rIns="45720" bIns="27432" anchor="b">
            <a:spAutoFit/>
          </a:bodyPr>
          <a:lstStyle/>
          <a:p>
            <a:pPr algn="r">
              <a:spcBef>
                <a:spcPts val="0"/>
              </a:spcBef>
            </a:pPr>
            <a:r>
              <a:rPr sz="850" b="0" i="0">
                <a:solidFill>
                  <a:srgbClr val="7C818B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5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" dur="5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" dur="5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" dur="50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5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" dur="50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457200" cy="237744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3E5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27432" rIns="36576" bIns="27432" rtlCol="0" anchor="ctr"/>
          <a:lstStyle/>
          <a:p>
            <a:pPr algn="ctr">
              <a:spcBef>
                <a:spcPts val="0"/>
              </a:spcBef>
            </a:pPr>
            <a:r>
              <a:rPr sz="850" b="1" i="0">
                <a:solidFill>
                  <a:srgbClr val="3E5FD9"/>
                </a:solidFill>
                <a:latin typeface="Microsoft YaHei"/>
                <a:ea typeface="Microsoft YaHei"/>
                <a:cs typeface="Microsoft YaHei"/>
              </a:rPr>
              <a:t>开场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" y="356616"/>
            <a:ext cx="8229600" cy="256032"/>
          </a:xfrm>
          <a:prstGeom prst="rect">
            <a:avLst/>
          </a:prstGeom>
          <a:noFill/>
          <a:effectLst/>
        </p:spPr>
        <p:txBody>
          <a:bodyPr wrap="square" lIns="45720" tIns="27432" rIns="45720" bIns="27432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850" b="0" i="0">
                <a:solidFill>
                  <a:srgbClr val="7C818B"/>
                </a:solidFill>
                <a:latin typeface="Consolas"/>
                <a:ea typeface="Consolas"/>
                <a:cs typeface="Consolas"/>
              </a:rPr>
              <a:t>全模态模型来了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31520"/>
            <a:ext cx="11155680" cy="868680"/>
          </a:xfrm>
          <a:prstGeom prst="rect">
            <a:avLst/>
          </a:prstGeom>
          <a:noFill/>
          <a:effectLst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100" b="1" i="0">
                <a:solidFill>
                  <a:srgbClr val="16181C"/>
                </a:solidFill>
                <a:latin typeface="Microsoft YaHei"/>
                <a:ea typeface="Microsoft YaHei"/>
                <a:cs typeface="Microsoft YaHei"/>
              </a:rPr>
              <a:t>三条假设，全被打破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377440"/>
            <a:ext cx="3514344" cy="1737360"/>
          </a:xfrm>
          <a:prstGeom prst="roundRect">
            <a:avLst>
              <a:gd name="adj" fmla="val 5000"/>
            </a:avLst>
          </a:prstGeom>
          <a:solidFill>
            <a:srgbClr val="EDEDE8"/>
          </a:solidFill>
          <a:ln w="12700">
            <a:solidFill>
              <a:srgbClr val="D6D6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09728" rIns="128016" bIns="91440" rtlCol="0" anchor="t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750" b="0" i="0">
                <a:solidFill>
                  <a:srgbClr val="7C818B"/>
                </a:solidFill>
                <a:latin typeface="Consolas"/>
                <a:ea typeface="Consolas"/>
                <a:cs typeface="Consolas"/>
              </a:rPr>
              <a:t>BROKEN 01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 strike="sngStrike">
                <a:solidFill>
                  <a:srgbClr val="16181C"/>
                </a:solidFill>
                <a:latin typeface="Microsoft YaHei"/>
                <a:ea typeface="Microsoft YaHei"/>
                <a:cs typeface="Microsoft YaHei"/>
              </a:rPr>
              <a:t>输入是 token</a:t>
            </a:r>
          </a:p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100" b="0" i="0">
                <a:solidFill>
                  <a:srgbClr val="4A4E57"/>
                </a:solidFill>
                <a:latin typeface="Microsoft YaHei"/>
                <a:ea typeface="Microsoft YaHei"/>
                <a:cs typeface="Microsoft YaHei"/>
              </a:rPr>
              <a:t>音频波形、视频帧、上一阶段的 KV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37304" y="2377440"/>
            <a:ext cx="3514344" cy="1737360"/>
          </a:xfrm>
          <a:prstGeom prst="roundRect">
            <a:avLst>
              <a:gd name="adj" fmla="val 5000"/>
            </a:avLst>
          </a:prstGeom>
          <a:solidFill>
            <a:srgbClr val="EDEDE8"/>
          </a:solidFill>
          <a:ln w="12700">
            <a:solidFill>
              <a:srgbClr val="D6D6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09728" rIns="128016" bIns="91440" rtlCol="0" anchor="t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750" b="0" i="0">
                <a:solidFill>
                  <a:srgbClr val="7C818B"/>
                </a:solidFill>
                <a:latin typeface="Consolas"/>
                <a:ea typeface="Consolas"/>
                <a:cs typeface="Consolas"/>
              </a:rPr>
              <a:t>BROKEN 02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 strike="sngStrike">
                <a:solidFill>
                  <a:srgbClr val="16181C"/>
                </a:solidFill>
                <a:latin typeface="Microsoft YaHei"/>
                <a:ea typeface="Microsoft YaHei"/>
                <a:cs typeface="Microsoft YaHei"/>
              </a:rPr>
              <a:t>输出是 token</a:t>
            </a:r>
          </a:p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100" b="0" i="0">
                <a:solidFill>
                  <a:srgbClr val="4A4E57"/>
                </a:solidFill>
                <a:latin typeface="Microsoft YaHei"/>
                <a:ea typeface="Microsoft YaHei"/>
                <a:cs typeface="Microsoft YaHei"/>
              </a:rPr>
              <a:t>波形、图像、视频 —— 没有 EOS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71688" y="2377440"/>
            <a:ext cx="3514344" cy="1737360"/>
          </a:xfrm>
          <a:prstGeom prst="roundRect">
            <a:avLst>
              <a:gd name="adj" fmla="val 5000"/>
            </a:avLst>
          </a:prstGeom>
          <a:solidFill>
            <a:srgbClr val="EDEDE8"/>
          </a:solidFill>
          <a:ln w="12700">
            <a:solidFill>
              <a:srgbClr val="D6D6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09728" rIns="128016" bIns="91440" rtlCol="0" anchor="t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750" b="0" i="0">
                <a:solidFill>
                  <a:srgbClr val="7C818B"/>
                </a:solidFill>
                <a:latin typeface="Consolas"/>
                <a:ea typeface="Consolas"/>
                <a:cs typeface="Consolas"/>
              </a:rPr>
              <a:t>BROKEN 03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 strike="sngStrike">
                <a:solidFill>
                  <a:srgbClr val="16181C"/>
                </a:solidFill>
                <a:latin typeface="Microsoft YaHei"/>
                <a:ea typeface="Microsoft YaHei"/>
                <a:cs typeface="Microsoft YaHei"/>
              </a:rPr>
              <a:t>结构是自回归</a:t>
            </a:r>
          </a:p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100" b="0" i="0">
                <a:solidFill>
                  <a:srgbClr val="4A4E57"/>
                </a:solidFill>
                <a:latin typeface="Microsoft YaHei"/>
                <a:ea typeface="Microsoft YaHei"/>
                <a:cs typeface="Microsoft YaHei"/>
              </a:rPr>
              <a:t>AR ＋ DiT ＋ VAE ＋ Codec 同处一「模型」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02920" y="6053328"/>
            <a:ext cx="11183112" cy="0"/>
          </a:xfrm>
          <a:prstGeom prst="line">
            <a:avLst/>
          </a:prstGeom>
          <a:ln w="12700">
            <a:solidFill>
              <a:srgbClr val="D6D6C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02920" y="6108192"/>
            <a:ext cx="11183112" cy="457200"/>
          </a:xfrm>
          <a:prstGeom prst="rect">
            <a:avLst/>
          </a:prstGeom>
          <a:noFill/>
          <a:effectLst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50" b="1" i="0">
                <a:solidFill>
                  <a:srgbClr val="3E5FD9"/>
                </a:solidFill>
                <a:latin typeface="Consolas"/>
                <a:ea typeface="Consolas"/>
                <a:cs typeface="Consolas"/>
              </a:rPr>
              <a:t>四章   </a:t>
            </a:r>
            <a:r>
              <a:rPr sz="1050" b="0" i="0">
                <a:solidFill>
                  <a:srgbClr val="16181C"/>
                </a:solidFill>
                <a:latin typeface="Microsoft YaHei"/>
                <a:ea typeface="Microsoft YaHei"/>
                <a:cs typeface="Microsoft YaHei"/>
              </a:rPr>
              <a:t>Qwen3-Omni · BAGEL · DreamZero / Cosmos · MiniCPM-o 4.5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85855" y="6473952"/>
            <a:ext cx="731520" cy="274320"/>
          </a:xfrm>
          <a:prstGeom prst="rect">
            <a:avLst/>
          </a:prstGeom>
          <a:noFill/>
          <a:effectLst/>
        </p:spPr>
        <p:txBody>
          <a:bodyPr wrap="square" lIns="45720" tIns="27432" rIns="45720" bIns="27432" anchor="b">
            <a:spAutoFit/>
          </a:bodyPr>
          <a:lstStyle/>
          <a:p>
            <a:pPr algn="r">
              <a:spcBef>
                <a:spcPts val="0"/>
              </a:spcBef>
            </a:pPr>
            <a:r>
              <a:rPr sz="850" b="0" i="0">
                <a:solidFill>
                  <a:srgbClr val="7C818B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1005839" cy="237744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3E5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27432" rIns="36576" bIns="27432" rtlCol="0" anchor="ctr"/>
          <a:lstStyle/>
          <a:p>
            <a:pPr algn="ctr">
              <a:spcBef>
                <a:spcPts val="0"/>
              </a:spcBef>
            </a:pPr>
            <a:r>
              <a:rPr sz="850" b="1" i="0">
                <a:solidFill>
                  <a:srgbClr val="3E5FD9"/>
                </a:solidFill>
                <a:latin typeface="Microsoft YaHei"/>
                <a:ea typeface="Microsoft YaHei"/>
                <a:cs typeface="Microsoft YaHei"/>
              </a:rPr>
              <a:t>① Qwen3-Omni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18488" y="356616"/>
            <a:ext cx="8229600" cy="256032"/>
          </a:xfrm>
          <a:prstGeom prst="rect">
            <a:avLst/>
          </a:prstGeom>
          <a:noFill/>
          <a:effectLst/>
        </p:spPr>
        <p:txBody>
          <a:bodyPr wrap="square" lIns="45720" tIns="27432" rIns="45720" bIns="27432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850" b="0" i="0">
                <a:solidFill>
                  <a:srgbClr val="7C818B"/>
                </a:solidFill>
                <a:latin typeface="Consolas"/>
                <a:ea typeface="Consolas"/>
                <a:cs typeface="Consolas"/>
              </a:rPr>
              <a:t>模型长什么样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31520"/>
            <a:ext cx="11155680" cy="868680"/>
          </a:xfrm>
          <a:prstGeom prst="rect">
            <a:avLst/>
          </a:prstGeom>
          <a:noFill/>
          <a:effectLst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100" b="1" i="0">
                <a:solidFill>
                  <a:srgbClr val="16181C"/>
                </a:solidFill>
                <a:latin typeface="Microsoft YaHei"/>
                <a:ea typeface="Microsoft YaHei"/>
                <a:cs typeface="Microsoft YaHei"/>
              </a:rPr>
              <a:t>一个模型 ＝ 三段流水线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2834640"/>
            <a:ext cx="2606040" cy="1143000"/>
          </a:xfrm>
          <a:prstGeom prst="roundRect">
            <a:avLst>
              <a:gd name="adj" fmla="val 5000"/>
            </a:avLst>
          </a:prstGeom>
          <a:solidFill>
            <a:srgbClr val="F5EEE2"/>
          </a:solidFill>
          <a:ln w="19050">
            <a:solidFill>
              <a:srgbClr val="A96F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50" b="1" i="0">
                <a:solidFill>
                  <a:srgbClr val="A96F0C"/>
                </a:solidFill>
                <a:latin typeface="Microsoft YaHei"/>
                <a:ea typeface="Microsoft YaHei"/>
                <a:cs typeface="Microsoft YaHei"/>
              </a:rPr>
              <a:t>Thinker</a:t>
            </a:r>
          </a:p>
          <a:p>
            <a:pPr algn="ctr">
              <a:spcBef>
                <a:spcPts val="0"/>
              </a:spcBef>
            </a:pPr>
            <a:r>
              <a:rPr sz="850" b="0" i="0">
                <a:solidFill>
                  <a:srgbClr val="7C818B"/>
                </a:solidFill>
                <a:latin typeface="Consolas"/>
                <a:ea typeface="Consolas"/>
                <a:cs typeface="Consolas"/>
              </a:rPr>
              <a:t>AR · 理解 + 出文本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566160" y="3406140"/>
            <a:ext cx="960120" cy="0"/>
          </a:xfrm>
          <a:prstGeom prst="line">
            <a:avLst/>
          </a:prstGeom>
          <a:ln w="19050">
            <a:solidFill>
              <a:srgbClr val="A9A99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291840" y="3113532"/>
            <a:ext cx="1508760" cy="256032"/>
          </a:xfrm>
          <a:prstGeom prst="rect">
            <a:avLst/>
          </a:prstGeom>
          <a:noFill/>
          <a:effectLst/>
        </p:spPr>
        <p:txBody>
          <a:bodyPr wrap="square" lIns="45720" tIns="27432" rIns="45720" bIns="27432" anchor="b">
            <a:spAutoFit/>
          </a:bodyPr>
          <a:lstStyle/>
          <a:p>
            <a:pPr algn="ctr">
              <a:spcBef>
                <a:spcPts val="0"/>
              </a:spcBef>
            </a:pPr>
            <a:r>
              <a:rPr sz="750" b="0" i="0">
                <a:solidFill>
                  <a:srgbClr val="7C818B"/>
                </a:solidFill>
                <a:latin typeface="Consolas"/>
                <a:ea typeface="Consolas"/>
                <a:cs typeface="Consolas"/>
              </a:rPr>
              <a:t>hidden state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17720" y="2834640"/>
            <a:ext cx="2606040" cy="1143000"/>
          </a:xfrm>
          <a:prstGeom prst="roundRect">
            <a:avLst>
              <a:gd name="adj" fmla="val 5000"/>
            </a:avLst>
          </a:prstGeom>
          <a:solidFill>
            <a:srgbClr val="E5F2F1"/>
          </a:solidFill>
          <a:ln w="19050">
            <a:solidFill>
              <a:srgbClr val="0E8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50" b="1" i="0">
                <a:solidFill>
                  <a:srgbClr val="0E8C7C"/>
                </a:solidFill>
                <a:latin typeface="Microsoft YaHei"/>
                <a:ea typeface="Microsoft YaHei"/>
                <a:cs typeface="Microsoft YaHei"/>
              </a:rPr>
              <a:t>Talker</a:t>
            </a:r>
          </a:p>
          <a:p>
            <a:pPr algn="ctr">
              <a:spcBef>
                <a:spcPts val="0"/>
              </a:spcBef>
            </a:pPr>
            <a:r>
              <a:rPr sz="850" b="0" i="0">
                <a:solidFill>
                  <a:srgbClr val="7C818B"/>
                </a:solidFill>
                <a:latin typeface="Consolas"/>
                <a:ea typeface="Consolas"/>
                <a:cs typeface="Consolas"/>
              </a:rPr>
              <a:t>AR · 出 codec code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315200" y="3406140"/>
            <a:ext cx="960120" cy="0"/>
          </a:xfrm>
          <a:prstGeom prst="line">
            <a:avLst/>
          </a:prstGeom>
          <a:ln w="19050">
            <a:solidFill>
              <a:srgbClr val="A9A99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040880" y="3113532"/>
            <a:ext cx="1508760" cy="256032"/>
          </a:xfrm>
          <a:prstGeom prst="rect">
            <a:avLst/>
          </a:prstGeom>
          <a:noFill/>
          <a:effectLst/>
        </p:spPr>
        <p:txBody>
          <a:bodyPr wrap="square" lIns="45720" tIns="27432" rIns="45720" bIns="27432" anchor="b">
            <a:spAutoFit/>
          </a:bodyPr>
          <a:lstStyle/>
          <a:p>
            <a:pPr algn="ctr">
              <a:spcBef>
                <a:spcPts val="0"/>
              </a:spcBef>
            </a:pPr>
            <a:r>
              <a:rPr sz="750" b="0" i="0">
                <a:solidFill>
                  <a:srgbClr val="7C818B"/>
                </a:solidFill>
                <a:latin typeface="Consolas"/>
                <a:ea typeface="Consolas"/>
                <a:cs typeface="Consolas"/>
              </a:rPr>
              <a:t>codec codes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66760" y="2834640"/>
            <a:ext cx="2606040" cy="1143000"/>
          </a:xfrm>
          <a:prstGeom prst="roundRect">
            <a:avLst>
              <a:gd name="adj" fmla="val 5000"/>
            </a:avLst>
          </a:prstGeom>
          <a:solidFill>
            <a:srgbClr val="E5F2F1"/>
          </a:solidFill>
          <a:ln w="19050">
            <a:solidFill>
              <a:srgbClr val="0E8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50" b="1" i="0">
                <a:solidFill>
                  <a:srgbClr val="0E8C7C"/>
                </a:solidFill>
                <a:latin typeface="Microsoft YaHei"/>
                <a:ea typeface="Microsoft YaHei"/>
                <a:cs typeface="Microsoft YaHei"/>
              </a:rPr>
              <a:t>Code2Wav</a:t>
            </a:r>
          </a:p>
          <a:p>
            <a:pPr algn="ctr">
              <a:spcBef>
                <a:spcPts val="0"/>
              </a:spcBef>
            </a:pPr>
            <a:r>
              <a:rPr sz="850" b="0" i="0">
                <a:solidFill>
                  <a:srgbClr val="7C818B"/>
                </a:solidFill>
                <a:latin typeface="Consolas"/>
                <a:ea typeface="Consolas"/>
                <a:cs typeface="Consolas"/>
              </a:rPr>
              <a:t>非 AR · 出波形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02920" y="6053328"/>
            <a:ext cx="11183112" cy="0"/>
          </a:xfrm>
          <a:prstGeom prst="line">
            <a:avLst/>
          </a:prstGeom>
          <a:ln w="12700">
            <a:solidFill>
              <a:srgbClr val="D6D6C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02920" y="6108192"/>
            <a:ext cx="11183112" cy="457200"/>
          </a:xfrm>
          <a:prstGeom prst="rect">
            <a:avLst/>
          </a:prstGeom>
          <a:noFill/>
          <a:effectLst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50" b="1" i="0">
                <a:solidFill>
                  <a:srgbClr val="3E5FD9"/>
                </a:solidFill>
                <a:latin typeface="Consolas"/>
                <a:ea typeface="Consolas"/>
                <a:cs typeface="Consolas"/>
              </a:rPr>
              <a:t>矛盾   </a:t>
            </a:r>
            <a:r>
              <a:rPr sz="1050" b="0" i="0">
                <a:solidFill>
                  <a:srgbClr val="16181C"/>
                </a:solidFill>
                <a:latin typeface="Microsoft YaHei"/>
                <a:ea typeface="Microsoft YaHei"/>
                <a:cs typeface="Microsoft YaHei"/>
              </a:rPr>
              <a:t>三段权重 / 并行度 / batch 节奏各异 · 一个 EngineCore 只能挂一个模型 · 无副本概念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85855" y="6473952"/>
            <a:ext cx="731520" cy="274320"/>
          </a:xfrm>
          <a:prstGeom prst="rect">
            <a:avLst/>
          </a:prstGeom>
          <a:noFill/>
          <a:effectLst/>
        </p:spPr>
        <p:txBody>
          <a:bodyPr wrap="square" lIns="45720" tIns="27432" rIns="45720" bIns="27432" anchor="b">
            <a:spAutoFit/>
          </a:bodyPr>
          <a:lstStyle/>
          <a:p>
            <a:pPr algn="r">
              <a:spcBef>
                <a:spcPts val="0"/>
              </a:spcBef>
            </a:pPr>
            <a:r>
              <a:rPr sz="850" b="0" i="0">
                <a:solidFill>
                  <a:srgbClr val="7C818B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813816" cy="237744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3E5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27432" rIns="36576" bIns="27432" rtlCol="0" anchor="ctr"/>
          <a:lstStyle/>
          <a:p>
            <a:pPr algn="ctr">
              <a:spcBef>
                <a:spcPts val="0"/>
              </a:spcBef>
            </a:pPr>
            <a:r>
              <a:rPr sz="850" b="1" i="0">
                <a:solidFill>
                  <a:srgbClr val="3E5FD9"/>
                </a:solidFill>
                <a:latin typeface="Microsoft YaHei"/>
                <a:ea typeface="Microsoft YaHei"/>
                <a:cs typeface="Microsoft YaHei"/>
              </a:rPr>
              <a:t>① 改动聚焦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26464" y="356616"/>
            <a:ext cx="8229600" cy="256032"/>
          </a:xfrm>
          <a:prstGeom prst="rect">
            <a:avLst/>
          </a:prstGeom>
          <a:noFill/>
          <a:effectLst/>
        </p:spPr>
        <p:txBody>
          <a:bodyPr wrap="square" lIns="45720" tIns="27432" rIns="45720" bIns="27432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850" b="0" i="0">
                <a:solidFill>
                  <a:srgbClr val="7C818B"/>
                </a:solidFill>
                <a:latin typeface="Consolas"/>
                <a:ea typeface="Consolas"/>
                <a:cs typeface="Consolas"/>
              </a:rPr>
              <a:t>引擎接入层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78992"/>
            <a:ext cx="11155680" cy="256032"/>
          </a:xfrm>
          <a:prstGeom prst="rect">
            <a:avLst/>
          </a:prstGeom>
          <a:noFill/>
          <a:effectLst/>
        </p:spPr>
        <p:txBody>
          <a:bodyPr wrap="square" lIns="45720" tIns="27432" rIns="45720" bIns="27432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800" b="0" i="0">
                <a:solidFill>
                  <a:srgbClr val="7C818B"/>
                </a:solidFill>
                <a:latin typeface="Consolas"/>
                <a:ea typeface="Consolas"/>
                <a:cs typeface="Consolas"/>
              </a:rPr>
              <a:t>前端进程  ›  </a:t>
            </a:r>
            <a:r>
              <a:rPr sz="800" b="1" i="0">
                <a:solidFill>
                  <a:srgbClr val="3E5FD9"/>
                </a:solidFill>
                <a:latin typeface="Consolas"/>
                <a:ea typeface="Consolas"/>
                <a:cs typeface="Consolas"/>
              </a:rPr>
              <a:t>引擎接入层 ← 改在这里</a:t>
            </a:r>
            <a:r>
              <a:rPr sz="800" b="0" i="0">
                <a:solidFill>
                  <a:srgbClr val="7C818B"/>
                </a:solidFill>
                <a:latin typeface="Consolas"/>
                <a:ea typeface="Consolas"/>
                <a:cs typeface="Consolas"/>
              </a:rPr>
              <a:t>  ›  EngineCore 内部（不动）        </a:t>
            </a:r>
            <a:r>
              <a:rPr sz="800" b="0" i="0">
                <a:solidFill>
                  <a:srgbClr val="3E5FD9"/>
                </a:solidFill>
                <a:latin typeface="Consolas"/>
                <a:ea typeface="Consolas"/>
                <a:cs typeface="Consolas"/>
              </a:rPr>
              <a:t>■ 新增 </a:t>
            </a:r>
            <a:r>
              <a:rPr sz="800" b="0" i="0">
                <a:solidFill>
                  <a:srgbClr val="A96F0C"/>
                </a:solidFill>
                <a:latin typeface="Consolas"/>
                <a:ea typeface="Consolas"/>
                <a:cs typeface="Consolas"/>
              </a:rPr>
              <a:t>■ 改造 </a:t>
            </a:r>
            <a:r>
              <a:rPr sz="800" b="0" i="0">
                <a:solidFill>
                  <a:srgbClr val="C4326F"/>
                </a:solidFill>
                <a:latin typeface="Consolas"/>
                <a:ea typeface="Consolas"/>
                <a:cs typeface="Consolas"/>
              </a:rPr>
              <a:t>■ 移除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11155680" cy="868680"/>
          </a:xfrm>
          <a:prstGeom prst="rect">
            <a:avLst/>
          </a:prstGeom>
          <a:noFill/>
          <a:effectLst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900" b="1" i="0">
                <a:solidFill>
                  <a:srgbClr val="16181C"/>
                </a:solidFill>
                <a:latin typeface="Microsoft YaHei"/>
                <a:ea typeface="Microsoft YaHei"/>
                <a:cs typeface="Microsoft YaHei"/>
              </a:rPr>
              <a:t>EngineCore 复制 N 份，外面套一层 StagePool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148840"/>
            <a:ext cx="5349240" cy="237744"/>
          </a:xfrm>
          <a:prstGeom prst="rect">
            <a:avLst/>
          </a:prstGeom>
          <a:noFill/>
          <a:effectLst/>
        </p:spPr>
        <p:txBody>
          <a:bodyPr wrap="square" lIns="45720" tIns="27432" rIns="45720" bIns="18288" anchor="b">
            <a:spAutoFit/>
          </a:bodyPr>
          <a:lstStyle/>
          <a:p>
            <a:pPr algn="l">
              <a:spcBef>
                <a:spcPts val="0"/>
              </a:spcBef>
            </a:pPr>
            <a:r>
              <a:rPr sz="850" b="1" i="0">
                <a:solidFill>
                  <a:srgbClr val="7C818B"/>
                </a:solidFill>
                <a:latin typeface="Consolas"/>
                <a:ea typeface="Consolas"/>
                <a:cs typeface="Consolas"/>
              </a:rPr>
              <a:t>改造前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148840"/>
            <a:ext cx="5349240" cy="237744"/>
          </a:xfrm>
          <a:prstGeom prst="rect">
            <a:avLst/>
          </a:prstGeom>
          <a:noFill/>
          <a:effectLst/>
        </p:spPr>
        <p:txBody>
          <a:bodyPr wrap="square" lIns="45720" tIns="27432" rIns="45720" bIns="18288" anchor="b">
            <a:spAutoFit/>
          </a:bodyPr>
          <a:lstStyle/>
          <a:p>
            <a:pPr algn="r">
              <a:spcBef>
                <a:spcPts val="0"/>
              </a:spcBef>
            </a:pPr>
            <a:r>
              <a:rPr sz="750" b="0" i="0">
                <a:solidFill>
                  <a:srgbClr val="7C818B"/>
                </a:solidFill>
                <a:latin typeface="Consolas"/>
                <a:ea typeface="Consolas"/>
                <a:cs typeface="Consolas"/>
              </a:rPr>
              <a:t>请求直达唯一引擎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02920" y="2404872"/>
            <a:ext cx="5349239" cy="0"/>
          </a:xfrm>
          <a:prstGeom prst="line">
            <a:avLst/>
          </a:prstGeom>
          <a:ln w="12700">
            <a:solidFill>
              <a:srgbClr val="7C818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02920" y="2542032"/>
            <a:ext cx="5349240" cy="676656"/>
          </a:xfrm>
          <a:prstGeom prst="roundRect">
            <a:avLst>
              <a:gd name="adj" fmla="val 3000"/>
            </a:avLst>
          </a:prstGeom>
          <a:solidFill>
            <a:srgbClr val="EDEDE8"/>
          </a:solidFill>
          <a:ln w="15875">
            <a:solidFill>
              <a:srgbClr val="A9A9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12648" y="2441448"/>
            <a:ext cx="512064" cy="201168"/>
          </a:xfrm>
          <a:prstGeom prst="rect">
            <a:avLst/>
          </a:prstGeom>
          <a:solidFill>
            <a:srgbClr val="EDE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spcBef>
                <a:spcPts val="0"/>
              </a:spcBef>
            </a:pPr>
            <a:r>
              <a:rPr sz="650" b="0" i="0">
                <a:solidFill>
                  <a:srgbClr val="7C818B"/>
                </a:solidFill>
                <a:latin typeface="Consolas"/>
                <a:ea typeface="Consolas"/>
                <a:cs typeface="Consolas"/>
              </a:rPr>
              <a:t>前端进程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" y="2761487"/>
            <a:ext cx="5129783" cy="365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A9A9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 i="0">
                <a:solidFill>
                  <a:srgbClr val="16181C"/>
                </a:solidFill>
                <a:latin typeface="Microsoft YaHei"/>
                <a:ea typeface="Microsoft YaHei"/>
                <a:cs typeface="Microsoft YaHei"/>
              </a:rPr>
              <a:t>AsyncLLM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177539" y="3218687"/>
            <a:ext cx="0" cy="146304"/>
          </a:xfrm>
          <a:prstGeom prst="line">
            <a:avLst/>
          </a:prstGeom>
          <a:ln w="19050">
            <a:solidFill>
              <a:srgbClr val="A9A99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02920" y="3364991"/>
            <a:ext cx="5349240" cy="713231"/>
          </a:xfrm>
          <a:prstGeom prst="roundRect">
            <a:avLst>
              <a:gd name="adj" fmla="val 3000"/>
            </a:avLst>
          </a:prstGeom>
          <a:noFill/>
          <a:ln w="15875">
            <a:solidFill>
              <a:srgbClr val="C4326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12648" y="3264408"/>
            <a:ext cx="420624" cy="2011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spcBef>
                <a:spcPts val="0"/>
              </a:spcBef>
            </a:pPr>
            <a:r>
              <a:rPr sz="650" b="0" i="0">
                <a:solidFill>
                  <a:srgbClr val="C4326F"/>
                </a:solidFill>
                <a:latin typeface="Consolas"/>
                <a:ea typeface="Consolas"/>
                <a:cs typeface="Consolas"/>
              </a:rPr>
              <a:t>接入层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" y="3584448"/>
            <a:ext cx="5129783" cy="402336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C4326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 i="0" strike="sngStrike">
                <a:solidFill>
                  <a:srgbClr val="C4326F"/>
                </a:solidFill>
                <a:latin typeface="Microsoft YaHei"/>
                <a:ea typeface="Microsoft YaHei"/>
                <a:cs typeface="Microsoft YaHei"/>
              </a:rPr>
              <a:t>EngineCoreClient</a:t>
            </a:r>
          </a:p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650" b="0" i="0">
                <a:solidFill>
                  <a:srgbClr val="7C818B"/>
                </a:solidFill>
                <a:latin typeface="Consolas"/>
                <a:ea typeface="Consolas"/>
                <a:cs typeface="Consolas"/>
              </a:rPr>
              <a:t>一对一 · 没有副本概念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177539" y="4078224"/>
            <a:ext cx="0" cy="146304"/>
          </a:xfrm>
          <a:prstGeom prst="line">
            <a:avLst/>
          </a:prstGeom>
          <a:ln w="19050">
            <a:solidFill>
              <a:srgbClr val="A9A99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02920" y="4224527"/>
            <a:ext cx="5349240" cy="713231"/>
          </a:xfrm>
          <a:prstGeom prst="roundRect">
            <a:avLst>
              <a:gd name="adj" fmla="val 3000"/>
            </a:avLst>
          </a:prstGeom>
          <a:solidFill>
            <a:srgbClr val="EDEDE8"/>
          </a:solidFill>
          <a:ln w="15875">
            <a:solidFill>
              <a:srgbClr val="A9A9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12648" y="4123943"/>
            <a:ext cx="1609344" cy="201168"/>
          </a:xfrm>
          <a:prstGeom prst="rect">
            <a:avLst/>
          </a:prstGeom>
          <a:solidFill>
            <a:srgbClr val="EDE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spcBef>
                <a:spcPts val="0"/>
              </a:spcBef>
            </a:pPr>
            <a:r>
              <a:rPr sz="650" b="0" i="0">
                <a:solidFill>
                  <a:srgbClr val="7C818B"/>
                </a:solidFill>
                <a:latin typeface="Consolas"/>
                <a:ea typeface="Consolas"/>
                <a:cs typeface="Consolas"/>
              </a:rPr>
              <a:t>ENGINECORE 进程 ×1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2648" y="4443983"/>
            <a:ext cx="5129783" cy="4023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A9A9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 i="0">
                <a:solidFill>
                  <a:srgbClr val="16181C"/>
                </a:solidFill>
                <a:latin typeface="Microsoft YaHei"/>
                <a:ea typeface="Microsoft YaHei"/>
                <a:cs typeface="Microsoft YaHei"/>
              </a:rPr>
              <a:t>Scheduler · KV Mgr · Executor · Worker · Runner</a:t>
            </a:r>
          </a:p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650" b="0" i="0">
                <a:solidFill>
                  <a:srgbClr val="7C818B"/>
                </a:solidFill>
                <a:latin typeface="Consolas"/>
                <a:ea typeface="Consolas"/>
                <a:cs typeface="Consolas"/>
              </a:rPr>
              <a:t>只能挂一个模型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2148840"/>
            <a:ext cx="5349240" cy="237744"/>
          </a:xfrm>
          <a:prstGeom prst="rect">
            <a:avLst/>
          </a:prstGeom>
          <a:noFill/>
          <a:effectLst/>
        </p:spPr>
        <p:txBody>
          <a:bodyPr wrap="square" lIns="45720" tIns="27432" rIns="45720" bIns="18288" anchor="b">
            <a:spAutoFit/>
          </a:bodyPr>
          <a:lstStyle/>
          <a:p>
            <a:pPr algn="l">
              <a:spcBef>
                <a:spcPts val="0"/>
              </a:spcBef>
            </a:pPr>
            <a:r>
              <a:rPr sz="850" b="1" i="0">
                <a:solidFill>
                  <a:srgbClr val="3E5FD9"/>
                </a:solidFill>
                <a:latin typeface="Consolas"/>
                <a:ea typeface="Consolas"/>
                <a:cs typeface="Consolas"/>
              </a:rPr>
              <a:t>改造后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2148840"/>
            <a:ext cx="5349240" cy="237744"/>
          </a:xfrm>
          <a:prstGeom prst="rect">
            <a:avLst/>
          </a:prstGeom>
          <a:noFill/>
          <a:effectLst/>
        </p:spPr>
        <p:txBody>
          <a:bodyPr wrap="square" lIns="45720" tIns="27432" rIns="45720" bIns="18288" anchor="b">
            <a:spAutoFit/>
          </a:bodyPr>
          <a:lstStyle/>
          <a:p>
            <a:pPr algn="r">
              <a:spcBef>
                <a:spcPts val="0"/>
              </a:spcBef>
            </a:pPr>
            <a:r>
              <a:rPr sz="750" b="0" i="0">
                <a:solidFill>
                  <a:srgbClr val="3E5FD9"/>
                </a:solidFill>
                <a:latin typeface="Consolas"/>
                <a:ea typeface="Consolas"/>
                <a:cs typeface="Consolas"/>
              </a:rPr>
              <a:t>N STAGE × M REPLICA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309360" y="2404872"/>
            <a:ext cx="5349240" cy="0"/>
          </a:xfrm>
          <a:prstGeom prst="line">
            <a:avLst/>
          </a:prstGeom>
          <a:ln w="12700">
            <a:solidFill>
              <a:srgbClr val="3E5F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309360" y="2542032"/>
            <a:ext cx="5349240" cy="621792"/>
          </a:xfrm>
          <a:prstGeom prst="roundRect">
            <a:avLst>
              <a:gd name="adj" fmla="val 3000"/>
            </a:avLst>
          </a:prstGeom>
          <a:solidFill>
            <a:srgbClr val="EDEDE8"/>
          </a:solidFill>
          <a:ln w="15875">
            <a:solidFill>
              <a:srgbClr val="A9A9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419088" y="2441448"/>
            <a:ext cx="512064" cy="201168"/>
          </a:xfrm>
          <a:prstGeom prst="rect">
            <a:avLst/>
          </a:prstGeom>
          <a:solidFill>
            <a:srgbClr val="EDE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spcBef>
                <a:spcPts val="0"/>
              </a:spcBef>
            </a:pPr>
            <a:r>
              <a:rPr sz="650" b="0" i="0">
                <a:solidFill>
                  <a:srgbClr val="7C818B"/>
                </a:solidFill>
                <a:latin typeface="Consolas"/>
                <a:ea typeface="Consolas"/>
                <a:cs typeface="Consolas"/>
              </a:rPr>
              <a:t>前端进程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19088" y="2743200"/>
            <a:ext cx="5129783" cy="3474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A9A9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 i="0">
                <a:solidFill>
                  <a:srgbClr val="16181C"/>
                </a:solidFill>
                <a:latin typeface="Microsoft YaHei"/>
                <a:ea typeface="Microsoft YaHei"/>
                <a:cs typeface="Microsoft YaHei"/>
              </a:rPr>
              <a:t>AsyncOmniEngine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983980" y="3163824"/>
            <a:ext cx="0" cy="128016"/>
          </a:xfrm>
          <a:prstGeom prst="line">
            <a:avLst/>
          </a:prstGeom>
          <a:ln w="19050">
            <a:solidFill>
              <a:srgbClr val="3E5F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6309360" y="3291839"/>
            <a:ext cx="5349240" cy="1956816"/>
          </a:xfrm>
          <a:prstGeom prst="roundRect">
            <a:avLst>
              <a:gd name="adj" fmla="val 3000"/>
            </a:avLst>
          </a:prstGeom>
          <a:solidFill>
            <a:srgbClr val="ECEFFB"/>
          </a:solidFill>
          <a:ln w="15875">
            <a:solidFill>
              <a:srgbClr val="3E5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419088" y="3191256"/>
            <a:ext cx="1883664" cy="201168"/>
          </a:xfrm>
          <a:prstGeom prst="rect">
            <a:avLst/>
          </a:prstGeom>
          <a:solidFill>
            <a:srgbClr val="EC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spcBef>
                <a:spcPts val="0"/>
              </a:spcBef>
            </a:pPr>
            <a:r>
              <a:rPr sz="650" b="0" i="0">
                <a:solidFill>
                  <a:srgbClr val="3E5FD9"/>
                </a:solidFill>
                <a:latin typeface="Consolas"/>
                <a:ea typeface="Consolas"/>
                <a:cs typeface="Consolas"/>
              </a:rPr>
              <a:t>新增 · 编排 + STAGE 管理层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19088" y="3511296"/>
            <a:ext cx="5129783" cy="347472"/>
          </a:xfrm>
          <a:prstGeom prst="roundRect">
            <a:avLst>
              <a:gd name="adj" fmla="val 6000"/>
            </a:avLst>
          </a:prstGeom>
          <a:solidFill>
            <a:srgbClr val="ECEFFB"/>
          </a:solidFill>
          <a:ln w="12700">
            <a:solidFill>
              <a:srgbClr val="3E5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 i="0">
                <a:solidFill>
                  <a:srgbClr val="3E5FD9"/>
                </a:solidFill>
                <a:latin typeface="Microsoft YaHei"/>
                <a:ea typeface="Microsoft YaHei"/>
                <a:cs typeface="Microsoft YaHei"/>
              </a:rPr>
              <a:t>Orchestrator</a:t>
            </a:r>
          </a:p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650" b="0" i="0">
                <a:solidFill>
                  <a:srgbClr val="7C818B"/>
                </a:solidFill>
                <a:latin typeface="Consolas"/>
                <a:ea typeface="Consolas"/>
                <a:cs typeface="Consolas"/>
              </a:rPr>
              <a:t>按 PipelineConfig 路由 · 转发 · 汇总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19088" y="3950208"/>
            <a:ext cx="5129783" cy="347472"/>
          </a:xfrm>
          <a:prstGeom prst="roundRect">
            <a:avLst>
              <a:gd name="adj" fmla="val 6000"/>
            </a:avLst>
          </a:prstGeom>
          <a:solidFill>
            <a:srgbClr val="ECEFFB"/>
          </a:solidFill>
          <a:ln w="12700">
            <a:solidFill>
              <a:srgbClr val="3E5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 i="0">
                <a:solidFill>
                  <a:srgbClr val="3E5FD9"/>
                </a:solidFill>
                <a:latin typeface="Microsoft YaHei"/>
                <a:ea typeface="Microsoft YaHei"/>
                <a:cs typeface="Microsoft YaHei"/>
              </a:rPr>
              <a:t>StagePool List</a:t>
            </a:r>
          </a:p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650" b="0" i="0">
                <a:solidFill>
                  <a:srgbClr val="7C818B"/>
                </a:solidFill>
                <a:latin typeface="Consolas"/>
                <a:ea typeface="Consolas"/>
                <a:cs typeface="Consolas"/>
              </a:rPr>
              <a:t>一个 Stage 一个 Pool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19088" y="4389120"/>
            <a:ext cx="1648967" cy="347472"/>
          </a:xfrm>
          <a:prstGeom prst="roundRect">
            <a:avLst>
              <a:gd name="adj" fmla="val 6000"/>
            </a:avLst>
          </a:prstGeom>
          <a:solidFill>
            <a:srgbClr val="ECEFFB"/>
          </a:solidFill>
          <a:ln w="12700">
            <a:solidFill>
              <a:srgbClr val="3E5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 i="0">
                <a:solidFill>
                  <a:srgbClr val="3E5FD9"/>
                </a:solidFill>
                <a:latin typeface="Microsoft YaHei"/>
                <a:ea typeface="Microsoft YaHei"/>
                <a:cs typeface="Microsoft YaHei"/>
              </a:rPr>
              <a:t>StagePool[0]</a:t>
            </a:r>
          </a:p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650" b="0" i="0">
                <a:solidFill>
                  <a:srgbClr val="7C818B"/>
                </a:solidFill>
                <a:latin typeface="Consolas"/>
                <a:ea typeface="Consolas"/>
                <a:cs typeface="Consolas"/>
              </a:rPr>
              <a:t>LB · 粘性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159496" y="4389120"/>
            <a:ext cx="1648967" cy="347472"/>
          </a:xfrm>
          <a:prstGeom prst="roundRect">
            <a:avLst>
              <a:gd name="adj" fmla="val 6000"/>
            </a:avLst>
          </a:prstGeom>
          <a:solidFill>
            <a:srgbClr val="ECEFFB"/>
          </a:solidFill>
          <a:ln w="12700">
            <a:solidFill>
              <a:srgbClr val="3E5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 i="0">
                <a:solidFill>
                  <a:srgbClr val="3E5FD9"/>
                </a:solidFill>
                <a:latin typeface="Microsoft YaHei"/>
                <a:ea typeface="Microsoft YaHei"/>
                <a:cs typeface="Microsoft YaHei"/>
              </a:rPr>
              <a:t>StagePool[1]</a:t>
            </a:r>
          </a:p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650" b="0" i="0">
                <a:solidFill>
                  <a:srgbClr val="7C818B"/>
                </a:solidFill>
                <a:latin typeface="Consolas"/>
                <a:ea typeface="Consolas"/>
                <a:cs typeface="Consolas"/>
              </a:rPr>
              <a:t>replica 增删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899904" y="4389120"/>
            <a:ext cx="1648967" cy="347472"/>
          </a:xfrm>
          <a:prstGeom prst="roundRect">
            <a:avLst>
              <a:gd name="adj" fmla="val 6000"/>
            </a:avLst>
          </a:prstGeom>
          <a:solidFill>
            <a:srgbClr val="ECEFFB"/>
          </a:solidFill>
          <a:ln w="12700">
            <a:solidFill>
              <a:srgbClr val="3E5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 i="0">
                <a:solidFill>
                  <a:srgbClr val="3E5FD9"/>
                </a:solidFill>
                <a:latin typeface="Microsoft YaHei"/>
                <a:ea typeface="Microsoft YaHei"/>
                <a:cs typeface="Microsoft YaHei"/>
              </a:rPr>
              <a:t>StagePool[2]</a:t>
            </a:r>
          </a:p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650" b="0" i="0">
                <a:solidFill>
                  <a:srgbClr val="7C818B"/>
                </a:solidFill>
                <a:latin typeface="Consolas"/>
                <a:ea typeface="Consolas"/>
                <a:cs typeface="Consolas"/>
              </a:rPr>
              <a:t>metrics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19088" y="4828032"/>
            <a:ext cx="5129783" cy="347472"/>
          </a:xfrm>
          <a:prstGeom prst="roundRect">
            <a:avLst>
              <a:gd name="adj" fmla="val 6000"/>
            </a:avLst>
          </a:prstGeom>
          <a:solidFill>
            <a:srgbClr val="ECEFFB"/>
          </a:solidFill>
          <a:ln w="12700">
            <a:solidFill>
              <a:srgbClr val="3E5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 i="0">
                <a:solidFill>
                  <a:srgbClr val="3E5FD9"/>
                </a:solidFill>
                <a:latin typeface="Microsoft YaHei"/>
                <a:ea typeface="Microsoft YaHei"/>
                <a:cs typeface="Microsoft YaHei"/>
              </a:rPr>
              <a:t>StageClient · 一个 replica 一条 ZMQ 通道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8983980" y="5285231"/>
            <a:ext cx="0" cy="128016"/>
          </a:xfrm>
          <a:prstGeom prst="line">
            <a:avLst/>
          </a:prstGeom>
          <a:ln w="19050">
            <a:solidFill>
              <a:srgbClr val="3E5F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6309360" y="5431536"/>
            <a:ext cx="5349240" cy="658368"/>
          </a:xfrm>
          <a:prstGeom prst="roundRect">
            <a:avLst>
              <a:gd name="adj" fmla="val 3000"/>
            </a:avLst>
          </a:prstGeom>
          <a:solidFill>
            <a:srgbClr val="EDEDE8"/>
          </a:solidFill>
          <a:ln w="15875">
            <a:solidFill>
              <a:srgbClr val="A9A9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419088" y="5330951"/>
            <a:ext cx="1975104" cy="201168"/>
          </a:xfrm>
          <a:prstGeom prst="rect">
            <a:avLst/>
          </a:prstGeom>
          <a:solidFill>
            <a:srgbClr val="EDE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spcBef>
                <a:spcPts val="0"/>
              </a:spcBef>
            </a:pPr>
            <a:r>
              <a:rPr sz="650" b="0" i="0">
                <a:solidFill>
                  <a:srgbClr val="7C818B"/>
                </a:solidFill>
                <a:latin typeface="Consolas"/>
                <a:ea typeface="Consolas"/>
                <a:cs typeface="Consolas"/>
              </a:rPr>
              <a:t>STAGE 进程 ×N ×REPLICA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19088" y="5632703"/>
            <a:ext cx="5129783" cy="3840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A9A9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 i="0">
                <a:solidFill>
                  <a:srgbClr val="16181C"/>
                </a:solidFill>
                <a:latin typeface="Microsoft YaHei"/>
                <a:ea typeface="Microsoft YaHei"/>
                <a:cs typeface="Microsoft YaHei"/>
              </a:rPr>
              <a:t>Scheduler · KV Mgr · Executor · Worker · Runner</a:t>
            </a:r>
          </a:p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650" b="0" i="0">
                <a:solidFill>
                  <a:srgbClr val="7C818B"/>
                </a:solidFill>
                <a:latin typeface="Consolas"/>
                <a:ea typeface="Consolas"/>
                <a:cs typeface="Consolas"/>
              </a:rPr>
              <a:t>照抄 EngineCore，一行没改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502920" y="6144768"/>
            <a:ext cx="11183112" cy="0"/>
          </a:xfrm>
          <a:prstGeom prst="line">
            <a:avLst/>
          </a:prstGeom>
          <a:ln w="12700">
            <a:solidFill>
              <a:srgbClr val="D6D6C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502920" y="6199631"/>
            <a:ext cx="11183112" cy="457200"/>
          </a:xfrm>
          <a:prstGeom prst="rect">
            <a:avLst/>
          </a:prstGeom>
          <a:noFill/>
          <a:effectLst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50" b="1" i="0">
                <a:solidFill>
                  <a:srgbClr val="3E5FD9"/>
                </a:solidFill>
                <a:latin typeface="Consolas"/>
                <a:ea typeface="Consolas"/>
                <a:cs typeface="Consolas"/>
              </a:rPr>
              <a:t>顺带得到   </a:t>
            </a:r>
            <a:r>
              <a:rPr sz="1050" b="0" i="0">
                <a:solidFill>
                  <a:srgbClr val="16181C"/>
                </a:solidFill>
                <a:latin typeface="Microsoft YaHei"/>
                <a:ea typeface="Microsoft YaHei"/>
                <a:cs typeface="Microsoft YaHei"/>
              </a:rPr>
              <a:t>原生分离部署 · 每个 Stage 独立副本数 · 可跨机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185855" y="6473952"/>
            <a:ext cx="731520" cy="274320"/>
          </a:xfrm>
          <a:prstGeom prst="rect">
            <a:avLst/>
          </a:prstGeom>
          <a:noFill/>
          <a:effectLst/>
        </p:spPr>
        <p:txBody>
          <a:bodyPr wrap="square" lIns="45720" tIns="27432" rIns="45720" bIns="27432" anchor="b">
            <a:spAutoFit/>
          </a:bodyPr>
          <a:lstStyle/>
          <a:p>
            <a:pPr algn="r">
              <a:spcBef>
                <a:spcPts val="0"/>
              </a:spcBef>
            </a:pPr>
            <a:r>
              <a:rPr sz="850" b="0" i="0">
                <a:solidFill>
                  <a:srgbClr val="7C818B"/>
                </a:solidFill>
                <a:latin typeface="Consolas"/>
                <a:ea typeface="Consolas"/>
                <a:cs typeface="Consolas"/>
              </a:rPr>
              <a:t>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50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" dur="50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" dur="500"/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" dur="500"/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500"/>
                                  <p:tgtEl>
                                    <p:spTgt spid="2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" dur="500"/>
                                  <p:tgtEl>
                                    <p:spTgt spid="2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4" dur="500"/>
                                  <p:tgtEl>
                                    <p:spTgt spid="2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7" dur="500"/>
                                  <p:tgtEl>
                                    <p:spTgt spid="2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0" dur="500"/>
                                  <p:tgtEl>
                                    <p:spTgt spid="2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3" dur="500"/>
                                  <p:tgtEl>
                                    <p:spTgt spid="3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6" dur="500"/>
                                  <p:tgtEl>
                                    <p:spTgt spid="3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7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9" dur="500"/>
                                  <p:tgtEl>
                                    <p:spTgt spid="3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0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2" dur="500"/>
                                  <p:tgtEl>
                                    <p:spTgt spid="3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3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500"/>
                                  <p:tgtEl>
                                    <p:spTgt spid="3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8" dur="500"/>
                                  <p:tgtEl>
                                    <p:spTgt spid="3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2" dur="500"/>
                                  <p:tgtEl>
                                    <p:spTgt spid="3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3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500"/>
                                  <p:tgtEl>
                                    <p:spTgt spid="3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6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500"/>
                                  <p:tgtEl>
                                    <p:spTgt spid="3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9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1" dur="500"/>
                                  <p:tgtEl>
                                    <p:spTgt spid="3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2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4" dur="500"/>
                                  <p:tgtEl>
                                    <p:spTgt spid="4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7" dur="500"/>
                                  <p:tgtEl>
                                    <p:spTgt spid="4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813816" cy="237744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3E5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27432" rIns="36576" bIns="27432" rtlCol="0" anchor="ctr"/>
          <a:lstStyle/>
          <a:p>
            <a:pPr algn="ctr">
              <a:spcBef>
                <a:spcPts val="0"/>
              </a:spcBef>
            </a:pPr>
            <a:r>
              <a:rPr sz="850" b="1" i="0">
                <a:solidFill>
                  <a:srgbClr val="3E5FD9"/>
                </a:solidFill>
                <a:latin typeface="Microsoft YaHei"/>
                <a:ea typeface="Microsoft YaHei"/>
                <a:cs typeface="Microsoft YaHei"/>
              </a:rPr>
              <a:t>① 改动聚焦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26464" y="356616"/>
            <a:ext cx="8229600" cy="256032"/>
          </a:xfrm>
          <a:prstGeom prst="rect">
            <a:avLst/>
          </a:prstGeom>
          <a:noFill/>
          <a:effectLst/>
        </p:spPr>
        <p:txBody>
          <a:bodyPr wrap="square" lIns="45720" tIns="27432" rIns="45720" bIns="27432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850" b="0" i="0">
                <a:solidFill>
                  <a:srgbClr val="7C818B"/>
                </a:solidFill>
                <a:latin typeface="Consolas"/>
                <a:ea typeface="Consolas"/>
                <a:cs typeface="Consolas"/>
              </a:rPr>
              <a:t>流式管线 ASYNC_CHUNK · 执行时序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31520"/>
            <a:ext cx="11155680" cy="868680"/>
          </a:xfrm>
          <a:prstGeom prst="rect">
            <a:avLst/>
          </a:prstGeom>
          <a:noFill/>
          <a:effectLst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100" b="1" i="0">
                <a:solidFill>
                  <a:srgbClr val="16181C"/>
                </a:solidFill>
                <a:latin typeface="Microsoft YaHei"/>
                <a:ea typeface="Microsoft YaHei"/>
                <a:cs typeface="Microsoft YaHei"/>
              </a:rPr>
              <a:t>Stage 之间逐 chunk 转发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148840"/>
            <a:ext cx="5349240" cy="237744"/>
          </a:xfrm>
          <a:prstGeom prst="rect">
            <a:avLst/>
          </a:prstGeom>
          <a:noFill/>
          <a:effectLst/>
        </p:spPr>
        <p:txBody>
          <a:bodyPr wrap="square" lIns="45720" tIns="27432" rIns="45720" bIns="18288" anchor="b">
            <a:spAutoFit/>
          </a:bodyPr>
          <a:lstStyle/>
          <a:p>
            <a:pPr algn="l">
              <a:spcBef>
                <a:spcPts val="0"/>
              </a:spcBef>
            </a:pPr>
            <a:r>
              <a:rPr sz="850" b="1" i="0">
                <a:solidFill>
                  <a:srgbClr val="7C818B"/>
                </a:solidFill>
                <a:latin typeface="Consolas"/>
                <a:ea typeface="Consolas"/>
                <a:cs typeface="Consolas"/>
              </a:rPr>
              <a:t>改造前 · 串行接力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148840"/>
            <a:ext cx="5349240" cy="237744"/>
          </a:xfrm>
          <a:prstGeom prst="rect">
            <a:avLst/>
          </a:prstGeom>
          <a:noFill/>
          <a:effectLst/>
        </p:spPr>
        <p:txBody>
          <a:bodyPr wrap="square" lIns="45720" tIns="27432" rIns="45720" bIns="18288" anchor="b">
            <a:spAutoFit/>
          </a:bodyPr>
          <a:lstStyle/>
          <a:p>
            <a:pPr algn="r">
              <a:spcBef>
                <a:spcPts val="0"/>
              </a:spcBef>
            </a:pPr>
            <a:r>
              <a:rPr sz="750" b="0" i="0">
                <a:solidFill>
                  <a:srgbClr val="7C818B"/>
                </a:solidFill>
                <a:latin typeface="Consolas"/>
                <a:ea typeface="Consolas"/>
                <a:cs typeface="Consolas"/>
              </a:rPr>
              <a:t>首包 = 全链路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02920" y="2404872"/>
            <a:ext cx="5349239" cy="0"/>
          </a:xfrm>
          <a:prstGeom prst="line">
            <a:avLst/>
          </a:prstGeom>
          <a:ln w="12700">
            <a:solidFill>
              <a:srgbClr val="7C818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02920" y="2606040"/>
            <a:ext cx="868680" cy="384048"/>
          </a:xfrm>
          <a:prstGeom prst="rect">
            <a:avLst/>
          </a:prstGeom>
          <a:noFill/>
          <a:effectLst/>
        </p:spPr>
        <p:txBody>
          <a:bodyPr wrap="square" lIns="45720" tIns="27432" rIns="45720" bIns="27432" anchor="ctr">
            <a:spAutoFit/>
          </a:bodyPr>
          <a:lstStyle/>
          <a:p>
            <a:pPr algn="r">
              <a:spcBef>
                <a:spcPts val="0"/>
              </a:spcBef>
            </a:pPr>
            <a:r>
              <a:rPr sz="800" b="0" i="0">
                <a:solidFill>
                  <a:srgbClr val="4A4E57"/>
                </a:solidFill>
                <a:latin typeface="Consolas"/>
                <a:ea typeface="Consolas"/>
                <a:cs typeface="Consolas"/>
              </a:rPr>
              <a:t>Stage 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17320" y="2606040"/>
            <a:ext cx="4434840" cy="384048"/>
          </a:xfrm>
          <a:prstGeom prst="roundRect">
            <a:avLst>
              <a:gd name="adj" fmla="val 6000"/>
            </a:avLst>
          </a:prstGeom>
          <a:solidFill>
            <a:srgbClr val="EDEDE8"/>
          </a:solidFill>
          <a:ln w="9525">
            <a:solidFill>
              <a:srgbClr val="D6D6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417320" y="2651760"/>
            <a:ext cx="1685239" cy="292607"/>
          </a:xfrm>
          <a:prstGeom prst="roundRect">
            <a:avLst>
              <a:gd name="adj" fmla="val 10000"/>
            </a:avLst>
          </a:prstGeom>
          <a:solidFill>
            <a:srgbClr val="A96F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spcBef>
                <a:spcPts val="0"/>
              </a:spcBef>
            </a:pPr>
            <a:r>
              <a:rPr sz="700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text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099816"/>
            <a:ext cx="868680" cy="384048"/>
          </a:xfrm>
          <a:prstGeom prst="rect">
            <a:avLst/>
          </a:prstGeom>
          <a:noFill/>
          <a:effectLst/>
        </p:spPr>
        <p:txBody>
          <a:bodyPr wrap="square" lIns="45720" tIns="27432" rIns="45720" bIns="27432" anchor="ctr">
            <a:spAutoFit/>
          </a:bodyPr>
          <a:lstStyle/>
          <a:p>
            <a:pPr algn="r">
              <a:spcBef>
                <a:spcPts val="0"/>
              </a:spcBef>
            </a:pPr>
            <a:r>
              <a:rPr sz="800" b="0" i="0">
                <a:solidFill>
                  <a:srgbClr val="4A4E57"/>
                </a:solidFill>
                <a:latin typeface="Consolas"/>
                <a:ea typeface="Consolas"/>
                <a:cs typeface="Consolas"/>
              </a:rPr>
              <a:t>Stage 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417320" y="3099816"/>
            <a:ext cx="4434840" cy="384048"/>
          </a:xfrm>
          <a:prstGeom prst="roundRect">
            <a:avLst>
              <a:gd name="adj" fmla="val 6000"/>
            </a:avLst>
          </a:prstGeom>
          <a:solidFill>
            <a:srgbClr val="EDEDE8"/>
          </a:solidFill>
          <a:ln w="9525">
            <a:solidFill>
              <a:srgbClr val="D6D6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3102559" y="3145536"/>
            <a:ext cx="1507845" cy="292607"/>
          </a:xfrm>
          <a:prstGeom prst="roundRect">
            <a:avLst>
              <a:gd name="adj" fmla="val 10000"/>
            </a:avLst>
          </a:prstGeom>
          <a:solidFill>
            <a:srgbClr val="0E8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spcBef>
                <a:spcPts val="0"/>
              </a:spcBef>
            </a:pPr>
            <a:r>
              <a:rPr sz="700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codes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593592"/>
            <a:ext cx="868680" cy="384048"/>
          </a:xfrm>
          <a:prstGeom prst="rect">
            <a:avLst/>
          </a:prstGeom>
          <a:noFill/>
          <a:effectLst/>
        </p:spPr>
        <p:txBody>
          <a:bodyPr wrap="square" lIns="45720" tIns="27432" rIns="45720" bIns="27432" anchor="ctr">
            <a:spAutoFit/>
          </a:bodyPr>
          <a:lstStyle/>
          <a:p>
            <a:pPr algn="r">
              <a:spcBef>
                <a:spcPts val="0"/>
              </a:spcBef>
            </a:pPr>
            <a:r>
              <a:rPr sz="800" b="0" i="0">
                <a:solidFill>
                  <a:srgbClr val="4A4E57"/>
                </a:solidFill>
                <a:latin typeface="Consolas"/>
                <a:ea typeface="Consolas"/>
                <a:cs typeface="Consolas"/>
              </a:rPr>
              <a:t>Stage 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417320" y="3593592"/>
            <a:ext cx="4434840" cy="384048"/>
          </a:xfrm>
          <a:prstGeom prst="roundRect">
            <a:avLst>
              <a:gd name="adj" fmla="val 6000"/>
            </a:avLst>
          </a:prstGeom>
          <a:solidFill>
            <a:srgbClr val="EDEDE8"/>
          </a:solidFill>
          <a:ln w="9525">
            <a:solidFill>
              <a:srgbClr val="D6D6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4610404" y="3639312"/>
            <a:ext cx="1241755" cy="292607"/>
          </a:xfrm>
          <a:prstGeom prst="roundRect">
            <a:avLst>
              <a:gd name="adj" fmla="val 10000"/>
            </a:avLst>
          </a:prstGeom>
          <a:solidFill>
            <a:srgbClr val="0E8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spcBef>
                <a:spcPts val="0"/>
              </a:spcBef>
            </a:pPr>
            <a:r>
              <a:rPr sz="700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wav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105656"/>
            <a:ext cx="5349240" cy="237744"/>
          </a:xfrm>
          <a:prstGeom prst="rect">
            <a:avLst/>
          </a:prstGeom>
          <a:noFill/>
          <a:effectLst/>
        </p:spPr>
        <p:txBody>
          <a:bodyPr wrap="square" lIns="45720" tIns="27432" rIns="45720" bIns="27432" anchor="ctr">
            <a:spAutoFit/>
          </a:bodyPr>
          <a:lstStyle/>
          <a:p>
            <a:pPr algn="ctr">
              <a:spcBef>
                <a:spcPts val="0"/>
              </a:spcBef>
            </a:pPr>
            <a:r>
              <a:rPr sz="750" b="0" i="0">
                <a:solidFill>
                  <a:srgbClr val="7C818B"/>
                </a:solidFill>
                <a:latin typeface="Consolas"/>
                <a:ea typeface="Consolas"/>
                <a:cs typeface="Consolas"/>
              </a:rPr>
              <a:t>上一段 finished，下一段才开始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2148840"/>
            <a:ext cx="5349240" cy="237744"/>
          </a:xfrm>
          <a:prstGeom prst="rect">
            <a:avLst/>
          </a:prstGeom>
          <a:noFill/>
          <a:effectLst/>
        </p:spPr>
        <p:txBody>
          <a:bodyPr wrap="square" lIns="45720" tIns="27432" rIns="45720" bIns="18288" anchor="b">
            <a:spAutoFit/>
          </a:bodyPr>
          <a:lstStyle/>
          <a:p>
            <a:pPr algn="l">
              <a:spcBef>
                <a:spcPts val="0"/>
              </a:spcBef>
            </a:pPr>
            <a:r>
              <a:rPr sz="850" b="1" i="0">
                <a:solidFill>
                  <a:srgbClr val="3E5FD9"/>
                </a:solidFill>
                <a:latin typeface="Consolas"/>
                <a:ea typeface="Consolas"/>
                <a:cs typeface="Consolas"/>
              </a:rPr>
              <a:t>改造后 · 逐 CHUNK 重叠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2148840"/>
            <a:ext cx="5349240" cy="237744"/>
          </a:xfrm>
          <a:prstGeom prst="rect">
            <a:avLst/>
          </a:prstGeom>
          <a:noFill/>
          <a:effectLst/>
        </p:spPr>
        <p:txBody>
          <a:bodyPr wrap="square" lIns="45720" tIns="27432" rIns="45720" bIns="18288" anchor="b">
            <a:spAutoFit/>
          </a:bodyPr>
          <a:lstStyle/>
          <a:p>
            <a:pPr algn="r">
              <a:spcBef>
                <a:spcPts val="0"/>
              </a:spcBef>
            </a:pPr>
            <a:r>
              <a:rPr sz="750" b="0" i="0">
                <a:solidFill>
                  <a:srgbClr val="3E5FD9"/>
                </a:solidFill>
                <a:latin typeface="Consolas"/>
                <a:ea typeface="Consolas"/>
                <a:cs typeface="Consolas"/>
              </a:rPr>
              <a:t>首包 ≈ 1 CHUNK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309360" y="2404872"/>
            <a:ext cx="5349240" cy="0"/>
          </a:xfrm>
          <a:prstGeom prst="line">
            <a:avLst/>
          </a:prstGeom>
          <a:ln w="12700">
            <a:solidFill>
              <a:srgbClr val="3E5F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309360" y="2606040"/>
            <a:ext cx="868680" cy="384048"/>
          </a:xfrm>
          <a:prstGeom prst="rect">
            <a:avLst/>
          </a:prstGeom>
          <a:noFill/>
          <a:effectLst/>
        </p:spPr>
        <p:txBody>
          <a:bodyPr wrap="square" lIns="45720" tIns="27432" rIns="45720" bIns="27432" anchor="ctr">
            <a:spAutoFit/>
          </a:bodyPr>
          <a:lstStyle/>
          <a:p>
            <a:pPr algn="r">
              <a:spcBef>
                <a:spcPts val="0"/>
              </a:spcBef>
            </a:pPr>
            <a:r>
              <a:rPr sz="800" b="0" i="0">
                <a:solidFill>
                  <a:srgbClr val="4A4E57"/>
                </a:solidFill>
                <a:latin typeface="Consolas"/>
                <a:ea typeface="Consolas"/>
                <a:cs typeface="Consolas"/>
              </a:rPr>
              <a:t>Stage 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23760" y="2606040"/>
            <a:ext cx="4434840" cy="384048"/>
          </a:xfrm>
          <a:prstGeom prst="roundRect">
            <a:avLst>
              <a:gd name="adj" fmla="val 6000"/>
            </a:avLst>
          </a:prstGeom>
          <a:solidFill>
            <a:srgbClr val="EDEDE8"/>
          </a:solidFill>
          <a:ln w="9525">
            <a:solidFill>
              <a:srgbClr val="D6D6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7223760" y="2651760"/>
            <a:ext cx="2660903" cy="292607"/>
          </a:xfrm>
          <a:prstGeom prst="roundRect">
            <a:avLst>
              <a:gd name="adj" fmla="val 10000"/>
            </a:avLst>
          </a:prstGeom>
          <a:solidFill>
            <a:srgbClr val="A96F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spcBef>
                <a:spcPts val="0"/>
              </a:spcBef>
            </a:pPr>
            <a:r>
              <a:rPr sz="700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text · 逐 token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3099816"/>
            <a:ext cx="868680" cy="384048"/>
          </a:xfrm>
          <a:prstGeom prst="rect">
            <a:avLst/>
          </a:prstGeom>
          <a:noFill/>
          <a:effectLst/>
        </p:spPr>
        <p:txBody>
          <a:bodyPr wrap="square" lIns="45720" tIns="27432" rIns="45720" bIns="27432" anchor="ctr">
            <a:spAutoFit/>
          </a:bodyPr>
          <a:lstStyle/>
          <a:p>
            <a:pPr algn="r">
              <a:spcBef>
                <a:spcPts val="0"/>
              </a:spcBef>
            </a:pPr>
            <a:r>
              <a:rPr sz="800" b="0" i="0">
                <a:solidFill>
                  <a:srgbClr val="4A4E57"/>
                </a:solidFill>
                <a:latin typeface="Consolas"/>
                <a:ea typeface="Consolas"/>
                <a:cs typeface="Consolas"/>
              </a:rPr>
              <a:t>Stage 1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223760" y="3099816"/>
            <a:ext cx="4434840" cy="384048"/>
          </a:xfrm>
          <a:prstGeom prst="roundRect">
            <a:avLst>
              <a:gd name="adj" fmla="val 6000"/>
            </a:avLst>
          </a:prstGeom>
          <a:solidFill>
            <a:srgbClr val="EDEDE8"/>
          </a:solidFill>
          <a:ln w="9525">
            <a:solidFill>
              <a:srgbClr val="D6D6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7755940" y="3145536"/>
            <a:ext cx="2660903" cy="292607"/>
          </a:xfrm>
          <a:prstGeom prst="roundRect">
            <a:avLst>
              <a:gd name="adj" fmla="val 10000"/>
            </a:avLst>
          </a:prstGeom>
          <a:solidFill>
            <a:srgbClr val="0E8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spcBef>
                <a:spcPts val="0"/>
              </a:spcBef>
            </a:pPr>
            <a:r>
              <a:rPr sz="700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codes · 逐 chunk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3593592"/>
            <a:ext cx="868680" cy="384048"/>
          </a:xfrm>
          <a:prstGeom prst="rect">
            <a:avLst/>
          </a:prstGeom>
          <a:noFill/>
          <a:effectLst/>
        </p:spPr>
        <p:txBody>
          <a:bodyPr wrap="square" lIns="45720" tIns="27432" rIns="45720" bIns="27432" anchor="ctr">
            <a:spAutoFit/>
          </a:bodyPr>
          <a:lstStyle/>
          <a:p>
            <a:pPr algn="r">
              <a:spcBef>
                <a:spcPts val="0"/>
              </a:spcBef>
            </a:pPr>
            <a:r>
              <a:rPr sz="800" b="0" i="0">
                <a:solidFill>
                  <a:srgbClr val="4A4E57"/>
                </a:solidFill>
                <a:latin typeface="Consolas"/>
                <a:ea typeface="Consolas"/>
                <a:cs typeface="Consolas"/>
              </a:rPr>
              <a:t>Stage 2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223760" y="3593592"/>
            <a:ext cx="4434840" cy="384048"/>
          </a:xfrm>
          <a:prstGeom prst="roundRect">
            <a:avLst>
              <a:gd name="adj" fmla="val 6000"/>
            </a:avLst>
          </a:prstGeom>
          <a:solidFill>
            <a:srgbClr val="EDEDE8"/>
          </a:solidFill>
          <a:ln w="9525">
            <a:solidFill>
              <a:srgbClr val="D6D6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376818" y="3639312"/>
            <a:ext cx="2660903" cy="292607"/>
          </a:xfrm>
          <a:prstGeom prst="roundRect">
            <a:avLst>
              <a:gd name="adj" fmla="val 10000"/>
            </a:avLst>
          </a:prstGeom>
          <a:solidFill>
            <a:srgbClr val="0E8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spcBef>
                <a:spcPts val="0"/>
              </a:spcBef>
            </a:pPr>
            <a:r>
              <a:rPr sz="700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wav · 流式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60" y="4105656"/>
            <a:ext cx="5349240" cy="237744"/>
          </a:xfrm>
          <a:prstGeom prst="rect">
            <a:avLst/>
          </a:prstGeom>
          <a:noFill/>
          <a:effectLst/>
        </p:spPr>
        <p:txBody>
          <a:bodyPr wrap="square" lIns="45720" tIns="27432" rIns="45720" bIns="27432" anchor="ctr">
            <a:spAutoFit/>
          </a:bodyPr>
          <a:lstStyle/>
          <a:p>
            <a:pPr algn="ctr">
              <a:spcBef>
                <a:spcPts val="0"/>
              </a:spcBef>
            </a:pPr>
            <a:r>
              <a:rPr sz="750" b="0" i="0">
                <a:solidFill>
                  <a:srgbClr val="7C818B"/>
                </a:solidFill>
                <a:latin typeface="Consolas"/>
                <a:ea typeface="Consolas"/>
                <a:cs typeface="Consolas"/>
              </a:rPr>
              <a:t>三段同时在跑，重叠出吞吐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4892040"/>
            <a:ext cx="3575304" cy="310896"/>
          </a:xfrm>
          <a:prstGeom prst="rect">
            <a:avLst/>
          </a:prstGeom>
          <a:noFill/>
          <a:effectLst/>
        </p:spPr>
        <p:txBody>
          <a:bodyPr wrap="square" lIns="45720" tIns="0" rIns="45720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50" b="1" i="0">
                <a:solidFill>
                  <a:srgbClr val="A96F0C"/>
                </a:solidFill>
                <a:latin typeface="Consolas"/>
                <a:ea typeface="Consolas"/>
                <a:cs typeface="Consolas"/>
              </a:rPr>
              <a:t>~  </a:t>
            </a:r>
            <a:r>
              <a:rPr sz="900" b="1" i="0">
                <a:solidFill>
                  <a:srgbClr val="16181C"/>
                </a:solidFill>
                <a:latin typeface="Microsoft YaHei"/>
                <a:ea typeface="Microsoft YaHei"/>
                <a:cs typeface="Microsoft YaHei"/>
              </a:rPr>
              <a:t>Orchestrator</a:t>
            </a:r>
            <a:r>
              <a:rPr sz="900" b="0" i="0">
                <a:solidFill>
                  <a:srgbClr val="4A4E57"/>
                </a:solidFill>
                <a:latin typeface="Microsoft YaHei"/>
                <a:ea typeface="Microsoft YaHei"/>
                <a:cs typeface="Microsoft YaHei"/>
              </a:rPr>
              <a:t>：没 finished 也能转发 chunk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06824" y="4892040"/>
            <a:ext cx="3575304" cy="310896"/>
          </a:xfrm>
          <a:prstGeom prst="rect">
            <a:avLst/>
          </a:prstGeom>
          <a:noFill/>
          <a:effectLst/>
        </p:spPr>
        <p:txBody>
          <a:bodyPr wrap="square" lIns="45720" tIns="0" rIns="45720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50" b="1" i="0">
                <a:solidFill>
                  <a:srgbClr val="A96F0C"/>
                </a:solidFill>
                <a:latin typeface="Consolas"/>
                <a:ea typeface="Consolas"/>
                <a:cs typeface="Consolas"/>
              </a:rPr>
              <a:t>~  </a:t>
            </a:r>
            <a:r>
              <a:rPr sz="900" b="1" i="0">
                <a:solidFill>
                  <a:srgbClr val="16181C"/>
                </a:solidFill>
                <a:latin typeface="Microsoft YaHei"/>
                <a:ea typeface="Microsoft YaHei"/>
                <a:cs typeface="Microsoft YaHei"/>
              </a:rPr>
              <a:t>Stage Scheduler</a:t>
            </a:r>
            <a:r>
              <a:rPr sz="900" b="0" i="0">
                <a:solidFill>
                  <a:srgbClr val="4A4E57"/>
                </a:solidFill>
                <a:latin typeface="Microsoft YaHei"/>
                <a:ea typeface="Microsoft YaHei"/>
                <a:cs typeface="Microsoft YaHei"/>
              </a:rPr>
              <a:t>：等 chunk 的请求不阻塞 batch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10728" y="4892040"/>
            <a:ext cx="3575304" cy="310896"/>
          </a:xfrm>
          <a:prstGeom prst="rect">
            <a:avLst/>
          </a:prstGeom>
          <a:noFill/>
          <a:effectLst/>
        </p:spPr>
        <p:txBody>
          <a:bodyPr wrap="square" lIns="45720" tIns="0" rIns="45720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50" b="1" i="0">
                <a:solidFill>
                  <a:srgbClr val="C4326F"/>
                </a:solidFill>
                <a:latin typeface="Consolas"/>
                <a:ea typeface="Consolas"/>
                <a:cs typeface="Consolas"/>
              </a:rPr>
              <a:t>-  </a:t>
            </a:r>
            <a:r>
              <a:rPr sz="900" b="1" i="0">
                <a:solidFill>
                  <a:srgbClr val="16181C"/>
                </a:solidFill>
                <a:latin typeface="Microsoft YaHei"/>
                <a:ea typeface="Microsoft YaHei"/>
                <a:cs typeface="Microsoft YaHei"/>
              </a:rPr>
              <a:t>「finished 才能转发」</a:t>
            </a:r>
            <a:r>
              <a:rPr sz="900" b="0" i="0">
                <a:solidFill>
                  <a:srgbClr val="4A4E57"/>
                </a:solidFill>
                <a:latin typeface="Microsoft YaHei"/>
                <a:ea typeface="Microsoft YaHei"/>
                <a:cs typeface="Microsoft YaHei"/>
              </a:rPr>
              <a:t>的约束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502920" y="5486400"/>
            <a:ext cx="11183112" cy="0"/>
          </a:xfrm>
          <a:prstGeom prst="line">
            <a:avLst/>
          </a:prstGeom>
          <a:ln w="12700">
            <a:solidFill>
              <a:srgbClr val="D6D6C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502920" y="5541264"/>
            <a:ext cx="11183112" cy="457200"/>
          </a:xfrm>
          <a:prstGeom prst="rect">
            <a:avLst/>
          </a:prstGeom>
          <a:noFill/>
          <a:effectLst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50" b="1" i="0">
                <a:solidFill>
                  <a:srgbClr val="3E5FD9"/>
                </a:solidFill>
                <a:latin typeface="Consolas"/>
                <a:ea typeface="Consolas"/>
                <a:cs typeface="Consolas"/>
              </a:rPr>
              <a:t>伏笔   </a:t>
            </a:r>
            <a:r>
              <a:rPr sz="1050" b="0" i="0">
                <a:solidFill>
                  <a:srgbClr val="16181C"/>
                </a:solidFill>
                <a:latin typeface="Microsoft YaHei"/>
                <a:ea typeface="Microsoft YaHei"/>
                <a:cs typeface="Microsoft YaHei"/>
              </a:rPr>
              <a:t>Stage 之间从此可以传「半成品」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185855" y="6473952"/>
            <a:ext cx="731520" cy="274320"/>
          </a:xfrm>
          <a:prstGeom prst="rect">
            <a:avLst/>
          </a:prstGeom>
          <a:noFill/>
          <a:effectLst/>
        </p:spPr>
        <p:txBody>
          <a:bodyPr wrap="square" lIns="45720" tIns="27432" rIns="45720" bIns="27432" anchor="b">
            <a:spAutoFit/>
          </a:bodyPr>
          <a:lstStyle/>
          <a:p>
            <a:pPr algn="r">
              <a:spcBef>
                <a:spcPts val="0"/>
              </a:spcBef>
            </a:pPr>
            <a:r>
              <a:rPr sz="850" b="0" i="0">
                <a:solidFill>
                  <a:srgbClr val="7C818B"/>
                </a:solidFill>
                <a:latin typeface="Consolas"/>
                <a:ea typeface="Consolas"/>
                <a:cs typeface="Consolas"/>
              </a:rPr>
              <a:t>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500"/>
                                  <p:tgtEl>
                                    <p:spTgt spid="2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" dur="50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" dur="50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" dur="50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500"/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" dur="500"/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4" dur="500"/>
                                  <p:tgtEl>
                                    <p:spTgt spid="2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7" dur="500"/>
                                  <p:tgtEl>
                                    <p:spTgt spid="2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0" dur="500"/>
                                  <p:tgtEl>
                                    <p:spTgt spid="2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3" dur="500"/>
                                  <p:tgtEl>
                                    <p:spTgt spid="2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6" dur="500"/>
                                  <p:tgtEl>
                                    <p:spTgt spid="2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7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9" dur="500"/>
                                  <p:tgtEl>
                                    <p:spTgt spid="3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0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2" dur="500"/>
                                  <p:tgtEl>
                                    <p:spTgt spid="3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3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500"/>
                                  <p:tgtEl>
                                    <p:spTgt spid="3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8" dur="500"/>
                                  <p:tgtEl>
                                    <p:spTgt spid="3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9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1" dur="500"/>
                                  <p:tgtEl>
                                    <p:spTgt spid="3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2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4" dur="500"/>
                                  <p:tgtEl>
                                    <p:spTgt spid="3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7" dur="500"/>
                                  <p:tgtEl>
                                    <p:spTgt spid="3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662940" cy="237744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3E5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27432" rIns="36576" bIns="27432" rtlCol="0" anchor="ctr"/>
          <a:lstStyle/>
          <a:p>
            <a:pPr algn="ctr">
              <a:spcBef>
                <a:spcPts val="0"/>
              </a:spcBef>
            </a:pPr>
            <a:r>
              <a:rPr sz="850" b="1" i="0">
                <a:solidFill>
                  <a:srgbClr val="3E5FD9"/>
                </a:solidFill>
                <a:latin typeface="Microsoft YaHei"/>
                <a:ea typeface="Microsoft YaHei"/>
                <a:cs typeface="Microsoft YaHei"/>
              </a:rPr>
              <a:t>② BAGEL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75588" y="356616"/>
            <a:ext cx="8229600" cy="256032"/>
          </a:xfrm>
          <a:prstGeom prst="rect">
            <a:avLst/>
          </a:prstGeom>
          <a:noFill/>
          <a:effectLst/>
        </p:spPr>
        <p:txBody>
          <a:bodyPr wrap="square" lIns="45720" tIns="27432" rIns="45720" bIns="27432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850" b="0" i="0">
                <a:solidFill>
                  <a:srgbClr val="7C818B"/>
                </a:solidFill>
                <a:latin typeface="Consolas"/>
                <a:ea typeface="Consolas"/>
                <a:cs typeface="Consolas"/>
              </a:rPr>
              <a:t>模型长什么样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31520"/>
            <a:ext cx="11155680" cy="868680"/>
          </a:xfrm>
          <a:prstGeom prst="rect">
            <a:avLst/>
          </a:prstGeom>
          <a:noFill/>
          <a:effectLst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000" b="1" i="0">
                <a:solidFill>
                  <a:srgbClr val="16181C"/>
                </a:solidFill>
                <a:latin typeface="Microsoft YaHei"/>
                <a:ea typeface="Microsoft YaHei"/>
                <a:cs typeface="Microsoft YaHei"/>
              </a:rPr>
              <a:t>AR ＋ DiT 同一模型，共享权重，天生带 CFG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25880" y="1965960"/>
            <a:ext cx="3017520" cy="1097280"/>
          </a:xfrm>
          <a:prstGeom prst="roundRect">
            <a:avLst>
              <a:gd name="adj" fmla="val 5000"/>
            </a:avLst>
          </a:prstGeom>
          <a:solidFill>
            <a:srgbClr val="F5EEE2"/>
          </a:solidFill>
          <a:ln w="19050">
            <a:solidFill>
              <a:srgbClr val="A96F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50" b="1" i="0">
                <a:solidFill>
                  <a:srgbClr val="A96F0C"/>
                </a:solidFill>
                <a:latin typeface="Microsoft YaHei"/>
                <a:ea typeface="Microsoft YaHei"/>
                <a:cs typeface="Microsoft YaHei"/>
              </a:rPr>
              <a:t>Thinker (AR)</a:t>
            </a:r>
          </a:p>
          <a:p>
            <a:pPr algn="ctr">
              <a:spcBef>
                <a:spcPts val="0"/>
              </a:spcBef>
            </a:pPr>
            <a:r>
              <a:rPr sz="850" b="0" i="0">
                <a:solidFill>
                  <a:srgbClr val="7C818B"/>
                </a:solidFill>
                <a:latin typeface="Consolas"/>
                <a:ea typeface="Consolas"/>
                <a:cs typeface="Consolas"/>
              </a:rPr>
              <a:t>理解 + 思考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434840" y="2514600"/>
            <a:ext cx="1645920" cy="0"/>
          </a:xfrm>
          <a:prstGeom prst="line">
            <a:avLst/>
          </a:prstGeom>
          <a:ln w="25400">
            <a:solidFill>
              <a:srgbClr val="3E5FD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160520" y="2221992"/>
            <a:ext cx="2194560" cy="256032"/>
          </a:xfrm>
          <a:prstGeom prst="rect">
            <a:avLst/>
          </a:prstGeom>
          <a:noFill/>
          <a:effectLst/>
        </p:spPr>
        <p:txBody>
          <a:bodyPr wrap="square" lIns="45720" tIns="27432" rIns="45720" bIns="27432" anchor="b">
            <a:spAutoFit/>
          </a:bodyPr>
          <a:lstStyle/>
          <a:p>
            <a:pPr algn="ctr">
              <a:spcBef>
                <a:spcPts val="0"/>
              </a:spcBef>
            </a:pPr>
            <a:r>
              <a:rPr sz="750" b="0" i="0">
                <a:solidFill>
                  <a:srgbClr val="3E5FD9"/>
                </a:solidFill>
                <a:latin typeface="Consolas"/>
                <a:ea typeface="Consolas"/>
                <a:cs typeface="Consolas"/>
              </a:rPr>
              <a:t>KV Cache ×2（正 / 负）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965960"/>
            <a:ext cx="3017520" cy="1097280"/>
          </a:xfrm>
          <a:prstGeom prst="roundRect">
            <a:avLst>
              <a:gd name="adj" fmla="val 5000"/>
            </a:avLst>
          </a:prstGeom>
          <a:solidFill>
            <a:srgbClr val="EFECFB"/>
          </a:solidFill>
          <a:ln w="19050">
            <a:solidFill>
              <a:srgbClr val="6A4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50" b="1" i="0">
                <a:solidFill>
                  <a:srgbClr val="6A4FD8"/>
                </a:solidFill>
                <a:latin typeface="Microsoft YaHei"/>
                <a:ea typeface="Microsoft YaHei"/>
                <a:cs typeface="Microsoft YaHei"/>
              </a:rPr>
              <a:t>DiT</a:t>
            </a:r>
          </a:p>
          <a:p>
            <a:pPr algn="ctr">
              <a:spcBef>
                <a:spcPts val="0"/>
              </a:spcBef>
            </a:pPr>
            <a:r>
              <a:rPr sz="850" b="0" i="0">
                <a:solidFill>
                  <a:srgbClr val="7C818B"/>
                </a:solidFill>
                <a:latin typeface="Consolas"/>
                <a:ea typeface="Consolas"/>
                <a:cs typeface="Consolas"/>
              </a:rPr>
              <a:t>去噪出图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520440"/>
            <a:ext cx="5431536" cy="1280160"/>
          </a:xfrm>
          <a:prstGeom prst="roundRect">
            <a:avLst>
              <a:gd name="adj" fmla="val 5000"/>
            </a:avLst>
          </a:prstGeom>
          <a:solidFill>
            <a:srgbClr val="EDEDE8"/>
          </a:solidFill>
          <a:ln w="12700">
            <a:solidFill>
              <a:srgbClr val="D6D6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09728" rIns="128016" bIns="91440" rtlCol="0" anchor="t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750" b="0" i="0">
                <a:solidFill>
                  <a:srgbClr val="7C818B"/>
                </a:solidFill>
                <a:latin typeface="Consolas"/>
                <a:ea typeface="Consolas"/>
                <a:cs typeface="Consolas"/>
              </a:rPr>
              <a:t>难点 01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6181C"/>
                </a:solidFill>
                <a:latin typeface="Microsoft YaHei"/>
                <a:ea typeface="Microsoft YaHei"/>
                <a:cs typeface="Microsoft YaHei"/>
              </a:rPr>
              <a:t>跨 Stage 传的是 KV，不是 token</a:t>
            </a:r>
          </a:p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950" b="0" i="0">
                <a:solidFill>
                  <a:srgbClr val="4A4E57"/>
                </a:solidFill>
                <a:latin typeface="Microsoft YaHei"/>
                <a:ea typeface="Microsoft YaHei"/>
                <a:cs typeface="Microsoft YaHei"/>
              </a:rPr>
              <a:t>重算一遍 = 白烧一次算力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4496" y="3520440"/>
            <a:ext cx="5431536" cy="1280160"/>
          </a:xfrm>
          <a:prstGeom prst="roundRect">
            <a:avLst>
              <a:gd name="adj" fmla="val 5000"/>
            </a:avLst>
          </a:prstGeom>
          <a:solidFill>
            <a:srgbClr val="EDEDE8"/>
          </a:solidFill>
          <a:ln w="12700">
            <a:solidFill>
              <a:srgbClr val="D6D6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09728" rIns="128016" bIns="91440" rtlCol="0" anchor="t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750" b="0" i="0">
                <a:solidFill>
                  <a:srgbClr val="7C818B"/>
                </a:solidFill>
                <a:latin typeface="Consolas"/>
                <a:ea typeface="Consolas"/>
                <a:cs typeface="Consolas"/>
              </a:rPr>
              <a:t>难点 02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6181C"/>
                </a:solidFill>
                <a:latin typeface="Microsoft YaHei"/>
                <a:ea typeface="Microsoft YaHei"/>
                <a:cs typeface="Microsoft YaHei"/>
              </a:rPr>
              <a:t>vLLM 里没有 Diffusion 引擎</a:t>
            </a:r>
          </a:p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950" b="0" i="0">
                <a:solidFill>
                  <a:srgbClr val="4A4E57"/>
                </a:solidFill>
                <a:latin typeface="Microsoft YaHei"/>
                <a:ea typeface="Microsoft YaHei"/>
                <a:cs typeface="Microsoft YaHei"/>
              </a:rPr>
              <a:t>Scheduler / Executor / Worker / Runner 全为 AR 而写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02920" y="5943600"/>
            <a:ext cx="11183112" cy="0"/>
          </a:xfrm>
          <a:prstGeom prst="line">
            <a:avLst/>
          </a:prstGeom>
          <a:ln w="12700">
            <a:solidFill>
              <a:srgbClr val="D6D6C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02920" y="5998464"/>
            <a:ext cx="11183112" cy="457200"/>
          </a:xfrm>
          <a:prstGeom prst="rect">
            <a:avLst/>
          </a:prstGeom>
          <a:noFill/>
          <a:effectLst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50" b="1" i="0">
                <a:solidFill>
                  <a:srgbClr val="3E5FD9"/>
                </a:solidFill>
                <a:latin typeface="Consolas"/>
                <a:ea typeface="Consolas"/>
                <a:cs typeface="Consolas"/>
              </a:rPr>
              <a:t>矛盾   </a:t>
            </a:r>
            <a:r>
              <a:rPr sz="1050" b="0" i="0">
                <a:solidFill>
                  <a:srgbClr val="16181C"/>
                </a:solidFill>
                <a:latin typeface="Microsoft YaHei"/>
                <a:ea typeface="Microsoft YaHei"/>
                <a:cs typeface="Microsoft YaHei"/>
              </a:rPr>
              <a:t>KV Cache 是 EngineCore 私有、请求结束即回收 → 现在必须能流出进程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85855" y="6473952"/>
            <a:ext cx="731520" cy="274320"/>
          </a:xfrm>
          <a:prstGeom prst="rect">
            <a:avLst/>
          </a:prstGeom>
          <a:noFill/>
          <a:effectLst/>
        </p:spPr>
        <p:txBody>
          <a:bodyPr wrap="square" lIns="45720" tIns="27432" rIns="45720" bIns="27432" anchor="b">
            <a:spAutoFit/>
          </a:bodyPr>
          <a:lstStyle/>
          <a:p>
            <a:pPr algn="r">
              <a:spcBef>
                <a:spcPts val="0"/>
              </a:spcBef>
            </a:pPr>
            <a:r>
              <a:rPr sz="850" b="0" i="0">
                <a:solidFill>
                  <a:srgbClr val="7C818B"/>
                </a:solidFill>
                <a:latin typeface="Consolas"/>
                <a:ea typeface="Consolas"/>
                <a:cs typeface="Consolas"/>
              </a:rPr>
              <a:t>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5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" dur="50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" dur="5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" dur="50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5088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813816" cy="237744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3E5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27432" rIns="36576" bIns="27432" rtlCol="0" anchor="ctr"/>
          <a:lstStyle/>
          <a:p>
            <a:pPr algn="ctr">
              <a:spcBef>
                <a:spcPts val="0"/>
              </a:spcBef>
            </a:pPr>
            <a:r>
              <a:rPr sz="850" b="1" i="0">
                <a:solidFill>
                  <a:srgbClr val="3E5FD9"/>
                </a:solidFill>
                <a:latin typeface="Microsoft YaHei"/>
                <a:ea typeface="Microsoft YaHei"/>
                <a:cs typeface="Microsoft YaHei"/>
              </a:rPr>
              <a:t>② 改动聚焦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26464" y="356616"/>
            <a:ext cx="8229600" cy="256032"/>
          </a:xfrm>
          <a:prstGeom prst="rect">
            <a:avLst/>
          </a:prstGeom>
          <a:noFill/>
          <a:effectLst/>
        </p:spPr>
        <p:txBody>
          <a:bodyPr wrap="square" lIns="45720" tIns="27432" rIns="45720" bIns="27432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850" b="0" i="0">
                <a:solidFill>
                  <a:srgbClr val="7C818B"/>
                </a:solidFill>
                <a:latin typeface="Consolas"/>
                <a:ea typeface="Consolas"/>
                <a:cs typeface="Consolas"/>
              </a:rPr>
              <a:t>STAGE 内部 · 新增一类 STAGE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60704"/>
            <a:ext cx="11155680" cy="237744"/>
          </a:xfrm>
          <a:prstGeom prst="rect">
            <a:avLst/>
          </a:prstGeom>
          <a:noFill/>
          <a:effectLst/>
        </p:spPr>
        <p:txBody>
          <a:bodyPr wrap="square" lIns="45720" tIns="27432" rIns="45720" bIns="27432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800" b="0" i="0">
                <a:solidFill>
                  <a:srgbClr val="7C818B"/>
                </a:solidFill>
                <a:latin typeface="Consolas"/>
                <a:ea typeface="Consolas"/>
                <a:cs typeface="Consolas"/>
              </a:rPr>
              <a:t>前端进程  ›  Stage 管理层  ›  </a:t>
            </a:r>
            <a:r>
              <a:rPr sz="800" b="1" i="0">
                <a:solidFill>
                  <a:srgbClr val="3E5FD9"/>
                </a:solidFill>
                <a:latin typeface="Consolas"/>
                <a:ea typeface="Consolas"/>
                <a:cs typeface="Consolas"/>
              </a:rPr>
              <a:t>Stage 内部 ← 改在这里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35024"/>
            <a:ext cx="11155680" cy="868680"/>
          </a:xfrm>
          <a:prstGeom prst="rect">
            <a:avLst/>
          </a:prstGeom>
          <a:noFill/>
          <a:effectLst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700" b="1" i="0">
                <a:solidFill>
                  <a:srgbClr val="16181C"/>
                </a:solidFill>
                <a:latin typeface="Microsoft YaHei"/>
                <a:ea typeface="Microsoft YaHei"/>
                <a:cs typeface="Microsoft YaHei"/>
              </a:rPr>
              <a:t>Diffusion Stage：与 AR Stage 同构，唯独没有 KV Manager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084831"/>
            <a:ext cx="5349240" cy="237744"/>
          </a:xfrm>
          <a:prstGeom prst="rect">
            <a:avLst/>
          </a:prstGeom>
          <a:noFill/>
          <a:effectLst/>
        </p:spPr>
        <p:txBody>
          <a:bodyPr wrap="square" lIns="45720" tIns="27432" rIns="45720" bIns="18288" anchor="b">
            <a:spAutoFit/>
          </a:bodyPr>
          <a:lstStyle/>
          <a:p>
            <a:pPr algn="l">
              <a:spcBef>
                <a:spcPts val="0"/>
              </a:spcBef>
            </a:pPr>
            <a:r>
              <a:rPr sz="850" b="1" i="0">
                <a:solidFill>
                  <a:srgbClr val="7C818B"/>
                </a:solidFill>
                <a:latin typeface="Consolas"/>
                <a:ea typeface="Consolas"/>
                <a:cs typeface="Consolas"/>
              </a:rPr>
              <a:t>改造前 · 只有一类 STAGE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084831"/>
            <a:ext cx="5349240" cy="237744"/>
          </a:xfrm>
          <a:prstGeom prst="rect">
            <a:avLst/>
          </a:prstGeom>
          <a:noFill/>
          <a:effectLst/>
        </p:spPr>
        <p:txBody>
          <a:bodyPr wrap="square" lIns="45720" tIns="27432" rIns="45720" bIns="18288" anchor="b">
            <a:spAutoFit/>
          </a:bodyPr>
          <a:lstStyle/>
          <a:p>
            <a:pPr algn="r">
              <a:spcBef>
                <a:spcPts val="0"/>
              </a:spcBef>
            </a:pPr>
            <a:r>
              <a:rPr sz="750" b="0" i="0">
                <a:solidFill>
                  <a:srgbClr val="7C818B"/>
                </a:solidFill>
                <a:latin typeface="Consolas"/>
                <a:ea typeface="Consolas"/>
                <a:cs typeface="Consolas"/>
              </a:rPr>
              <a:t>AR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02920" y="2340863"/>
            <a:ext cx="5349239" cy="0"/>
          </a:xfrm>
          <a:prstGeom prst="line">
            <a:avLst/>
          </a:prstGeom>
          <a:ln w="12700">
            <a:solidFill>
              <a:srgbClr val="7C818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02920" y="2487168"/>
            <a:ext cx="5349240" cy="2020824"/>
          </a:xfrm>
          <a:prstGeom prst="roundRect">
            <a:avLst>
              <a:gd name="adj" fmla="val 3000"/>
            </a:avLst>
          </a:prstGeom>
          <a:solidFill>
            <a:srgbClr val="EDEDE8"/>
          </a:solidFill>
          <a:ln w="15875">
            <a:solidFill>
              <a:srgbClr val="A9A9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12648" y="2386584"/>
            <a:ext cx="1152144" cy="201168"/>
          </a:xfrm>
          <a:prstGeom prst="rect">
            <a:avLst/>
          </a:prstGeom>
          <a:solidFill>
            <a:srgbClr val="EDE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spcBef>
                <a:spcPts val="0"/>
              </a:spcBef>
            </a:pPr>
            <a:r>
              <a:rPr sz="650" b="0" i="0">
                <a:solidFill>
                  <a:srgbClr val="7C818B"/>
                </a:solidFill>
                <a:latin typeface="Consolas"/>
                <a:ea typeface="Consolas"/>
                <a:cs typeface="Consolas"/>
              </a:rPr>
              <a:t>AR STAGE 进程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" y="2706624"/>
            <a:ext cx="5129783" cy="3017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A9A9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 i="0">
                <a:solidFill>
                  <a:srgbClr val="16181C"/>
                </a:solidFill>
                <a:latin typeface="Microsoft YaHei"/>
                <a:ea typeface="Microsoft YaHei"/>
                <a:cs typeface="Microsoft YaHei"/>
              </a:rPr>
              <a:t>Scheduler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" y="3063240"/>
            <a:ext cx="5129783" cy="3017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A9A9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 i="0">
                <a:solidFill>
                  <a:srgbClr val="16181C"/>
                </a:solidFill>
                <a:latin typeface="Microsoft YaHei"/>
                <a:ea typeface="Microsoft YaHei"/>
                <a:cs typeface="Microsoft YaHei"/>
              </a:rPr>
              <a:t>KV Cache Manager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" y="3419856"/>
            <a:ext cx="5129783" cy="3017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A9A9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 i="0">
                <a:solidFill>
                  <a:srgbClr val="16181C"/>
                </a:solidFill>
                <a:latin typeface="Microsoft YaHei"/>
                <a:ea typeface="Microsoft YaHei"/>
                <a:cs typeface="Microsoft YaHei"/>
              </a:rPr>
              <a:t>Executor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" y="3776472"/>
            <a:ext cx="5129783" cy="3017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A9A9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 i="0">
                <a:solidFill>
                  <a:srgbClr val="16181C"/>
                </a:solidFill>
                <a:latin typeface="Microsoft YaHei"/>
                <a:ea typeface="Microsoft YaHei"/>
                <a:cs typeface="Microsoft YaHei"/>
              </a:rPr>
              <a:t>Worker</a:t>
            </a:r>
          </a:p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650" b="0" i="0">
                <a:solidFill>
                  <a:srgbClr val="7C818B"/>
                </a:solidFill>
                <a:latin typeface="Consolas"/>
                <a:ea typeface="Consolas"/>
                <a:cs typeface="Consolas"/>
              </a:rPr>
              <a:t>KV 用完即回收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" y="4133087"/>
            <a:ext cx="5129783" cy="3017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A9A9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 i="0">
                <a:solidFill>
                  <a:srgbClr val="16181C"/>
                </a:solidFill>
                <a:latin typeface="Microsoft YaHei"/>
                <a:ea typeface="Microsoft YaHei"/>
                <a:cs typeface="Microsoft YaHei"/>
              </a:rPr>
              <a:t>Model Runner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177539" y="4553712"/>
            <a:ext cx="0" cy="128016"/>
          </a:xfrm>
          <a:prstGeom prst="line">
            <a:avLst/>
          </a:prstGeom>
          <a:ln w="19050">
            <a:solidFill>
              <a:srgbClr val="A9A99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02920" y="4700016"/>
            <a:ext cx="5349240" cy="658368"/>
          </a:xfrm>
          <a:prstGeom prst="roundRect">
            <a:avLst>
              <a:gd name="adj" fmla="val 3000"/>
            </a:avLst>
          </a:prstGeom>
          <a:noFill/>
          <a:ln w="15875">
            <a:solidFill>
              <a:srgbClr val="C4326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12648" y="4599431"/>
            <a:ext cx="429768" cy="2011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spcBef>
                <a:spcPts val="0"/>
              </a:spcBef>
            </a:pPr>
            <a:r>
              <a:rPr sz="650" b="0" i="0">
                <a:solidFill>
                  <a:srgbClr val="C4326F"/>
                </a:solidFill>
                <a:latin typeface="Consolas"/>
                <a:ea typeface="Consolas"/>
                <a:cs typeface="Consolas"/>
              </a:rPr>
              <a:t>DIT ？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2648" y="4901183"/>
            <a:ext cx="5129783" cy="384048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C4326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 i="0" strike="sngStrike">
                <a:solidFill>
                  <a:srgbClr val="C4326F"/>
                </a:solidFill>
                <a:latin typeface="Microsoft YaHei"/>
                <a:ea typeface="Microsoft YaHei"/>
                <a:cs typeface="Microsoft YaHei"/>
              </a:rPr>
              <a:t>没有这一类 Stage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650" b="0" i="0">
                <a:solidFill>
                  <a:srgbClr val="7C818B"/>
                </a:solidFill>
                <a:latin typeface="Consolas"/>
                <a:ea typeface="Consolas"/>
                <a:cs typeface="Consolas"/>
              </a:rPr>
              <a:t>Scheduler / Worker / Runner 全缺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2084831"/>
            <a:ext cx="5349240" cy="237744"/>
          </a:xfrm>
          <a:prstGeom prst="rect">
            <a:avLst/>
          </a:prstGeom>
          <a:noFill/>
          <a:effectLst/>
        </p:spPr>
        <p:txBody>
          <a:bodyPr wrap="square" lIns="45720" tIns="27432" rIns="45720" bIns="18288" anchor="b">
            <a:spAutoFit/>
          </a:bodyPr>
          <a:lstStyle/>
          <a:p>
            <a:pPr algn="l">
              <a:spcBef>
                <a:spcPts val="0"/>
              </a:spcBef>
            </a:pPr>
            <a:r>
              <a:rPr sz="850" b="1" i="0">
                <a:solidFill>
                  <a:srgbClr val="3E5FD9"/>
                </a:solidFill>
                <a:latin typeface="Consolas"/>
                <a:ea typeface="Consolas"/>
                <a:cs typeface="Consolas"/>
              </a:rPr>
              <a:t>改造后 · 两类 STAGE 并存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2084831"/>
            <a:ext cx="5349240" cy="237744"/>
          </a:xfrm>
          <a:prstGeom prst="rect">
            <a:avLst/>
          </a:prstGeom>
          <a:noFill/>
          <a:effectLst/>
        </p:spPr>
        <p:txBody>
          <a:bodyPr wrap="square" lIns="45720" tIns="27432" rIns="45720" bIns="18288" anchor="b">
            <a:spAutoFit/>
          </a:bodyPr>
          <a:lstStyle/>
          <a:p>
            <a:pPr algn="r">
              <a:spcBef>
                <a:spcPts val="0"/>
              </a:spcBef>
            </a:pPr>
            <a:r>
              <a:rPr sz="750" b="0" i="0">
                <a:solidFill>
                  <a:srgbClr val="3E5FD9"/>
                </a:solidFill>
                <a:latin typeface="Consolas"/>
                <a:ea typeface="Consolas"/>
                <a:cs typeface="Consolas"/>
              </a:rPr>
              <a:t>AR ＋ DIFFUSION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309360" y="2340863"/>
            <a:ext cx="5349240" cy="0"/>
          </a:xfrm>
          <a:prstGeom prst="line">
            <a:avLst/>
          </a:prstGeom>
          <a:ln w="12700">
            <a:solidFill>
              <a:srgbClr val="3E5F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309360" y="2487168"/>
            <a:ext cx="2583179" cy="2020824"/>
          </a:xfrm>
          <a:prstGeom prst="roundRect">
            <a:avLst>
              <a:gd name="adj" fmla="val 3000"/>
            </a:avLst>
          </a:prstGeom>
          <a:solidFill>
            <a:srgbClr val="EDEDE8"/>
          </a:solidFill>
          <a:ln w="15875">
            <a:solidFill>
              <a:srgbClr val="A9A9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419088" y="2386584"/>
            <a:ext cx="599846" cy="201168"/>
          </a:xfrm>
          <a:prstGeom prst="rect">
            <a:avLst/>
          </a:prstGeom>
          <a:solidFill>
            <a:srgbClr val="EDE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spcBef>
                <a:spcPts val="0"/>
              </a:spcBef>
            </a:pPr>
            <a:r>
              <a:rPr sz="650" b="0" i="0">
                <a:solidFill>
                  <a:srgbClr val="7C818B"/>
                </a:solidFill>
                <a:latin typeface="Consolas"/>
                <a:ea typeface="Consolas"/>
                <a:cs typeface="Consolas"/>
              </a:rPr>
              <a:t>AR STAGE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19088" y="2706624"/>
            <a:ext cx="2363724" cy="3017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A9A9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 i="0">
                <a:solidFill>
                  <a:srgbClr val="16181C"/>
                </a:solidFill>
                <a:latin typeface="Microsoft YaHei"/>
                <a:ea typeface="Microsoft YaHei"/>
                <a:cs typeface="Microsoft YaHei"/>
              </a:rPr>
              <a:t>Scheduler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19088" y="3063240"/>
            <a:ext cx="2363724" cy="3017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A9A9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 i="0">
                <a:solidFill>
                  <a:srgbClr val="16181C"/>
                </a:solidFill>
                <a:latin typeface="Microsoft YaHei"/>
                <a:ea typeface="Microsoft YaHei"/>
                <a:cs typeface="Microsoft YaHei"/>
              </a:rPr>
              <a:t>KV Cache Mgr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19088" y="3419856"/>
            <a:ext cx="2363724" cy="3017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A9A9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 i="0">
                <a:solidFill>
                  <a:srgbClr val="16181C"/>
                </a:solidFill>
                <a:latin typeface="Microsoft YaHei"/>
                <a:ea typeface="Microsoft YaHei"/>
                <a:cs typeface="Microsoft YaHei"/>
              </a:rPr>
              <a:t>Executor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19088" y="3776472"/>
            <a:ext cx="2363724" cy="301752"/>
          </a:xfrm>
          <a:prstGeom prst="roundRect">
            <a:avLst>
              <a:gd name="adj" fmla="val 6000"/>
            </a:avLst>
          </a:prstGeom>
          <a:solidFill>
            <a:srgbClr val="F5EEE2"/>
          </a:solidFill>
          <a:ln w="12700">
            <a:solidFill>
              <a:srgbClr val="A96F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 i="0">
                <a:solidFill>
                  <a:srgbClr val="A96F0C"/>
                </a:solidFill>
                <a:latin typeface="Microsoft YaHei"/>
                <a:ea typeface="Microsoft YaHei"/>
                <a:cs typeface="Microsoft YaHei"/>
              </a:rPr>
              <a:t>Worker ＋ Connector</a:t>
            </a:r>
          </a:p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650" b="0" i="0">
                <a:solidFill>
                  <a:srgbClr val="7C818B"/>
                </a:solidFill>
                <a:latin typeface="Consolas"/>
                <a:ea typeface="Consolas"/>
                <a:cs typeface="Consolas"/>
              </a:rPr>
              <a:t>put() KV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19088" y="4133087"/>
            <a:ext cx="2363724" cy="3017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A9A9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 i="0">
                <a:solidFill>
                  <a:srgbClr val="16181C"/>
                </a:solidFill>
                <a:latin typeface="Microsoft YaHei"/>
                <a:ea typeface="Microsoft YaHei"/>
                <a:cs typeface="Microsoft YaHei"/>
              </a:rPr>
              <a:t>Model Runner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075419" y="2487168"/>
            <a:ext cx="2583179" cy="2020824"/>
          </a:xfrm>
          <a:prstGeom prst="roundRect">
            <a:avLst>
              <a:gd name="adj" fmla="val 3000"/>
            </a:avLst>
          </a:prstGeom>
          <a:solidFill>
            <a:srgbClr val="ECEFFB"/>
          </a:solidFill>
          <a:ln w="15875">
            <a:solidFill>
              <a:srgbClr val="3E5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185147" y="2386584"/>
            <a:ext cx="1792224" cy="201168"/>
          </a:xfrm>
          <a:prstGeom prst="rect">
            <a:avLst/>
          </a:prstGeom>
          <a:solidFill>
            <a:srgbClr val="EC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spcBef>
                <a:spcPts val="0"/>
              </a:spcBef>
            </a:pPr>
            <a:r>
              <a:rPr sz="650" b="0" i="0">
                <a:solidFill>
                  <a:srgbClr val="3E5FD9"/>
                </a:solidFill>
                <a:latin typeface="Consolas"/>
                <a:ea typeface="Consolas"/>
                <a:cs typeface="Consolas"/>
              </a:rPr>
              <a:t>DIFFUSION STAGE（新）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185147" y="2706624"/>
            <a:ext cx="2363724" cy="301752"/>
          </a:xfrm>
          <a:prstGeom prst="roundRect">
            <a:avLst>
              <a:gd name="adj" fmla="val 6000"/>
            </a:avLst>
          </a:prstGeom>
          <a:solidFill>
            <a:srgbClr val="ECEFFB"/>
          </a:solidFill>
          <a:ln w="12700">
            <a:solidFill>
              <a:srgbClr val="3E5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 i="0">
                <a:solidFill>
                  <a:srgbClr val="3E5FD9"/>
                </a:solidFill>
                <a:latin typeface="Microsoft YaHei"/>
                <a:ea typeface="Microsoft YaHei"/>
                <a:cs typeface="Microsoft YaHei"/>
              </a:rPr>
              <a:t>Scheduler</a:t>
            </a:r>
          </a:p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650" b="0" i="0">
                <a:solidFill>
                  <a:srgbClr val="7C818B"/>
                </a:solidFill>
                <a:latin typeface="Consolas"/>
                <a:ea typeface="Consolas"/>
                <a:cs typeface="Consolas"/>
              </a:rPr>
              <a:t>按去噪步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185147" y="3063240"/>
            <a:ext cx="2363724" cy="3017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A9A99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 i="0">
                <a:solidFill>
                  <a:srgbClr val="7C818B"/>
                </a:solidFill>
                <a:latin typeface="Microsoft YaHei"/>
                <a:ea typeface="Microsoft YaHei"/>
                <a:cs typeface="Microsoft YaHei"/>
              </a:rPr>
              <a:t>无 KV Cache Mgr</a:t>
            </a:r>
          </a:p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650" b="0" i="0">
                <a:solidFill>
                  <a:srgbClr val="7C818B"/>
                </a:solidFill>
                <a:latin typeface="Consolas"/>
                <a:ea typeface="Consolas"/>
                <a:cs typeface="Consolas"/>
              </a:rPr>
              <a:t>DiT 无自回归状态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185147" y="3419856"/>
            <a:ext cx="2363724" cy="301752"/>
          </a:xfrm>
          <a:prstGeom prst="roundRect">
            <a:avLst>
              <a:gd name="adj" fmla="val 6000"/>
            </a:avLst>
          </a:prstGeom>
          <a:solidFill>
            <a:srgbClr val="ECEFFB"/>
          </a:solidFill>
          <a:ln w="12700">
            <a:solidFill>
              <a:srgbClr val="3E5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 i="0">
                <a:solidFill>
                  <a:srgbClr val="3E5FD9"/>
                </a:solidFill>
                <a:latin typeface="Microsoft YaHei"/>
                <a:ea typeface="Microsoft YaHei"/>
                <a:cs typeface="Microsoft YaHei"/>
              </a:rPr>
              <a:t>Executor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85147" y="3776472"/>
            <a:ext cx="2363724" cy="301752"/>
          </a:xfrm>
          <a:prstGeom prst="roundRect">
            <a:avLst>
              <a:gd name="adj" fmla="val 6000"/>
            </a:avLst>
          </a:prstGeom>
          <a:solidFill>
            <a:srgbClr val="ECEFFB"/>
          </a:solidFill>
          <a:ln w="12700">
            <a:solidFill>
              <a:srgbClr val="3E5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 i="0">
                <a:solidFill>
                  <a:srgbClr val="3E5FD9"/>
                </a:solidFill>
                <a:latin typeface="Microsoft YaHei"/>
                <a:ea typeface="Microsoft YaHei"/>
                <a:cs typeface="Microsoft YaHei"/>
              </a:rPr>
              <a:t>Worker ＋ Connector</a:t>
            </a:r>
          </a:p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650" b="0" i="0">
                <a:solidFill>
                  <a:srgbClr val="7C818B"/>
                </a:solidFill>
                <a:latin typeface="Consolas"/>
                <a:ea typeface="Consolas"/>
                <a:cs typeface="Consolas"/>
              </a:rPr>
              <a:t>get() KV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85147" y="4133087"/>
            <a:ext cx="2363724" cy="301752"/>
          </a:xfrm>
          <a:prstGeom prst="roundRect">
            <a:avLst>
              <a:gd name="adj" fmla="val 6000"/>
            </a:avLst>
          </a:prstGeom>
          <a:solidFill>
            <a:srgbClr val="ECEFFB"/>
          </a:solidFill>
          <a:ln w="12700">
            <a:solidFill>
              <a:srgbClr val="3E5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 i="0">
                <a:solidFill>
                  <a:srgbClr val="3E5FD9"/>
                </a:solidFill>
                <a:latin typeface="Microsoft YaHei"/>
                <a:ea typeface="Microsoft YaHei"/>
                <a:cs typeface="Microsoft YaHei"/>
              </a:rPr>
              <a:t>Model Runner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309360" y="4736592"/>
            <a:ext cx="5349240" cy="384048"/>
          </a:xfrm>
          <a:prstGeom prst="roundRect">
            <a:avLst>
              <a:gd name="adj" fmla="val 6000"/>
            </a:avLst>
          </a:prstGeom>
          <a:solidFill>
            <a:srgbClr val="ECEFFB"/>
          </a:solidFill>
          <a:ln w="12700">
            <a:solidFill>
              <a:srgbClr val="3E5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 i="0">
                <a:solidFill>
                  <a:srgbClr val="3E5FD9"/>
                </a:solidFill>
                <a:latin typeface="Microsoft YaHei"/>
                <a:ea typeface="Microsoft YaHei"/>
                <a:cs typeface="Microsoft YaHei"/>
              </a:rPr>
              <a:t>OmniConnector  put / get</a:t>
            </a:r>
          </a:p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650" b="0" i="0">
                <a:solidFill>
                  <a:srgbClr val="7C818B"/>
                </a:solidFill>
                <a:latin typeface="Consolas"/>
                <a:ea typeface="Consolas"/>
                <a:cs typeface="Consolas"/>
              </a:rPr>
              <a:t>共享内存 · Mooncake · RDMA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6309360" y="5175504"/>
            <a:ext cx="0" cy="384048"/>
          </a:xfrm>
          <a:prstGeom prst="line">
            <a:avLst/>
          </a:prstGeom>
          <a:ln w="25400">
            <a:solidFill>
              <a:srgbClr val="3E5F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6382512" y="5175504"/>
            <a:ext cx="5276088" cy="384048"/>
          </a:xfrm>
          <a:prstGeom prst="rect">
            <a:avLst/>
          </a:prstGeom>
          <a:noFill/>
          <a:effectLst/>
        </p:spPr>
        <p:txBody>
          <a:bodyPr wrap="square" lIns="45720" tIns="27432" rIns="45720" bIns="27432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750" b="0" i="0">
                <a:solidFill>
                  <a:srgbClr val="3E5FD9"/>
                </a:solidFill>
                <a:latin typeface="Consolas"/>
                <a:ea typeface="Consolas"/>
                <a:cs typeface="Consolas"/>
              </a:rPr>
              <a:t>Connector 挂在两侧 Worker · Runner 触发收发 · Scheduler 只决定「何时传」，不碰数据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6486" y="6021540"/>
            <a:ext cx="2560320" cy="237744"/>
          </a:xfrm>
          <a:prstGeom prst="rect">
            <a:avLst/>
          </a:prstGeom>
          <a:noFill/>
          <a:effectLst/>
        </p:spPr>
        <p:txBody>
          <a:bodyPr wrap="square" lIns="45720" tIns="0" rIns="45720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50" b="1" i="0" dirty="0">
                <a:solidFill>
                  <a:srgbClr val="3E5FD9"/>
                </a:solidFill>
                <a:latin typeface="Consolas"/>
                <a:ea typeface="Consolas"/>
                <a:cs typeface="Consolas"/>
              </a:rPr>
              <a:t>+  </a:t>
            </a:r>
            <a:r>
              <a:rPr sz="900" b="1" i="0" dirty="0">
                <a:solidFill>
                  <a:srgbClr val="16181C"/>
                </a:solidFill>
                <a:latin typeface="Microsoft YaHei"/>
                <a:ea typeface="Microsoft YaHei"/>
                <a:cs typeface="Microsoft YaHei"/>
              </a:rPr>
              <a:t>Diffusion Stage </a:t>
            </a:r>
            <a:r>
              <a:rPr sz="900" b="1" i="0" dirty="0" err="1">
                <a:solidFill>
                  <a:srgbClr val="16181C"/>
                </a:solidFill>
                <a:latin typeface="Microsoft YaHei"/>
                <a:ea typeface="Microsoft YaHei"/>
                <a:cs typeface="Microsoft YaHei"/>
              </a:rPr>
              <a:t>类别</a:t>
            </a:r>
            <a:endParaRPr sz="900" b="1" i="0" dirty="0">
              <a:solidFill>
                <a:srgbClr val="16181C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2312387" y="6021541"/>
            <a:ext cx="2560320" cy="237744"/>
          </a:xfrm>
          <a:prstGeom prst="rect">
            <a:avLst/>
          </a:prstGeom>
          <a:noFill/>
          <a:effectLst/>
        </p:spPr>
        <p:txBody>
          <a:bodyPr wrap="square" lIns="45720" tIns="0" rIns="45720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50" b="1" i="0" dirty="0">
                <a:solidFill>
                  <a:srgbClr val="3E5FD9"/>
                </a:solidFill>
                <a:latin typeface="Consolas"/>
                <a:ea typeface="Consolas"/>
                <a:cs typeface="Consolas"/>
              </a:rPr>
              <a:t>+  </a:t>
            </a:r>
            <a:r>
              <a:rPr sz="900" b="1" i="0" dirty="0" err="1">
                <a:solidFill>
                  <a:srgbClr val="16181C"/>
                </a:solidFill>
                <a:latin typeface="Microsoft YaHei"/>
                <a:ea typeface="Microsoft YaHei"/>
                <a:cs typeface="Microsoft YaHei"/>
              </a:rPr>
              <a:t>OmniConnector</a:t>
            </a:r>
            <a:r>
              <a:rPr sz="900" b="1" i="0" dirty="0">
                <a:solidFill>
                  <a:srgbClr val="16181C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b="1" i="0" dirty="0" err="1">
                <a:solidFill>
                  <a:srgbClr val="16181C"/>
                </a:solidFill>
                <a:latin typeface="Microsoft YaHei"/>
                <a:ea typeface="Microsoft YaHei"/>
                <a:cs typeface="Microsoft YaHei"/>
              </a:rPr>
              <a:t>层</a:t>
            </a:r>
            <a:endParaRPr sz="900" b="1" i="0" dirty="0">
              <a:solidFill>
                <a:srgbClr val="16181C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4083122" y="6021542"/>
            <a:ext cx="2560320" cy="237744"/>
          </a:xfrm>
          <a:prstGeom prst="rect">
            <a:avLst/>
          </a:prstGeom>
          <a:noFill/>
          <a:effectLst/>
        </p:spPr>
        <p:txBody>
          <a:bodyPr wrap="square" lIns="45720" tIns="0" rIns="45720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50" b="1" i="0">
                <a:solidFill>
                  <a:srgbClr val="A96F0C"/>
                </a:solidFill>
                <a:latin typeface="Consolas"/>
                <a:ea typeface="Consolas"/>
                <a:cs typeface="Consolas"/>
              </a:rPr>
              <a:t>~  </a:t>
            </a:r>
            <a:r>
              <a:rPr sz="900" b="1" i="0">
                <a:solidFill>
                  <a:srgbClr val="16181C"/>
                </a:solidFill>
                <a:latin typeface="Microsoft YaHei"/>
                <a:ea typeface="Microsoft YaHei"/>
                <a:cs typeface="Microsoft YaHei"/>
              </a:rPr>
              <a:t>两侧 Worker 挂 Connector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23068" y="6021542"/>
            <a:ext cx="2560320" cy="237744"/>
          </a:xfrm>
          <a:prstGeom prst="rect">
            <a:avLst/>
          </a:prstGeom>
          <a:noFill/>
          <a:effectLst/>
        </p:spPr>
        <p:txBody>
          <a:bodyPr wrap="square" lIns="45720" tIns="0" rIns="45720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50" b="1" i="0">
                <a:solidFill>
                  <a:srgbClr val="A96F0C"/>
                </a:solidFill>
                <a:latin typeface="Consolas"/>
                <a:ea typeface="Consolas"/>
                <a:cs typeface="Consolas"/>
              </a:rPr>
              <a:t>~  </a:t>
            </a:r>
            <a:r>
              <a:rPr sz="900" b="1" i="0">
                <a:solidFill>
                  <a:srgbClr val="16181C"/>
                </a:solidFill>
                <a:latin typeface="Microsoft YaHei"/>
                <a:ea typeface="Microsoft YaHei"/>
                <a:cs typeface="Microsoft YaHei"/>
              </a:rPr>
              <a:t>AR Scheduler 加传输判断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22492" y="6021542"/>
            <a:ext cx="2560320" cy="237744"/>
          </a:xfrm>
          <a:prstGeom prst="rect">
            <a:avLst/>
          </a:prstGeom>
          <a:noFill/>
          <a:effectLst/>
        </p:spPr>
        <p:txBody>
          <a:bodyPr wrap="square" lIns="45720" tIns="0" rIns="45720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50" b="1" i="0" dirty="0">
                <a:solidFill>
                  <a:srgbClr val="A96F0C"/>
                </a:solidFill>
                <a:latin typeface="Consolas"/>
                <a:ea typeface="Consolas"/>
                <a:cs typeface="Consolas"/>
              </a:rPr>
              <a:t>~  </a:t>
            </a:r>
            <a:r>
              <a:rPr sz="900" b="1" i="0" dirty="0">
                <a:solidFill>
                  <a:srgbClr val="16181C"/>
                </a:solidFill>
                <a:latin typeface="Microsoft YaHei"/>
                <a:ea typeface="Microsoft YaHei"/>
                <a:cs typeface="Microsoft YaHei"/>
              </a:rPr>
              <a:t>KV </a:t>
            </a:r>
            <a:r>
              <a:rPr sz="900" b="1" i="0" dirty="0" err="1">
                <a:solidFill>
                  <a:srgbClr val="16181C"/>
                </a:solidFill>
                <a:latin typeface="Microsoft YaHei"/>
                <a:ea typeface="Microsoft YaHei"/>
                <a:cs typeface="Microsoft YaHei"/>
              </a:rPr>
              <a:t>生命周期：传完才回收</a:t>
            </a:r>
            <a:endParaRPr sz="900" b="1" i="0" dirty="0">
              <a:solidFill>
                <a:srgbClr val="16181C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10134295" y="6021542"/>
            <a:ext cx="2560320" cy="237744"/>
          </a:xfrm>
          <a:prstGeom prst="rect">
            <a:avLst/>
          </a:prstGeom>
          <a:noFill/>
          <a:effectLst/>
        </p:spPr>
        <p:txBody>
          <a:bodyPr wrap="square" lIns="45720" tIns="0" rIns="45720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50" b="1" i="0">
                <a:solidFill>
                  <a:srgbClr val="C4326F"/>
                </a:solidFill>
                <a:latin typeface="Consolas"/>
                <a:ea typeface="Consolas"/>
                <a:cs typeface="Consolas"/>
              </a:rPr>
              <a:t>-  </a:t>
            </a:r>
            <a:r>
              <a:rPr sz="900" b="1" i="0">
                <a:solidFill>
                  <a:srgbClr val="16181C"/>
                </a:solidFill>
                <a:latin typeface="Microsoft YaHei"/>
                <a:ea typeface="Microsoft YaHei"/>
                <a:cs typeface="Microsoft YaHei"/>
              </a:rPr>
              <a:t>「KV 是引擎私有」不成立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502920" y="6236208"/>
            <a:ext cx="11183112" cy="0"/>
          </a:xfrm>
          <a:prstGeom prst="line">
            <a:avLst/>
          </a:prstGeom>
          <a:ln w="12700">
            <a:solidFill>
              <a:srgbClr val="D6D6C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502920" y="6291072"/>
            <a:ext cx="11183112" cy="457200"/>
          </a:xfrm>
          <a:prstGeom prst="rect">
            <a:avLst/>
          </a:prstGeom>
          <a:noFill/>
          <a:effectLst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50" b="1" i="0">
                <a:solidFill>
                  <a:srgbClr val="3E5FD9"/>
                </a:solidFill>
                <a:latin typeface="Consolas"/>
                <a:ea typeface="Consolas"/>
                <a:cs typeface="Consolas"/>
              </a:rPr>
              <a:t>遗留   </a:t>
            </a:r>
            <a:r>
              <a:rPr sz="1050" b="0" i="0">
                <a:solidFill>
                  <a:srgbClr val="16181C"/>
                </a:solidFill>
                <a:latin typeface="Microsoft YaHei"/>
                <a:ea typeface="Microsoft YaHei"/>
                <a:cs typeface="Microsoft YaHei"/>
              </a:rPr>
              <a:t>Diffusion Stage 缺一个 KV Manager → 第 ③ 章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185855" y="6473952"/>
            <a:ext cx="731520" cy="274320"/>
          </a:xfrm>
          <a:prstGeom prst="rect">
            <a:avLst/>
          </a:prstGeom>
          <a:noFill/>
          <a:effectLst/>
        </p:spPr>
        <p:txBody>
          <a:bodyPr wrap="square" lIns="45720" tIns="27432" rIns="45720" bIns="27432" anchor="b">
            <a:spAutoFit/>
          </a:bodyPr>
          <a:lstStyle/>
          <a:p>
            <a:pPr algn="r">
              <a:spcBef>
                <a:spcPts val="0"/>
              </a:spcBef>
            </a:pPr>
            <a:r>
              <a:rPr sz="850" b="0" i="0">
                <a:solidFill>
                  <a:srgbClr val="7C818B"/>
                </a:solidFill>
                <a:latin typeface="Consolas"/>
                <a:ea typeface="Consolas"/>
                <a:cs typeface="Consolas"/>
              </a:rPr>
              <a:t>8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50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" dur="50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" dur="500"/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" dur="500"/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500"/>
                                  <p:tgtEl>
                                    <p:spTgt spid="2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" dur="500"/>
                                  <p:tgtEl>
                                    <p:spTgt spid="2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4" dur="500"/>
                                  <p:tgtEl>
                                    <p:spTgt spid="2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7" dur="500"/>
                                  <p:tgtEl>
                                    <p:spTgt spid="2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0" dur="500"/>
                                  <p:tgtEl>
                                    <p:spTgt spid="3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3" dur="500"/>
                                  <p:tgtEl>
                                    <p:spTgt spid="3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6" dur="500"/>
                                  <p:tgtEl>
                                    <p:spTgt spid="3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7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9" dur="500"/>
                                  <p:tgtEl>
                                    <p:spTgt spid="3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0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2" dur="500"/>
                                  <p:tgtEl>
                                    <p:spTgt spid="3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3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500"/>
                                  <p:tgtEl>
                                    <p:spTgt spid="3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8" dur="500"/>
                                  <p:tgtEl>
                                    <p:spTgt spid="3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2" dur="500"/>
                                  <p:tgtEl>
                                    <p:spTgt spid="2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3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500"/>
                                  <p:tgtEl>
                                    <p:spTgt spid="3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6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500"/>
                                  <p:tgtEl>
                                    <p:spTgt spid="3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9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1" dur="500"/>
                                  <p:tgtEl>
                                    <p:spTgt spid="3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2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4" dur="500"/>
                                  <p:tgtEl>
                                    <p:spTgt spid="4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7" dur="500"/>
                                  <p:tgtEl>
                                    <p:spTgt spid="4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8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0" dur="500"/>
                                  <p:tgtEl>
                                    <p:spTgt spid="4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1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3" dur="500"/>
                                  <p:tgtEl>
                                    <p:spTgt spid="4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6" dur="500"/>
                                  <p:tgtEl>
                                    <p:spTgt spid="4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7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9" dur="500"/>
                                  <p:tgtEl>
                                    <p:spTgt spid="4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0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2" dur="500"/>
                                  <p:tgtEl>
                                    <p:spTgt spid="4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3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5" dur="500"/>
                                  <p:tgtEl>
                                    <p:spTgt spid="4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6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8" dur="500"/>
                                  <p:tgtEl>
                                    <p:spTgt spid="4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813816" cy="237744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3E5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27432" rIns="36576" bIns="27432" rtlCol="0" anchor="ctr"/>
          <a:lstStyle/>
          <a:p>
            <a:pPr algn="ctr">
              <a:spcBef>
                <a:spcPts val="0"/>
              </a:spcBef>
            </a:pPr>
            <a:r>
              <a:rPr sz="850" b="1" i="0">
                <a:solidFill>
                  <a:srgbClr val="3E5FD9"/>
                </a:solidFill>
                <a:latin typeface="Microsoft YaHei"/>
                <a:ea typeface="Microsoft YaHei"/>
                <a:cs typeface="Microsoft YaHei"/>
              </a:rPr>
              <a:t>② 改动聚焦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26464" y="356616"/>
            <a:ext cx="8229600" cy="256032"/>
          </a:xfrm>
          <a:prstGeom prst="rect">
            <a:avLst/>
          </a:prstGeom>
          <a:noFill/>
          <a:effectLst/>
        </p:spPr>
        <p:txBody>
          <a:bodyPr wrap="square" lIns="45720" tIns="27432" rIns="45720" bIns="27432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850" b="0" i="0">
                <a:solidFill>
                  <a:srgbClr val="7C818B"/>
                </a:solidFill>
                <a:latin typeface="Consolas"/>
                <a:ea typeface="Consolas"/>
                <a:cs typeface="Consolas"/>
              </a:rPr>
              <a:t>CFG 伴随请求 · 刀该落在哪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60704"/>
            <a:ext cx="11155680" cy="237744"/>
          </a:xfrm>
          <a:prstGeom prst="rect">
            <a:avLst/>
          </a:prstGeom>
          <a:noFill/>
          <a:effectLst/>
        </p:spPr>
        <p:txBody>
          <a:bodyPr wrap="square" lIns="45720" tIns="27432" rIns="45720" bIns="27432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800" b="1" i="0">
                <a:solidFill>
                  <a:srgbClr val="3E5FD9"/>
                </a:solidFill>
                <a:latin typeface="Consolas"/>
                <a:ea typeface="Consolas"/>
                <a:cs typeface="Consolas"/>
              </a:rPr>
              <a:t>前端进程 ← 实际改在这里</a:t>
            </a:r>
            <a:r>
              <a:rPr sz="800" b="0" i="0">
                <a:solidFill>
                  <a:srgbClr val="7C818B"/>
                </a:solidFill>
                <a:latin typeface="Consolas"/>
                <a:ea typeface="Consolas"/>
                <a:cs typeface="Consolas"/>
              </a:rPr>
              <a:t>  ›  Stage 管理层  ›  Stage 内部（差点改在这里）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35024"/>
            <a:ext cx="11155680" cy="868680"/>
          </a:xfrm>
          <a:prstGeom prst="rect">
            <a:avLst/>
          </a:prstGeom>
          <a:noFill/>
          <a:effectLst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000" b="1" i="0">
                <a:solidFill>
                  <a:srgbClr val="16181C"/>
                </a:solidFill>
                <a:latin typeface="Microsoft YaHei"/>
                <a:ea typeface="Microsoft YaHei"/>
                <a:cs typeface="Microsoft YaHei"/>
              </a:rPr>
              <a:t>同一个需求，两种改法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212848"/>
            <a:ext cx="5349240" cy="237744"/>
          </a:xfrm>
          <a:prstGeom prst="rect">
            <a:avLst/>
          </a:prstGeom>
          <a:noFill/>
          <a:effectLst/>
        </p:spPr>
        <p:txBody>
          <a:bodyPr wrap="square" lIns="45720" tIns="27432" rIns="45720" bIns="18288" anchor="b">
            <a:spAutoFit/>
          </a:bodyPr>
          <a:lstStyle/>
          <a:p>
            <a:pPr algn="l">
              <a:spcBef>
                <a:spcPts val="0"/>
              </a:spcBef>
            </a:pPr>
            <a:r>
              <a:rPr sz="850" b="1" i="0">
                <a:solidFill>
                  <a:srgbClr val="C4326F"/>
                </a:solidFill>
                <a:latin typeface="Consolas"/>
                <a:ea typeface="Consolas"/>
                <a:cs typeface="Consolas"/>
              </a:rPr>
              <a:t>改法 A · 动引擎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212848"/>
            <a:ext cx="5349240" cy="237744"/>
          </a:xfrm>
          <a:prstGeom prst="rect">
            <a:avLst/>
          </a:prstGeom>
          <a:noFill/>
          <a:effectLst/>
        </p:spPr>
        <p:txBody>
          <a:bodyPr wrap="square" lIns="45720" tIns="27432" rIns="45720" bIns="18288" anchor="b">
            <a:spAutoFit/>
          </a:bodyPr>
          <a:lstStyle/>
          <a:p>
            <a:pPr algn="r">
              <a:spcBef>
                <a:spcPts val="0"/>
              </a:spcBef>
            </a:pPr>
            <a:r>
              <a:rPr sz="750" b="0" i="0">
                <a:solidFill>
                  <a:srgbClr val="C4326F"/>
                </a:solidFill>
                <a:latin typeface="Consolas"/>
                <a:ea typeface="Consolas"/>
                <a:cs typeface="Consolas"/>
              </a:rPr>
              <a:t>被否决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02920" y="2468880"/>
            <a:ext cx="5349239" cy="0"/>
          </a:xfrm>
          <a:prstGeom prst="line">
            <a:avLst/>
          </a:prstGeom>
          <a:ln w="12700">
            <a:solidFill>
              <a:srgbClr val="C4326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02920" y="2615184"/>
            <a:ext cx="5349240" cy="640080"/>
          </a:xfrm>
          <a:prstGeom prst="roundRect">
            <a:avLst>
              <a:gd name="adj" fmla="val 3000"/>
            </a:avLst>
          </a:prstGeom>
          <a:solidFill>
            <a:srgbClr val="EDEDE8"/>
          </a:solidFill>
          <a:ln w="15875">
            <a:solidFill>
              <a:srgbClr val="A9A9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12648" y="2514600"/>
            <a:ext cx="512064" cy="201168"/>
          </a:xfrm>
          <a:prstGeom prst="rect">
            <a:avLst/>
          </a:prstGeom>
          <a:solidFill>
            <a:srgbClr val="EDE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spcBef>
                <a:spcPts val="0"/>
              </a:spcBef>
            </a:pPr>
            <a:r>
              <a:rPr sz="650" b="0" i="0">
                <a:solidFill>
                  <a:srgbClr val="7C818B"/>
                </a:solidFill>
                <a:latin typeface="Consolas"/>
                <a:ea typeface="Consolas"/>
                <a:cs typeface="Consolas"/>
              </a:rPr>
              <a:t>前端进程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" y="2816352"/>
            <a:ext cx="5129783" cy="365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A9A9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 i="0">
                <a:solidFill>
                  <a:srgbClr val="16181C"/>
                </a:solidFill>
                <a:latin typeface="Microsoft YaHei"/>
                <a:ea typeface="Microsoft YaHei"/>
                <a:cs typeface="Microsoft YaHei"/>
              </a:rPr>
              <a:t>AsyncOmniEngine · Orchestrator</a:t>
            </a:r>
          </a:p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650" b="0" i="0">
                <a:solidFill>
                  <a:srgbClr val="7C818B"/>
                </a:solidFill>
                <a:latin typeface="Consolas"/>
                <a:ea typeface="Consolas"/>
                <a:cs typeface="Consolas"/>
              </a:rPr>
              <a:t>不用改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177539" y="3255264"/>
            <a:ext cx="0" cy="128016"/>
          </a:xfrm>
          <a:prstGeom prst="line">
            <a:avLst/>
          </a:prstGeom>
          <a:ln w="19050">
            <a:solidFill>
              <a:srgbClr val="A9A99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02920" y="3401568"/>
            <a:ext cx="5349240" cy="1755648"/>
          </a:xfrm>
          <a:prstGeom prst="roundRect">
            <a:avLst>
              <a:gd name="adj" fmla="val 3000"/>
            </a:avLst>
          </a:prstGeom>
          <a:noFill/>
          <a:ln w="15875">
            <a:solidFill>
              <a:srgbClr val="C4326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12648" y="3300984"/>
            <a:ext cx="1700784" cy="2011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spcBef>
                <a:spcPts val="0"/>
              </a:spcBef>
            </a:pPr>
            <a:r>
              <a:rPr sz="650" b="0" i="0">
                <a:solidFill>
                  <a:srgbClr val="C4326F"/>
                </a:solidFill>
                <a:latin typeface="Consolas"/>
                <a:ea typeface="Consolas"/>
                <a:cs typeface="Consolas"/>
              </a:rPr>
              <a:t>AR STAGE 内部 · 要动刀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" y="3602736"/>
            <a:ext cx="5129783" cy="329184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C4326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 i="0" strike="sngStrike">
                <a:solidFill>
                  <a:srgbClr val="C4326F"/>
                </a:solidFill>
                <a:latin typeface="Microsoft YaHei"/>
                <a:ea typeface="Microsoft YaHei"/>
                <a:cs typeface="Microsoft YaHei"/>
              </a:rPr>
              <a:t>Scheduler 加 if cfg:</a:t>
            </a:r>
          </a:p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650" b="0" i="0">
                <a:solidFill>
                  <a:srgbClr val="7C818B"/>
                </a:solidFill>
                <a:latin typeface="Consolas"/>
                <a:ea typeface="Consolas"/>
                <a:cs typeface="Consolas"/>
              </a:rPr>
              <a:t>走另一套批处理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" y="3986784"/>
            <a:ext cx="5129783" cy="329184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C4326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 i="0" strike="sngStrike">
                <a:solidFill>
                  <a:srgbClr val="C4326F"/>
                </a:solidFill>
                <a:latin typeface="Microsoft YaHei"/>
                <a:ea typeface="Microsoft YaHei"/>
                <a:cs typeface="Microsoft YaHei"/>
              </a:rPr>
              <a:t>KV Mgr 加双份块表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" y="4370832"/>
            <a:ext cx="5129783" cy="329184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C4326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 i="0" strike="sngStrike">
                <a:solidFill>
                  <a:srgbClr val="C4326F"/>
                </a:solidFill>
                <a:latin typeface="Microsoft YaHei"/>
                <a:ea typeface="Microsoft YaHei"/>
                <a:cs typeface="Microsoft YaHei"/>
              </a:rPr>
              <a:t>Runner 加双路 forward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8" y="4754880"/>
            <a:ext cx="5129783" cy="329184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C4326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 i="0" strike="sngStrike">
                <a:solidFill>
                  <a:srgbClr val="C4326F"/>
                </a:solidFill>
                <a:latin typeface="Microsoft YaHei"/>
                <a:ea typeface="Microsoft YaHei"/>
                <a:cs typeface="Microsoft YaHei"/>
              </a:rPr>
              <a:t>Connector 加 CFG 专用通道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02920" y="5358384"/>
            <a:ext cx="0" cy="365760"/>
          </a:xfrm>
          <a:prstGeom prst="line">
            <a:avLst/>
          </a:prstGeom>
          <a:ln w="25400">
            <a:solidFill>
              <a:srgbClr val="C4326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76072" y="5358384"/>
            <a:ext cx="5276088" cy="365760"/>
          </a:xfrm>
          <a:prstGeom prst="rect">
            <a:avLst/>
          </a:prstGeom>
          <a:noFill/>
          <a:effectLst/>
        </p:spPr>
        <p:txBody>
          <a:bodyPr wrap="square" lIns="45720" tIns="27432" rIns="45720" bIns="27432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750" b="0" i="0">
                <a:solidFill>
                  <a:srgbClr val="C4326F"/>
                </a:solidFill>
                <a:latin typeface="Consolas"/>
                <a:ea typeface="Consolas"/>
                <a:cs typeface="Consolas"/>
              </a:rPr>
              <a:t>在引擎核心开特例分支 · 每次 rebase 上游都要重打一遍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2212848"/>
            <a:ext cx="5349240" cy="237744"/>
          </a:xfrm>
          <a:prstGeom prst="rect">
            <a:avLst/>
          </a:prstGeom>
          <a:noFill/>
          <a:effectLst/>
        </p:spPr>
        <p:txBody>
          <a:bodyPr wrap="square" lIns="45720" tIns="27432" rIns="45720" bIns="18288" anchor="b">
            <a:spAutoFit/>
          </a:bodyPr>
          <a:lstStyle/>
          <a:p>
            <a:pPr algn="l">
              <a:spcBef>
                <a:spcPts val="0"/>
              </a:spcBef>
            </a:pPr>
            <a:r>
              <a:rPr sz="850" b="1" i="0">
                <a:solidFill>
                  <a:srgbClr val="3E5FD9"/>
                </a:solidFill>
                <a:latin typeface="Consolas"/>
                <a:ea typeface="Consolas"/>
                <a:cs typeface="Consolas"/>
              </a:rPr>
              <a:t>改法 B · 只动前端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2212848"/>
            <a:ext cx="5349240" cy="237744"/>
          </a:xfrm>
          <a:prstGeom prst="rect">
            <a:avLst/>
          </a:prstGeom>
          <a:noFill/>
          <a:effectLst/>
        </p:spPr>
        <p:txBody>
          <a:bodyPr wrap="square" lIns="45720" tIns="27432" rIns="45720" bIns="18288" anchor="b">
            <a:spAutoFit/>
          </a:bodyPr>
          <a:lstStyle/>
          <a:p>
            <a:pPr algn="r">
              <a:spcBef>
                <a:spcPts val="0"/>
              </a:spcBef>
            </a:pPr>
            <a:r>
              <a:rPr sz="750" b="0" i="0">
                <a:solidFill>
                  <a:srgbClr val="3E5FD9"/>
                </a:solidFill>
                <a:latin typeface="Consolas"/>
                <a:ea typeface="Consolas"/>
                <a:cs typeface="Consolas"/>
              </a:rPr>
              <a:t>采用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309360" y="2468880"/>
            <a:ext cx="5349240" cy="0"/>
          </a:xfrm>
          <a:prstGeom prst="line">
            <a:avLst/>
          </a:prstGeom>
          <a:ln w="12700">
            <a:solidFill>
              <a:srgbClr val="3E5F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309360" y="2615184"/>
            <a:ext cx="5349240" cy="1170432"/>
          </a:xfrm>
          <a:prstGeom prst="roundRect">
            <a:avLst>
              <a:gd name="adj" fmla="val 3000"/>
            </a:avLst>
          </a:prstGeom>
          <a:solidFill>
            <a:srgbClr val="F5EEE2"/>
          </a:solidFill>
          <a:ln w="15875">
            <a:solidFill>
              <a:srgbClr val="A96F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419088" y="2514600"/>
            <a:ext cx="1243584" cy="201168"/>
          </a:xfrm>
          <a:prstGeom prst="rect">
            <a:avLst/>
          </a:prstGeom>
          <a:solidFill>
            <a:srgbClr val="F5E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spcBef>
                <a:spcPts val="0"/>
              </a:spcBef>
            </a:pPr>
            <a:r>
              <a:rPr sz="650" b="0" i="0">
                <a:solidFill>
                  <a:srgbClr val="A96F0C"/>
                </a:solidFill>
                <a:latin typeface="Consolas"/>
                <a:ea typeface="Consolas"/>
                <a:cs typeface="Consolas"/>
              </a:rPr>
              <a:t>前端进程 · 唯一改动处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19088" y="2834639"/>
            <a:ext cx="5129783" cy="402336"/>
          </a:xfrm>
          <a:prstGeom prst="roundRect">
            <a:avLst>
              <a:gd name="adj" fmla="val 6000"/>
            </a:avLst>
          </a:prstGeom>
          <a:solidFill>
            <a:srgbClr val="F5EEE2"/>
          </a:solidFill>
          <a:ln w="12700">
            <a:solidFill>
              <a:srgbClr val="A96F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 i="0">
                <a:solidFill>
                  <a:srgbClr val="A96F0C"/>
                </a:solidFill>
                <a:latin typeface="Microsoft YaHei"/>
                <a:ea typeface="Microsoft YaHei"/>
                <a:cs typeface="Microsoft YaHei"/>
              </a:rPr>
              <a:t>AsyncOmniEngine ＋ prompt 展开钩子</a:t>
            </a:r>
          </a:p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650" b="0" i="0">
                <a:solidFill>
                  <a:srgbClr val="7C818B"/>
                </a:solidFill>
                <a:latin typeface="Consolas"/>
                <a:ea typeface="Consolas"/>
                <a:cs typeface="Consolas"/>
              </a:rPr>
              <a:t>正向请求 → 派生一条负向伴随请求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19088" y="3310127"/>
            <a:ext cx="5129783" cy="402336"/>
          </a:xfrm>
          <a:prstGeom prst="roundRect">
            <a:avLst>
              <a:gd name="adj" fmla="val 6000"/>
            </a:avLst>
          </a:prstGeom>
          <a:solidFill>
            <a:srgbClr val="ECEFFB"/>
          </a:solidFill>
          <a:ln w="12700">
            <a:solidFill>
              <a:srgbClr val="3E5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 i="0">
                <a:solidFill>
                  <a:srgbClr val="3E5FD9"/>
                </a:solidFill>
                <a:latin typeface="Microsoft YaHei"/>
                <a:ea typeface="Microsoft YaHei"/>
                <a:cs typeface="Microsoft YaHei"/>
              </a:rPr>
              <a:t>Orchestrator ＋ CFG 伴随追踪器</a:t>
            </a:r>
          </a:p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650" b="0" i="0">
                <a:solidFill>
                  <a:srgbClr val="7C818B"/>
                </a:solidFill>
                <a:latin typeface="Consolas"/>
                <a:ea typeface="Consolas"/>
                <a:cs typeface="Consolas"/>
              </a:rPr>
              <a:t>两条都完成 → 合并 → 一起转发给 DiT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4041648"/>
            <a:ext cx="5349240" cy="219456"/>
          </a:xfrm>
          <a:prstGeom prst="rect">
            <a:avLst/>
          </a:prstGeom>
          <a:noFill/>
          <a:effectLst/>
        </p:spPr>
        <p:txBody>
          <a:bodyPr wrap="square" lIns="45720" tIns="27432" rIns="45720" bIns="27432" anchor="ctr">
            <a:spAutoFit/>
          </a:bodyPr>
          <a:lstStyle/>
          <a:p>
            <a:pPr algn="ctr">
              <a:spcBef>
                <a:spcPts val="0"/>
              </a:spcBef>
            </a:pPr>
            <a:r>
              <a:rPr sz="750" b="0" i="0">
                <a:solidFill>
                  <a:srgbClr val="3E5FD9"/>
                </a:solidFill>
                <a:latin typeface="Consolas"/>
                <a:ea typeface="Consolas"/>
                <a:cs typeface="Consolas"/>
              </a:rPr>
              <a:t>↓ 送下去的只是两条普通请求 ↓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09360" y="4315968"/>
            <a:ext cx="5349240" cy="1170432"/>
          </a:xfrm>
          <a:prstGeom prst="roundRect">
            <a:avLst>
              <a:gd name="adj" fmla="val 3000"/>
            </a:avLst>
          </a:prstGeom>
          <a:solidFill>
            <a:srgbClr val="EDEDE8"/>
          </a:solidFill>
          <a:ln w="15875">
            <a:solidFill>
              <a:srgbClr val="A9A9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419088" y="4215383"/>
            <a:ext cx="1700784" cy="201168"/>
          </a:xfrm>
          <a:prstGeom prst="rect">
            <a:avLst/>
          </a:prstGeom>
          <a:solidFill>
            <a:srgbClr val="EDE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spcBef>
                <a:spcPts val="0"/>
              </a:spcBef>
            </a:pPr>
            <a:r>
              <a:rPr sz="650" b="0" i="0">
                <a:solidFill>
                  <a:srgbClr val="7C818B"/>
                </a:solidFill>
                <a:latin typeface="Consolas"/>
                <a:ea typeface="Consolas"/>
                <a:cs typeface="Consolas"/>
              </a:rPr>
              <a:t>AR STAGE 内部 · 零改动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19088" y="4535424"/>
            <a:ext cx="5129783" cy="4023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A9A9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 i="0">
                <a:solidFill>
                  <a:srgbClr val="16181C"/>
                </a:solidFill>
                <a:latin typeface="Microsoft YaHei"/>
                <a:ea typeface="Microsoft YaHei"/>
                <a:cs typeface="Microsoft YaHei"/>
              </a:rPr>
              <a:t>Scheduler</a:t>
            </a:r>
          </a:p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650" b="0" i="0">
                <a:solidFill>
                  <a:srgbClr val="7C818B"/>
                </a:solidFill>
                <a:latin typeface="Consolas"/>
                <a:ea typeface="Consolas"/>
                <a:cs typeface="Consolas"/>
              </a:rPr>
              <a:t>照常连续批处理 · 不知道 CFG 存在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19088" y="5010912"/>
            <a:ext cx="5129783" cy="4023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A9A9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 i="0">
                <a:solidFill>
                  <a:srgbClr val="16181C"/>
                </a:solidFill>
                <a:latin typeface="Microsoft YaHei"/>
                <a:ea typeface="Microsoft YaHei"/>
                <a:cs typeface="Microsoft YaHei"/>
              </a:rPr>
              <a:t>KV Mgr · Executor · Worker · Runner</a:t>
            </a:r>
          </a:p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650" b="0" i="0">
                <a:solidFill>
                  <a:srgbClr val="7C818B"/>
                </a:solidFill>
                <a:latin typeface="Consolas"/>
                <a:ea typeface="Consolas"/>
                <a:cs typeface="Consolas"/>
              </a:rPr>
              <a:t>两条请求 ＝ 两份 KV · 同 batch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4632" y="5852159"/>
            <a:ext cx="3575304" cy="310896"/>
          </a:xfrm>
          <a:prstGeom prst="rect">
            <a:avLst/>
          </a:prstGeom>
          <a:noFill/>
          <a:effectLst/>
        </p:spPr>
        <p:txBody>
          <a:bodyPr wrap="square" lIns="45720" tIns="0" rIns="45720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50" b="1" i="0" dirty="0">
                <a:solidFill>
                  <a:srgbClr val="3E5FD9"/>
                </a:solidFill>
                <a:latin typeface="Consolas"/>
                <a:ea typeface="Consolas"/>
                <a:cs typeface="Consolas"/>
              </a:rPr>
              <a:t>+  </a:t>
            </a:r>
            <a:r>
              <a:rPr sz="900" b="1" i="0" dirty="0" err="1">
                <a:solidFill>
                  <a:srgbClr val="16181C"/>
                </a:solidFill>
                <a:latin typeface="Microsoft YaHei"/>
                <a:ea typeface="Microsoft YaHei"/>
                <a:cs typeface="Microsoft YaHei"/>
              </a:rPr>
              <a:t>伴随请求</a:t>
            </a:r>
            <a:r>
              <a:rPr sz="900" b="0" i="0" dirty="0" err="1">
                <a:solidFill>
                  <a:srgbClr val="4A4E57"/>
                </a:solidFill>
                <a:latin typeface="Microsoft YaHei"/>
                <a:ea typeface="Microsoft YaHei"/>
                <a:cs typeface="Microsoft YaHei"/>
              </a:rPr>
              <a:t>：负向</a:t>
            </a:r>
            <a:r>
              <a:rPr sz="900" b="0" i="0" dirty="0">
                <a:solidFill>
                  <a:srgbClr val="4A4E57"/>
                </a:solidFill>
                <a:latin typeface="Microsoft YaHei"/>
                <a:ea typeface="Microsoft YaHei"/>
                <a:cs typeface="Microsoft YaHei"/>
              </a:rPr>
              <a:t> prompt = </a:t>
            </a:r>
            <a:r>
              <a:rPr sz="900" b="0" i="0" dirty="0" err="1">
                <a:solidFill>
                  <a:srgbClr val="4A4E57"/>
                </a:solidFill>
                <a:latin typeface="Microsoft YaHei"/>
                <a:ea typeface="Microsoft YaHei"/>
                <a:cs typeface="Microsoft YaHei"/>
              </a:rPr>
              <a:t>一条普通请求</a:t>
            </a:r>
            <a:endParaRPr sz="900" b="0" i="0" dirty="0">
              <a:solidFill>
                <a:srgbClr val="4A4E5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4293108" y="5852159"/>
            <a:ext cx="3575304" cy="310896"/>
          </a:xfrm>
          <a:prstGeom prst="rect">
            <a:avLst/>
          </a:prstGeom>
          <a:noFill/>
          <a:effectLst/>
        </p:spPr>
        <p:txBody>
          <a:bodyPr wrap="square" lIns="45720" tIns="0" rIns="45720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50" b="1" i="0">
                <a:solidFill>
                  <a:srgbClr val="3E5FD9"/>
                </a:solidFill>
                <a:latin typeface="Consolas"/>
                <a:ea typeface="Consolas"/>
                <a:cs typeface="Consolas"/>
              </a:rPr>
              <a:t>+  </a:t>
            </a:r>
            <a:r>
              <a:rPr sz="900" b="1" i="0">
                <a:solidFill>
                  <a:srgbClr val="16181C"/>
                </a:solidFill>
                <a:latin typeface="Microsoft YaHei"/>
                <a:ea typeface="Microsoft YaHei"/>
                <a:cs typeface="Microsoft YaHei"/>
              </a:rPr>
              <a:t>汇合点</a:t>
            </a:r>
            <a:r>
              <a:rPr sz="900" b="0" i="0">
                <a:solidFill>
                  <a:srgbClr val="4A4E57"/>
                </a:solidFill>
                <a:latin typeface="Microsoft YaHei"/>
                <a:ea typeface="Microsoft YaHei"/>
                <a:cs typeface="Microsoft YaHei"/>
              </a:rPr>
              <a:t>：在 Orchestrator，不在引擎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83296" y="5852159"/>
            <a:ext cx="3575304" cy="310896"/>
          </a:xfrm>
          <a:prstGeom prst="rect">
            <a:avLst/>
          </a:prstGeom>
          <a:noFill/>
          <a:effectLst/>
        </p:spPr>
        <p:txBody>
          <a:bodyPr wrap="square" lIns="45720" tIns="0" rIns="45720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50" b="1" i="0">
                <a:solidFill>
                  <a:srgbClr val="C4326F"/>
                </a:solidFill>
                <a:latin typeface="Consolas"/>
                <a:ea typeface="Consolas"/>
                <a:cs typeface="Consolas"/>
              </a:rPr>
              <a:t>-  </a:t>
            </a:r>
            <a:r>
              <a:rPr sz="900" b="1" i="0">
                <a:solidFill>
                  <a:srgbClr val="16181C"/>
                </a:solidFill>
                <a:latin typeface="Microsoft YaHei"/>
                <a:ea typeface="Microsoft YaHei"/>
                <a:cs typeface="Microsoft YaHei"/>
              </a:rPr>
              <a:t>Scheduler / KV / Runner 的 CFG 分支</a:t>
            </a:r>
            <a:r>
              <a:rPr sz="900" b="0" i="0">
                <a:solidFill>
                  <a:srgbClr val="4A4E57"/>
                </a:solidFill>
                <a:latin typeface="Microsoft YaHei"/>
                <a:ea typeface="Microsoft YaHei"/>
                <a:cs typeface="Microsoft YaHei"/>
              </a:rPr>
              <a:t>：一行不加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502920" y="6108192"/>
            <a:ext cx="11183112" cy="0"/>
          </a:xfrm>
          <a:prstGeom prst="line">
            <a:avLst/>
          </a:prstGeom>
          <a:ln w="12700">
            <a:solidFill>
              <a:srgbClr val="D6D6C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502920" y="6163055"/>
            <a:ext cx="11183112" cy="457200"/>
          </a:xfrm>
          <a:prstGeom prst="rect">
            <a:avLst/>
          </a:prstGeom>
          <a:noFill/>
          <a:effectLst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50" b="1" i="0">
                <a:solidFill>
                  <a:srgbClr val="3E5FD9"/>
                </a:solidFill>
                <a:latin typeface="Consolas"/>
                <a:ea typeface="Consolas"/>
                <a:cs typeface="Consolas"/>
              </a:rPr>
              <a:t>原则   </a:t>
            </a:r>
            <a:r>
              <a:rPr sz="1050" b="0" i="0">
                <a:solidFill>
                  <a:srgbClr val="16181C"/>
                </a:solidFill>
                <a:latin typeface="Microsoft YaHei"/>
                <a:ea typeface="Microsoft YaHei"/>
                <a:cs typeface="Microsoft YaHei"/>
              </a:rPr>
              <a:t>复用已有概念（请求） ＞ 给引擎核心开新特例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185855" y="6473952"/>
            <a:ext cx="731520" cy="274320"/>
          </a:xfrm>
          <a:prstGeom prst="rect">
            <a:avLst/>
          </a:prstGeom>
          <a:noFill/>
          <a:effectLst/>
        </p:spPr>
        <p:txBody>
          <a:bodyPr wrap="square" lIns="45720" tIns="27432" rIns="45720" bIns="27432" anchor="b">
            <a:spAutoFit/>
          </a:bodyPr>
          <a:lstStyle/>
          <a:p>
            <a:pPr algn="r">
              <a:spcBef>
                <a:spcPts val="0"/>
              </a:spcBef>
            </a:pPr>
            <a:r>
              <a:rPr sz="850" b="0" i="0">
                <a:solidFill>
                  <a:srgbClr val="7C818B"/>
                </a:solidFill>
                <a:latin typeface="Consolas"/>
                <a:ea typeface="Consolas"/>
                <a:cs typeface="Consolas"/>
              </a:rPr>
              <a:t>9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500"/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" dur="50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" dur="500"/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" dur="500"/>
                                  <p:tgtEl>
                                    <p:spTgt spid="2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500"/>
                                  <p:tgtEl>
                                    <p:spTgt spid="2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" dur="500"/>
                                  <p:tgtEl>
                                    <p:spTgt spid="2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4" dur="500"/>
                                  <p:tgtEl>
                                    <p:spTgt spid="2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8" dur="500"/>
                                  <p:tgtEl>
                                    <p:spTgt spid="2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1" dur="500"/>
                                  <p:tgtEl>
                                    <p:spTgt spid="3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2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4" dur="500"/>
                                  <p:tgtEl>
                                    <p:spTgt spid="3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7" dur="500"/>
                                  <p:tgtEl>
                                    <p:spTgt spid="3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8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0" dur="500"/>
                                  <p:tgtEl>
                                    <p:spTgt spid="3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1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3" dur="500"/>
                                  <p:tgtEl>
                                    <p:spTgt spid="3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6" dur="500"/>
                                  <p:tgtEl>
                                    <p:spTgt spid="3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7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9" dur="500"/>
                                  <p:tgtEl>
                                    <p:spTgt spid="3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0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2" dur="500"/>
                                  <p:tgtEl>
                                    <p:spTgt spid="3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3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500"/>
                                  <p:tgtEl>
                                    <p:spTgt spid="3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1554480" cy="237744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3E5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27432" rIns="36576" bIns="27432" rtlCol="0" anchor="ctr"/>
          <a:lstStyle/>
          <a:p>
            <a:pPr algn="ctr">
              <a:spcBef>
                <a:spcPts val="0"/>
              </a:spcBef>
            </a:pPr>
            <a:r>
              <a:rPr sz="850" b="1" i="0">
                <a:solidFill>
                  <a:srgbClr val="3E5FD9"/>
                </a:solidFill>
                <a:latin typeface="Microsoft YaHei"/>
                <a:ea typeface="Microsoft YaHei"/>
                <a:cs typeface="Microsoft YaHei"/>
              </a:rPr>
              <a:t>③ DreamZero / Cosmos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67128" y="356616"/>
            <a:ext cx="8229600" cy="256032"/>
          </a:xfrm>
          <a:prstGeom prst="rect">
            <a:avLst/>
          </a:prstGeom>
          <a:noFill/>
          <a:effectLst/>
        </p:spPr>
        <p:txBody>
          <a:bodyPr wrap="square" lIns="45720" tIns="27432" rIns="45720" bIns="27432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850" b="0" i="0">
                <a:solidFill>
                  <a:srgbClr val="7C818B"/>
                </a:solidFill>
                <a:latin typeface="Consolas"/>
                <a:ea typeface="Consolas"/>
                <a:cs typeface="Consolas"/>
              </a:rPr>
              <a:t>模型长什么样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31520"/>
            <a:ext cx="11155680" cy="868680"/>
          </a:xfrm>
          <a:prstGeom prst="rect">
            <a:avLst/>
          </a:prstGeom>
          <a:noFill/>
          <a:effectLst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100" b="1" i="0">
                <a:solidFill>
                  <a:srgbClr val="16181C"/>
                </a:solidFill>
                <a:latin typeface="Microsoft YaHei"/>
                <a:ea typeface="Microsoft YaHei"/>
                <a:cs typeface="Microsoft YaHei"/>
              </a:rPr>
              <a:t>因果视频世界模型：逐 chunk 生成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651760"/>
            <a:ext cx="1920240" cy="1143000"/>
          </a:xfrm>
          <a:prstGeom prst="roundRect">
            <a:avLst>
              <a:gd name="adj" fmla="val 5000"/>
            </a:avLst>
          </a:prstGeom>
          <a:solidFill>
            <a:srgbClr val="F9EAF1"/>
          </a:solidFill>
          <a:ln w="19050">
            <a:solidFill>
              <a:srgbClr val="C432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50" b="1" i="0">
                <a:solidFill>
                  <a:srgbClr val="C4326F"/>
                </a:solidFill>
                <a:latin typeface="Microsoft YaHei"/>
                <a:ea typeface="Microsoft YaHei"/>
                <a:cs typeface="Microsoft YaHei"/>
              </a:rPr>
              <a:t>Chunk 1</a:t>
            </a:r>
          </a:p>
          <a:p>
            <a:pPr algn="ctr">
              <a:spcBef>
                <a:spcPts val="0"/>
              </a:spcBef>
            </a:pPr>
            <a:r>
              <a:rPr sz="850" b="0" i="0">
                <a:solidFill>
                  <a:srgbClr val="7C818B"/>
                </a:solidFill>
                <a:latin typeface="Consolas"/>
                <a:ea typeface="Consolas"/>
                <a:cs typeface="Consolas"/>
              </a:rPr>
              <a:t>4 帧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679192" y="3223260"/>
            <a:ext cx="566928" cy="0"/>
          </a:xfrm>
          <a:prstGeom prst="line">
            <a:avLst/>
          </a:prstGeom>
          <a:ln w="19050">
            <a:solidFill>
              <a:srgbClr val="A9A99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404872" y="2930652"/>
            <a:ext cx="1115568" cy="256032"/>
          </a:xfrm>
          <a:prstGeom prst="rect">
            <a:avLst/>
          </a:prstGeom>
          <a:noFill/>
          <a:effectLst/>
        </p:spPr>
        <p:txBody>
          <a:bodyPr wrap="square" lIns="45720" tIns="27432" rIns="45720" bIns="27432" anchor="b">
            <a:spAutoFit/>
          </a:bodyPr>
          <a:lstStyle/>
          <a:p>
            <a:pPr algn="ctr">
              <a:spcBef>
                <a:spcPts val="0"/>
              </a:spcBef>
            </a:pPr>
            <a:r>
              <a:rPr sz="750" b="0" i="0">
                <a:solidFill>
                  <a:srgbClr val="7C818B"/>
                </a:solidFill>
                <a:latin typeface="Consolas"/>
                <a:ea typeface="Consolas"/>
                <a:cs typeface="Consolas"/>
              </a:rPr>
              <a:t>看着前面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0" y="2651760"/>
            <a:ext cx="1920240" cy="1143000"/>
          </a:xfrm>
          <a:prstGeom prst="roundRect">
            <a:avLst>
              <a:gd name="adj" fmla="val 5000"/>
            </a:avLst>
          </a:prstGeom>
          <a:solidFill>
            <a:srgbClr val="F9EAF1"/>
          </a:solidFill>
          <a:ln w="19050">
            <a:solidFill>
              <a:srgbClr val="C432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50" b="1" i="0">
                <a:solidFill>
                  <a:srgbClr val="C4326F"/>
                </a:solidFill>
                <a:latin typeface="Microsoft YaHei"/>
                <a:ea typeface="Microsoft YaHei"/>
                <a:cs typeface="Microsoft YaHei"/>
              </a:rPr>
              <a:t>Chunk 2</a:t>
            </a:r>
          </a:p>
          <a:p>
            <a:pPr algn="ctr">
              <a:spcBef>
                <a:spcPts val="0"/>
              </a:spcBef>
            </a:pPr>
            <a:r>
              <a:rPr sz="850" b="0" i="0">
                <a:solidFill>
                  <a:srgbClr val="7C818B"/>
                </a:solidFill>
                <a:latin typeface="Consolas"/>
                <a:ea typeface="Consolas"/>
                <a:cs typeface="Consolas"/>
              </a:rPr>
              <a:t>4 帧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285232" y="3223260"/>
            <a:ext cx="566928" cy="0"/>
          </a:xfrm>
          <a:prstGeom prst="line">
            <a:avLst/>
          </a:prstGeom>
          <a:ln w="19050">
            <a:solidFill>
              <a:srgbClr val="A9A99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010912" y="2930652"/>
            <a:ext cx="1115568" cy="256032"/>
          </a:xfrm>
          <a:prstGeom prst="rect">
            <a:avLst/>
          </a:prstGeom>
          <a:noFill/>
          <a:effectLst/>
        </p:spPr>
        <p:txBody>
          <a:bodyPr wrap="square" lIns="45720" tIns="27432" rIns="45720" bIns="27432" anchor="b">
            <a:spAutoFit/>
          </a:bodyPr>
          <a:lstStyle/>
          <a:p>
            <a:pPr algn="ctr">
              <a:spcBef>
                <a:spcPts val="0"/>
              </a:spcBef>
            </a:pPr>
            <a:r>
              <a:rPr sz="750" b="0" i="0">
                <a:solidFill>
                  <a:srgbClr val="7C818B"/>
                </a:solidFill>
                <a:latin typeface="Consolas"/>
                <a:ea typeface="Consolas"/>
                <a:cs typeface="Consolas"/>
              </a:rPr>
              <a:t>看着前面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97880" y="2651760"/>
            <a:ext cx="1920240" cy="1143000"/>
          </a:xfrm>
          <a:prstGeom prst="roundRect">
            <a:avLst>
              <a:gd name="adj" fmla="val 5000"/>
            </a:avLst>
          </a:prstGeom>
          <a:solidFill>
            <a:srgbClr val="F9EAF1"/>
          </a:solidFill>
          <a:ln w="19050">
            <a:solidFill>
              <a:srgbClr val="C432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50" b="1" i="0">
                <a:solidFill>
                  <a:srgbClr val="C4326F"/>
                </a:solidFill>
                <a:latin typeface="Microsoft YaHei"/>
                <a:ea typeface="Microsoft YaHei"/>
                <a:cs typeface="Microsoft YaHei"/>
              </a:rPr>
              <a:t>Chunk 3</a:t>
            </a:r>
          </a:p>
          <a:p>
            <a:pPr algn="ctr">
              <a:spcBef>
                <a:spcPts val="0"/>
              </a:spcBef>
            </a:pPr>
            <a:r>
              <a:rPr sz="850" b="0" i="0">
                <a:solidFill>
                  <a:srgbClr val="7C818B"/>
                </a:solidFill>
                <a:latin typeface="Consolas"/>
                <a:ea typeface="Consolas"/>
                <a:cs typeface="Consolas"/>
              </a:rPr>
              <a:t>4 帧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891272" y="3223260"/>
            <a:ext cx="566928" cy="0"/>
          </a:xfrm>
          <a:prstGeom prst="line">
            <a:avLst/>
          </a:prstGeom>
          <a:ln w="19050">
            <a:solidFill>
              <a:srgbClr val="A9A99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616952" y="2930652"/>
            <a:ext cx="1115567" cy="256032"/>
          </a:xfrm>
          <a:prstGeom prst="rect">
            <a:avLst/>
          </a:prstGeom>
          <a:noFill/>
          <a:effectLst/>
        </p:spPr>
        <p:txBody>
          <a:bodyPr wrap="square" lIns="45720" tIns="27432" rIns="45720" bIns="27432" anchor="b">
            <a:spAutoFit/>
          </a:bodyPr>
          <a:lstStyle/>
          <a:p>
            <a:pPr algn="ctr">
              <a:spcBef>
                <a:spcPts val="0"/>
              </a:spcBef>
            </a:pPr>
            <a:r>
              <a:rPr sz="750" b="0" i="0">
                <a:solidFill>
                  <a:srgbClr val="7C818B"/>
                </a:solidFill>
                <a:latin typeface="Consolas"/>
                <a:ea typeface="Consolas"/>
                <a:cs typeface="Consolas"/>
              </a:rPr>
              <a:t>…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03920" y="2651760"/>
            <a:ext cx="210312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A9A99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7C818B"/>
                </a:solidFill>
                <a:latin typeface="Microsoft YaHei"/>
                <a:ea typeface="Microsoft YaHei"/>
                <a:cs typeface="Microsoft YaHei"/>
              </a:rPr>
              <a:t>流式输出</a:t>
            </a:r>
          </a:p>
          <a:p>
            <a:pPr algn="ctr">
              <a:spcBef>
                <a:spcPts val="0"/>
              </a:spcBef>
            </a:pPr>
            <a:r>
              <a:rPr sz="850" b="0" i="0">
                <a:solidFill>
                  <a:srgbClr val="7C818B"/>
                </a:solidFill>
                <a:latin typeface="Consolas"/>
                <a:ea typeface="Consolas"/>
                <a:cs typeface="Consolas"/>
              </a:rPr>
              <a:t>边生成边播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02920" y="5943600"/>
            <a:ext cx="11183112" cy="0"/>
          </a:xfrm>
          <a:prstGeom prst="line">
            <a:avLst/>
          </a:prstGeom>
          <a:ln w="12700">
            <a:solidFill>
              <a:srgbClr val="D6D6C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02920" y="5998464"/>
            <a:ext cx="11183112" cy="457200"/>
          </a:xfrm>
          <a:prstGeom prst="rect">
            <a:avLst/>
          </a:prstGeom>
          <a:noFill/>
          <a:effectLst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50" b="1" i="0">
                <a:solidFill>
                  <a:srgbClr val="3E5FD9"/>
                </a:solidFill>
                <a:latin typeface="Consolas"/>
                <a:ea typeface="Consolas"/>
                <a:cs typeface="Consolas"/>
              </a:rPr>
              <a:t>矛盾   </a:t>
            </a:r>
            <a:r>
              <a:rPr sz="1050" b="0" i="0">
                <a:solidFill>
                  <a:srgbClr val="16181C"/>
                </a:solidFill>
                <a:latin typeface="Microsoft YaHei"/>
                <a:ea typeface="Microsoft YaHei"/>
                <a:cs typeface="Microsoft YaHei"/>
              </a:rPr>
              <a:t>「看着前面」 ＝ 需要 KV Cache · 而 Diffusion Stage 正是唯一没有 KV Manager 的一类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85855" y="6473952"/>
            <a:ext cx="731520" cy="274320"/>
          </a:xfrm>
          <a:prstGeom prst="rect">
            <a:avLst/>
          </a:prstGeom>
          <a:noFill/>
          <a:effectLst/>
        </p:spPr>
        <p:txBody>
          <a:bodyPr wrap="square" lIns="45720" tIns="27432" rIns="45720" bIns="27432" anchor="b">
            <a:spAutoFit/>
          </a:bodyPr>
          <a:lstStyle/>
          <a:p>
            <a:pPr algn="r">
              <a:spcBef>
                <a:spcPts val="0"/>
              </a:spcBef>
            </a:pPr>
            <a:r>
              <a:rPr sz="850" b="0" i="0">
                <a:solidFill>
                  <a:srgbClr val="7C818B"/>
                </a:solidFill>
                <a:latin typeface="Consolas"/>
                <a:ea typeface="Consolas"/>
                <a:cs typeface="Consola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813816" cy="237744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3E5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27432" rIns="36576" bIns="27432" rtlCol="0" anchor="ctr"/>
          <a:lstStyle/>
          <a:p>
            <a:pPr algn="ctr">
              <a:spcBef>
                <a:spcPts val="0"/>
              </a:spcBef>
            </a:pPr>
            <a:r>
              <a:rPr sz="850" b="1" i="0">
                <a:solidFill>
                  <a:srgbClr val="3E5FD9"/>
                </a:solidFill>
                <a:latin typeface="Microsoft YaHei"/>
                <a:ea typeface="Microsoft YaHei"/>
                <a:cs typeface="Microsoft YaHei"/>
              </a:rPr>
              <a:t>③ 改动聚焦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26464" y="356616"/>
            <a:ext cx="8229600" cy="256032"/>
          </a:xfrm>
          <a:prstGeom prst="rect">
            <a:avLst/>
          </a:prstGeom>
          <a:noFill/>
          <a:effectLst/>
        </p:spPr>
        <p:txBody>
          <a:bodyPr wrap="square" lIns="45720" tIns="27432" rIns="45720" bIns="27432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850" b="0" i="0">
                <a:solidFill>
                  <a:srgbClr val="7C818B"/>
                </a:solidFill>
                <a:latin typeface="Consolas"/>
                <a:ea typeface="Consolas"/>
                <a:cs typeface="Consolas"/>
              </a:rPr>
              <a:t>DIFFUSION STAGE 内部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60704"/>
            <a:ext cx="11155680" cy="237744"/>
          </a:xfrm>
          <a:prstGeom prst="rect">
            <a:avLst/>
          </a:prstGeom>
          <a:noFill/>
          <a:effectLst/>
        </p:spPr>
        <p:txBody>
          <a:bodyPr wrap="square" lIns="45720" tIns="27432" rIns="45720" bIns="27432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800" b="0" i="0">
                <a:solidFill>
                  <a:srgbClr val="7C818B"/>
                </a:solidFill>
                <a:latin typeface="Consolas"/>
                <a:ea typeface="Consolas"/>
                <a:cs typeface="Consolas"/>
              </a:rPr>
              <a:t>前端进程  ›  Stage 管理层  ›  </a:t>
            </a:r>
            <a:r>
              <a:rPr sz="800" b="1" i="0">
                <a:solidFill>
                  <a:srgbClr val="3E5FD9"/>
                </a:solidFill>
                <a:latin typeface="Consolas"/>
                <a:ea typeface="Consolas"/>
                <a:cs typeface="Consolas"/>
              </a:rPr>
              <a:t>Diffusion Stage 内部 ← 改在这里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35024"/>
            <a:ext cx="11155680" cy="868680"/>
          </a:xfrm>
          <a:prstGeom prst="rect">
            <a:avLst/>
          </a:prstGeom>
          <a:noFill/>
          <a:effectLst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000" b="1" i="0">
                <a:solidFill>
                  <a:srgbClr val="16181C"/>
                </a:solidFill>
                <a:latin typeface="Microsoft YaHei"/>
                <a:ea typeface="Microsoft YaHei"/>
                <a:cs typeface="Microsoft YaHei"/>
              </a:rPr>
              <a:t>补上 Diffusion KV Cache Manager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212848"/>
            <a:ext cx="5349240" cy="237744"/>
          </a:xfrm>
          <a:prstGeom prst="rect">
            <a:avLst/>
          </a:prstGeom>
          <a:noFill/>
          <a:effectLst/>
        </p:spPr>
        <p:txBody>
          <a:bodyPr wrap="square" lIns="45720" tIns="27432" rIns="45720" bIns="18288" anchor="b">
            <a:spAutoFit/>
          </a:bodyPr>
          <a:lstStyle/>
          <a:p>
            <a:pPr algn="l">
              <a:spcBef>
                <a:spcPts val="0"/>
              </a:spcBef>
            </a:pPr>
            <a:r>
              <a:rPr sz="850" b="1" i="0">
                <a:solidFill>
                  <a:srgbClr val="7C818B"/>
                </a:solidFill>
                <a:latin typeface="Consolas"/>
                <a:ea typeface="Consolas"/>
                <a:cs typeface="Consolas"/>
              </a:rPr>
              <a:t>改造前 · 无状态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212848"/>
            <a:ext cx="5349240" cy="237744"/>
          </a:xfrm>
          <a:prstGeom prst="rect">
            <a:avLst/>
          </a:prstGeom>
          <a:noFill/>
          <a:effectLst/>
        </p:spPr>
        <p:txBody>
          <a:bodyPr wrap="square" lIns="45720" tIns="27432" rIns="45720" bIns="18288" anchor="b">
            <a:spAutoFit/>
          </a:bodyPr>
          <a:lstStyle/>
          <a:p>
            <a:pPr algn="r">
              <a:spcBef>
                <a:spcPts val="0"/>
              </a:spcBef>
            </a:pPr>
            <a:r>
              <a:rPr sz="750" b="0" i="0">
                <a:solidFill>
                  <a:srgbClr val="7C818B"/>
                </a:solidFill>
                <a:latin typeface="Consolas"/>
                <a:ea typeface="Consolas"/>
                <a:cs typeface="Consolas"/>
              </a:rPr>
              <a:t>一次算完整段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02920" y="2468880"/>
            <a:ext cx="5349239" cy="0"/>
          </a:xfrm>
          <a:prstGeom prst="line">
            <a:avLst/>
          </a:prstGeom>
          <a:ln w="12700">
            <a:solidFill>
              <a:srgbClr val="7C818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02920" y="2615184"/>
            <a:ext cx="5349240" cy="2157984"/>
          </a:xfrm>
          <a:prstGeom prst="roundRect">
            <a:avLst>
              <a:gd name="adj" fmla="val 3000"/>
            </a:avLst>
          </a:prstGeom>
          <a:solidFill>
            <a:srgbClr val="EDEDE8"/>
          </a:solidFill>
          <a:ln w="15875">
            <a:solidFill>
              <a:srgbClr val="A9A9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12648" y="2514600"/>
            <a:ext cx="1792224" cy="201168"/>
          </a:xfrm>
          <a:prstGeom prst="rect">
            <a:avLst/>
          </a:prstGeom>
          <a:solidFill>
            <a:srgbClr val="EDE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spcBef>
                <a:spcPts val="0"/>
              </a:spcBef>
            </a:pPr>
            <a:r>
              <a:rPr sz="650" b="0" i="0">
                <a:solidFill>
                  <a:srgbClr val="7C818B"/>
                </a:solidFill>
                <a:latin typeface="Consolas"/>
                <a:ea typeface="Consolas"/>
                <a:cs typeface="Consolas"/>
              </a:rPr>
              <a:t>DIFFUSION STAGE 进程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" y="2834639"/>
            <a:ext cx="5129783" cy="3291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A9A9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 i="0">
                <a:solidFill>
                  <a:srgbClr val="16181C"/>
                </a:solidFill>
                <a:latin typeface="Microsoft YaHei"/>
                <a:ea typeface="Microsoft YaHei"/>
                <a:cs typeface="Microsoft YaHei"/>
              </a:rPr>
              <a:t>Scheduler</a:t>
            </a:r>
          </a:p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650" b="0" i="0">
                <a:solidFill>
                  <a:srgbClr val="7C818B"/>
                </a:solidFill>
                <a:latin typeface="Consolas"/>
                <a:ea typeface="Consolas"/>
                <a:cs typeface="Consolas"/>
              </a:rPr>
              <a:t>一次调度 · 去噪 N 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" y="3218687"/>
            <a:ext cx="5129783" cy="329184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C4326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 i="0" strike="sngStrike">
                <a:solidFill>
                  <a:srgbClr val="C4326F"/>
                </a:solidFill>
                <a:latin typeface="Microsoft YaHei"/>
                <a:ea typeface="Microsoft YaHei"/>
                <a:cs typeface="Microsoft YaHei"/>
              </a:rPr>
              <a:t>无 KV Cache Manager</a:t>
            </a:r>
          </a:p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650" b="0" i="0">
                <a:solidFill>
                  <a:srgbClr val="7C818B"/>
                </a:solidFill>
                <a:latin typeface="Consolas"/>
                <a:ea typeface="Consolas"/>
                <a:cs typeface="Consolas"/>
              </a:rPr>
              <a:t>跨 chunk 无状态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" y="3602735"/>
            <a:ext cx="5129783" cy="3291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A9A9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 i="0">
                <a:solidFill>
                  <a:srgbClr val="16181C"/>
                </a:solidFill>
                <a:latin typeface="Microsoft YaHei"/>
                <a:ea typeface="Microsoft YaHei"/>
                <a:cs typeface="Microsoft YaHei"/>
              </a:rPr>
              <a:t>Executor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" y="3986783"/>
            <a:ext cx="5129783" cy="3291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A9A9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 i="0">
                <a:solidFill>
                  <a:srgbClr val="16181C"/>
                </a:solidFill>
                <a:latin typeface="Microsoft YaHei"/>
                <a:ea typeface="Microsoft YaHei"/>
                <a:cs typeface="Microsoft YaHei"/>
              </a:rPr>
              <a:t>Worker ＋ Connector</a:t>
            </a:r>
          </a:p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650" b="0" i="0">
                <a:solidFill>
                  <a:srgbClr val="7C818B"/>
                </a:solidFill>
                <a:latin typeface="Consolas"/>
                <a:ea typeface="Consolas"/>
                <a:cs typeface="Consolas"/>
              </a:rPr>
              <a:t>算完即弃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" y="4370831"/>
            <a:ext cx="5129783" cy="3291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A9A9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 i="0">
                <a:solidFill>
                  <a:srgbClr val="16181C"/>
                </a:solidFill>
                <a:latin typeface="Microsoft YaHei"/>
                <a:ea typeface="Microsoft YaHei"/>
                <a:cs typeface="Microsoft YaHei"/>
              </a:rPr>
              <a:t>Model Runner → DiT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4828032"/>
            <a:ext cx="5349240" cy="365760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C4326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 i="0" strike="sngStrike">
                <a:solidFill>
                  <a:srgbClr val="C4326F"/>
                </a:solidFill>
                <a:latin typeface="Microsoft YaHei"/>
                <a:ea typeface="Microsoft YaHei"/>
                <a:cs typeface="Microsoft YaHei"/>
              </a:rPr>
              <a:t>视频长度写死 · 不能无限延长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2212848"/>
            <a:ext cx="5349240" cy="237744"/>
          </a:xfrm>
          <a:prstGeom prst="rect">
            <a:avLst/>
          </a:prstGeom>
          <a:noFill/>
          <a:effectLst/>
        </p:spPr>
        <p:txBody>
          <a:bodyPr wrap="square" lIns="45720" tIns="27432" rIns="45720" bIns="18288" anchor="b">
            <a:spAutoFit/>
          </a:bodyPr>
          <a:lstStyle/>
          <a:p>
            <a:pPr algn="l">
              <a:spcBef>
                <a:spcPts val="0"/>
              </a:spcBef>
            </a:pPr>
            <a:r>
              <a:rPr sz="850" b="1" i="0">
                <a:solidFill>
                  <a:srgbClr val="3E5FD9"/>
                </a:solidFill>
                <a:latin typeface="Consolas"/>
                <a:ea typeface="Consolas"/>
                <a:cs typeface="Consolas"/>
              </a:rPr>
              <a:t>改造后 · 有状态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2212848"/>
            <a:ext cx="5349240" cy="237744"/>
          </a:xfrm>
          <a:prstGeom prst="rect">
            <a:avLst/>
          </a:prstGeom>
          <a:noFill/>
          <a:effectLst/>
        </p:spPr>
        <p:txBody>
          <a:bodyPr wrap="square" lIns="45720" tIns="27432" rIns="45720" bIns="18288" anchor="b">
            <a:spAutoFit/>
          </a:bodyPr>
          <a:lstStyle/>
          <a:p>
            <a:pPr algn="r">
              <a:spcBef>
                <a:spcPts val="0"/>
              </a:spcBef>
            </a:pPr>
            <a:r>
              <a:rPr sz="750" b="0" i="0">
                <a:solidFill>
                  <a:srgbClr val="3E5FD9"/>
                </a:solidFill>
                <a:latin typeface="Consolas"/>
                <a:ea typeface="Consolas"/>
                <a:cs typeface="Consolas"/>
              </a:rPr>
              <a:t>CHUNK 级 DECODE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309360" y="2468880"/>
            <a:ext cx="5349240" cy="0"/>
          </a:xfrm>
          <a:prstGeom prst="line">
            <a:avLst/>
          </a:prstGeom>
          <a:ln w="12700">
            <a:solidFill>
              <a:srgbClr val="3E5F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309360" y="2615184"/>
            <a:ext cx="5349240" cy="2157984"/>
          </a:xfrm>
          <a:prstGeom prst="roundRect">
            <a:avLst>
              <a:gd name="adj" fmla="val 3000"/>
            </a:avLst>
          </a:prstGeom>
          <a:solidFill>
            <a:srgbClr val="F5EEE2"/>
          </a:solidFill>
          <a:ln w="15875">
            <a:solidFill>
              <a:srgbClr val="A96F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419088" y="2514600"/>
            <a:ext cx="1792224" cy="201168"/>
          </a:xfrm>
          <a:prstGeom prst="rect">
            <a:avLst/>
          </a:prstGeom>
          <a:solidFill>
            <a:srgbClr val="F5E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spcBef>
                <a:spcPts val="0"/>
              </a:spcBef>
            </a:pPr>
            <a:r>
              <a:rPr sz="650" b="0" i="0">
                <a:solidFill>
                  <a:srgbClr val="A96F0C"/>
                </a:solidFill>
                <a:latin typeface="Consolas"/>
                <a:ea typeface="Consolas"/>
                <a:cs typeface="Consolas"/>
              </a:rPr>
              <a:t>DIFFUSION STAGE 进程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19088" y="2834639"/>
            <a:ext cx="5129783" cy="329184"/>
          </a:xfrm>
          <a:prstGeom prst="roundRect">
            <a:avLst>
              <a:gd name="adj" fmla="val 6000"/>
            </a:avLst>
          </a:prstGeom>
          <a:solidFill>
            <a:srgbClr val="F5EEE2"/>
          </a:solidFill>
          <a:ln w="12700">
            <a:solidFill>
              <a:srgbClr val="A96F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 i="0">
                <a:solidFill>
                  <a:srgbClr val="A96F0C"/>
                </a:solidFill>
                <a:latin typeface="Microsoft YaHei"/>
                <a:ea typeface="Microsoft YaHei"/>
                <a:cs typeface="Microsoft YaHei"/>
              </a:rPr>
              <a:t>Scheduler</a:t>
            </a:r>
          </a:p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650" b="0" i="0">
                <a:solidFill>
                  <a:srgbClr val="7C818B"/>
                </a:solidFill>
                <a:latin typeface="Consolas"/>
                <a:ea typeface="Consolas"/>
                <a:cs typeface="Consolas"/>
              </a:rPr>
              <a:t>prefill 一次 → decode 逐 chunk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19088" y="3218687"/>
            <a:ext cx="5129783" cy="329184"/>
          </a:xfrm>
          <a:prstGeom prst="roundRect">
            <a:avLst>
              <a:gd name="adj" fmla="val 6000"/>
            </a:avLst>
          </a:prstGeom>
          <a:solidFill>
            <a:srgbClr val="ECEFFB"/>
          </a:solidFill>
          <a:ln w="12700">
            <a:solidFill>
              <a:srgbClr val="3E5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 i="0">
                <a:solidFill>
                  <a:srgbClr val="3E5FD9"/>
                </a:solidFill>
                <a:latin typeface="Microsoft YaHei"/>
                <a:ea typeface="Microsoft YaHei"/>
                <a:cs typeface="Microsoft YaHei"/>
              </a:rPr>
              <a:t>Diffusion KV Cache Manager</a:t>
            </a:r>
          </a:p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650" b="0" i="0">
                <a:solidFill>
                  <a:srgbClr val="7C818B"/>
                </a:solidFill>
                <a:latin typeface="Consolas"/>
                <a:ea typeface="Consolas"/>
                <a:cs typeface="Consolas"/>
              </a:rPr>
              <a:t>滑窗淘汰 · 正/负双 KV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19088" y="3602735"/>
            <a:ext cx="5129783" cy="3291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A9A9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 i="0">
                <a:solidFill>
                  <a:srgbClr val="16181C"/>
                </a:solidFill>
                <a:latin typeface="Microsoft YaHei"/>
                <a:ea typeface="Microsoft YaHei"/>
                <a:cs typeface="Microsoft YaHei"/>
              </a:rPr>
              <a:t>Executor</a:t>
            </a:r>
          </a:p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650" b="0" i="0">
                <a:solidFill>
                  <a:srgbClr val="7C818B"/>
                </a:solidFill>
                <a:latin typeface="Consolas"/>
                <a:ea typeface="Consolas"/>
                <a:cs typeface="Consolas"/>
              </a:rPr>
              <a:t>不变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19088" y="3986783"/>
            <a:ext cx="5129783" cy="329184"/>
          </a:xfrm>
          <a:prstGeom prst="roundRect">
            <a:avLst>
              <a:gd name="adj" fmla="val 6000"/>
            </a:avLst>
          </a:prstGeom>
          <a:solidFill>
            <a:srgbClr val="F5EEE2"/>
          </a:solidFill>
          <a:ln w="12700">
            <a:solidFill>
              <a:srgbClr val="A96F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 i="0">
                <a:solidFill>
                  <a:srgbClr val="A96F0C"/>
                </a:solidFill>
                <a:latin typeface="Microsoft YaHei"/>
                <a:ea typeface="Microsoft YaHei"/>
                <a:cs typeface="Microsoft YaHei"/>
              </a:rPr>
              <a:t>Worker ＋ Connector</a:t>
            </a:r>
          </a:p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650" b="0" i="0">
                <a:solidFill>
                  <a:srgbClr val="7C818B"/>
                </a:solidFill>
                <a:latin typeface="Consolas"/>
                <a:ea typeface="Consolas"/>
                <a:cs typeface="Consolas"/>
              </a:rPr>
              <a:t>跨 chunk 持有 KV，不释放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19088" y="4370831"/>
            <a:ext cx="5129783" cy="3291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A9A9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 i="0">
                <a:solidFill>
                  <a:srgbClr val="16181C"/>
                </a:solidFill>
                <a:latin typeface="Microsoft YaHei"/>
                <a:ea typeface="Microsoft YaHei"/>
                <a:cs typeface="Microsoft YaHei"/>
              </a:rPr>
              <a:t>Model Runner → DiT</a:t>
            </a:r>
          </a:p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650" b="0" i="0">
                <a:solidFill>
                  <a:srgbClr val="7C818B"/>
                </a:solidFill>
                <a:latin typeface="Consolas"/>
                <a:ea typeface="Consolas"/>
                <a:cs typeface="Consolas"/>
              </a:rPr>
              <a:t>不变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309360" y="4846320"/>
            <a:ext cx="0" cy="365760"/>
          </a:xfrm>
          <a:prstGeom prst="line">
            <a:avLst/>
          </a:prstGeom>
          <a:ln w="25400">
            <a:solidFill>
              <a:srgbClr val="3E5F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382512" y="4846320"/>
            <a:ext cx="5276088" cy="365760"/>
          </a:xfrm>
          <a:prstGeom prst="rect">
            <a:avLst/>
          </a:prstGeom>
          <a:noFill/>
          <a:effectLst/>
        </p:spPr>
        <p:txBody>
          <a:bodyPr wrap="square" lIns="45720" tIns="27432" rIns="45720" bIns="27432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750" b="0" i="0">
                <a:solidFill>
                  <a:srgbClr val="3E5FD9"/>
                </a:solidFill>
                <a:latin typeface="Consolas"/>
                <a:ea typeface="Consolas"/>
                <a:cs typeface="Consolas"/>
              </a:rPr>
              <a:t>两类 Stage 结构对称 · 差别只剩：KV 里存的是 token，还是 latent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5455048"/>
            <a:ext cx="3575304" cy="274320"/>
          </a:xfrm>
          <a:prstGeom prst="rect">
            <a:avLst/>
          </a:prstGeom>
          <a:noFill/>
          <a:effectLst/>
        </p:spPr>
        <p:txBody>
          <a:bodyPr wrap="square" lIns="45720" tIns="0" rIns="45720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50" b="1" i="0">
                <a:solidFill>
                  <a:srgbClr val="3E5FD9"/>
                </a:solidFill>
                <a:latin typeface="Consolas"/>
                <a:ea typeface="Consolas"/>
                <a:cs typeface="Consolas"/>
              </a:rPr>
              <a:t>+  </a:t>
            </a:r>
            <a:r>
              <a:rPr sz="900" b="1" i="0">
                <a:solidFill>
                  <a:srgbClr val="16181C"/>
                </a:solidFill>
                <a:latin typeface="Microsoft YaHei"/>
                <a:ea typeface="Microsoft YaHei"/>
                <a:cs typeface="Microsoft YaHei"/>
              </a:rPr>
              <a:t>Diffusion KV Cache Manager</a:t>
            </a:r>
            <a:r>
              <a:rPr sz="900" b="0" i="0">
                <a:solidFill>
                  <a:srgbClr val="4A4E57"/>
                </a:solidFill>
                <a:latin typeface="Microsoft YaHei"/>
                <a:ea typeface="Microsoft YaHei"/>
                <a:cs typeface="Microsoft YaHei"/>
              </a:rPr>
              <a:t>：滑窗 ＋ CFG 双 KV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06824" y="5449825"/>
            <a:ext cx="3575304" cy="274320"/>
          </a:xfrm>
          <a:prstGeom prst="rect">
            <a:avLst/>
          </a:prstGeom>
          <a:noFill/>
          <a:effectLst/>
        </p:spPr>
        <p:txBody>
          <a:bodyPr wrap="square" lIns="45720" tIns="0" rIns="45720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50" b="1" i="0">
                <a:solidFill>
                  <a:srgbClr val="A96F0C"/>
                </a:solidFill>
                <a:latin typeface="Consolas"/>
                <a:ea typeface="Consolas"/>
                <a:cs typeface="Consolas"/>
              </a:rPr>
              <a:t>~  </a:t>
            </a:r>
            <a:r>
              <a:rPr sz="900" b="1" i="0">
                <a:solidFill>
                  <a:srgbClr val="16181C"/>
                </a:solidFill>
                <a:latin typeface="Microsoft YaHei"/>
                <a:ea typeface="Microsoft YaHei"/>
                <a:cs typeface="Microsoft YaHei"/>
              </a:rPr>
              <a:t>Diffusion Scheduler</a:t>
            </a:r>
            <a:r>
              <a:rPr sz="900" b="0" i="0">
                <a:solidFill>
                  <a:srgbClr val="4A4E57"/>
                </a:solidFill>
                <a:latin typeface="Microsoft YaHei"/>
                <a:ea typeface="Microsoft YaHei"/>
                <a:cs typeface="Microsoft YaHei"/>
              </a:rPr>
              <a:t>：分 prefill / decode 两态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10728" y="5460710"/>
            <a:ext cx="3575304" cy="274320"/>
          </a:xfrm>
          <a:prstGeom prst="rect">
            <a:avLst/>
          </a:prstGeom>
          <a:noFill/>
          <a:effectLst/>
        </p:spPr>
        <p:txBody>
          <a:bodyPr wrap="square" lIns="45720" tIns="0" rIns="45720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50" b="1" i="0">
                <a:solidFill>
                  <a:srgbClr val="A96F0C"/>
                </a:solidFill>
                <a:latin typeface="Consolas"/>
                <a:ea typeface="Consolas"/>
                <a:cs typeface="Consolas"/>
              </a:rPr>
              <a:t>~  </a:t>
            </a:r>
            <a:r>
              <a:rPr sz="900" b="1" i="0">
                <a:solidFill>
                  <a:srgbClr val="16181C"/>
                </a:solidFill>
                <a:latin typeface="Microsoft YaHei"/>
                <a:ea typeface="Microsoft YaHei"/>
                <a:cs typeface="Microsoft YaHei"/>
              </a:rPr>
              <a:t>Diffusion Worker</a:t>
            </a:r>
            <a:r>
              <a:rPr sz="900" b="0" i="0">
                <a:solidFill>
                  <a:srgbClr val="4A4E57"/>
                </a:solidFill>
                <a:latin typeface="Microsoft YaHei"/>
                <a:ea typeface="Microsoft YaHei"/>
                <a:cs typeface="Microsoft YaHei"/>
              </a:rPr>
              <a:t>：跨 chunk 持有 KV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5873063"/>
            <a:ext cx="3575304" cy="274320"/>
          </a:xfrm>
          <a:prstGeom prst="rect">
            <a:avLst/>
          </a:prstGeom>
          <a:noFill/>
          <a:effectLst/>
        </p:spPr>
        <p:txBody>
          <a:bodyPr wrap="square" lIns="45720" tIns="0" rIns="45720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50" b="1" i="0">
                <a:solidFill>
                  <a:srgbClr val="C4326F"/>
                </a:solidFill>
                <a:latin typeface="Consolas"/>
                <a:ea typeface="Consolas"/>
                <a:cs typeface="Consolas"/>
              </a:rPr>
              <a:t>-  </a:t>
            </a:r>
            <a:r>
              <a:rPr sz="900" b="1" i="0">
                <a:solidFill>
                  <a:srgbClr val="16181C"/>
                </a:solidFill>
                <a:latin typeface="Microsoft YaHei"/>
                <a:ea typeface="Microsoft YaHei"/>
                <a:cs typeface="Microsoft YaHei"/>
              </a:rPr>
              <a:t>「Diffusion 无状态」</a:t>
            </a:r>
            <a:r>
              <a:rPr sz="900" b="0" i="0">
                <a:solidFill>
                  <a:srgbClr val="4A4E57"/>
                </a:solidFill>
                <a:latin typeface="Microsoft YaHei"/>
                <a:ea typeface="Microsoft YaHei"/>
                <a:cs typeface="Microsoft YaHei"/>
              </a:rPr>
              <a:t>不再成立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93108" y="5870449"/>
            <a:ext cx="3575304" cy="274320"/>
          </a:xfrm>
          <a:prstGeom prst="rect">
            <a:avLst/>
          </a:prstGeom>
          <a:noFill/>
          <a:effectLst/>
        </p:spPr>
        <p:txBody>
          <a:bodyPr wrap="square" lIns="45720" tIns="0" rIns="45720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50" b="1" i="0" dirty="0">
                <a:solidFill>
                  <a:srgbClr val="C4326F"/>
                </a:solidFill>
                <a:latin typeface="Consolas"/>
                <a:ea typeface="Consolas"/>
                <a:cs typeface="Consolas"/>
              </a:rPr>
              <a:t>-  </a:t>
            </a:r>
            <a:r>
              <a:rPr sz="900" b="1" i="0" dirty="0" err="1">
                <a:solidFill>
                  <a:srgbClr val="16181C"/>
                </a:solidFill>
                <a:latin typeface="Microsoft YaHei"/>
                <a:ea typeface="Microsoft YaHei"/>
                <a:cs typeface="Microsoft YaHei"/>
              </a:rPr>
              <a:t>视频长度写死</a:t>
            </a:r>
            <a:r>
              <a:rPr sz="900" b="0" i="0" dirty="0" err="1">
                <a:solidFill>
                  <a:srgbClr val="4A4E57"/>
                </a:solidFill>
                <a:latin typeface="Microsoft YaHei"/>
                <a:ea typeface="Microsoft YaHei"/>
                <a:cs typeface="Microsoft YaHei"/>
              </a:rPr>
              <a:t>的限制</a:t>
            </a:r>
            <a:endParaRPr sz="900" b="0" i="0" dirty="0">
              <a:solidFill>
                <a:srgbClr val="4A4E57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35" name="Connector 34"/>
          <p:cNvCxnSpPr/>
          <p:nvPr/>
        </p:nvCxnSpPr>
        <p:spPr>
          <a:xfrm>
            <a:off x="502920" y="6199632"/>
            <a:ext cx="11183112" cy="0"/>
          </a:xfrm>
          <a:prstGeom prst="line">
            <a:avLst/>
          </a:prstGeom>
          <a:ln w="12700">
            <a:solidFill>
              <a:srgbClr val="D6D6C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502920" y="6254496"/>
            <a:ext cx="11183112" cy="457200"/>
          </a:xfrm>
          <a:prstGeom prst="rect">
            <a:avLst/>
          </a:prstGeom>
          <a:noFill/>
          <a:effectLst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50" b="1" i="0">
                <a:solidFill>
                  <a:srgbClr val="3E5FD9"/>
                </a:solidFill>
                <a:latin typeface="Consolas"/>
                <a:ea typeface="Consolas"/>
                <a:cs typeface="Consolas"/>
              </a:rPr>
              <a:t>观察   </a:t>
            </a:r>
            <a:r>
              <a:rPr sz="1050" b="0" i="0">
                <a:solidFill>
                  <a:srgbClr val="16181C"/>
                </a:solidFill>
                <a:latin typeface="Microsoft YaHei"/>
                <a:ea typeface="Microsoft YaHei"/>
                <a:cs typeface="Microsoft YaHei"/>
              </a:rPr>
              <a:t>Diffusion 的显存管理，最后长成了 LLM 的样子 —— 抽象会收敛，代码量不会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185855" y="6473952"/>
            <a:ext cx="731520" cy="274320"/>
          </a:xfrm>
          <a:prstGeom prst="rect">
            <a:avLst/>
          </a:prstGeom>
          <a:noFill/>
          <a:effectLst/>
        </p:spPr>
        <p:txBody>
          <a:bodyPr wrap="square" lIns="45720" tIns="27432" rIns="45720" bIns="27432" anchor="b">
            <a:spAutoFit/>
          </a:bodyPr>
          <a:lstStyle/>
          <a:p>
            <a:pPr algn="r">
              <a:spcBef>
                <a:spcPts val="0"/>
              </a:spcBef>
            </a:pPr>
            <a:r>
              <a:rPr sz="850" b="0" i="0">
                <a:solidFill>
                  <a:srgbClr val="7C818B"/>
                </a:solidFill>
                <a:latin typeface="Consolas"/>
                <a:ea typeface="Consolas"/>
                <a:cs typeface="Consolas"/>
              </a:rPr>
              <a:t>11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50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" dur="50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" dur="500"/>
                                  <p:tgtEl>
                                    <p:spTgt spid="2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" dur="50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50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" dur="500"/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4" dur="500"/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7" dur="500"/>
                                  <p:tgtEl>
                                    <p:spTgt spid="2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0" dur="500"/>
                                  <p:tgtEl>
                                    <p:spTgt spid="2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3" dur="500"/>
                                  <p:tgtEl>
                                    <p:spTgt spid="2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7" dur="500"/>
                                  <p:tgtEl>
                                    <p:spTgt spid="2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8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0" dur="500"/>
                                  <p:tgtEl>
                                    <p:spTgt spid="2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1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3" dur="500"/>
                                  <p:tgtEl>
                                    <p:spTgt spid="3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6" dur="500"/>
                                  <p:tgtEl>
                                    <p:spTgt spid="3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7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9" dur="500"/>
                                  <p:tgtEl>
                                    <p:spTgt spid="3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0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2" dur="500"/>
                                  <p:tgtEl>
                                    <p:spTgt spid="3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3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500"/>
                                  <p:tgtEl>
                                    <p:spTgt spid="3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6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500"/>
                                  <p:tgtEl>
                                    <p:spTgt spid="3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9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1" dur="500"/>
                                  <p:tgtEl>
                                    <p:spTgt spid="3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1211580" cy="237744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3E5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27432" rIns="36576" bIns="27432" rtlCol="0" anchor="ctr"/>
          <a:lstStyle/>
          <a:p>
            <a:pPr algn="ctr">
              <a:spcBef>
                <a:spcPts val="0"/>
              </a:spcBef>
            </a:pPr>
            <a:r>
              <a:rPr sz="850" b="1" i="0">
                <a:solidFill>
                  <a:srgbClr val="3E5FD9"/>
                </a:solidFill>
                <a:latin typeface="Microsoft YaHei"/>
                <a:ea typeface="Microsoft YaHei"/>
                <a:cs typeface="Microsoft YaHei"/>
              </a:rPr>
              <a:t>④ MiniCPM-o 4.5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4228" y="356616"/>
            <a:ext cx="8229600" cy="256032"/>
          </a:xfrm>
          <a:prstGeom prst="rect">
            <a:avLst/>
          </a:prstGeom>
          <a:noFill/>
          <a:effectLst/>
        </p:spPr>
        <p:txBody>
          <a:bodyPr wrap="square" lIns="45720" tIns="27432" rIns="45720" bIns="27432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850" b="0" i="0">
                <a:solidFill>
                  <a:srgbClr val="7C818B"/>
                </a:solidFill>
                <a:latin typeface="Consolas"/>
                <a:ea typeface="Consolas"/>
                <a:cs typeface="Consolas"/>
              </a:rPr>
              <a:t>还没跨过的那道坎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31520"/>
            <a:ext cx="11155680" cy="868680"/>
          </a:xfrm>
          <a:prstGeom prst="rect">
            <a:avLst/>
          </a:prstGeom>
          <a:noFill/>
          <a:effectLst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16181C"/>
                </a:solidFill>
                <a:latin typeface="Microsoft YaHei"/>
                <a:ea typeface="Microsoft YaHei"/>
                <a:cs typeface="Microsoft YaHei"/>
              </a:rPr>
              <a:t>输入永不停止，模型每个 chunk 自己决定「说还是不说」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11183112" cy="219456"/>
          </a:xfrm>
          <a:prstGeom prst="rect">
            <a:avLst/>
          </a:prstGeom>
          <a:noFill/>
          <a:effectLst/>
        </p:spPr>
        <p:txBody>
          <a:bodyPr wrap="square" lIns="45720" tIns="27432" rIns="45720" bIns="27432" anchor="ctr">
            <a:spAutoFit/>
          </a:bodyPr>
          <a:lstStyle/>
          <a:p>
            <a:pPr algn="ctr">
              <a:spcBef>
                <a:spcPts val="0"/>
              </a:spcBef>
            </a:pPr>
            <a:r>
              <a:rPr sz="850" b="0" i="0">
                <a:solidFill>
                  <a:srgbClr val="3E5FD9"/>
                </a:solidFill>
                <a:latin typeface="Consolas"/>
                <a:ea typeface="Consolas"/>
                <a:cs typeface="Consolas"/>
              </a:rPr>
              <a:t>■ </a:t>
            </a:r>
            <a:r>
              <a:rPr sz="800" b="0" i="0">
                <a:solidFill>
                  <a:srgbClr val="7C818B"/>
                </a:solidFill>
                <a:latin typeface="Consolas"/>
                <a:ea typeface="Consolas"/>
                <a:cs typeface="Consolas"/>
              </a:rPr>
              <a:t>Hidden / Emb V·A    </a:t>
            </a:r>
            <a:r>
              <a:rPr sz="850" b="0" i="0">
                <a:solidFill>
                  <a:srgbClr val="A96F0C"/>
                </a:solidFill>
                <a:latin typeface="Consolas"/>
                <a:ea typeface="Consolas"/>
                <a:cs typeface="Consolas"/>
              </a:rPr>
              <a:t>■ </a:t>
            </a:r>
            <a:r>
              <a:rPr sz="800" b="0" i="0">
                <a:solidFill>
                  <a:srgbClr val="7C818B"/>
                </a:solidFill>
                <a:latin typeface="Consolas"/>
                <a:ea typeface="Consolas"/>
                <a:cs typeface="Consolas"/>
              </a:rPr>
              <a:t>Silent Token    </a:t>
            </a:r>
            <a:r>
              <a:rPr sz="850" b="0" i="0">
                <a:solidFill>
                  <a:srgbClr val="C4326F"/>
                </a:solidFill>
                <a:latin typeface="Consolas"/>
                <a:ea typeface="Consolas"/>
                <a:cs typeface="Consolas"/>
              </a:rPr>
              <a:t>■ </a:t>
            </a:r>
            <a:r>
              <a:rPr sz="800" b="0" i="0">
                <a:solidFill>
                  <a:srgbClr val="7C818B"/>
                </a:solidFill>
                <a:latin typeface="Consolas"/>
                <a:ea typeface="Consolas"/>
                <a:cs typeface="Consolas"/>
              </a:rPr>
              <a:t>Speak Token    </a:t>
            </a:r>
            <a:r>
              <a:rPr sz="850" b="0" i="0">
                <a:solidFill>
                  <a:srgbClr val="0E8C7C"/>
                </a:solidFill>
                <a:latin typeface="Consolas"/>
                <a:ea typeface="Consolas"/>
                <a:cs typeface="Consolas"/>
              </a:rPr>
              <a:t>■ </a:t>
            </a:r>
            <a:r>
              <a:rPr sz="800" b="0" i="0">
                <a:solidFill>
                  <a:srgbClr val="7C818B"/>
                </a:solidFill>
                <a:latin typeface="Consolas"/>
                <a:ea typeface="Consolas"/>
                <a:cs typeface="Consolas"/>
              </a:rPr>
              <a:t>Text Token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737360"/>
            <a:ext cx="1463039" cy="310896"/>
          </a:xfrm>
          <a:prstGeom prst="rect">
            <a:avLst/>
          </a:prstGeom>
          <a:noFill/>
          <a:effectLst/>
        </p:spPr>
        <p:txBody>
          <a:bodyPr wrap="square" lIns="45720" tIns="27432" rIns="54864" bIns="27432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4A4E57"/>
                </a:solidFill>
                <a:latin typeface="Microsoft YaHei"/>
                <a:ea typeface="Microsoft YaHei"/>
                <a:cs typeface="Microsoft YaHei"/>
              </a:rPr>
              <a:t>音频输出</a:t>
            </a:r>
          </a:p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650" b="0" i="0">
                <a:solidFill>
                  <a:srgbClr val="7C818B"/>
                </a:solidFill>
                <a:latin typeface="Consolas"/>
                <a:ea typeface="Consolas"/>
                <a:cs typeface="Consolas"/>
              </a:rPr>
              <a:t>Audio Output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91990" y="1737360"/>
            <a:ext cx="2352294" cy="310896"/>
          </a:xfrm>
          <a:prstGeom prst="roundRect">
            <a:avLst>
              <a:gd name="adj" fmla="val 8000"/>
            </a:avLst>
          </a:prstGeom>
          <a:solidFill>
            <a:srgbClr val="E5F2F1"/>
          </a:solidFill>
          <a:ln w="9525">
            <a:solidFill>
              <a:srgbClr val="0E8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spcBef>
                <a:spcPts val="0"/>
              </a:spcBef>
            </a:pPr>
            <a:r>
              <a:rPr sz="800" b="0" i="0">
                <a:solidFill>
                  <a:srgbClr val="0E8C7C"/>
                </a:solidFill>
                <a:latin typeface="Consolas"/>
                <a:ea typeface="Consolas"/>
                <a:cs typeface="Consolas"/>
              </a:rPr>
              <a:t>∿∿∿∿ wav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99148" y="1737360"/>
            <a:ext cx="2352294" cy="310896"/>
          </a:xfrm>
          <a:prstGeom prst="roundRect">
            <a:avLst>
              <a:gd name="adj" fmla="val 8000"/>
            </a:avLst>
          </a:prstGeom>
          <a:solidFill>
            <a:srgbClr val="E5F2F1"/>
          </a:solidFill>
          <a:ln w="9525">
            <a:solidFill>
              <a:srgbClr val="0E8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spcBef>
                <a:spcPts val="0"/>
              </a:spcBef>
            </a:pPr>
            <a:r>
              <a:rPr sz="800" b="0" i="0">
                <a:solidFill>
                  <a:srgbClr val="0E8C7C"/>
                </a:solidFill>
                <a:latin typeface="Consolas"/>
                <a:ea typeface="Consolas"/>
                <a:cs typeface="Consolas"/>
              </a:rPr>
              <a:t>∿∿∿∿ wav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06306" y="1737360"/>
            <a:ext cx="2352294" cy="310896"/>
          </a:xfrm>
          <a:prstGeom prst="roundRect">
            <a:avLst>
              <a:gd name="adj" fmla="val 8000"/>
            </a:avLst>
          </a:prstGeom>
          <a:solidFill>
            <a:srgbClr val="E5F2F1"/>
          </a:solidFill>
          <a:ln w="9525">
            <a:solidFill>
              <a:srgbClr val="0E8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spcBef>
                <a:spcPts val="0"/>
              </a:spcBef>
            </a:pPr>
            <a:r>
              <a:rPr sz="800" b="0" i="0">
                <a:solidFill>
                  <a:srgbClr val="0E8C7C"/>
                </a:solidFill>
                <a:latin typeface="Consolas"/>
                <a:ea typeface="Consolas"/>
                <a:cs typeface="Consolas"/>
              </a:rPr>
              <a:t>∿∿∿∿ wav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103120"/>
            <a:ext cx="1463039" cy="274320"/>
          </a:xfrm>
          <a:prstGeom prst="rect">
            <a:avLst/>
          </a:prstGeom>
          <a:noFill/>
          <a:effectLst/>
        </p:spPr>
        <p:txBody>
          <a:bodyPr wrap="square" lIns="45720" tIns="27432" rIns="54864" bIns="27432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4A4E57"/>
                </a:solidFill>
                <a:latin typeface="Microsoft YaHei"/>
                <a:ea typeface="Microsoft YaHei"/>
                <a:cs typeface="Microsoft YaHei"/>
              </a:rPr>
              <a:t>语音 token</a:t>
            </a:r>
          </a:p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650" b="0" i="0">
                <a:solidFill>
                  <a:srgbClr val="7C818B"/>
                </a:solidFill>
                <a:latin typeface="Consolas"/>
                <a:ea typeface="Consolas"/>
                <a:cs typeface="Consolas"/>
              </a:rPr>
              <a:t>Speech Tokens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91990" y="2103120"/>
            <a:ext cx="2352294" cy="274320"/>
          </a:xfrm>
          <a:prstGeom prst="rect">
            <a:avLst/>
          </a:prstGeom>
          <a:noFill/>
          <a:effectLst/>
        </p:spPr>
        <p:txBody>
          <a:bodyPr wrap="square" lIns="45720" tIns="27432" rIns="45720" bIns="27432" anchor="ctr">
            <a:spAutoFit/>
          </a:bodyPr>
          <a:lstStyle/>
          <a:p>
            <a:pPr algn="ctr">
              <a:spcBef>
                <a:spcPts val="0"/>
              </a:spcBef>
            </a:pPr>
            <a:r>
              <a:rPr sz="800" b="0" i="0">
                <a:solidFill>
                  <a:srgbClr val="3E5FD9"/>
                </a:solidFill>
                <a:latin typeface="Microsoft YaHei"/>
                <a:ea typeface="Microsoft YaHei"/>
                <a:cs typeface="Microsoft YaHei"/>
              </a:rPr>
              <a:t>● ● ● ● ● 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99148" y="2103120"/>
            <a:ext cx="2352294" cy="274320"/>
          </a:xfrm>
          <a:prstGeom prst="rect">
            <a:avLst/>
          </a:prstGeom>
          <a:noFill/>
          <a:effectLst/>
        </p:spPr>
        <p:txBody>
          <a:bodyPr wrap="square" lIns="45720" tIns="27432" rIns="45720" bIns="27432" anchor="ctr">
            <a:spAutoFit/>
          </a:bodyPr>
          <a:lstStyle/>
          <a:p>
            <a:pPr algn="ctr">
              <a:spcBef>
                <a:spcPts val="0"/>
              </a:spcBef>
            </a:pPr>
            <a:r>
              <a:rPr sz="800" b="0" i="0">
                <a:solidFill>
                  <a:srgbClr val="3E5FD9"/>
                </a:solidFill>
                <a:latin typeface="Microsoft YaHei"/>
                <a:ea typeface="Microsoft YaHei"/>
                <a:cs typeface="Microsoft YaHei"/>
              </a:rPr>
              <a:t>● ● ● ● ● 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06306" y="2103120"/>
            <a:ext cx="2352294" cy="274320"/>
          </a:xfrm>
          <a:prstGeom prst="rect">
            <a:avLst/>
          </a:prstGeom>
          <a:noFill/>
          <a:effectLst/>
        </p:spPr>
        <p:txBody>
          <a:bodyPr wrap="square" lIns="45720" tIns="27432" rIns="45720" bIns="27432" anchor="ctr">
            <a:spAutoFit/>
          </a:bodyPr>
          <a:lstStyle/>
          <a:p>
            <a:pPr algn="ctr">
              <a:spcBef>
                <a:spcPts val="0"/>
              </a:spcBef>
            </a:pPr>
            <a:r>
              <a:rPr sz="800" b="0" i="0">
                <a:solidFill>
                  <a:srgbClr val="3E5FD9"/>
                </a:solidFill>
                <a:latin typeface="Microsoft YaHei"/>
                <a:ea typeface="Microsoft YaHei"/>
                <a:cs typeface="Microsoft YaHei"/>
              </a:rPr>
              <a:t>● ● ● ● ● ●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057400" y="2432303"/>
            <a:ext cx="9628632" cy="274320"/>
          </a:xfrm>
          <a:prstGeom prst="roundRect">
            <a:avLst>
              <a:gd name="adj" fmla="val 6000"/>
            </a:avLst>
          </a:prstGeom>
          <a:solidFill>
            <a:srgbClr val="ECEFFB"/>
          </a:solidFill>
          <a:ln w="12700">
            <a:solidFill>
              <a:srgbClr val="3E5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spcBef>
                <a:spcPts val="0"/>
              </a:spcBef>
            </a:pPr>
            <a:r>
              <a:rPr sz="950" b="1" i="0">
                <a:solidFill>
                  <a:srgbClr val="3E5FD9"/>
                </a:solidFill>
                <a:latin typeface="Microsoft YaHei"/>
                <a:ea typeface="Microsoft YaHei"/>
                <a:cs typeface="Microsoft YaHei"/>
              </a:rPr>
              <a:t>Speech Token Decoder  →  Streaming Flow Matching Decoder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2779775"/>
            <a:ext cx="1463039" cy="475488"/>
          </a:xfrm>
          <a:prstGeom prst="rect">
            <a:avLst/>
          </a:prstGeom>
          <a:noFill/>
          <a:effectLst/>
        </p:spPr>
        <p:txBody>
          <a:bodyPr wrap="square" lIns="45720" tIns="27432" rIns="54864" bIns="27432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4A4E57"/>
                </a:solidFill>
                <a:latin typeface="Microsoft YaHei"/>
                <a:ea typeface="Microsoft YaHei"/>
                <a:cs typeface="Microsoft YaHei"/>
              </a:rPr>
              <a:t>LLM 输出</a:t>
            </a:r>
          </a:p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650" b="0" i="0">
                <a:solidFill>
                  <a:srgbClr val="7C818B"/>
                </a:solidFill>
                <a:latin typeface="Consolas"/>
                <a:ea typeface="Consolas"/>
                <a:cs typeface="Consolas"/>
              </a:rPr>
              <a:t>token ＋ hidden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084831" y="2779775"/>
            <a:ext cx="2352294" cy="4754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6D6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spcBef>
                <a:spcPts val="0"/>
              </a:spcBef>
            </a:pPr>
            <a:r>
              <a:rPr sz="900" b="1" i="0">
                <a:solidFill>
                  <a:srgbClr val="A96F0C"/>
                </a:solidFill>
                <a:latin typeface="Consolas"/>
                <a:ea typeface="Consolas"/>
                <a:cs typeface="Consolas"/>
              </a:rPr>
              <a:t>sl </a:t>
            </a:r>
            <a:r>
              <a:rPr sz="800" b="1" i="0">
                <a:solidFill>
                  <a:srgbClr val="3E5FD9"/>
                </a:solidFill>
                <a:latin typeface="Consolas"/>
                <a:ea typeface="Consolas"/>
                <a:cs typeface="Consolas"/>
              </a:rPr>
              <a:t>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91990" y="2779775"/>
            <a:ext cx="2352294" cy="4754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6D6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spcBef>
                <a:spcPts val="0"/>
              </a:spcBef>
            </a:pPr>
            <a:r>
              <a:rPr sz="900" b="1" i="0">
                <a:solidFill>
                  <a:srgbClr val="C4326F"/>
                </a:solidFill>
                <a:latin typeface="Consolas"/>
                <a:ea typeface="Consolas"/>
                <a:cs typeface="Consolas"/>
              </a:rPr>
              <a:t>sp </a:t>
            </a:r>
            <a:r>
              <a:rPr sz="850" b="0" i="1">
                <a:solidFill>
                  <a:srgbClr val="0E8C7C"/>
                </a:solidFill>
                <a:latin typeface="Microsoft YaHei"/>
                <a:ea typeface="Microsoft YaHei"/>
                <a:cs typeface="Microsoft YaHei"/>
              </a:rPr>
              <a:t>Look this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99148" y="2779775"/>
            <a:ext cx="2352294" cy="4754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6D6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spcBef>
                <a:spcPts val="0"/>
              </a:spcBef>
            </a:pPr>
            <a:r>
              <a:rPr sz="900" b="1" i="0">
                <a:solidFill>
                  <a:srgbClr val="C4326F"/>
                </a:solidFill>
                <a:latin typeface="Consolas"/>
                <a:ea typeface="Consolas"/>
                <a:cs typeface="Consolas"/>
              </a:rPr>
              <a:t>sp </a:t>
            </a:r>
            <a:r>
              <a:rPr sz="850" b="0" i="1">
                <a:solidFill>
                  <a:srgbClr val="0E8C7C"/>
                </a:solidFill>
                <a:latin typeface="Microsoft YaHei"/>
                <a:ea typeface="Microsoft YaHei"/>
                <a:cs typeface="Microsoft YaHei"/>
              </a:rPr>
              <a:t>is Mini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306306" y="2779775"/>
            <a:ext cx="2352294" cy="4754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6D6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spcBef>
                <a:spcPts val="0"/>
              </a:spcBef>
            </a:pPr>
            <a:r>
              <a:rPr sz="900" b="1" i="0">
                <a:solidFill>
                  <a:srgbClr val="C4326F"/>
                </a:solidFill>
                <a:latin typeface="Consolas"/>
                <a:ea typeface="Consolas"/>
                <a:cs typeface="Consolas"/>
              </a:rPr>
              <a:t>sp </a:t>
            </a:r>
            <a:r>
              <a:rPr sz="850" b="0" i="1">
                <a:solidFill>
                  <a:srgbClr val="0E8C7C"/>
                </a:solidFill>
                <a:latin typeface="Microsoft YaHei"/>
                <a:ea typeface="Microsoft YaHei"/>
                <a:cs typeface="Microsoft YaHei"/>
              </a:rPr>
              <a:t>CPM Omni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057400" y="3310127"/>
            <a:ext cx="9628632" cy="274320"/>
          </a:xfrm>
          <a:prstGeom prst="roundRect">
            <a:avLst>
              <a:gd name="adj" fmla="val 6000"/>
            </a:avLst>
          </a:prstGeom>
          <a:solidFill>
            <a:srgbClr val="ECEFFB"/>
          </a:solidFill>
          <a:ln w="12700">
            <a:solidFill>
              <a:srgbClr val="3E5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spcBef>
                <a:spcPts val="0"/>
              </a:spcBef>
            </a:pPr>
            <a:r>
              <a:rPr sz="950" b="1" i="0">
                <a:solidFill>
                  <a:srgbClr val="3E5FD9"/>
                </a:solidFill>
                <a:latin typeface="Microsoft YaHei"/>
                <a:ea typeface="Microsoft YaHei"/>
                <a:cs typeface="Microsoft YaHei"/>
              </a:rPr>
              <a:t>Full-Duplex Omnimodal LLM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3657599"/>
            <a:ext cx="1463039" cy="310896"/>
          </a:xfrm>
          <a:prstGeom prst="rect">
            <a:avLst/>
          </a:prstGeom>
          <a:noFill/>
          <a:effectLst/>
        </p:spPr>
        <p:txBody>
          <a:bodyPr wrap="square" lIns="45720" tIns="27432" rIns="54864" bIns="27432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4A4E57"/>
                </a:solidFill>
                <a:latin typeface="Microsoft YaHei"/>
                <a:ea typeface="Microsoft YaHei"/>
                <a:cs typeface="Microsoft YaHei"/>
              </a:rPr>
              <a:t>编码后</a:t>
            </a:r>
          </a:p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650" b="0" i="0">
                <a:solidFill>
                  <a:srgbClr val="7C818B"/>
                </a:solidFill>
                <a:latin typeface="Consolas"/>
                <a:ea typeface="Consolas"/>
                <a:cs typeface="Consolas"/>
              </a:rPr>
              <a:t>V · A embeddings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084831" y="3657599"/>
            <a:ext cx="2352294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6D6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spcBef>
                <a:spcPts val="0"/>
              </a:spcBef>
            </a:pPr>
            <a:r>
              <a:rPr sz="850" b="1" i="0">
                <a:solidFill>
                  <a:srgbClr val="3E5FD9"/>
                </a:solidFill>
                <a:latin typeface="Consolas"/>
                <a:ea typeface="Consolas"/>
                <a:cs typeface="Consolas"/>
              </a:rPr>
              <a:t>V V V </a:t>
            </a:r>
            <a:r>
              <a:rPr sz="850" b="1" i="0">
                <a:solidFill>
                  <a:srgbClr val="A96F0C"/>
                </a:solidFill>
                <a:latin typeface="Consolas"/>
                <a:ea typeface="Consolas"/>
                <a:cs typeface="Consolas"/>
              </a:rPr>
              <a:t>A 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91990" y="3657599"/>
            <a:ext cx="2352294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6D6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spcBef>
                <a:spcPts val="0"/>
              </a:spcBef>
            </a:pPr>
            <a:r>
              <a:rPr sz="850" b="1" i="0">
                <a:solidFill>
                  <a:srgbClr val="3E5FD9"/>
                </a:solidFill>
                <a:latin typeface="Consolas"/>
                <a:ea typeface="Consolas"/>
                <a:cs typeface="Consolas"/>
              </a:rPr>
              <a:t>V V V </a:t>
            </a:r>
            <a:r>
              <a:rPr sz="850" b="1" i="0">
                <a:solidFill>
                  <a:srgbClr val="A96F0C"/>
                </a:solidFill>
                <a:latin typeface="Consolas"/>
                <a:ea typeface="Consolas"/>
                <a:cs typeface="Consolas"/>
              </a:rPr>
              <a:t>A 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99148" y="3657599"/>
            <a:ext cx="2352294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6D6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spcBef>
                <a:spcPts val="0"/>
              </a:spcBef>
            </a:pPr>
            <a:r>
              <a:rPr sz="850" b="1" i="0">
                <a:solidFill>
                  <a:srgbClr val="3E5FD9"/>
                </a:solidFill>
                <a:latin typeface="Consolas"/>
                <a:ea typeface="Consolas"/>
                <a:cs typeface="Consolas"/>
              </a:rPr>
              <a:t>V V V </a:t>
            </a:r>
            <a:r>
              <a:rPr sz="850" b="1" i="0">
                <a:solidFill>
                  <a:srgbClr val="A96F0C"/>
                </a:solidFill>
                <a:latin typeface="Consolas"/>
                <a:ea typeface="Consolas"/>
                <a:cs typeface="Consolas"/>
              </a:rPr>
              <a:t>A 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306306" y="3657599"/>
            <a:ext cx="2352294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6D6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spcBef>
                <a:spcPts val="0"/>
              </a:spcBef>
            </a:pPr>
            <a:r>
              <a:rPr sz="850" b="1" i="0">
                <a:solidFill>
                  <a:srgbClr val="3E5FD9"/>
                </a:solidFill>
                <a:latin typeface="Consolas"/>
                <a:ea typeface="Consolas"/>
                <a:cs typeface="Consolas"/>
              </a:rPr>
              <a:t>V V V </a:t>
            </a:r>
            <a:r>
              <a:rPr sz="850" b="1" i="0">
                <a:solidFill>
                  <a:srgbClr val="A96F0C"/>
                </a:solidFill>
                <a:latin typeface="Consolas"/>
                <a:ea typeface="Consolas"/>
                <a:cs typeface="Consolas"/>
              </a:rPr>
              <a:t>A 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057400" y="4023359"/>
            <a:ext cx="9628632" cy="274320"/>
          </a:xfrm>
          <a:prstGeom prst="roundRect">
            <a:avLst>
              <a:gd name="adj" fmla="val 6000"/>
            </a:avLst>
          </a:prstGeom>
          <a:solidFill>
            <a:srgbClr val="ECEFFB"/>
          </a:solidFill>
          <a:ln w="12700">
            <a:solidFill>
              <a:srgbClr val="3E5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spcBef>
                <a:spcPts val="0"/>
              </a:spcBef>
            </a:pPr>
            <a:r>
              <a:rPr sz="950" b="1" i="0">
                <a:solidFill>
                  <a:srgbClr val="3E5FD9"/>
                </a:solidFill>
                <a:latin typeface="Microsoft YaHei"/>
                <a:ea typeface="Microsoft YaHei"/>
                <a:cs typeface="Microsoft YaHei"/>
              </a:rPr>
              <a:t>Multimodal Encoders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4370831"/>
            <a:ext cx="1463039" cy="274320"/>
          </a:xfrm>
          <a:prstGeom prst="rect">
            <a:avLst/>
          </a:prstGeom>
          <a:noFill/>
          <a:effectLst/>
        </p:spPr>
        <p:txBody>
          <a:bodyPr wrap="square" lIns="45720" tIns="27432" rIns="54864" bIns="27432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4A4E57"/>
                </a:solidFill>
                <a:latin typeface="Microsoft YaHei"/>
                <a:ea typeface="Microsoft YaHei"/>
                <a:cs typeface="Microsoft YaHei"/>
              </a:rPr>
              <a:t>视频流</a:t>
            </a:r>
          </a:p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650" b="0" i="0">
                <a:solidFill>
                  <a:srgbClr val="7C818B"/>
                </a:solidFill>
                <a:latin typeface="Consolas"/>
                <a:ea typeface="Consolas"/>
                <a:cs typeface="Consolas"/>
              </a:rPr>
              <a:t>Video Stream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84831" y="4370831"/>
            <a:ext cx="2352294" cy="274320"/>
          </a:xfrm>
          <a:prstGeom prst="rect">
            <a:avLst/>
          </a:prstGeom>
          <a:noFill/>
          <a:effectLst/>
        </p:spPr>
        <p:txBody>
          <a:bodyPr wrap="square" lIns="45720" tIns="27432" rIns="45720" bIns="27432" anchor="ctr">
            <a:spAutoFit/>
          </a:bodyPr>
          <a:lstStyle/>
          <a:p>
            <a:pPr algn="ctr">
              <a:spcBef>
                <a:spcPts val="0"/>
              </a:spcBef>
            </a:pPr>
            <a:r>
              <a:rPr sz="900" b="0" i="0">
                <a:solidFill>
                  <a:srgbClr val="3E5FD9"/>
                </a:solidFill>
                <a:latin typeface="Microsoft YaHei"/>
                <a:ea typeface="Microsoft YaHei"/>
                <a:cs typeface="Microsoft YaHei"/>
              </a:rPr>
              <a:t>▶ ▶ ▶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91990" y="4370831"/>
            <a:ext cx="2352294" cy="274320"/>
          </a:xfrm>
          <a:prstGeom prst="rect">
            <a:avLst/>
          </a:prstGeom>
          <a:noFill/>
          <a:effectLst/>
        </p:spPr>
        <p:txBody>
          <a:bodyPr wrap="square" lIns="45720" tIns="27432" rIns="45720" bIns="27432" anchor="ctr">
            <a:spAutoFit/>
          </a:bodyPr>
          <a:lstStyle/>
          <a:p>
            <a:pPr algn="ctr">
              <a:spcBef>
                <a:spcPts val="0"/>
              </a:spcBef>
            </a:pPr>
            <a:r>
              <a:rPr sz="900" b="0" i="0">
                <a:solidFill>
                  <a:srgbClr val="3E5FD9"/>
                </a:solidFill>
                <a:latin typeface="Microsoft YaHei"/>
                <a:ea typeface="Microsoft YaHei"/>
                <a:cs typeface="Microsoft YaHei"/>
              </a:rPr>
              <a:t>▶ ▶ ▶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99148" y="4370831"/>
            <a:ext cx="2352294" cy="274320"/>
          </a:xfrm>
          <a:prstGeom prst="rect">
            <a:avLst/>
          </a:prstGeom>
          <a:noFill/>
          <a:effectLst/>
        </p:spPr>
        <p:txBody>
          <a:bodyPr wrap="square" lIns="45720" tIns="27432" rIns="45720" bIns="27432" anchor="ctr">
            <a:spAutoFit/>
          </a:bodyPr>
          <a:lstStyle/>
          <a:p>
            <a:pPr algn="ctr">
              <a:spcBef>
                <a:spcPts val="0"/>
              </a:spcBef>
            </a:pPr>
            <a:r>
              <a:rPr sz="900" b="0" i="0">
                <a:solidFill>
                  <a:srgbClr val="3E5FD9"/>
                </a:solidFill>
                <a:latin typeface="Microsoft YaHei"/>
                <a:ea typeface="Microsoft YaHei"/>
                <a:cs typeface="Microsoft YaHei"/>
              </a:rPr>
              <a:t>▶ ▶ ▶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06306" y="4370831"/>
            <a:ext cx="2352294" cy="274320"/>
          </a:xfrm>
          <a:prstGeom prst="rect">
            <a:avLst/>
          </a:prstGeom>
          <a:noFill/>
          <a:effectLst/>
        </p:spPr>
        <p:txBody>
          <a:bodyPr wrap="square" lIns="45720" tIns="27432" rIns="45720" bIns="27432" anchor="ctr">
            <a:spAutoFit/>
          </a:bodyPr>
          <a:lstStyle/>
          <a:p>
            <a:pPr algn="ctr">
              <a:spcBef>
                <a:spcPts val="0"/>
              </a:spcBef>
            </a:pPr>
            <a:r>
              <a:rPr sz="900" b="0" i="0">
                <a:solidFill>
                  <a:srgbClr val="3E5FD9"/>
                </a:solidFill>
                <a:latin typeface="Microsoft YaHei"/>
                <a:ea typeface="Microsoft YaHei"/>
                <a:cs typeface="Microsoft YaHei"/>
              </a:rPr>
              <a:t>▶ ▶ ▶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4681727"/>
            <a:ext cx="1463039" cy="274320"/>
          </a:xfrm>
          <a:prstGeom prst="rect">
            <a:avLst/>
          </a:prstGeom>
          <a:noFill/>
          <a:effectLst/>
        </p:spPr>
        <p:txBody>
          <a:bodyPr wrap="square" lIns="45720" tIns="27432" rIns="54864" bIns="27432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4A4E57"/>
                </a:solidFill>
                <a:latin typeface="Microsoft YaHei"/>
                <a:ea typeface="Microsoft YaHei"/>
                <a:cs typeface="Microsoft YaHei"/>
              </a:rPr>
              <a:t>音频流</a:t>
            </a:r>
          </a:p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650" b="0" i="0">
                <a:solidFill>
                  <a:srgbClr val="7C818B"/>
                </a:solidFill>
                <a:latin typeface="Consolas"/>
                <a:ea typeface="Consolas"/>
                <a:cs typeface="Consolas"/>
              </a:rPr>
              <a:t>一直在进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084831" y="4681727"/>
            <a:ext cx="2352294" cy="274320"/>
          </a:xfrm>
          <a:prstGeom prst="roundRect">
            <a:avLst>
              <a:gd name="adj" fmla="val 8000"/>
            </a:avLst>
          </a:prstGeom>
          <a:solidFill>
            <a:srgbClr val="EDEDE8"/>
          </a:solidFill>
          <a:ln w="9525">
            <a:solidFill>
              <a:srgbClr val="D6D6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spcBef>
                <a:spcPts val="0"/>
              </a:spcBef>
            </a:pPr>
            <a:r>
              <a:rPr sz="850" b="0" i="0">
                <a:solidFill>
                  <a:srgbClr val="7C818B"/>
                </a:solidFill>
                <a:latin typeface="Consolas"/>
                <a:ea typeface="Consolas"/>
                <a:cs typeface="Consolas"/>
              </a:rPr>
              <a:t>∿∿∿∿∿∿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491990" y="4681727"/>
            <a:ext cx="2352294" cy="274320"/>
          </a:xfrm>
          <a:prstGeom prst="roundRect">
            <a:avLst>
              <a:gd name="adj" fmla="val 8000"/>
            </a:avLst>
          </a:prstGeom>
          <a:solidFill>
            <a:srgbClr val="EDEDE8"/>
          </a:solidFill>
          <a:ln w="9525">
            <a:solidFill>
              <a:srgbClr val="D6D6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spcBef>
                <a:spcPts val="0"/>
              </a:spcBef>
            </a:pPr>
            <a:r>
              <a:rPr sz="850" b="0" i="0">
                <a:solidFill>
                  <a:srgbClr val="7C818B"/>
                </a:solidFill>
                <a:latin typeface="Consolas"/>
                <a:ea typeface="Consolas"/>
                <a:cs typeface="Consolas"/>
              </a:rPr>
              <a:t>∿∿∿∿∿∿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899148" y="4681727"/>
            <a:ext cx="2352294" cy="274320"/>
          </a:xfrm>
          <a:prstGeom prst="roundRect">
            <a:avLst>
              <a:gd name="adj" fmla="val 8000"/>
            </a:avLst>
          </a:prstGeom>
          <a:solidFill>
            <a:srgbClr val="EDEDE8"/>
          </a:solidFill>
          <a:ln w="9525">
            <a:solidFill>
              <a:srgbClr val="D6D6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spcBef>
                <a:spcPts val="0"/>
              </a:spcBef>
            </a:pPr>
            <a:r>
              <a:rPr sz="850" b="0" i="0">
                <a:solidFill>
                  <a:srgbClr val="7C818B"/>
                </a:solidFill>
                <a:latin typeface="Consolas"/>
                <a:ea typeface="Consolas"/>
                <a:cs typeface="Consolas"/>
              </a:rPr>
              <a:t>∿∿∿∿∿∿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306306" y="4681727"/>
            <a:ext cx="2352294" cy="274320"/>
          </a:xfrm>
          <a:prstGeom prst="roundRect">
            <a:avLst>
              <a:gd name="adj" fmla="val 8000"/>
            </a:avLst>
          </a:prstGeom>
          <a:solidFill>
            <a:srgbClr val="EDEDE8"/>
          </a:solidFill>
          <a:ln w="9525">
            <a:solidFill>
              <a:srgbClr val="D6D6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spcBef>
                <a:spcPts val="0"/>
              </a:spcBef>
            </a:pPr>
            <a:r>
              <a:rPr sz="850" b="0" i="0">
                <a:solidFill>
                  <a:srgbClr val="7C818B"/>
                </a:solidFill>
                <a:latin typeface="Consolas"/>
                <a:ea typeface="Consolas"/>
                <a:cs typeface="Consolas"/>
              </a:rPr>
              <a:t>∿∿∿∿∿∿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2057400" y="5010912"/>
            <a:ext cx="9628632" cy="0"/>
          </a:xfrm>
          <a:prstGeom prst="line">
            <a:avLst/>
          </a:prstGeom>
          <a:ln w="12700">
            <a:solidFill>
              <a:srgbClr val="A9A99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2093976" y="5029199"/>
            <a:ext cx="2407158" cy="182880"/>
          </a:xfrm>
          <a:prstGeom prst="rect">
            <a:avLst/>
          </a:prstGeom>
          <a:noFill/>
          <a:effectLst/>
        </p:spPr>
        <p:txBody>
          <a:bodyPr wrap="square" lIns="45720" tIns="27432" rIns="45720" bIns="27432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650" b="0" i="0">
                <a:solidFill>
                  <a:srgbClr val="7C818B"/>
                </a:solidFill>
                <a:latin typeface="Consolas"/>
                <a:ea typeface="Consolas"/>
                <a:cs typeface="Consolas"/>
              </a:rPr>
              <a:t>0.0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01134" y="5029199"/>
            <a:ext cx="2407158" cy="182880"/>
          </a:xfrm>
          <a:prstGeom prst="rect">
            <a:avLst/>
          </a:prstGeom>
          <a:noFill/>
          <a:effectLst/>
        </p:spPr>
        <p:txBody>
          <a:bodyPr wrap="square" lIns="45720" tIns="27432" rIns="45720" bIns="27432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650" b="0" i="0">
                <a:solidFill>
                  <a:srgbClr val="7C818B"/>
                </a:solidFill>
                <a:latin typeface="Consolas"/>
                <a:ea typeface="Consolas"/>
                <a:cs typeface="Consolas"/>
              </a:rPr>
              <a:t>1.0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08292" y="5029199"/>
            <a:ext cx="2407158" cy="182880"/>
          </a:xfrm>
          <a:prstGeom prst="rect">
            <a:avLst/>
          </a:prstGeom>
          <a:noFill/>
          <a:effectLst/>
        </p:spPr>
        <p:txBody>
          <a:bodyPr wrap="square" lIns="45720" tIns="27432" rIns="45720" bIns="27432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650" b="0" i="0">
                <a:solidFill>
                  <a:srgbClr val="7C818B"/>
                </a:solidFill>
                <a:latin typeface="Consolas"/>
                <a:ea typeface="Consolas"/>
                <a:cs typeface="Consolas"/>
              </a:rPr>
              <a:t>2.0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15450" y="5029199"/>
            <a:ext cx="2407158" cy="182880"/>
          </a:xfrm>
          <a:prstGeom prst="rect">
            <a:avLst/>
          </a:prstGeom>
          <a:noFill/>
          <a:effectLst/>
        </p:spPr>
        <p:txBody>
          <a:bodyPr wrap="square" lIns="45720" tIns="27432" rIns="45720" bIns="27432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650" b="0" i="0">
                <a:solidFill>
                  <a:srgbClr val="7C818B"/>
                </a:solidFill>
                <a:latin typeface="Consolas"/>
                <a:ea typeface="Consolas"/>
                <a:cs typeface="Consolas"/>
              </a:rPr>
              <a:t>3.0 — 4.0 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02920" y="5440680"/>
            <a:ext cx="11183112" cy="384048"/>
          </a:xfrm>
          <a:prstGeom prst="roundRect">
            <a:avLst>
              <a:gd name="adj" fmla="val 5000"/>
            </a:avLst>
          </a:prstGeom>
          <a:solidFill>
            <a:srgbClr val="F9EAF1"/>
          </a:solidFill>
          <a:ln w="12700">
            <a:solidFill>
              <a:srgbClr val="C432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spcBef>
                <a:spcPts val="0"/>
              </a:spcBef>
            </a:pPr>
            <a:r>
              <a:rPr sz="900" b="1" i="0">
                <a:solidFill>
                  <a:srgbClr val="C4326F"/>
                </a:solidFill>
                <a:latin typeface="Microsoft YaHei"/>
                <a:ea typeface="Microsoft YaHei"/>
                <a:cs typeface="Microsoft YaHei"/>
              </a:rPr>
              <a:t>第 1 秒它选择沉默（sl） · 之后每个 chunk 都先吐一个 sp，再吐文本 —— 说不说，是模型在每一步自己决定的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502920" y="5989320"/>
            <a:ext cx="11183112" cy="0"/>
          </a:xfrm>
          <a:prstGeom prst="line">
            <a:avLst/>
          </a:prstGeom>
          <a:ln w="12700">
            <a:solidFill>
              <a:srgbClr val="D6D6C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502920" y="6044183"/>
            <a:ext cx="11183112" cy="457200"/>
          </a:xfrm>
          <a:prstGeom prst="rect">
            <a:avLst/>
          </a:prstGeom>
          <a:noFill/>
          <a:effectLst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50" b="1" i="0">
                <a:solidFill>
                  <a:srgbClr val="3E5FD9"/>
                </a:solidFill>
                <a:latin typeface="Consolas"/>
                <a:ea typeface="Consolas"/>
                <a:cs typeface="Consolas"/>
              </a:rPr>
              <a:t>现状   </a:t>
            </a:r>
            <a:r>
              <a:rPr sz="1050" b="0" i="0">
                <a:solidFill>
                  <a:srgbClr val="16181C"/>
                </a:solidFill>
                <a:latin typeface="Microsoft YaHei"/>
                <a:ea typeface="Microsoft YaHei"/>
                <a:cs typeface="Microsoft YaHei"/>
              </a:rPr>
              <a:t>尚未支持 · 输入是一条无尽的流，而 vLLM 的请求「输入一次给全、decode 到 EOS」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185855" y="6473952"/>
            <a:ext cx="731520" cy="274320"/>
          </a:xfrm>
          <a:prstGeom prst="rect">
            <a:avLst/>
          </a:prstGeom>
          <a:noFill/>
          <a:effectLst/>
        </p:spPr>
        <p:txBody>
          <a:bodyPr wrap="square" lIns="45720" tIns="27432" rIns="45720" bIns="27432" anchor="b">
            <a:spAutoFit/>
          </a:bodyPr>
          <a:lstStyle/>
          <a:p>
            <a:pPr algn="r">
              <a:spcBef>
                <a:spcPts val="0"/>
              </a:spcBef>
            </a:pPr>
            <a:r>
              <a:rPr sz="850" b="0" i="0">
                <a:solidFill>
                  <a:srgbClr val="7C818B"/>
                </a:solidFill>
                <a:latin typeface="Consolas"/>
                <a:ea typeface="Consolas"/>
                <a:cs typeface="Consolas"/>
              </a:rPr>
              <a:t>12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500"/>
                                  <p:tgtEl>
                                    <p:spTgt spid="4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" dur="500"/>
                                  <p:tgtEl>
                                    <p:spTgt spid="4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" dur="500"/>
                                  <p:tgtEl>
                                    <p:spTgt spid="4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813816" cy="237744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3E5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27432" rIns="36576" bIns="27432" rtlCol="0" anchor="ctr"/>
          <a:lstStyle/>
          <a:p>
            <a:pPr algn="ctr">
              <a:spcBef>
                <a:spcPts val="0"/>
              </a:spcBef>
            </a:pPr>
            <a:r>
              <a:rPr sz="850" b="1" i="0">
                <a:solidFill>
                  <a:srgbClr val="3E5FD9"/>
                </a:solidFill>
                <a:latin typeface="Microsoft YaHei"/>
                <a:ea typeface="Microsoft YaHei"/>
                <a:cs typeface="Microsoft YaHei"/>
              </a:rPr>
              <a:t>④ 改动聚焦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26464" y="356616"/>
            <a:ext cx="8229600" cy="256032"/>
          </a:xfrm>
          <a:prstGeom prst="rect">
            <a:avLst/>
          </a:prstGeom>
          <a:noFill/>
          <a:effectLst/>
        </p:spPr>
        <p:txBody>
          <a:bodyPr wrap="square" lIns="45720" tIns="27432" rIns="45720" bIns="27432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850" b="0" i="0">
                <a:solidFill>
                  <a:srgbClr val="7C818B"/>
                </a:solidFill>
                <a:latin typeface="Consolas"/>
                <a:ea typeface="Consolas"/>
                <a:cs typeface="Consolas"/>
              </a:rPr>
              <a:t>SCHEDULER 内部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60704"/>
            <a:ext cx="11155680" cy="237744"/>
          </a:xfrm>
          <a:prstGeom prst="rect">
            <a:avLst/>
          </a:prstGeom>
          <a:noFill/>
          <a:effectLst/>
        </p:spPr>
        <p:txBody>
          <a:bodyPr wrap="square" lIns="45720" tIns="27432" rIns="45720" bIns="27432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800" b="1" i="0">
                <a:solidFill>
                  <a:srgbClr val="3E5FD9"/>
                </a:solidFill>
                <a:latin typeface="Consolas"/>
                <a:ea typeface="Consolas"/>
                <a:cs typeface="Consolas"/>
              </a:rPr>
              <a:t>前端 · StreamIngress</a:t>
            </a:r>
            <a:r>
              <a:rPr sz="800" b="0" i="0">
                <a:solidFill>
                  <a:srgbClr val="7C818B"/>
                </a:solidFill>
                <a:latin typeface="Consolas"/>
                <a:ea typeface="Consolas"/>
                <a:cs typeface="Consolas"/>
              </a:rPr>
              <a:t>  ›  Stage 管理层（不动）  ›  </a:t>
            </a:r>
            <a:r>
              <a:rPr sz="800" b="1" i="0">
                <a:solidFill>
                  <a:srgbClr val="3E5FD9"/>
                </a:solidFill>
                <a:latin typeface="Consolas"/>
                <a:ea typeface="Consolas"/>
                <a:cs typeface="Consolas"/>
              </a:rPr>
              <a:t>AR Stage 的 Scheduler ← 主战场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35024"/>
            <a:ext cx="11155680" cy="868680"/>
          </a:xfrm>
          <a:prstGeom prst="rect">
            <a:avLst/>
          </a:prstGeom>
          <a:noFill/>
          <a:effectLst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000" b="1" i="0">
                <a:solidFill>
                  <a:srgbClr val="16181C"/>
                </a:solidFill>
                <a:latin typeface="Microsoft YaHei"/>
                <a:ea typeface="Microsoft YaHei"/>
                <a:cs typeface="Microsoft YaHei"/>
              </a:rPr>
              <a:t>请求生命周期：直线 → 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103120"/>
            <a:ext cx="5349240" cy="237744"/>
          </a:xfrm>
          <a:prstGeom prst="rect">
            <a:avLst/>
          </a:prstGeom>
          <a:noFill/>
          <a:effectLst/>
        </p:spPr>
        <p:txBody>
          <a:bodyPr wrap="square" lIns="45720" tIns="27432" rIns="45720" bIns="18288" anchor="b">
            <a:spAutoFit/>
          </a:bodyPr>
          <a:lstStyle/>
          <a:p>
            <a:pPr algn="l">
              <a:spcBef>
                <a:spcPts val="0"/>
              </a:spcBef>
            </a:pPr>
            <a:r>
              <a:rPr sz="850" b="1" i="0">
                <a:solidFill>
                  <a:srgbClr val="7C818B"/>
                </a:solidFill>
                <a:latin typeface="Consolas"/>
                <a:ea typeface="Consolas"/>
                <a:cs typeface="Consolas"/>
              </a:rPr>
              <a:t>改造前 · 单向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103120"/>
            <a:ext cx="5349240" cy="237744"/>
          </a:xfrm>
          <a:prstGeom prst="rect">
            <a:avLst/>
          </a:prstGeom>
          <a:noFill/>
          <a:effectLst/>
        </p:spPr>
        <p:txBody>
          <a:bodyPr wrap="square" lIns="45720" tIns="27432" rIns="45720" bIns="18288" anchor="b">
            <a:spAutoFit/>
          </a:bodyPr>
          <a:lstStyle/>
          <a:p>
            <a:pPr algn="r">
              <a:spcBef>
                <a:spcPts val="0"/>
              </a:spcBef>
            </a:pPr>
            <a:r>
              <a:rPr sz="750" b="0" i="0">
                <a:solidFill>
                  <a:srgbClr val="7C818B"/>
                </a:solidFill>
                <a:latin typeface="Consolas"/>
                <a:ea typeface="Consolas"/>
                <a:cs typeface="Consolas"/>
              </a:rPr>
              <a:t>REQUEST 只读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02920" y="2359152"/>
            <a:ext cx="5349239" cy="0"/>
          </a:xfrm>
          <a:prstGeom prst="line">
            <a:avLst/>
          </a:prstGeom>
          <a:ln w="12700">
            <a:solidFill>
              <a:srgbClr val="7C818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02920" y="2487168"/>
            <a:ext cx="5349240" cy="557784"/>
          </a:xfrm>
          <a:prstGeom prst="roundRect">
            <a:avLst>
              <a:gd name="adj" fmla="val 3000"/>
            </a:avLst>
          </a:prstGeom>
          <a:solidFill>
            <a:srgbClr val="EDEDE8"/>
          </a:solidFill>
          <a:ln w="15875">
            <a:solidFill>
              <a:srgbClr val="A9A9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12648" y="2386584"/>
            <a:ext cx="329184" cy="201168"/>
          </a:xfrm>
          <a:prstGeom prst="rect">
            <a:avLst/>
          </a:prstGeom>
          <a:solidFill>
            <a:srgbClr val="EDE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spcBef>
                <a:spcPts val="0"/>
              </a:spcBef>
            </a:pPr>
            <a:r>
              <a:rPr sz="650" b="0" i="0">
                <a:solidFill>
                  <a:srgbClr val="7C818B"/>
                </a:solidFill>
                <a:latin typeface="Consolas"/>
                <a:ea typeface="Consolas"/>
                <a:cs typeface="Consolas"/>
              </a:rPr>
              <a:t>前端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" y="2670048"/>
            <a:ext cx="5129783" cy="3108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A9A9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 i="0">
                <a:solidFill>
                  <a:srgbClr val="16181C"/>
                </a:solidFill>
                <a:latin typeface="Microsoft YaHei"/>
                <a:ea typeface="Microsoft YaHei"/>
                <a:cs typeface="Microsoft YaHei"/>
              </a:rPr>
              <a:t>Processor</a:t>
            </a:r>
          </a:p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650" b="0" i="0">
                <a:solidFill>
                  <a:srgbClr val="7C818B"/>
                </a:solidFill>
                <a:latin typeface="Consolas"/>
                <a:ea typeface="Consolas"/>
                <a:cs typeface="Consolas"/>
              </a:rPr>
              <a:t>输入一次给全，之后关门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177539" y="3063240"/>
            <a:ext cx="0" cy="100584"/>
          </a:xfrm>
          <a:prstGeom prst="line">
            <a:avLst/>
          </a:prstGeom>
          <a:ln w="19050">
            <a:solidFill>
              <a:srgbClr val="A9A99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02920" y="3182112"/>
            <a:ext cx="5349240" cy="1481328"/>
          </a:xfrm>
          <a:prstGeom prst="roundRect">
            <a:avLst>
              <a:gd name="adj" fmla="val 3000"/>
            </a:avLst>
          </a:prstGeom>
          <a:solidFill>
            <a:srgbClr val="EDEDE8"/>
          </a:solidFill>
          <a:ln w="15875">
            <a:solidFill>
              <a:srgbClr val="A9A9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12648" y="3081528"/>
            <a:ext cx="1280160" cy="201168"/>
          </a:xfrm>
          <a:prstGeom prst="rect">
            <a:avLst/>
          </a:prstGeom>
          <a:solidFill>
            <a:srgbClr val="EDE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spcBef>
                <a:spcPts val="0"/>
              </a:spcBef>
            </a:pPr>
            <a:r>
              <a:rPr sz="650" b="0" i="0">
                <a:solidFill>
                  <a:srgbClr val="7C818B"/>
                </a:solidFill>
                <a:latin typeface="Consolas"/>
                <a:ea typeface="Consolas"/>
                <a:cs typeface="Consolas"/>
              </a:rPr>
              <a:t>AR STAGE · SCHEDULER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" y="3364992"/>
            <a:ext cx="5129783" cy="274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A9A9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 i="0">
                <a:solidFill>
                  <a:srgbClr val="16181C"/>
                </a:solidFill>
                <a:latin typeface="Microsoft YaHei"/>
                <a:ea typeface="Microsoft YaHei"/>
                <a:cs typeface="Microsoft YaHei"/>
              </a:rPr>
              <a:t>只回答一个问题</a:t>
            </a:r>
          </a:p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650" b="0" i="0">
                <a:solidFill>
                  <a:srgbClr val="7C818B"/>
                </a:solidFill>
                <a:latin typeface="Consolas"/>
                <a:ea typeface="Consolas"/>
                <a:cs typeface="Consolas"/>
              </a:rPr>
              <a:t>这步给谁算几个 token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" y="3685032"/>
            <a:ext cx="5129783" cy="274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A9A9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 i="0">
                <a:solidFill>
                  <a:srgbClr val="16181C"/>
                </a:solidFill>
                <a:latin typeface="Microsoft YaHei"/>
                <a:ea typeface="Microsoft YaHei"/>
                <a:cs typeface="Microsoft YaHei"/>
              </a:rPr>
              <a:t>Prefill 一次 → Decode ×N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650" b="0" i="0">
                <a:solidFill>
                  <a:srgbClr val="7C818B"/>
                </a:solidFill>
                <a:latin typeface="Consolas"/>
                <a:ea typeface="Consolas"/>
                <a:cs typeface="Consolas"/>
              </a:rPr>
              <a:t>直到 EOS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" y="4005072"/>
            <a:ext cx="5129783" cy="274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A9A9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 i="0">
                <a:solidFill>
                  <a:srgbClr val="16181C"/>
                </a:solidFill>
                <a:latin typeface="Microsoft YaHei"/>
                <a:ea typeface="Microsoft YaHei"/>
                <a:cs typeface="Microsoft YaHei"/>
              </a:rPr>
              <a:t>KV Cache Mgr</a:t>
            </a:r>
          </a:p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650" b="0" i="0">
                <a:solidFill>
                  <a:srgbClr val="7C818B"/>
                </a:solidFill>
                <a:latin typeface="Consolas"/>
                <a:ea typeface="Consolas"/>
                <a:cs typeface="Consolas"/>
              </a:rPr>
              <a:t>只增不减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8" y="4325112"/>
            <a:ext cx="5129783" cy="274320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C4326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 i="0" strike="sngStrike">
                <a:solidFill>
                  <a:srgbClr val="C4326F"/>
                </a:solidFill>
                <a:latin typeface="Microsoft YaHei"/>
                <a:ea typeface="Microsoft YaHei"/>
                <a:cs typeface="Microsoft YaHei"/>
              </a:rPr>
              <a:t>Request 只读</a:t>
            </a:r>
          </a:p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650" b="0" i="0">
                <a:solidFill>
                  <a:srgbClr val="7C818B"/>
                </a:solidFill>
                <a:latin typeface="Consolas"/>
                <a:ea typeface="Consolas"/>
                <a:cs typeface="Consolas"/>
              </a:rPr>
              <a:t>中途吃不进新输入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4663440"/>
            <a:ext cx="5349240" cy="502920"/>
          </a:xfrm>
          <a:prstGeom prst="roundRect">
            <a:avLst>
              <a:gd name="adj" fmla="val 3000"/>
            </a:avLst>
          </a:prstGeom>
          <a:solidFill>
            <a:srgbClr val="EDEDE8"/>
          </a:solidFill>
          <a:ln w="15875">
            <a:solidFill>
              <a:srgbClr val="A9A9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12648" y="4562855"/>
            <a:ext cx="420624" cy="201168"/>
          </a:xfrm>
          <a:prstGeom prst="rect">
            <a:avLst/>
          </a:prstGeom>
          <a:solidFill>
            <a:srgbClr val="EDE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spcBef>
                <a:spcPts val="0"/>
              </a:spcBef>
            </a:pPr>
            <a:r>
              <a:rPr sz="650" b="0" i="0">
                <a:solidFill>
                  <a:srgbClr val="7C818B"/>
                </a:solidFill>
                <a:latin typeface="Consolas"/>
                <a:ea typeface="Consolas"/>
                <a:cs typeface="Consolas"/>
              </a:rPr>
              <a:t>执行层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2648" y="4828031"/>
            <a:ext cx="5129783" cy="274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A9A9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 i="0">
                <a:solidFill>
                  <a:srgbClr val="16181C"/>
                </a:solidFill>
                <a:latin typeface="Microsoft YaHei"/>
                <a:ea typeface="Microsoft YaHei"/>
                <a:cs typeface="Microsoft YaHei"/>
              </a:rPr>
              <a:t>Executor → Worker → Runner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2103120"/>
            <a:ext cx="5349240" cy="237744"/>
          </a:xfrm>
          <a:prstGeom prst="rect">
            <a:avLst/>
          </a:prstGeom>
          <a:noFill/>
          <a:effectLst/>
        </p:spPr>
        <p:txBody>
          <a:bodyPr wrap="square" lIns="45720" tIns="27432" rIns="45720" bIns="18288" anchor="b">
            <a:spAutoFit/>
          </a:bodyPr>
          <a:lstStyle/>
          <a:p>
            <a:pPr algn="l">
              <a:spcBef>
                <a:spcPts val="0"/>
              </a:spcBef>
            </a:pPr>
            <a:r>
              <a:rPr sz="850" b="1" i="0">
                <a:solidFill>
                  <a:srgbClr val="3E5FD9"/>
                </a:solidFill>
                <a:latin typeface="Consolas"/>
                <a:ea typeface="Consolas"/>
                <a:cs typeface="Consolas"/>
              </a:rPr>
              <a:t>改造后 · 成环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2103120"/>
            <a:ext cx="5349240" cy="237744"/>
          </a:xfrm>
          <a:prstGeom prst="rect">
            <a:avLst/>
          </a:prstGeom>
          <a:noFill/>
          <a:effectLst/>
        </p:spPr>
        <p:txBody>
          <a:bodyPr wrap="square" lIns="45720" tIns="27432" rIns="45720" bIns="18288" anchor="b">
            <a:spAutoFit/>
          </a:bodyPr>
          <a:lstStyle/>
          <a:p>
            <a:pPr algn="r">
              <a:spcBef>
                <a:spcPts val="0"/>
              </a:spcBef>
            </a:pPr>
            <a:r>
              <a:rPr sz="750" b="0" i="0">
                <a:solidFill>
                  <a:srgbClr val="3E5FD9"/>
                </a:solidFill>
                <a:latin typeface="Consolas"/>
                <a:ea typeface="Consolas"/>
                <a:cs typeface="Consolas"/>
              </a:rPr>
              <a:t>SESSIONREQUEST 可写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309360" y="2359152"/>
            <a:ext cx="5349240" cy="0"/>
          </a:xfrm>
          <a:prstGeom prst="line">
            <a:avLst/>
          </a:prstGeom>
          <a:ln w="12700">
            <a:solidFill>
              <a:srgbClr val="3E5F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6309360" y="2487168"/>
            <a:ext cx="5349240" cy="557784"/>
          </a:xfrm>
          <a:prstGeom prst="roundRect">
            <a:avLst>
              <a:gd name="adj" fmla="val 3000"/>
            </a:avLst>
          </a:prstGeom>
          <a:solidFill>
            <a:srgbClr val="ECEFFB"/>
          </a:solidFill>
          <a:ln w="15875">
            <a:solidFill>
              <a:srgbClr val="3E5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419088" y="2386584"/>
            <a:ext cx="786384" cy="201168"/>
          </a:xfrm>
          <a:prstGeom prst="rect">
            <a:avLst/>
          </a:prstGeom>
          <a:solidFill>
            <a:srgbClr val="EC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spcBef>
                <a:spcPts val="0"/>
              </a:spcBef>
            </a:pPr>
            <a:r>
              <a:rPr sz="650" b="0" i="0">
                <a:solidFill>
                  <a:srgbClr val="3E5FD9"/>
                </a:solidFill>
                <a:latin typeface="Consolas"/>
                <a:ea typeface="Consolas"/>
                <a:cs typeface="Consolas"/>
              </a:rPr>
              <a:t>前端 · 新增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19088" y="2670048"/>
            <a:ext cx="5129783" cy="310896"/>
          </a:xfrm>
          <a:prstGeom prst="roundRect">
            <a:avLst>
              <a:gd name="adj" fmla="val 6000"/>
            </a:avLst>
          </a:prstGeom>
          <a:solidFill>
            <a:srgbClr val="ECEFFB"/>
          </a:solidFill>
          <a:ln w="12700">
            <a:solidFill>
              <a:srgbClr val="3E5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 i="0">
                <a:solidFill>
                  <a:srgbClr val="3E5FD9"/>
                </a:solidFill>
                <a:latin typeface="Microsoft YaHei"/>
                <a:ea typeface="Microsoft YaHei"/>
                <a:cs typeface="Microsoft YaHei"/>
              </a:rPr>
              <a:t>StreamIngress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650" b="0" i="0">
                <a:solidFill>
                  <a:srgbClr val="7C818B"/>
                </a:solidFill>
                <a:latin typeface="Consolas"/>
                <a:ea typeface="Consolas"/>
                <a:cs typeface="Consolas"/>
              </a:rPr>
              <a:t>麦克风流 → VAD 切块 → 持续投喂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983980" y="3063240"/>
            <a:ext cx="0" cy="100584"/>
          </a:xfrm>
          <a:prstGeom prst="line">
            <a:avLst/>
          </a:prstGeom>
          <a:ln w="19050">
            <a:solidFill>
              <a:srgbClr val="3E5F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6309360" y="3182112"/>
            <a:ext cx="5349240" cy="1481328"/>
          </a:xfrm>
          <a:prstGeom prst="roundRect">
            <a:avLst>
              <a:gd name="adj" fmla="val 3000"/>
            </a:avLst>
          </a:prstGeom>
          <a:solidFill>
            <a:srgbClr val="F5EEE2"/>
          </a:solidFill>
          <a:ln w="15875">
            <a:solidFill>
              <a:srgbClr val="A96F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419088" y="3081528"/>
            <a:ext cx="2432304" cy="201168"/>
          </a:xfrm>
          <a:prstGeom prst="rect">
            <a:avLst/>
          </a:prstGeom>
          <a:solidFill>
            <a:srgbClr val="F5E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spcBef>
                <a:spcPts val="0"/>
              </a:spcBef>
            </a:pPr>
            <a:r>
              <a:rPr sz="650" b="0" i="0">
                <a:solidFill>
                  <a:srgbClr val="A96F0C"/>
                </a:solidFill>
                <a:latin typeface="Consolas"/>
                <a:ea typeface="Consolas"/>
                <a:cs typeface="Consolas"/>
              </a:rPr>
              <a:t>AR STAGE · SCHEDULER（主战场）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19088" y="3364992"/>
            <a:ext cx="5129783" cy="274320"/>
          </a:xfrm>
          <a:prstGeom prst="roundRect">
            <a:avLst>
              <a:gd name="adj" fmla="val 6000"/>
            </a:avLst>
          </a:prstGeom>
          <a:solidFill>
            <a:srgbClr val="ECEFFB"/>
          </a:solidFill>
          <a:ln w="12700">
            <a:solidFill>
              <a:srgbClr val="3E5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 i="0">
                <a:solidFill>
                  <a:srgbClr val="3E5FD9"/>
                </a:solidFill>
                <a:latin typeface="Microsoft YaHei"/>
                <a:ea typeface="Microsoft YaHei"/>
                <a:cs typeface="Microsoft YaHei"/>
              </a:rPr>
              <a:t>实时节拍驱动</a:t>
            </a:r>
          </a:p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650" b="0" i="0">
                <a:solidFill>
                  <a:srgbClr val="7C818B"/>
                </a:solidFill>
                <a:latin typeface="Consolas"/>
                <a:ea typeface="Consolas"/>
                <a:cs typeface="Consolas"/>
              </a:rPr>
              <a:t>每 tick 固定跑：ingest → decode → emit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19088" y="3685032"/>
            <a:ext cx="5129783" cy="274320"/>
          </a:xfrm>
          <a:prstGeom prst="roundRect">
            <a:avLst>
              <a:gd name="adj" fmla="val 6000"/>
            </a:avLst>
          </a:prstGeom>
          <a:solidFill>
            <a:srgbClr val="F5EEE2"/>
          </a:solidFill>
          <a:ln w="12700">
            <a:solidFill>
              <a:srgbClr val="A96F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 i="0">
                <a:solidFill>
                  <a:srgbClr val="A96F0C"/>
                </a:solidFill>
                <a:latin typeface="Microsoft YaHei"/>
                <a:ea typeface="Microsoft YaHei"/>
                <a:cs typeface="Microsoft YaHei"/>
              </a:rPr>
              <a:t>混合批</a:t>
            </a:r>
          </a:p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650" b="0" i="0">
                <a:solidFill>
                  <a:srgbClr val="7C818B"/>
                </a:solidFill>
                <a:latin typeface="Consolas"/>
                <a:ea typeface="Consolas"/>
                <a:cs typeface="Consolas"/>
              </a:rPr>
              <a:t>ingest 的 prefill ＋ decode，同一个 batch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19088" y="4005072"/>
            <a:ext cx="5129783" cy="274320"/>
          </a:xfrm>
          <a:prstGeom prst="roundRect">
            <a:avLst>
              <a:gd name="adj" fmla="val 6000"/>
            </a:avLst>
          </a:prstGeom>
          <a:solidFill>
            <a:srgbClr val="F5EEE2"/>
          </a:solidFill>
          <a:ln w="12700">
            <a:solidFill>
              <a:srgbClr val="A96F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 i="0">
                <a:solidFill>
                  <a:srgbClr val="A96F0C"/>
                </a:solidFill>
                <a:latin typeface="Microsoft YaHei"/>
                <a:ea typeface="Microsoft YaHei"/>
                <a:cs typeface="Microsoft YaHei"/>
              </a:rPr>
              <a:t>KV Cache Mgr ＋ 滑动窗口</a:t>
            </a:r>
          </a:p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650" b="0" i="0">
                <a:solidFill>
                  <a:srgbClr val="7C818B"/>
                </a:solidFill>
                <a:latin typeface="Consolas"/>
                <a:ea typeface="Consolas"/>
                <a:cs typeface="Consolas"/>
              </a:rPr>
              <a:t>无尽流下限制上下文长度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19088" y="4325112"/>
            <a:ext cx="5129783" cy="274320"/>
          </a:xfrm>
          <a:prstGeom prst="roundRect">
            <a:avLst>
              <a:gd name="adj" fmla="val 6000"/>
            </a:avLst>
          </a:prstGeom>
          <a:solidFill>
            <a:srgbClr val="F5EEE2"/>
          </a:solidFill>
          <a:ln w="12700">
            <a:solidFill>
              <a:srgbClr val="A96F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 i="0">
                <a:solidFill>
                  <a:srgbClr val="A96F0C"/>
                </a:solidFill>
                <a:latin typeface="Microsoft YaHei"/>
                <a:ea typeface="Microsoft YaHei"/>
                <a:cs typeface="Microsoft YaHei"/>
              </a:rPr>
              <a:t>SessionRequest</a:t>
            </a:r>
          </a:p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650" b="0" i="0">
                <a:solidFill>
                  <a:srgbClr val="7C818B"/>
                </a:solidFill>
                <a:latin typeface="Consolas"/>
                <a:ea typeface="Consolas"/>
                <a:cs typeface="Consolas"/>
              </a:rPr>
              <a:t>可写：输入流 ＋ 输出缓冲 ＋ 状态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09360" y="4663440"/>
            <a:ext cx="5349240" cy="219456"/>
          </a:xfrm>
          <a:prstGeom prst="rect">
            <a:avLst/>
          </a:prstGeom>
          <a:noFill/>
          <a:effectLst/>
        </p:spPr>
        <p:txBody>
          <a:bodyPr wrap="square" lIns="45720" tIns="27432" rIns="45720" bIns="27432" anchor="ctr">
            <a:spAutoFit/>
          </a:bodyPr>
          <a:lstStyle/>
          <a:p>
            <a:pPr algn="ctr">
              <a:spcBef>
                <a:spcPts val="0"/>
              </a:spcBef>
            </a:pPr>
            <a:r>
              <a:rPr sz="750" b="0" i="0">
                <a:solidFill>
                  <a:srgbClr val="3E5FD9"/>
                </a:solidFill>
                <a:latin typeface="Consolas"/>
                <a:ea typeface="Consolas"/>
                <a:cs typeface="Consolas"/>
              </a:rPr>
              <a:t>↑ 回灌：已说的 token ＋ 新听到的音频 → 下一个 chunk ↑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309360" y="4901184"/>
            <a:ext cx="5349240" cy="457200"/>
          </a:xfrm>
          <a:prstGeom prst="roundRect">
            <a:avLst>
              <a:gd name="adj" fmla="val 3000"/>
            </a:avLst>
          </a:prstGeom>
          <a:solidFill>
            <a:srgbClr val="EDEDE8"/>
          </a:solidFill>
          <a:ln w="15875">
            <a:solidFill>
              <a:srgbClr val="A9A9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419088" y="4800600"/>
            <a:ext cx="969264" cy="201168"/>
          </a:xfrm>
          <a:prstGeom prst="rect">
            <a:avLst/>
          </a:prstGeom>
          <a:solidFill>
            <a:srgbClr val="EDE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spcBef>
                <a:spcPts val="0"/>
              </a:spcBef>
            </a:pPr>
            <a:r>
              <a:rPr sz="650" b="0" i="0">
                <a:solidFill>
                  <a:srgbClr val="7C818B"/>
                </a:solidFill>
                <a:latin typeface="Consolas"/>
                <a:ea typeface="Consolas"/>
                <a:cs typeface="Consolas"/>
              </a:rPr>
              <a:t>执行层 · 零改动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19088" y="5047488"/>
            <a:ext cx="5129783" cy="2560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A9A9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 i="0">
                <a:solidFill>
                  <a:srgbClr val="16181C"/>
                </a:solidFill>
                <a:latin typeface="Microsoft YaHei"/>
                <a:ea typeface="Microsoft YaHei"/>
                <a:cs typeface="Microsoft YaHei"/>
              </a:rPr>
              <a:t>Executor → Worker → Runner</a:t>
            </a:r>
          </a:p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650" b="0" i="0">
                <a:solidFill>
                  <a:srgbClr val="7C818B"/>
                </a:solidFill>
                <a:latin typeface="Consolas"/>
                <a:ea typeface="Consolas"/>
                <a:cs typeface="Consolas"/>
              </a:rPr>
              <a:t>一行没动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5321808"/>
            <a:ext cx="5349240" cy="210312"/>
          </a:xfrm>
          <a:prstGeom prst="rect">
            <a:avLst/>
          </a:prstGeom>
          <a:noFill/>
          <a:effectLst/>
        </p:spPr>
        <p:txBody>
          <a:bodyPr wrap="square" lIns="45720" tIns="0" rIns="45720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50" b="1" i="0">
                <a:solidFill>
                  <a:srgbClr val="3E5FD9"/>
                </a:solidFill>
                <a:latin typeface="Consolas"/>
                <a:ea typeface="Consolas"/>
                <a:cs typeface="Consolas"/>
              </a:rPr>
              <a:t>+  </a:t>
            </a:r>
            <a:r>
              <a:rPr sz="900" b="1" i="0">
                <a:solidFill>
                  <a:srgbClr val="16181C"/>
                </a:solidFill>
                <a:latin typeface="Microsoft YaHei"/>
                <a:ea typeface="Microsoft YaHei"/>
                <a:cs typeface="Microsoft YaHei"/>
              </a:rPr>
              <a:t>StreamIngress ＋ 实时节拍驱动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" y="5532120"/>
            <a:ext cx="5349240" cy="210312"/>
          </a:xfrm>
          <a:prstGeom prst="rect">
            <a:avLst/>
          </a:prstGeom>
          <a:noFill/>
          <a:effectLst/>
        </p:spPr>
        <p:txBody>
          <a:bodyPr wrap="square" lIns="45720" tIns="0" rIns="45720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50" b="1" i="0">
                <a:solidFill>
                  <a:srgbClr val="A96F0C"/>
                </a:solidFill>
                <a:latin typeface="Consolas"/>
                <a:ea typeface="Consolas"/>
                <a:cs typeface="Consolas"/>
              </a:rPr>
              <a:t>~  </a:t>
            </a:r>
            <a:r>
              <a:rPr sz="900" b="1" i="0">
                <a:solidFill>
                  <a:srgbClr val="16181C"/>
                </a:solidFill>
                <a:latin typeface="Microsoft YaHei"/>
                <a:ea typeface="Microsoft YaHei"/>
                <a:cs typeface="Microsoft YaHei"/>
              </a:rPr>
              <a:t>Request → SessionRequest：只读→可写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" y="5742432"/>
            <a:ext cx="5349240" cy="210312"/>
          </a:xfrm>
          <a:prstGeom prst="rect">
            <a:avLst/>
          </a:prstGeom>
          <a:noFill/>
          <a:effectLst/>
        </p:spPr>
        <p:txBody>
          <a:bodyPr wrap="square" lIns="45720" tIns="0" rIns="45720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50" b="1" i="0">
                <a:solidFill>
                  <a:srgbClr val="A96F0C"/>
                </a:solidFill>
                <a:latin typeface="Consolas"/>
                <a:ea typeface="Consolas"/>
                <a:cs typeface="Consolas"/>
              </a:rPr>
              <a:t>~  </a:t>
            </a:r>
            <a:r>
              <a:rPr sz="900" b="1" i="0">
                <a:solidFill>
                  <a:srgbClr val="16181C"/>
                </a:solidFill>
                <a:latin typeface="Microsoft YaHei"/>
                <a:ea typeface="Microsoft YaHei"/>
                <a:cs typeface="Microsoft YaHei"/>
              </a:rPr>
              <a:t>KV Cache Mgr：加滑动窗口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502920" y="6053328"/>
            <a:ext cx="11183112" cy="0"/>
          </a:xfrm>
          <a:prstGeom prst="line">
            <a:avLst/>
          </a:prstGeom>
          <a:ln w="12700">
            <a:solidFill>
              <a:srgbClr val="D6D6C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502920" y="6108192"/>
            <a:ext cx="11183112" cy="457200"/>
          </a:xfrm>
          <a:prstGeom prst="rect">
            <a:avLst/>
          </a:prstGeom>
          <a:noFill/>
          <a:effectLst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50" b="1" i="0">
                <a:solidFill>
                  <a:srgbClr val="3E5FD9"/>
                </a:solidFill>
                <a:latin typeface="Consolas"/>
                <a:ea typeface="Consolas"/>
                <a:cs typeface="Consolas"/>
              </a:rPr>
              <a:t>判断   </a:t>
            </a:r>
            <a:r>
              <a:rPr sz="1050" b="0" i="0">
                <a:solidFill>
                  <a:srgbClr val="16181C"/>
                </a:solidFill>
                <a:latin typeface="Microsoft YaHei"/>
                <a:ea typeface="Microsoft YaHei"/>
                <a:cs typeface="Microsoft YaHei"/>
              </a:rPr>
              <a:t>执行层零改动 → 全双工是调度问题，不是执行问题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185855" y="6473952"/>
            <a:ext cx="731520" cy="274320"/>
          </a:xfrm>
          <a:prstGeom prst="rect">
            <a:avLst/>
          </a:prstGeom>
          <a:noFill/>
          <a:effectLst/>
        </p:spPr>
        <p:txBody>
          <a:bodyPr wrap="square" lIns="45720" tIns="27432" rIns="45720" bIns="27432" anchor="b">
            <a:spAutoFit/>
          </a:bodyPr>
          <a:lstStyle/>
          <a:p>
            <a:pPr algn="r">
              <a:spcBef>
                <a:spcPts val="0"/>
              </a:spcBef>
            </a:pPr>
            <a:r>
              <a:rPr sz="850" b="0" i="0">
                <a:solidFill>
                  <a:srgbClr val="7C818B"/>
                </a:solidFill>
                <a:latin typeface="Consolas"/>
                <a:ea typeface="Consolas"/>
                <a:cs typeface="Consolas"/>
              </a:rPr>
              <a:t>13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500"/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" dur="500"/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" dur="500"/>
                                  <p:tgtEl>
                                    <p:spTgt spid="2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" dur="500"/>
                                  <p:tgtEl>
                                    <p:spTgt spid="2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500"/>
                                  <p:tgtEl>
                                    <p:spTgt spid="2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" dur="500"/>
                                  <p:tgtEl>
                                    <p:spTgt spid="2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4" dur="500"/>
                                  <p:tgtEl>
                                    <p:spTgt spid="2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7" dur="500"/>
                                  <p:tgtEl>
                                    <p:spTgt spid="3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0" dur="500"/>
                                  <p:tgtEl>
                                    <p:spTgt spid="3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3" dur="500"/>
                                  <p:tgtEl>
                                    <p:spTgt spid="3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6" dur="500"/>
                                  <p:tgtEl>
                                    <p:spTgt spid="3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7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9" dur="500"/>
                                  <p:tgtEl>
                                    <p:spTgt spid="3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0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2" dur="500"/>
                                  <p:tgtEl>
                                    <p:spTgt spid="3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6" dur="500"/>
                                  <p:tgtEl>
                                    <p:spTgt spid="3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7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9" dur="500"/>
                                  <p:tgtEl>
                                    <p:spTgt spid="3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0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2" dur="500"/>
                                  <p:tgtEl>
                                    <p:spTgt spid="3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3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500"/>
                                  <p:tgtEl>
                                    <p:spTgt spid="3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6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500"/>
                                  <p:tgtEl>
                                    <p:spTgt spid="4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9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1" dur="500"/>
                                  <p:tgtEl>
                                    <p:spTgt spid="4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2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4" dur="500"/>
                                  <p:tgtEl>
                                    <p:spTgt spid="4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7" dur="500"/>
                                  <p:tgtEl>
                                    <p:spTgt spid="4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8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0" dur="500"/>
                                  <p:tgtEl>
                                    <p:spTgt spid="4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1655064" cy="237744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3E5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27432" rIns="36576" bIns="27432" rtlCol="0" anchor="ctr"/>
          <a:lstStyle/>
          <a:p>
            <a:pPr algn="ctr">
              <a:spcBef>
                <a:spcPts val="0"/>
              </a:spcBef>
            </a:pPr>
            <a:r>
              <a:rPr sz="850" b="1" i="0">
                <a:solidFill>
                  <a:srgbClr val="3E5FD9"/>
                </a:solidFill>
                <a:latin typeface="Microsoft YaHei"/>
                <a:ea typeface="Microsoft YaHei"/>
                <a:cs typeface="Microsoft YaHei"/>
              </a:rPr>
              <a:t>④ Scheduler 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67712" y="356616"/>
            <a:ext cx="8229600" cy="256032"/>
          </a:xfrm>
          <a:prstGeom prst="rect">
            <a:avLst/>
          </a:prstGeom>
          <a:noFill/>
          <a:effectLst/>
        </p:spPr>
        <p:txBody>
          <a:bodyPr wrap="square" lIns="45720" tIns="27432" rIns="45720" bIns="27432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850" b="0" i="0">
                <a:solidFill>
                  <a:srgbClr val="7C818B"/>
                </a:solidFill>
                <a:latin typeface="Consolas"/>
                <a:ea typeface="Consolas"/>
                <a:cs typeface="Consolas"/>
              </a:rPr>
              <a:t>说不说由模型定，引擎只管准时转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31520"/>
            <a:ext cx="11155680" cy="868680"/>
          </a:xfrm>
          <a:prstGeom prst="rect">
            <a:avLst/>
          </a:prstGeom>
          <a:noFill/>
          <a:effectLst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000" b="1" i="0">
                <a:solidFill>
                  <a:srgbClr val="16181C"/>
                </a:solidFill>
                <a:latin typeface="Microsoft YaHei"/>
                <a:ea typeface="Microsoft YaHei"/>
                <a:cs typeface="Microsoft YaHei"/>
              </a:rPr>
              <a:t>每个 tick 一条固定流水线，三步全是老机制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63040"/>
            <a:ext cx="10607040" cy="457200"/>
          </a:xfrm>
          <a:prstGeom prst="rect">
            <a:avLst/>
          </a:prstGeom>
          <a:noFill/>
          <a:effectLst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100" b="0" i="0">
                <a:solidFill>
                  <a:srgbClr val="4A4E57"/>
                </a:solidFill>
                <a:latin typeface="Microsoft YaHei"/>
                <a:ea typeface="Microsoft YaHei"/>
                <a:cs typeface="Microsoft YaHei"/>
              </a:rPr>
              <a:t>每个 tick 对每个活跃会话跑同一套 —— 说 / 听是模型用 sl / sp 控制 token 自己定的，不是调度器挑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057400"/>
            <a:ext cx="11183112" cy="457200"/>
          </a:xfrm>
          <a:prstGeom prst="roundRect">
            <a:avLst>
              <a:gd name="adj" fmla="val 5000"/>
            </a:avLst>
          </a:prstGeom>
          <a:solidFill>
            <a:srgbClr val="EDEDE8"/>
          </a:solidFill>
          <a:ln w="12700">
            <a:solidFill>
              <a:srgbClr val="D6D6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12648" y="2057400"/>
            <a:ext cx="1234440" cy="457200"/>
          </a:xfrm>
          <a:prstGeom prst="rect">
            <a:avLst/>
          </a:prstGeom>
          <a:noFill/>
          <a:effectLst/>
        </p:spPr>
        <p:txBody>
          <a:bodyPr wrap="square" lIns="45720" tIns="27432" rIns="45720" bIns="27432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950" b="1" i="0">
                <a:solidFill>
                  <a:srgbClr val="3E5FD9"/>
                </a:solidFill>
                <a:latin typeface="Consolas"/>
                <a:ea typeface="Consolas"/>
                <a:cs typeface="Consolas"/>
              </a:rPr>
              <a:t>INGEST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20" y="2057400"/>
            <a:ext cx="6565392" cy="457200"/>
          </a:xfrm>
          <a:prstGeom prst="rect">
            <a:avLst/>
          </a:prstGeom>
          <a:noFill/>
          <a:effectLst/>
        </p:spPr>
        <p:txBody>
          <a:bodyPr wrap="square" lIns="45720" tIns="27432" rIns="45720" bIns="27432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16181C"/>
                </a:solidFill>
                <a:latin typeface="Microsoft YaHei"/>
                <a:ea typeface="Microsoft YaHei"/>
                <a:cs typeface="Microsoft YaHei"/>
              </a:rPr>
              <a:t>吃进这一秒的输入 chunk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31352" y="2057400"/>
            <a:ext cx="3108960" cy="457200"/>
          </a:xfrm>
          <a:prstGeom prst="rect">
            <a:avLst/>
          </a:prstGeom>
          <a:noFill/>
          <a:effectLst/>
        </p:spPr>
        <p:txBody>
          <a:bodyPr wrap="square" lIns="45720" tIns="27432" rIns="45720" bIns="27432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4A4E57"/>
                </a:solidFill>
                <a:latin typeface="Consolas"/>
                <a:ea typeface="Consolas"/>
                <a:cs typeface="Consolas"/>
              </a:rPr>
              <a:t>复用 → </a:t>
            </a:r>
            <a:r>
              <a:rPr sz="900" b="1" i="0">
                <a:solidFill>
                  <a:srgbClr val="0E8C7C"/>
                </a:solidFill>
                <a:latin typeface="Consolas"/>
                <a:ea typeface="Consolas"/>
                <a:cs typeface="Consolas"/>
              </a:rPr>
              <a:t>chunked prefill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587752"/>
            <a:ext cx="11183112" cy="457200"/>
          </a:xfrm>
          <a:prstGeom prst="roundRect">
            <a:avLst>
              <a:gd name="adj" fmla="val 5000"/>
            </a:avLst>
          </a:prstGeom>
          <a:solidFill>
            <a:srgbClr val="EDEDE8"/>
          </a:solidFill>
          <a:ln w="12700">
            <a:solidFill>
              <a:srgbClr val="D6D6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12648" y="2587752"/>
            <a:ext cx="1234440" cy="457200"/>
          </a:xfrm>
          <a:prstGeom prst="rect">
            <a:avLst/>
          </a:prstGeom>
          <a:noFill/>
          <a:effectLst/>
        </p:spPr>
        <p:txBody>
          <a:bodyPr wrap="square" lIns="45720" tIns="27432" rIns="45720" bIns="27432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950" b="1" i="0">
                <a:solidFill>
                  <a:srgbClr val="3E5FD9"/>
                </a:solidFill>
                <a:latin typeface="Consolas"/>
                <a:ea typeface="Consolas"/>
                <a:cs typeface="Consolas"/>
              </a:rPr>
              <a:t>DECODE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20" y="2587752"/>
            <a:ext cx="6565392" cy="457200"/>
          </a:xfrm>
          <a:prstGeom prst="rect">
            <a:avLst/>
          </a:prstGeom>
          <a:noFill/>
          <a:effectLst/>
        </p:spPr>
        <p:txBody>
          <a:bodyPr wrap="square" lIns="45720" tIns="27432" rIns="45720" bIns="27432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16181C"/>
                </a:solidFill>
                <a:latin typeface="Microsoft YaHei"/>
                <a:ea typeface="Microsoft YaHei"/>
                <a:cs typeface="Microsoft YaHei"/>
              </a:rPr>
              <a:t>生成本 tick 的 token（数量由 TAIL 自适应）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31352" y="2587752"/>
            <a:ext cx="3108960" cy="457200"/>
          </a:xfrm>
          <a:prstGeom prst="rect">
            <a:avLst/>
          </a:prstGeom>
          <a:noFill/>
          <a:effectLst/>
        </p:spPr>
        <p:txBody>
          <a:bodyPr wrap="square" lIns="45720" tIns="27432" rIns="45720" bIns="27432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4A4E57"/>
                </a:solidFill>
                <a:latin typeface="Consolas"/>
                <a:ea typeface="Consolas"/>
                <a:cs typeface="Consolas"/>
              </a:rPr>
              <a:t>复用 → </a:t>
            </a:r>
            <a:r>
              <a:rPr sz="900" b="1" i="0">
                <a:solidFill>
                  <a:srgbClr val="0E8C7C"/>
                </a:solidFill>
                <a:latin typeface="Consolas"/>
                <a:ea typeface="Consolas"/>
                <a:cs typeface="Consolas"/>
              </a:rPr>
              <a:t>连续批处理的 decode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118104"/>
            <a:ext cx="11183112" cy="457200"/>
          </a:xfrm>
          <a:prstGeom prst="roundRect">
            <a:avLst>
              <a:gd name="adj" fmla="val 5000"/>
            </a:avLst>
          </a:prstGeom>
          <a:solidFill>
            <a:srgbClr val="EDEDE8"/>
          </a:solidFill>
          <a:ln w="12700">
            <a:solidFill>
              <a:srgbClr val="D6D6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12648" y="3118104"/>
            <a:ext cx="1234440" cy="457200"/>
          </a:xfrm>
          <a:prstGeom prst="rect">
            <a:avLst/>
          </a:prstGeom>
          <a:noFill/>
          <a:effectLst/>
        </p:spPr>
        <p:txBody>
          <a:bodyPr wrap="square" lIns="45720" tIns="27432" rIns="45720" bIns="27432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950" b="1" i="0">
                <a:solidFill>
                  <a:srgbClr val="3E5FD9"/>
                </a:solidFill>
                <a:latin typeface="Consolas"/>
                <a:ea typeface="Consolas"/>
                <a:cs typeface="Consolas"/>
              </a:rPr>
              <a:t>EMIT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4520" y="3118104"/>
            <a:ext cx="6565392" cy="457200"/>
          </a:xfrm>
          <a:prstGeom prst="rect">
            <a:avLst/>
          </a:prstGeom>
          <a:noFill/>
          <a:effectLst/>
        </p:spPr>
        <p:txBody>
          <a:bodyPr wrap="square" lIns="45720" tIns="27432" rIns="45720" bIns="27432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16181C"/>
                </a:solidFill>
                <a:latin typeface="Microsoft YaHei"/>
                <a:ea typeface="Microsoft YaHei"/>
                <a:cs typeface="Microsoft YaHei"/>
              </a:rPr>
              <a:t>语音 token 送去发声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31352" y="3118104"/>
            <a:ext cx="3108960" cy="457200"/>
          </a:xfrm>
          <a:prstGeom prst="rect">
            <a:avLst/>
          </a:prstGeom>
          <a:noFill/>
          <a:effectLst/>
        </p:spPr>
        <p:txBody>
          <a:bodyPr wrap="square" lIns="45720" tIns="27432" rIns="45720" bIns="27432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4A4E57"/>
                </a:solidFill>
                <a:latin typeface="Consolas"/>
                <a:ea typeface="Consolas"/>
                <a:cs typeface="Consolas"/>
              </a:rPr>
              <a:t>复用 → </a:t>
            </a:r>
            <a:r>
              <a:rPr sz="900" b="1" i="0">
                <a:solidFill>
                  <a:srgbClr val="0E8C7C"/>
                </a:solidFill>
                <a:latin typeface="Consolas"/>
                <a:ea typeface="Consolas"/>
                <a:cs typeface="Consolas"/>
              </a:rPr>
              <a:t>async_chunk 跨 Stage 转发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648456"/>
            <a:ext cx="11183112" cy="457200"/>
          </a:xfrm>
          <a:prstGeom prst="roundRect">
            <a:avLst>
              <a:gd name="adj" fmla="val 5000"/>
            </a:avLst>
          </a:prstGeom>
          <a:solidFill>
            <a:srgbClr val="EDEDE8"/>
          </a:solidFill>
          <a:ln w="12700">
            <a:solidFill>
              <a:srgbClr val="D6D6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12648" y="3648456"/>
            <a:ext cx="1234440" cy="457200"/>
          </a:xfrm>
          <a:prstGeom prst="rect">
            <a:avLst/>
          </a:prstGeom>
          <a:noFill/>
          <a:effectLst/>
        </p:spPr>
        <p:txBody>
          <a:bodyPr wrap="square" lIns="45720" tIns="27432" rIns="45720" bIns="27432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950" b="1" i="0">
                <a:solidFill>
                  <a:srgbClr val="3E5FD9"/>
                </a:solidFill>
                <a:latin typeface="Consolas"/>
                <a:ea typeface="Consolas"/>
                <a:cs typeface="Consolas"/>
              </a:rPr>
              <a:t>说 / 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74520" y="3648456"/>
            <a:ext cx="6565392" cy="457200"/>
          </a:xfrm>
          <a:prstGeom prst="rect">
            <a:avLst/>
          </a:prstGeom>
          <a:noFill/>
          <a:effectLst/>
        </p:spPr>
        <p:txBody>
          <a:bodyPr wrap="square" lIns="45720" tIns="27432" rIns="45720" bIns="27432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16181C"/>
                </a:solidFill>
                <a:latin typeface="Microsoft YaHei"/>
                <a:ea typeface="Microsoft YaHei"/>
                <a:cs typeface="Microsoft YaHei"/>
              </a:rPr>
              <a:t>模型每 tick 用 sl / sp 自己定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31352" y="3648456"/>
            <a:ext cx="3108960" cy="457200"/>
          </a:xfrm>
          <a:prstGeom prst="rect">
            <a:avLst/>
          </a:prstGeom>
          <a:noFill/>
          <a:effectLst/>
        </p:spPr>
        <p:txBody>
          <a:bodyPr wrap="square" lIns="45720" tIns="27432" rIns="45720" bIns="27432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4A4E57"/>
                </a:solidFill>
                <a:latin typeface="Consolas"/>
                <a:ea typeface="Consolas"/>
                <a:cs typeface="Consolas"/>
              </a:rPr>
              <a:t>不是调度动作 → </a:t>
            </a:r>
            <a:r>
              <a:rPr sz="900" b="1" i="0">
                <a:solidFill>
                  <a:srgbClr val="0E8C7C"/>
                </a:solidFill>
                <a:latin typeface="Consolas"/>
                <a:ea typeface="Consolas"/>
                <a:cs typeface="Consolas"/>
              </a:rPr>
              <a:t>引擎只读控制 token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4178808"/>
            <a:ext cx="11183112" cy="457200"/>
          </a:xfrm>
          <a:prstGeom prst="roundRect">
            <a:avLst>
              <a:gd name="adj" fmla="val 5000"/>
            </a:avLst>
          </a:prstGeom>
          <a:solidFill>
            <a:srgbClr val="F5EEE2"/>
          </a:solidFill>
          <a:ln w="12700">
            <a:solidFill>
              <a:srgbClr val="A96F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12648" y="4178808"/>
            <a:ext cx="1234440" cy="457200"/>
          </a:xfrm>
          <a:prstGeom prst="rect">
            <a:avLst/>
          </a:prstGeom>
          <a:noFill/>
          <a:effectLst/>
        </p:spPr>
        <p:txBody>
          <a:bodyPr wrap="square" lIns="45720" tIns="27432" rIns="45720" bIns="27432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950" b="1" i="0">
                <a:solidFill>
                  <a:srgbClr val="A96F0C"/>
                </a:solidFill>
                <a:latin typeface="Consolas"/>
                <a:ea typeface="Consolas"/>
                <a:cs typeface="Consolas"/>
              </a:rPr>
              <a:t>打断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74520" y="4178808"/>
            <a:ext cx="6565392" cy="457200"/>
          </a:xfrm>
          <a:prstGeom prst="rect">
            <a:avLst/>
          </a:prstGeom>
          <a:noFill/>
          <a:effectLst/>
        </p:spPr>
        <p:txBody>
          <a:bodyPr wrap="square" lIns="45720" tIns="27432" rIns="45720" bIns="27432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16181C"/>
                </a:solidFill>
                <a:latin typeface="Microsoft YaHei"/>
                <a:ea typeface="Microsoft YaHei"/>
                <a:cs typeface="Microsoft YaHei"/>
              </a:rPr>
              <a:t>用户一开口，声音就在下一个 chunk 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31352" y="4178808"/>
            <a:ext cx="3108960" cy="457200"/>
          </a:xfrm>
          <a:prstGeom prst="rect">
            <a:avLst/>
          </a:prstGeom>
          <a:noFill/>
          <a:effectLst/>
        </p:spPr>
        <p:txBody>
          <a:bodyPr wrap="square" lIns="45720" tIns="27432" rIns="45720" bIns="27432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4A4E57"/>
                </a:solidFill>
                <a:latin typeface="Consolas"/>
                <a:ea typeface="Consolas"/>
                <a:cs typeface="Consolas"/>
              </a:rPr>
              <a:t>天然具备 → </a:t>
            </a:r>
            <a:r>
              <a:rPr sz="900" b="1" i="0">
                <a:solidFill>
                  <a:srgbClr val="A96F0C"/>
                </a:solidFill>
                <a:latin typeface="Consolas"/>
                <a:ea typeface="Consolas"/>
                <a:cs typeface="Consolas"/>
              </a:rPr>
              <a:t>模型自己转静音 · 引擎无需处理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4892040"/>
            <a:ext cx="5431536" cy="1051560"/>
          </a:xfrm>
          <a:prstGeom prst="roundRect">
            <a:avLst>
              <a:gd name="adj" fmla="val 5000"/>
            </a:avLst>
          </a:prstGeom>
          <a:solidFill>
            <a:srgbClr val="ECEFFB"/>
          </a:solidFill>
          <a:ln w="12700">
            <a:solidFill>
              <a:srgbClr val="3E5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09728" rIns="128016" bIns="91440" rtlCol="0" anchor="t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750" b="0" i="0">
                <a:solidFill>
                  <a:srgbClr val="7C818B"/>
                </a:solidFill>
                <a:latin typeface="Consolas"/>
                <a:ea typeface="Consolas"/>
                <a:cs typeface="Consolas"/>
              </a:rPr>
              <a:t>关键洞见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3E5FD9"/>
                </a:solidFill>
                <a:latin typeface="Microsoft YaHei"/>
                <a:ea typeface="Microsoft YaHei"/>
                <a:cs typeface="Microsoft YaHei"/>
              </a:rPr>
              <a:t>全双工 ＝ 同一请求上交替 prefill / decode</a:t>
            </a:r>
          </a:p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900" b="0" i="0">
                <a:solidFill>
                  <a:srgbClr val="4A4E57"/>
                </a:solidFill>
                <a:latin typeface="Microsoft YaHei"/>
                <a:ea typeface="Microsoft YaHei"/>
                <a:cs typeface="Microsoft YaHei"/>
              </a:rPr>
              <a:t>chunked prefill 本就能在一个 batch 里混合两者 —— 执行层现成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54496" y="4892040"/>
            <a:ext cx="5431536" cy="1051560"/>
          </a:xfrm>
          <a:prstGeom prst="roundRect">
            <a:avLst>
              <a:gd name="adj" fmla="val 5000"/>
            </a:avLst>
          </a:prstGeom>
          <a:solidFill>
            <a:srgbClr val="EDEDE8"/>
          </a:solidFill>
          <a:ln w="12700">
            <a:solidFill>
              <a:srgbClr val="D6D6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09728" rIns="128016" bIns="91440" rtlCol="0" anchor="t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750" b="0" i="0">
                <a:solidFill>
                  <a:srgbClr val="7C818B"/>
                </a:solidFill>
                <a:latin typeface="Consolas"/>
                <a:ea typeface="Consolas"/>
                <a:cs typeface="Consolas"/>
              </a:rPr>
              <a:t>真正的难点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6181C"/>
                </a:solidFill>
                <a:latin typeface="Microsoft YaHei"/>
                <a:ea typeface="Microsoft YaHei"/>
                <a:cs typeface="Microsoft YaHei"/>
              </a:rPr>
              <a:t>实时固定节拍</a:t>
            </a:r>
          </a:p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900" b="0" i="0">
                <a:solidFill>
                  <a:srgbClr val="4A4E57"/>
                </a:solidFill>
                <a:latin typeface="Microsoft YaHei"/>
                <a:ea typeface="Microsoft YaHei"/>
                <a:cs typeface="Microsoft YaHei"/>
              </a:rPr>
              <a:t>每来一个 chunk 都得按墙钟准时跑完，不能被吞吐请求饿死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02920" y="6126480"/>
            <a:ext cx="11183112" cy="0"/>
          </a:xfrm>
          <a:prstGeom prst="line">
            <a:avLst/>
          </a:prstGeom>
          <a:ln w="12700">
            <a:solidFill>
              <a:srgbClr val="D6D6C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502920" y="6181344"/>
            <a:ext cx="11183112" cy="457200"/>
          </a:xfrm>
          <a:prstGeom prst="rect">
            <a:avLst/>
          </a:prstGeom>
          <a:noFill/>
          <a:effectLst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50" b="1" i="0">
                <a:solidFill>
                  <a:srgbClr val="3E5FD9"/>
                </a:solidFill>
                <a:latin typeface="Consolas"/>
                <a:ea typeface="Consolas"/>
                <a:cs typeface="Consolas"/>
              </a:rPr>
              <a:t>新代码   </a:t>
            </a:r>
            <a:r>
              <a:rPr sz="1050" b="0" i="0">
                <a:solidFill>
                  <a:srgbClr val="16181C"/>
                </a:solidFill>
                <a:latin typeface="Microsoft YaHei"/>
                <a:ea typeface="Microsoft YaHei"/>
                <a:cs typeface="Microsoft YaHei"/>
              </a:rPr>
              <a:t>可写的 SessionRequest ＋ 实时节拍驱动 · 说 / 听、打断全由模型和 chunk 触发，执行层全复用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85855" y="6473952"/>
            <a:ext cx="731520" cy="274320"/>
          </a:xfrm>
          <a:prstGeom prst="rect">
            <a:avLst/>
          </a:prstGeom>
          <a:noFill/>
          <a:effectLst/>
        </p:spPr>
        <p:txBody>
          <a:bodyPr wrap="square" lIns="45720" tIns="27432" rIns="45720" bIns="27432" anchor="b">
            <a:spAutoFit/>
          </a:bodyPr>
          <a:lstStyle/>
          <a:p>
            <a:pPr algn="r">
              <a:spcBef>
                <a:spcPts val="0"/>
              </a:spcBef>
            </a:pPr>
            <a:r>
              <a:rPr sz="850" b="0" i="0">
                <a:solidFill>
                  <a:srgbClr val="7C818B"/>
                </a:solidFill>
                <a:latin typeface="Consolas"/>
                <a:ea typeface="Consolas"/>
                <a:cs typeface="Consolas"/>
              </a:rPr>
              <a:t>14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500"/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" dur="500"/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" dur="500"/>
                                  <p:tgtEl>
                                    <p:spTgt spid="2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" dur="500"/>
                                  <p:tgtEl>
                                    <p:spTgt spid="2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9" dur="500"/>
                                  <p:tgtEl>
                                    <p:spTgt spid="2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2" dur="500"/>
                                  <p:tgtEl>
                                    <p:spTgt spid="2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5" dur="500"/>
                                  <p:tgtEl>
                                    <p:spTgt spid="2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8" dur="500"/>
                                  <p:tgtEl>
                                    <p:spTgt spid="3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457200" cy="237744"/>
          </a:xfrm>
          <a:prstGeom prst="roundRect">
            <a:avLst>
              <a:gd name="adj" fmla="val 16000"/>
            </a:avLst>
          </a:prstGeom>
          <a:solidFill>
            <a:srgbClr val="3E5FD9"/>
          </a:solidFill>
          <a:ln w="12700">
            <a:solidFill>
              <a:srgbClr val="3E5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27432" rIns="36576" bIns="27432" rtlCol="0" anchor="ctr"/>
          <a:lstStyle/>
          <a:p>
            <a:pPr algn="ctr">
              <a:spcBef>
                <a:spcPts val="0"/>
              </a:spcBef>
            </a:pPr>
            <a:r>
              <a:rPr sz="8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全景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" y="356616"/>
            <a:ext cx="8229600" cy="256032"/>
          </a:xfrm>
          <a:prstGeom prst="rect">
            <a:avLst/>
          </a:prstGeom>
          <a:noFill/>
          <a:effectLst/>
        </p:spPr>
        <p:txBody>
          <a:bodyPr wrap="square" lIns="45720" tIns="27432" rIns="45720" bIns="27432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850" b="0" i="0">
                <a:solidFill>
                  <a:srgbClr val="7C818B"/>
                </a:solidFill>
                <a:latin typeface="Consolas"/>
                <a:ea typeface="Consolas"/>
                <a:cs typeface="Consolas"/>
              </a:rPr>
              <a:t>四章加完，框架长这样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31520"/>
            <a:ext cx="11155680" cy="868680"/>
          </a:xfrm>
          <a:prstGeom prst="rect">
            <a:avLst/>
          </a:prstGeom>
          <a:noFill/>
          <a:effectLst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000" b="1" i="0">
                <a:solidFill>
                  <a:srgbClr val="16181C"/>
                </a:solidFill>
                <a:latin typeface="Microsoft YaHei"/>
                <a:ea typeface="Microsoft YaHei"/>
                <a:cs typeface="Microsoft YaHei"/>
              </a:rPr>
              <a:t>四章之后的完整架构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81328"/>
            <a:ext cx="11183112" cy="841248"/>
          </a:xfrm>
          <a:prstGeom prst="roundRect">
            <a:avLst>
              <a:gd name="adj" fmla="val 3000"/>
            </a:avLst>
          </a:prstGeom>
          <a:solidFill>
            <a:srgbClr val="F5EEE2"/>
          </a:solidFill>
          <a:ln w="15875">
            <a:solidFill>
              <a:srgbClr val="A96F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12648" y="1380744"/>
            <a:ext cx="512064" cy="201168"/>
          </a:xfrm>
          <a:prstGeom prst="rect">
            <a:avLst/>
          </a:prstGeom>
          <a:solidFill>
            <a:srgbClr val="F5E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spcBef>
                <a:spcPts val="0"/>
              </a:spcBef>
            </a:pPr>
            <a:r>
              <a:rPr sz="650" b="0" i="0">
                <a:solidFill>
                  <a:srgbClr val="A96F0C"/>
                </a:solidFill>
                <a:latin typeface="Consolas"/>
                <a:ea typeface="Consolas"/>
                <a:cs typeface="Consolas"/>
              </a:rPr>
              <a:t>前端进程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" y="1700784"/>
            <a:ext cx="2112264" cy="274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A9A9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50" b="1" i="0">
                <a:solidFill>
                  <a:srgbClr val="16181C"/>
                </a:solidFill>
                <a:latin typeface="Microsoft YaHei"/>
                <a:ea typeface="Microsoft YaHei"/>
                <a:cs typeface="Microsoft YaHei"/>
              </a:rPr>
              <a:t>API Server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34640" y="1700784"/>
            <a:ext cx="2112264" cy="274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A9A9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50" b="1" i="0">
                <a:solidFill>
                  <a:srgbClr val="16181C"/>
                </a:solidFill>
                <a:latin typeface="Microsoft YaHei"/>
                <a:ea typeface="Microsoft YaHei"/>
                <a:cs typeface="Microsoft YaHei"/>
              </a:rPr>
              <a:t>Processor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38344" y="1700784"/>
            <a:ext cx="2112264" cy="274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A9A9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50" b="1" i="0">
                <a:solidFill>
                  <a:srgbClr val="16181C"/>
                </a:solidFill>
                <a:latin typeface="Microsoft YaHei"/>
                <a:ea typeface="Microsoft YaHei"/>
                <a:cs typeface="Microsoft YaHei"/>
              </a:rPr>
              <a:t>AsyncOmniEngine ＋ 展开钩子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42048" y="1700784"/>
            <a:ext cx="2112264" cy="274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A9A9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50" b="1" i="0">
                <a:solidFill>
                  <a:srgbClr val="16181C"/>
                </a:solidFill>
                <a:latin typeface="Microsoft YaHei"/>
                <a:ea typeface="Microsoft YaHei"/>
                <a:cs typeface="Microsoft YaHei"/>
              </a:rPr>
              <a:t>OutputProcessor ×N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445752" y="1700784"/>
            <a:ext cx="2112264" cy="274320"/>
          </a:xfrm>
          <a:prstGeom prst="roundRect">
            <a:avLst>
              <a:gd name="adj" fmla="val 6000"/>
            </a:avLst>
          </a:prstGeom>
          <a:solidFill>
            <a:srgbClr val="ECEFFB"/>
          </a:solidFill>
          <a:ln w="12700">
            <a:solidFill>
              <a:srgbClr val="3E5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50" b="1" i="0">
                <a:solidFill>
                  <a:srgbClr val="3E5FD9"/>
                </a:solidFill>
                <a:latin typeface="Microsoft YaHei"/>
                <a:ea typeface="Microsoft YaHei"/>
                <a:cs typeface="Microsoft YaHei"/>
              </a:rPr>
              <a:t>StreamIngress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650" b="0" i="0">
                <a:solidFill>
                  <a:srgbClr val="7C818B"/>
                </a:solidFill>
                <a:latin typeface="Consolas"/>
                <a:ea typeface="Consolas"/>
                <a:cs typeface="Consolas"/>
              </a:rPr>
              <a:t>VAD · 流式投喂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" y="2011680"/>
            <a:ext cx="10927080" cy="2560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A9A9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16181C"/>
                </a:solidFill>
                <a:latin typeface="Microsoft YaHei"/>
                <a:ea typeface="Microsoft YaHei"/>
                <a:cs typeface="Microsoft YaHei"/>
              </a:rPr>
              <a:t>Orchestrator ＋ CFG 追踪器 ＋ chunk 转发 ＋ 输出回灌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094476" y="2368296"/>
            <a:ext cx="0" cy="100584"/>
          </a:xfrm>
          <a:prstGeom prst="line">
            <a:avLst/>
          </a:prstGeom>
          <a:ln w="19050">
            <a:solidFill>
              <a:srgbClr val="A9A99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02920" y="2487168"/>
            <a:ext cx="11183112" cy="585216"/>
          </a:xfrm>
          <a:prstGeom prst="roundRect">
            <a:avLst>
              <a:gd name="adj" fmla="val 3000"/>
            </a:avLst>
          </a:prstGeom>
          <a:solidFill>
            <a:srgbClr val="EDEDE8"/>
          </a:solidFill>
          <a:ln w="15875">
            <a:solidFill>
              <a:srgbClr val="A9A9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12648" y="2386584"/>
            <a:ext cx="969264" cy="201168"/>
          </a:xfrm>
          <a:prstGeom prst="rect">
            <a:avLst/>
          </a:prstGeom>
          <a:solidFill>
            <a:srgbClr val="EDE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spcBef>
                <a:spcPts val="0"/>
              </a:spcBef>
            </a:pPr>
            <a:r>
              <a:rPr sz="650" b="0" i="0">
                <a:solidFill>
                  <a:srgbClr val="7C818B"/>
                </a:solidFill>
                <a:latin typeface="Consolas"/>
                <a:ea typeface="Consolas"/>
                <a:cs typeface="Consolas"/>
              </a:rPr>
              <a:t>STAGE 管理层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" y="2706624"/>
            <a:ext cx="3581400" cy="2926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A9A9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16181C"/>
                </a:solidFill>
                <a:latin typeface="Microsoft YaHei"/>
                <a:ea typeface="Microsoft YaHei"/>
                <a:cs typeface="Microsoft YaHei"/>
              </a:rPr>
              <a:t>StagePool List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03776" y="2706624"/>
            <a:ext cx="3581400" cy="2926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A9A9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16181C"/>
                </a:solidFill>
                <a:latin typeface="Microsoft YaHei"/>
                <a:ea typeface="Microsoft YaHei"/>
                <a:cs typeface="Microsoft YaHei"/>
              </a:rPr>
              <a:t>StagePool[i] · LB · replica · 会话粘性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76616" y="2706624"/>
            <a:ext cx="3581400" cy="2926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A9A9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16181C"/>
                </a:solidFill>
                <a:latin typeface="Microsoft YaHei"/>
                <a:ea typeface="Microsoft YaHei"/>
                <a:cs typeface="Microsoft YaHei"/>
              </a:rPr>
              <a:t>StageClient ＋ StageDiffusionClient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3099816"/>
            <a:ext cx="11183112" cy="219456"/>
          </a:xfrm>
          <a:prstGeom prst="rect">
            <a:avLst/>
          </a:prstGeom>
          <a:noFill/>
          <a:effectLst/>
        </p:spPr>
        <p:txBody>
          <a:bodyPr wrap="square" lIns="45720" tIns="27432" rIns="45720" bIns="27432" anchor="ctr">
            <a:spAutoFit/>
          </a:bodyPr>
          <a:lstStyle/>
          <a:p>
            <a:pPr algn="ctr">
              <a:spcBef>
                <a:spcPts val="0"/>
              </a:spcBef>
            </a:pPr>
            <a:r>
              <a:rPr sz="750" b="0" i="0">
                <a:solidFill>
                  <a:srgbClr val="7C818B"/>
                </a:solidFill>
                <a:latin typeface="Consolas"/>
                <a:ea typeface="Consolas"/>
                <a:cs typeface="Consolas"/>
              </a:rPr>
              <a:t>↓ ZMQ · 可跨机 ↓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3328416"/>
            <a:ext cx="5500116" cy="1792224"/>
          </a:xfrm>
          <a:prstGeom prst="roundRect">
            <a:avLst>
              <a:gd name="adj" fmla="val 3000"/>
            </a:avLst>
          </a:prstGeom>
          <a:solidFill>
            <a:srgbClr val="F5EEE2"/>
          </a:solidFill>
          <a:ln w="15875">
            <a:solidFill>
              <a:srgbClr val="A96F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12648" y="3227832"/>
            <a:ext cx="1110081" cy="201168"/>
          </a:xfrm>
          <a:prstGeom prst="rect">
            <a:avLst/>
          </a:prstGeom>
          <a:solidFill>
            <a:srgbClr val="F5E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spcBef>
                <a:spcPts val="0"/>
              </a:spcBef>
            </a:pPr>
            <a:r>
              <a:rPr sz="650" b="0" i="0">
                <a:solidFill>
                  <a:srgbClr val="A96F0C"/>
                </a:solidFill>
                <a:latin typeface="Consolas"/>
                <a:ea typeface="Consolas"/>
                <a:cs typeface="Consolas"/>
              </a:rPr>
              <a:t>AR STAGE ×REPLICA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2648" y="3511296"/>
            <a:ext cx="5280660" cy="228600"/>
          </a:xfrm>
          <a:prstGeom prst="roundRect">
            <a:avLst>
              <a:gd name="adj" fmla="val 6000"/>
            </a:avLst>
          </a:prstGeom>
          <a:solidFill>
            <a:srgbClr val="ECEFFB"/>
          </a:solidFill>
          <a:ln w="12700">
            <a:solidFill>
              <a:srgbClr val="3E5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 i="0">
                <a:solidFill>
                  <a:srgbClr val="3E5FD9"/>
                </a:solidFill>
                <a:latin typeface="Microsoft YaHei"/>
                <a:ea typeface="Microsoft YaHei"/>
                <a:cs typeface="Microsoft YaHei"/>
              </a:rPr>
              <a:t>实时节拍驱动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2648" y="3776472"/>
            <a:ext cx="5280660" cy="228600"/>
          </a:xfrm>
          <a:prstGeom prst="roundRect">
            <a:avLst>
              <a:gd name="adj" fmla="val 6000"/>
            </a:avLst>
          </a:prstGeom>
          <a:solidFill>
            <a:srgbClr val="F5EEE2"/>
          </a:solidFill>
          <a:ln w="12700">
            <a:solidFill>
              <a:srgbClr val="A96F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 i="0">
                <a:solidFill>
                  <a:srgbClr val="A96F0C"/>
                </a:solidFill>
                <a:latin typeface="Microsoft YaHei"/>
                <a:ea typeface="Microsoft YaHei"/>
                <a:cs typeface="Microsoft YaHei"/>
              </a:rPr>
              <a:t>Scheduler ＋ 何时传 KV ＋ 混合批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2648" y="4041648"/>
            <a:ext cx="5280660" cy="228600"/>
          </a:xfrm>
          <a:prstGeom prst="roundRect">
            <a:avLst>
              <a:gd name="adj" fmla="val 6000"/>
            </a:avLst>
          </a:prstGeom>
          <a:solidFill>
            <a:srgbClr val="F5EEE2"/>
          </a:solidFill>
          <a:ln w="12700">
            <a:solidFill>
              <a:srgbClr val="A96F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 i="0">
                <a:solidFill>
                  <a:srgbClr val="A96F0C"/>
                </a:solidFill>
                <a:latin typeface="Microsoft YaHei"/>
                <a:ea typeface="Microsoft YaHei"/>
                <a:cs typeface="Microsoft YaHei"/>
              </a:rPr>
              <a:t>KV Cache Mgr ＋ 滑动窗口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2648" y="4306824"/>
            <a:ext cx="5280660" cy="228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A9A9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 i="0">
                <a:solidFill>
                  <a:srgbClr val="16181C"/>
                </a:solidFill>
                <a:latin typeface="Microsoft YaHei"/>
                <a:ea typeface="Microsoft YaHei"/>
                <a:cs typeface="Microsoft YaHei"/>
              </a:rPr>
              <a:t>Executor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2648" y="4572000"/>
            <a:ext cx="5280660" cy="228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A9A9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 i="0">
                <a:solidFill>
                  <a:srgbClr val="16181C"/>
                </a:solidFill>
                <a:latin typeface="Microsoft YaHei"/>
                <a:ea typeface="Microsoft YaHei"/>
                <a:cs typeface="Microsoft YaHei"/>
              </a:rPr>
              <a:t>Worker ＋ Connector → Runner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2648" y="4837176"/>
            <a:ext cx="5280660" cy="228600"/>
          </a:xfrm>
          <a:prstGeom prst="roundRect">
            <a:avLst>
              <a:gd name="adj" fmla="val 6000"/>
            </a:avLst>
          </a:prstGeom>
          <a:solidFill>
            <a:srgbClr val="F5EEE2"/>
          </a:solidFill>
          <a:ln w="12700">
            <a:solidFill>
              <a:srgbClr val="A96F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 i="0">
                <a:solidFill>
                  <a:srgbClr val="A96F0C"/>
                </a:solidFill>
                <a:latin typeface="Microsoft YaHei"/>
                <a:ea typeface="Microsoft YaHei"/>
                <a:cs typeface="Microsoft YaHei"/>
              </a:rPr>
              <a:t>SessionRequest（可写）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85916" y="3328416"/>
            <a:ext cx="5500116" cy="1792224"/>
          </a:xfrm>
          <a:prstGeom prst="roundRect">
            <a:avLst>
              <a:gd name="adj" fmla="val 3000"/>
            </a:avLst>
          </a:prstGeom>
          <a:solidFill>
            <a:srgbClr val="EDEDE8"/>
          </a:solidFill>
          <a:ln w="15875">
            <a:solidFill>
              <a:srgbClr val="A9A9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295644" y="3227832"/>
            <a:ext cx="1506931" cy="201168"/>
          </a:xfrm>
          <a:prstGeom prst="rect">
            <a:avLst/>
          </a:prstGeom>
          <a:solidFill>
            <a:srgbClr val="EDE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spcBef>
                <a:spcPts val="0"/>
              </a:spcBef>
            </a:pPr>
            <a:r>
              <a:rPr sz="650" b="0" i="0">
                <a:solidFill>
                  <a:srgbClr val="7C818B"/>
                </a:solidFill>
                <a:latin typeface="Consolas"/>
                <a:ea typeface="Consolas"/>
                <a:cs typeface="Consolas"/>
              </a:rPr>
              <a:t>DIFFUSION STAGE ×REPLICA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95644" y="3511296"/>
            <a:ext cx="5280660" cy="228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A9A9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 i="0">
                <a:solidFill>
                  <a:srgbClr val="16181C"/>
                </a:solidFill>
                <a:latin typeface="Microsoft YaHei"/>
                <a:ea typeface="Microsoft YaHei"/>
                <a:cs typeface="Microsoft YaHei"/>
              </a:rPr>
              <a:t>Scheduler ＋ prefill / decode 两态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95644" y="3776472"/>
            <a:ext cx="5280660" cy="228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A9A9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 i="0">
                <a:solidFill>
                  <a:srgbClr val="16181C"/>
                </a:solidFill>
                <a:latin typeface="Microsoft YaHei"/>
                <a:ea typeface="Microsoft YaHei"/>
                <a:cs typeface="Microsoft YaHei"/>
              </a:rPr>
              <a:t>Diffusion KV Cache Manager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95644" y="4041648"/>
            <a:ext cx="5280660" cy="228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A9A9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 i="0">
                <a:solidFill>
                  <a:srgbClr val="16181C"/>
                </a:solidFill>
                <a:latin typeface="Microsoft YaHei"/>
                <a:ea typeface="Microsoft YaHei"/>
                <a:cs typeface="Microsoft YaHei"/>
              </a:rPr>
              <a:t>Executor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95644" y="4306824"/>
            <a:ext cx="5280660" cy="228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A9A9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 i="0">
                <a:solidFill>
                  <a:srgbClr val="16181C"/>
                </a:solidFill>
                <a:latin typeface="Microsoft YaHei"/>
                <a:ea typeface="Microsoft YaHei"/>
                <a:cs typeface="Microsoft YaHei"/>
              </a:rPr>
              <a:t>Worker ＋ Connector → Runner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95644" y="4572000"/>
            <a:ext cx="5280660" cy="228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A9A9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 i="0">
                <a:solidFill>
                  <a:srgbClr val="16181C"/>
                </a:solidFill>
                <a:latin typeface="Microsoft YaHei"/>
                <a:ea typeface="Microsoft YaHei"/>
                <a:cs typeface="Microsoft YaHei"/>
              </a:rPr>
              <a:t>DiT Pipeline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95644" y="4837176"/>
            <a:ext cx="5280660" cy="228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A9A99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 i="0">
                <a:solidFill>
                  <a:srgbClr val="7C818B"/>
                </a:solidFill>
                <a:latin typeface="Microsoft YaHei"/>
                <a:ea typeface="Microsoft YaHei"/>
                <a:cs typeface="Microsoft YaHei"/>
              </a:rPr>
              <a:t>全双工模型：整列用不到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6094476" y="5148072"/>
            <a:ext cx="0" cy="100584"/>
          </a:xfrm>
          <a:prstGeom prst="line">
            <a:avLst/>
          </a:prstGeom>
          <a:ln w="19050">
            <a:solidFill>
              <a:srgbClr val="A9A99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502920" y="5266944"/>
            <a:ext cx="11183112" cy="3474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A9A9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 i="0">
                <a:solidFill>
                  <a:srgbClr val="16181C"/>
                </a:solidFill>
                <a:latin typeface="Microsoft YaHei"/>
                <a:ea typeface="Microsoft YaHei"/>
                <a:cs typeface="Microsoft YaHei"/>
              </a:rPr>
              <a:t>OmniConnector  put / get</a:t>
            </a:r>
          </a:p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650" b="0" i="0">
                <a:solidFill>
                  <a:srgbClr val="7C818B"/>
                </a:solidFill>
                <a:latin typeface="Consolas"/>
                <a:ea typeface="Consolas"/>
                <a:cs typeface="Consolas"/>
              </a:rPr>
              <a:t>共享内存 · Mooncake · RDMA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759952" y="5266944"/>
            <a:ext cx="2743200" cy="347472"/>
          </a:xfrm>
          <a:prstGeom prst="rect">
            <a:avLst/>
          </a:prstGeom>
          <a:noFill/>
          <a:effectLst/>
        </p:spPr>
        <p:txBody>
          <a:bodyPr wrap="square" lIns="45720" tIns="27432" rIns="137160" bIns="27432" anchor="ctr">
            <a:spAutoFit/>
          </a:bodyPr>
          <a:lstStyle/>
          <a:p>
            <a:pPr algn="r">
              <a:spcBef>
                <a:spcPts val="0"/>
              </a:spcBef>
            </a:pPr>
            <a:r>
              <a:rPr sz="750" b="0" i="0">
                <a:solidFill>
                  <a:srgbClr val="7C818B"/>
                </a:solidFill>
                <a:latin typeface="Consolas"/>
                <a:ea typeface="Consolas"/>
                <a:cs typeface="Consolas"/>
              </a:rPr>
              <a:t>全双工模型：用不到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2648" y="5166359"/>
            <a:ext cx="731520" cy="201168"/>
          </a:xfrm>
          <a:prstGeom prst="rect">
            <a:avLst/>
          </a:prstGeom>
          <a:solidFill>
            <a:srgbClr val="EDE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l">
              <a:spcBef>
                <a:spcPts val="0"/>
              </a:spcBef>
            </a:pPr>
            <a:r>
              <a:rPr sz="650" b="0" i="0">
                <a:solidFill>
                  <a:srgbClr val="7C818B"/>
                </a:solidFill>
                <a:latin typeface="Consolas"/>
                <a:ea typeface="Consolas"/>
                <a:cs typeface="Consolas"/>
              </a:rPr>
              <a:t>传输层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502920" y="6035040"/>
            <a:ext cx="11183112" cy="0"/>
          </a:xfrm>
          <a:prstGeom prst="line">
            <a:avLst/>
          </a:prstGeom>
          <a:ln w="12700">
            <a:solidFill>
              <a:srgbClr val="D6D6C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502920" y="6089903"/>
            <a:ext cx="11183112" cy="457200"/>
          </a:xfrm>
          <a:prstGeom prst="rect">
            <a:avLst/>
          </a:prstGeom>
          <a:noFill/>
          <a:effectLst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50" b="1" i="0">
                <a:solidFill>
                  <a:srgbClr val="3E5FD9"/>
                </a:solidFill>
                <a:latin typeface="Consolas"/>
                <a:ea typeface="Consolas"/>
                <a:cs typeface="Consolas"/>
              </a:rPr>
              <a:t>账单   </a:t>
            </a:r>
            <a:r>
              <a:rPr sz="1050" b="0" i="0">
                <a:solidFill>
                  <a:srgbClr val="16181C"/>
                </a:solidFill>
                <a:latin typeface="Microsoft YaHei"/>
                <a:ea typeface="Microsoft YaHei"/>
                <a:cs typeface="Microsoft YaHei"/>
              </a:rPr>
              <a:t>跑一个全双工模型，需要扛着：Diffusion Stage ＋ Connector 层 ＋ CFG 伴随请求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185855" y="6473952"/>
            <a:ext cx="731520" cy="274320"/>
          </a:xfrm>
          <a:prstGeom prst="rect">
            <a:avLst/>
          </a:prstGeom>
          <a:noFill/>
          <a:effectLst/>
        </p:spPr>
        <p:txBody>
          <a:bodyPr wrap="square" lIns="45720" tIns="27432" rIns="45720" bIns="27432" anchor="b">
            <a:spAutoFit/>
          </a:bodyPr>
          <a:lstStyle/>
          <a:p>
            <a:pPr algn="r">
              <a:spcBef>
                <a:spcPts val="0"/>
              </a:spcBef>
            </a:pPr>
            <a:r>
              <a:rPr sz="850" b="0" i="0">
                <a:solidFill>
                  <a:srgbClr val="7C818B"/>
                </a:solidFill>
                <a:latin typeface="Consolas"/>
                <a:ea typeface="Consolas"/>
                <a:cs typeface="Consolas"/>
              </a:rPr>
              <a:t>15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500"/>
                                  <p:tgtEl>
                                    <p:spTgt spid="3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" dur="500"/>
                                  <p:tgtEl>
                                    <p:spTgt spid="3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" dur="500"/>
                                  <p:tgtEl>
                                    <p:spTgt spid="4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" dur="500"/>
                                  <p:tgtEl>
                                    <p:spTgt spid="4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457200" cy="237744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3E5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27432" rIns="36576" bIns="27432" rtlCol="0" anchor="ctr"/>
          <a:lstStyle/>
          <a:p>
            <a:pPr algn="ctr">
              <a:spcBef>
                <a:spcPts val="0"/>
              </a:spcBef>
            </a:pPr>
            <a:r>
              <a:rPr sz="850" b="1" i="0">
                <a:solidFill>
                  <a:srgbClr val="3E5FD9"/>
                </a:solidFill>
                <a:latin typeface="Microsoft YaHei"/>
                <a:ea typeface="Microsoft YaHei"/>
                <a:cs typeface="Microsoft YaHei"/>
              </a:rPr>
              <a:t>中场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" y="356616"/>
            <a:ext cx="8229600" cy="256032"/>
          </a:xfrm>
          <a:prstGeom prst="rect">
            <a:avLst/>
          </a:prstGeom>
          <a:noFill/>
          <a:effectLst/>
        </p:spPr>
        <p:txBody>
          <a:bodyPr wrap="square" lIns="45720" tIns="27432" rIns="45720" bIns="27432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850" b="0" i="0">
                <a:solidFill>
                  <a:srgbClr val="7C818B"/>
                </a:solidFill>
                <a:latin typeface="Consolas"/>
                <a:ea typeface="Consolas"/>
                <a:cs typeface="Consolas"/>
              </a:rPr>
              <a:t>把四章的账算一遍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31520"/>
            <a:ext cx="11155680" cy="868680"/>
          </a:xfrm>
          <a:prstGeom prst="rect">
            <a:avLst/>
          </a:prstGeom>
          <a:noFill/>
          <a:effectLst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000" b="1" i="0">
                <a:solidFill>
                  <a:srgbClr val="16181C"/>
                </a:solidFill>
                <a:latin typeface="Microsoft YaHei"/>
                <a:ea typeface="Microsoft YaHei"/>
                <a:cs typeface="Microsoft YaHei"/>
              </a:rPr>
              <a:t>复杂度账单：每支持一个模型，框架重一分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965960"/>
            <a:ext cx="2286000" cy="292608"/>
          </a:xfrm>
          <a:prstGeom prst="rect">
            <a:avLst/>
          </a:prstGeom>
          <a:noFill/>
          <a:effectLst/>
        </p:spPr>
        <p:txBody>
          <a:bodyPr wrap="square" lIns="45720" tIns="27432" rIns="73152" bIns="27432" anchor="ctr">
            <a:spAutoFit/>
          </a:bodyPr>
          <a:lstStyle/>
          <a:p>
            <a:pPr algn="r">
              <a:spcBef>
                <a:spcPts val="0"/>
              </a:spcBef>
            </a:pPr>
            <a:r>
              <a:rPr sz="1050" b="0" i="0">
                <a:solidFill>
                  <a:srgbClr val="16181C"/>
                </a:solidFill>
                <a:latin typeface="Microsoft YaHei"/>
                <a:ea typeface="Microsoft YaHei"/>
                <a:cs typeface="Microsoft YaHei"/>
              </a:rPr>
              <a:t>vLLM 基线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26079" y="2002536"/>
            <a:ext cx="925372" cy="219456"/>
          </a:xfrm>
          <a:prstGeom prst="roundRect">
            <a:avLst>
              <a:gd name="adj" fmla="val 15000"/>
            </a:avLst>
          </a:prstGeom>
          <a:solidFill>
            <a:srgbClr val="EC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269479" y="1965960"/>
            <a:ext cx="4325112" cy="292608"/>
          </a:xfrm>
          <a:prstGeom prst="rect">
            <a:avLst/>
          </a:prstGeom>
          <a:noFill/>
          <a:effectLst/>
        </p:spPr>
        <p:txBody>
          <a:bodyPr wrap="square" lIns="45720" tIns="27432" rIns="45720" bIns="27432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900" b="0" i="0">
                <a:solidFill>
                  <a:srgbClr val="7C818B"/>
                </a:solidFill>
                <a:latin typeface="Consolas"/>
                <a:ea typeface="Consolas"/>
                <a:cs typeface="Consolas"/>
              </a:rPr>
              <a:t>前端 ＋ 一个 EngineCore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368296"/>
            <a:ext cx="2286000" cy="292608"/>
          </a:xfrm>
          <a:prstGeom prst="rect">
            <a:avLst/>
          </a:prstGeom>
          <a:noFill/>
          <a:effectLst/>
        </p:spPr>
        <p:txBody>
          <a:bodyPr wrap="square" lIns="45720" tIns="27432" rIns="73152" bIns="27432" anchor="ctr">
            <a:spAutoFit/>
          </a:bodyPr>
          <a:lstStyle/>
          <a:p>
            <a:pPr algn="r">
              <a:spcBef>
                <a:spcPts val="0"/>
              </a:spcBef>
            </a:pPr>
            <a:r>
              <a:rPr sz="1050" b="0" i="0">
                <a:solidFill>
                  <a:srgbClr val="16181C"/>
                </a:solidFill>
                <a:latin typeface="Microsoft YaHei"/>
                <a:ea typeface="Microsoft YaHei"/>
                <a:cs typeface="Microsoft YaHei"/>
              </a:rPr>
              <a:t>＋① Stage 流水线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26079" y="2404872"/>
            <a:ext cx="1850745" cy="219456"/>
          </a:xfrm>
          <a:prstGeom prst="roundRect">
            <a:avLst>
              <a:gd name="adj" fmla="val 15000"/>
            </a:avLst>
          </a:prstGeom>
          <a:solidFill>
            <a:srgbClr val="EC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269479" y="2368296"/>
            <a:ext cx="4325112" cy="292608"/>
          </a:xfrm>
          <a:prstGeom prst="rect">
            <a:avLst/>
          </a:prstGeom>
          <a:noFill/>
          <a:effectLst/>
        </p:spPr>
        <p:txBody>
          <a:bodyPr wrap="square" lIns="45720" tIns="27432" rIns="45720" bIns="27432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900" b="0" i="0">
                <a:solidFill>
                  <a:srgbClr val="7C818B"/>
                </a:solidFill>
                <a:latin typeface="Consolas"/>
                <a:ea typeface="Consolas"/>
                <a:cs typeface="Consolas"/>
              </a:rPr>
              <a:t>＋Orchestrator ＋StagePool ＋N 份 EngineCore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770632"/>
            <a:ext cx="2286000" cy="292608"/>
          </a:xfrm>
          <a:prstGeom prst="rect">
            <a:avLst/>
          </a:prstGeom>
          <a:noFill/>
          <a:effectLst/>
        </p:spPr>
        <p:txBody>
          <a:bodyPr wrap="square" lIns="45720" tIns="27432" rIns="73152" bIns="27432" anchor="ctr">
            <a:spAutoFit/>
          </a:bodyPr>
          <a:lstStyle/>
          <a:p>
            <a:pPr algn="r">
              <a:spcBef>
                <a:spcPts val="0"/>
              </a:spcBef>
            </a:pPr>
            <a:r>
              <a:rPr sz="1050" b="0" i="0">
                <a:solidFill>
                  <a:srgbClr val="16181C"/>
                </a:solidFill>
                <a:latin typeface="Microsoft YaHei"/>
                <a:ea typeface="Microsoft YaHei"/>
                <a:cs typeface="Microsoft YaHei"/>
              </a:rPr>
              <a:t>＋② KV 传输 / CFG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26079" y="2807208"/>
            <a:ext cx="2860243" cy="219456"/>
          </a:xfrm>
          <a:prstGeom prst="roundRect">
            <a:avLst>
              <a:gd name="adj" fmla="val 15000"/>
            </a:avLst>
          </a:prstGeom>
          <a:solidFill>
            <a:srgbClr val="3E5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269479" y="2770632"/>
            <a:ext cx="4325112" cy="292608"/>
          </a:xfrm>
          <a:prstGeom prst="rect">
            <a:avLst/>
          </a:prstGeom>
          <a:noFill/>
          <a:effectLst/>
        </p:spPr>
        <p:txBody>
          <a:bodyPr wrap="square" lIns="45720" tIns="27432" rIns="45720" bIns="27432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900" b="0" i="0">
                <a:solidFill>
                  <a:srgbClr val="7C818B"/>
                </a:solidFill>
                <a:latin typeface="Consolas"/>
                <a:ea typeface="Consolas"/>
                <a:cs typeface="Consolas"/>
              </a:rPr>
              <a:t>＋Diffusion Stage ＋Connector 层 ＋伴随请求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172968"/>
            <a:ext cx="2286000" cy="292608"/>
          </a:xfrm>
          <a:prstGeom prst="rect">
            <a:avLst/>
          </a:prstGeom>
          <a:noFill/>
          <a:effectLst/>
        </p:spPr>
        <p:txBody>
          <a:bodyPr wrap="square" lIns="45720" tIns="27432" rIns="73152" bIns="27432" anchor="ctr">
            <a:spAutoFit/>
          </a:bodyPr>
          <a:lstStyle/>
          <a:p>
            <a:pPr algn="r">
              <a:spcBef>
                <a:spcPts val="0"/>
              </a:spcBef>
            </a:pPr>
            <a:r>
              <a:rPr sz="1050" b="0" i="0">
                <a:solidFill>
                  <a:srgbClr val="16181C"/>
                </a:solidFill>
                <a:latin typeface="Microsoft YaHei"/>
                <a:ea typeface="Microsoft YaHei"/>
                <a:cs typeface="Microsoft YaHei"/>
              </a:rPr>
              <a:t>＋③ 视频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926079" y="3209544"/>
            <a:ext cx="3617366" cy="219456"/>
          </a:xfrm>
          <a:prstGeom prst="roundRect">
            <a:avLst>
              <a:gd name="adj" fmla="val 15000"/>
            </a:avLst>
          </a:prstGeom>
          <a:solidFill>
            <a:srgbClr val="3E5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269479" y="3172968"/>
            <a:ext cx="4325112" cy="292608"/>
          </a:xfrm>
          <a:prstGeom prst="rect">
            <a:avLst/>
          </a:prstGeom>
          <a:noFill/>
          <a:effectLst/>
        </p:spPr>
        <p:txBody>
          <a:bodyPr wrap="square" lIns="45720" tIns="27432" rIns="45720" bIns="27432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900" b="0" i="0">
                <a:solidFill>
                  <a:srgbClr val="7C818B"/>
                </a:solidFill>
                <a:latin typeface="Consolas"/>
                <a:ea typeface="Consolas"/>
                <a:cs typeface="Consolas"/>
              </a:rPr>
              <a:t>＋Diffusion KV Mgr ＋chunk 级 decode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3575303"/>
            <a:ext cx="2286000" cy="292608"/>
          </a:xfrm>
          <a:prstGeom prst="rect">
            <a:avLst/>
          </a:prstGeom>
          <a:noFill/>
          <a:effectLst/>
        </p:spPr>
        <p:txBody>
          <a:bodyPr wrap="square" lIns="45720" tIns="27432" rIns="73152" bIns="27432" anchor="ctr">
            <a:spAutoFit/>
          </a:bodyPr>
          <a:lstStyle/>
          <a:p>
            <a:pPr algn="r">
              <a:spcBef>
                <a:spcPts val="0"/>
              </a:spcBef>
            </a:pPr>
            <a:r>
              <a:rPr sz="1050" b="0" i="0">
                <a:solidFill>
                  <a:srgbClr val="16181C"/>
                </a:solidFill>
                <a:latin typeface="Microsoft YaHei"/>
                <a:ea typeface="Microsoft YaHei"/>
                <a:cs typeface="Microsoft YaHei"/>
              </a:rPr>
              <a:t>＋④ 全双工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926079" y="3611879"/>
            <a:ext cx="4206240" cy="219456"/>
          </a:xfrm>
          <a:prstGeom prst="roundRect">
            <a:avLst>
              <a:gd name="adj" fmla="val 15000"/>
            </a:avLst>
          </a:prstGeom>
          <a:solidFill>
            <a:srgbClr val="C432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269479" y="3575303"/>
            <a:ext cx="4325112" cy="292608"/>
          </a:xfrm>
          <a:prstGeom prst="rect">
            <a:avLst/>
          </a:prstGeom>
          <a:noFill/>
          <a:effectLst/>
        </p:spPr>
        <p:txBody>
          <a:bodyPr wrap="square" lIns="45720" tIns="27432" rIns="45720" bIns="27432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900" b="0" i="0">
                <a:solidFill>
                  <a:srgbClr val="7C818B"/>
                </a:solidFill>
                <a:latin typeface="Consolas"/>
                <a:ea typeface="Consolas"/>
                <a:cs typeface="Consolas"/>
              </a:rPr>
              <a:t>＋实时节拍驱动 ＋可写 Request ＋KV 滑动窗口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4032504"/>
            <a:ext cx="5431536" cy="1280160"/>
          </a:xfrm>
          <a:prstGeom prst="roundRect">
            <a:avLst>
              <a:gd name="adj" fmla="val 5000"/>
            </a:avLst>
          </a:prstGeom>
          <a:solidFill>
            <a:srgbClr val="EDEDE8"/>
          </a:solidFill>
          <a:ln w="12700">
            <a:solidFill>
              <a:srgbClr val="D6D6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09728" rIns="128016" bIns="91440" rtlCol="0" anchor="t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750" b="0" i="0">
                <a:solidFill>
                  <a:srgbClr val="7C818B"/>
                </a:solidFill>
                <a:latin typeface="Consolas"/>
                <a:ea typeface="Consolas"/>
                <a:cs typeface="Consolas"/>
              </a:rPr>
              <a:t>代价 01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6181C"/>
                </a:solidFill>
                <a:latin typeface="Microsoft YaHei"/>
                <a:ea typeface="Microsoft YaHei"/>
                <a:cs typeface="Microsoft YaHei"/>
              </a:rPr>
              <a:t>加法加不完</a:t>
            </a:r>
          </a:p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950" b="0" i="0">
                <a:solidFill>
                  <a:srgbClr val="4A4E57"/>
                </a:solidFill>
                <a:latin typeface="Microsoft YaHei"/>
                <a:ea typeface="Microsoft YaHei"/>
                <a:cs typeface="Microsoft YaHei"/>
              </a:rPr>
              <a:t>模型两周一个，人手不变；每次加法让下次更难加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54496" y="4032504"/>
            <a:ext cx="5431536" cy="1280160"/>
          </a:xfrm>
          <a:prstGeom prst="roundRect">
            <a:avLst>
              <a:gd name="adj" fmla="val 5000"/>
            </a:avLst>
          </a:prstGeom>
          <a:solidFill>
            <a:srgbClr val="ECEFFB"/>
          </a:solidFill>
          <a:ln w="12700">
            <a:solidFill>
              <a:srgbClr val="3E5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09728" rIns="128016" bIns="91440" rtlCol="0" anchor="t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750" b="0" i="0">
                <a:solidFill>
                  <a:srgbClr val="7C818B"/>
                </a:solidFill>
                <a:latin typeface="Consolas"/>
                <a:ea typeface="Consolas"/>
                <a:cs typeface="Consolas"/>
              </a:rPr>
              <a:t>代价 02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3E5FD9"/>
                </a:solidFill>
                <a:latin typeface="Microsoft YaHei"/>
                <a:ea typeface="Microsoft YaHei"/>
                <a:cs typeface="Microsoft YaHei"/>
              </a:rPr>
              <a:t>单个模型只用得到一小块</a:t>
            </a:r>
          </a:p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950" b="0" i="0">
                <a:solidFill>
                  <a:srgbClr val="4A4E57"/>
                </a:solidFill>
                <a:latin typeface="Microsoft YaHei"/>
                <a:ea typeface="Microsoft YaHei"/>
                <a:cs typeface="Microsoft YaHei"/>
              </a:rPr>
              <a:t>全双工模型能用上的，不到全景图的一半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02920" y="5989320"/>
            <a:ext cx="11183112" cy="0"/>
          </a:xfrm>
          <a:prstGeom prst="line">
            <a:avLst/>
          </a:prstGeom>
          <a:ln w="12700">
            <a:solidFill>
              <a:srgbClr val="D6D6C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02920" y="6044183"/>
            <a:ext cx="11183112" cy="457200"/>
          </a:xfrm>
          <a:prstGeom prst="rect">
            <a:avLst/>
          </a:prstGeom>
          <a:noFill/>
          <a:effectLst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50" b="1" i="0">
                <a:solidFill>
                  <a:srgbClr val="3E5FD9"/>
                </a:solidFill>
                <a:latin typeface="Consolas"/>
                <a:ea typeface="Consolas"/>
                <a:cs typeface="Consolas"/>
              </a:rPr>
              <a:t>问题转向   </a:t>
            </a:r>
            <a:r>
              <a:rPr sz="1050" b="0" i="0">
                <a:solidFill>
                  <a:srgbClr val="16181C"/>
                </a:solidFill>
                <a:latin typeface="Microsoft YaHei"/>
                <a:ea typeface="Microsoft YaHei"/>
                <a:cs typeface="Microsoft YaHei"/>
              </a:rPr>
              <a:t>不是「怎么写得更快」，而是「怎么让框架为这个模型瘦下来」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85855" y="6473952"/>
            <a:ext cx="731520" cy="274320"/>
          </a:xfrm>
          <a:prstGeom prst="rect">
            <a:avLst/>
          </a:prstGeom>
          <a:noFill/>
          <a:effectLst/>
        </p:spPr>
        <p:txBody>
          <a:bodyPr wrap="square" lIns="45720" tIns="27432" rIns="45720" bIns="27432" anchor="b">
            <a:spAutoFit/>
          </a:bodyPr>
          <a:lstStyle/>
          <a:p>
            <a:pPr algn="r">
              <a:spcBef>
                <a:spcPts val="0"/>
              </a:spcBef>
            </a:pPr>
            <a:r>
              <a:rPr sz="850" b="0" i="0">
                <a:solidFill>
                  <a:srgbClr val="7C818B"/>
                </a:solidFill>
                <a:latin typeface="Consolas"/>
                <a:ea typeface="Consolas"/>
                <a:cs typeface="Consolas"/>
              </a:rPr>
              <a:t>16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50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" dur="50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" dur="500"/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" dur="500"/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937259" cy="237744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3E5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27432" rIns="36576" bIns="27432" rtlCol="0" anchor="ctr"/>
          <a:lstStyle/>
          <a:p>
            <a:pPr algn="ctr">
              <a:spcBef>
                <a:spcPts val="0"/>
              </a:spcBef>
            </a:pPr>
            <a:r>
              <a:rPr sz="850" b="1" i="0">
                <a:solidFill>
                  <a:srgbClr val="3E5FD9"/>
                </a:solidFill>
                <a:latin typeface="Microsoft YaHei"/>
                <a:ea typeface="Microsoft YaHei"/>
                <a:cs typeface="Microsoft YaHei"/>
              </a:rPr>
              <a:t>Vibe Coding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49907" y="356616"/>
            <a:ext cx="8229600" cy="256032"/>
          </a:xfrm>
          <a:prstGeom prst="rect">
            <a:avLst/>
          </a:prstGeom>
          <a:noFill/>
          <a:effectLst/>
        </p:spPr>
        <p:txBody>
          <a:bodyPr wrap="square" lIns="45720" tIns="27432" rIns="45720" bIns="27432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850" b="0" i="0">
                <a:solidFill>
                  <a:srgbClr val="7C818B"/>
                </a:solidFill>
                <a:latin typeface="Consolas"/>
                <a:ea typeface="Consolas"/>
                <a:cs typeface="Consolas"/>
              </a:rPr>
              <a:t>怎么跟上模型的速度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148840"/>
            <a:ext cx="11183112" cy="1737360"/>
          </a:xfrm>
          <a:prstGeom prst="rect">
            <a:avLst/>
          </a:prstGeom>
          <a:noFill/>
          <a:effectLst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</a:pPr>
            <a:r>
              <a:rPr sz="3000" b="1" i="0">
                <a:solidFill>
                  <a:srgbClr val="16181C"/>
                </a:solidFill>
                <a:latin typeface="Microsoft YaHei"/>
                <a:ea typeface="Microsoft YaHei"/>
                <a:cs typeface="Microsoft YaHei"/>
              </a:rPr>
              <a:t>AI 能帮你写完代码，</a:t>
            </a:r>
          </a:p>
          <a:p>
            <a:pPr algn="l">
              <a:lnSpc>
                <a:spcPct val="135000"/>
              </a:lnSpc>
              <a:spcBef>
                <a:spcPts val="0"/>
              </a:spcBef>
            </a:pPr>
            <a:r>
              <a:rPr sz="3000" b="1" i="0">
                <a:solidFill>
                  <a:srgbClr val="16181C"/>
                </a:solidFill>
                <a:latin typeface="Microsoft YaHei"/>
                <a:ea typeface="Microsoft YaHei"/>
                <a:cs typeface="Microsoft YaHei"/>
              </a:rPr>
              <a:t>但它不会帮你决定</a:t>
            </a:r>
          </a:p>
          <a:p>
            <a:pPr algn="l">
              <a:lnSpc>
                <a:spcPct val="135000"/>
              </a:lnSpc>
              <a:spcBef>
                <a:spcPts val="0"/>
              </a:spcBef>
            </a:pPr>
            <a:r>
              <a:rPr sz="3000" b="1" i="1">
                <a:solidFill>
                  <a:srgbClr val="3E5FD9"/>
                </a:solidFill>
                <a:latin typeface="Microsoft YaHei"/>
                <a:ea typeface="Microsoft YaHei"/>
                <a:cs typeface="Microsoft YaHei"/>
              </a:rPr>
              <a:t>哪些代码不该写</a:t>
            </a:r>
            <a:r>
              <a:rPr sz="3000" b="1" i="0">
                <a:solidFill>
                  <a:srgbClr val="16181C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343400"/>
            <a:ext cx="11183112" cy="457200"/>
          </a:xfrm>
          <a:prstGeom prst="rect">
            <a:avLst/>
          </a:prstGeom>
          <a:noFill/>
          <a:effectLst/>
        </p:spPr>
        <p:txBody>
          <a:bodyPr wrap="square" lIns="45720" tIns="27432" rIns="45720" bIns="27432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0" i="0">
                <a:solidFill>
                  <a:srgbClr val="4A4E57"/>
                </a:solidFill>
                <a:latin typeface="Microsoft YaHei"/>
                <a:ea typeface="Microsoft YaHei"/>
                <a:cs typeface="Microsoft YaHei"/>
              </a:rPr>
              <a:t>设计 ＝ 两件事：</a:t>
            </a:r>
            <a:r>
              <a:rPr sz="1300" b="1" i="0">
                <a:solidFill>
                  <a:srgbClr val="16181C"/>
                </a:solidFill>
                <a:latin typeface="Microsoft YaHei"/>
                <a:ea typeface="Microsoft YaHei"/>
                <a:cs typeface="Microsoft YaHei"/>
              </a:rPr>
              <a:t>对内做减法</a:t>
            </a:r>
            <a:r>
              <a:rPr sz="1300" b="0" i="0">
                <a:solidFill>
                  <a:srgbClr val="7C818B"/>
                </a:solidFill>
                <a:latin typeface="Microsoft YaHei"/>
                <a:ea typeface="Microsoft YaHei"/>
                <a:cs typeface="Microsoft YaHei"/>
              </a:rPr>
              <a:t> · </a:t>
            </a:r>
            <a:r>
              <a:rPr sz="1300" b="1" i="0">
                <a:solidFill>
                  <a:srgbClr val="16181C"/>
                </a:solidFill>
                <a:latin typeface="Microsoft YaHei"/>
                <a:ea typeface="Microsoft YaHei"/>
                <a:cs typeface="Microsoft YaHei"/>
              </a:rPr>
              <a:t>对外立接口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5669280"/>
            <a:ext cx="11183112" cy="0"/>
          </a:xfrm>
          <a:prstGeom prst="line">
            <a:avLst/>
          </a:prstGeom>
          <a:ln w="12700">
            <a:solidFill>
              <a:srgbClr val="D6D6C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5724144"/>
            <a:ext cx="11183112" cy="457200"/>
          </a:xfrm>
          <a:prstGeom prst="rect">
            <a:avLst/>
          </a:prstGeom>
          <a:noFill/>
          <a:effectLst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50" b="1" i="0">
                <a:solidFill>
                  <a:srgbClr val="3E5FD9"/>
                </a:solidFill>
                <a:latin typeface="Consolas"/>
                <a:ea typeface="Consolas"/>
                <a:cs typeface="Consolas"/>
              </a:rPr>
              <a:t>论点   </a:t>
            </a:r>
            <a:r>
              <a:rPr sz="1050" b="0" i="0">
                <a:solidFill>
                  <a:srgbClr val="16181C"/>
                </a:solidFill>
                <a:latin typeface="Microsoft YaHei"/>
                <a:ea typeface="Microsoft YaHei"/>
                <a:cs typeface="Microsoft YaHei"/>
              </a:rPr>
              <a:t>System Design 没有被 AI 取代，它变成了唯一还稀缺的东西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5855" y="6473952"/>
            <a:ext cx="731520" cy="274320"/>
          </a:xfrm>
          <a:prstGeom prst="rect">
            <a:avLst/>
          </a:prstGeom>
          <a:noFill/>
          <a:effectLst/>
        </p:spPr>
        <p:txBody>
          <a:bodyPr wrap="square" lIns="45720" tIns="27432" rIns="45720" bIns="27432" anchor="b">
            <a:spAutoFit/>
          </a:bodyPr>
          <a:lstStyle/>
          <a:p>
            <a:pPr algn="r">
              <a:spcBef>
                <a:spcPts val="0"/>
              </a:spcBef>
            </a:pPr>
            <a:r>
              <a:rPr sz="850" b="0" i="0">
                <a:solidFill>
                  <a:srgbClr val="7C818B"/>
                </a:solidFill>
                <a:latin typeface="Consolas"/>
                <a:ea typeface="Consolas"/>
                <a:cs typeface="Consolas"/>
              </a:rPr>
              <a:t>17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5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" dur="5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" dur="5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937259" cy="237744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3E5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27432" rIns="36576" bIns="27432" rtlCol="0" anchor="ctr"/>
          <a:lstStyle/>
          <a:p>
            <a:pPr algn="ctr">
              <a:spcBef>
                <a:spcPts val="0"/>
              </a:spcBef>
            </a:pPr>
            <a:r>
              <a:rPr sz="850" b="1" i="0">
                <a:solidFill>
                  <a:srgbClr val="3E5FD9"/>
                </a:solidFill>
                <a:latin typeface="Microsoft YaHei"/>
                <a:ea typeface="Microsoft YaHei"/>
                <a:cs typeface="Microsoft YaHei"/>
              </a:rPr>
              <a:t>Vibe Coding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49907" y="356616"/>
            <a:ext cx="8229600" cy="256032"/>
          </a:xfrm>
          <a:prstGeom prst="rect">
            <a:avLst/>
          </a:prstGeom>
          <a:noFill/>
          <a:effectLst/>
        </p:spPr>
        <p:txBody>
          <a:bodyPr wrap="square" lIns="45720" tIns="27432" rIns="45720" bIns="27432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850" b="0" i="0">
                <a:solidFill>
                  <a:srgbClr val="7C818B"/>
                </a:solidFill>
                <a:latin typeface="Consolas"/>
                <a:ea typeface="Consolas"/>
                <a:cs typeface="Consolas"/>
              </a:rPr>
              <a:t>要素一 · 对内做减法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155680" cy="868680"/>
          </a:xfrm>
          <a:prstGeom prst="rect">
            <a:avLst/>
          </a:prstGeom>
          <a:noFill/>
          <a:effectLst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16181C"/>
                </a:solidFill>
                <a:latin typeface="Microsoft YaHei"/>
                <a:ea typeface="Microsoft YaHei"/>
                <a:cs typeface="Microsoft YaHei"/>
              </a:rPr>
              <a:t>稳定 Primitive，灵活改 Runtime 与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98448"/>
            <a:ext cx="10607040" cy="457200"/>
          </a:xfrm>
          <a:prstGeom prst="rect">
            <a:avLst/>
          </a:prstGeom>
          <a:noFill/>
          <a:effectLst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050" b="0" i="0">
                <a:solidFill>
                  <a:srgbClr val="4A4E57"/>
                </a:solidFill>
                <a:latin typeface="Microsoft YaHei"/>
                <a:ea typeface="Microsoft YaHei"/>
                <a:cs typeface="Microsoft YaHei"/>
              </a:rPr>
              <a:t>把全双工需求按 Runtime / Model / Primitive 重新归位，而不是再造一套端到端专用引擎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783080"/>
            <a:ext cx="4892040" cy="237744"/>
          </a:xfrm>
          <a:prstGeom prst="rect">
            <a:avLst/>
          </a:prstGeom>
          <a:noFill/>
          <a:effectLst/>
        </p:spPr>
        <p:txBody>
          <a:bodyPr wrap="square" lIns="45720" tIns="27432" rIns="45720" bIns="18288" anchor="b">
            <a:spAutoFit/>
          </a:bodyPr>
          <a:lstStyle/>
          <a:p>
            <a:pPr algn="l">
              <a:spcBef>
                <a:spcPts val="0"/>
              </a:spcBef>
            </a:pPr>
            <a:r>
              <a:rPr sz="850" b="1" i="0">
                <a:solidFill>
                  <a:srgbClr val="C4326F"/>
                </a:solidFill>
                <a:latin typeface="Consolas"/>
                <a:ea typeface="Consolas"/>
                <a:cs typeface="Consolas"/>
              </a:rPr>
              <a:t>按 FEATURE 加法 · 每模型带一套竖井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783080"/>
            <a:ext cx="4892040" cy="237744"/>
          </a:xfrm>
          <a:prstGeom prst="rect">
            <a:avLst/>
          </a:prstGeom>
          <a:noFill/>
          <a:effectLst/>
        </p:spPr>
        <p:txBody>
          <a:bodyPr wrap="square" lIns="45720" tIns="27432" rIns="45720" bIns="18288" anchor="b">
            <a:spAutoFit/>
          </a:bodyPr>
          <a:lstStyle/>
          <a:p>
            <a:pPr algn="r">
              <a:spcBef>
                <a:spcPts val="0"/>
              </a:spcBef>
            </a:pPr>
            <a:r>
              <a:rPr sz="750" b="0" i="0">
                <a:solidFill>
                  <a:srgbClr val="C4326F"/>
                </a:solidFill>
                <a:latin typeface="Consolas"/>
                <a:ea typeface="Consolas"/>
                <a:cs typeface="Consolas"/>
              </a:rPr>
              <a:t>越加越重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02920" y="2039112"/>
            <a:ext cx="4892039" cy="0"/>
          </a:xfrm>
          <a:prstGeom prst="line">
            <a:avLst/>
          </a:prstGeom>
          <a:ln w="12700">
            <a:solidFill>
              <a:srgbClr val="C4326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02920" y="2176272"/>
            <a:ext cx="4892040" cy="1179576"/>
          </a:xfrm>
          <a:prstGeom prst="roundRect">
            <a:avLst>
              <a:gd name="adj" fmla="val 3000"/>
            </a:avLst>
          </a:prstGeom>
          <a:solidFill>
            <a:srgbClr val="EDEDE8"/>
          </a:solidFill>
          <a:ln w="15875">
            <a:solidFill>
              <a:srgbClr val="A9A9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12648" y="2075688"/>
            <a:ext cx="1517904" cy="201168"/>
          </a:xfrm>
          <a:prstGeom prst="rect">
            <a:avLst/>
          </a:prstGeom>
          <a:solidFill>
            <a:srgbClr val="EDE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spcBef>
                <a:spcPts val="0"/>
              </a:spcBef>
            </a:pPr>
            <a:r>
              <a:rPr sz="650" b="0" i="0">
                <a:solidFill>
                  <a:srgbClr val="7C818B"/>
                </a:solidFill>
                <a:latin typeface="Consolas"/>
                <a:ea typeface="Consolas"/>
                <a:cs typeface="Consolas"/>
              </a:rPr>
              <a:t>全量 VLLM-OMNI 路径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" y="2377440"/>
            <a:ext cx="1508759" cy="274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A9A9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 i="0">
                <a:solidFill>
                  <a:srgbClr val="16181C"/>
                </a:solidFill>
                <a:latin typeface="Microsoft YaHei"/>
                <a:ea typeface="Microsoft YaHei"/>
                <a:cs typeface="Microsoft YaHei"/>
              </a:rPr>
              <a:t>Orchestrator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194560" y="2377440"/>
            <a:ext cx="1508759" cy="274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A9A9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 i="0">
                <a:solidFill>
                  <a:srgbClr val="16181C"/>
                </a:solidFill>
                <a:latin typeface="Microsoft YaHei"/>
                <a:ea typeface="Microsoft YaHei"/>
                <a:cs typeface="Microsoft YaHei"/>
              </a:rPr>
              <a:t>StagePool List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776472" y="2377440"/>
            <a:ext cx="1508759" cy="274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A9A9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 i="0">
                <a:solidFill>
                  <a:srgbClr val="16181C"/>
                </a:solidFill>
                <a:latin typeface="Microsoft YaHei"/>
                <a:ea typeface="Microsoft YaHei"/>
                <a:cs typeface="Microsoft YaHei"/>
              </a:rPr>
              <a:t>PipelineConfig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" y="2697480"/>
            <a:ext cx="1508759" cy="274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A9A9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 i="0">
                <a:solidFill>
                  <a:srgbClr val="16181C"/>
                </a:solidFill>
                <a:latin typeface="Microsoft YaHei"/>
                <a:ea typeface="Microsoft YaHei"/>
                <a:cs typeface="Microsoft YaHei"/>
              </a:rPr>
              <a:t>AR Stage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194560" y="2697480"/>
            <a:ext cx="1508759" cy="274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A9A9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 i="0">
                <a:solidFill>
                  <a:srgbClr val="16181C"/>
                </a:solidFill>
                <a:latin typeface="Microsoft YaHei"/>
                <a:ea typeface="Microsoft YaHei"/>
                <a:cs typeface="Microsoft YaHei"/>
              </a:rPr>
              <a:t>Diffusion Stage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76472" y="2697480"/>
            <a:ext cx="1508759" cy="274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A9A9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 i="0">
                <a:solidFill>
                  <a:srgbClr val="16181C"/>
                </a:solidFill>
                <a:latin typeface="Microsoft YaHei"/>
                <a:ea typeface="Microsoft YaHei"/>
                <a:cs typeface="Microsoft YaHei"/>
              </a:rPr>
              <a:t>OmniConnector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" y="3017520"/>
            <a:ext cx="1508759" cy="274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A9A9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 i="0">
                <a:solidFill>
                  <a:srgbClr val="16181C"/>
                </a:solidFill>
                <a:latin typeface="Microsoft YaHei"/>
                <a:ea typeface="Microsoft YaHei"/>
                <a:cs typeface="Microsoft YaHei"/>
              </a:rPr>
              <a:t>Diffusion KV Mgr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194560" y="3017520"/>
            <a:ext cx="1508759" cy="274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A9A9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 i="0">
                <a:solidFill>
                  <a:srgbClr val="16181C"/>
                </a:solidFill>
                <a:latin typeface="Microsoft YaHei"/>
                <a:ea typeface="Microsoft YaHei"/>
                <a:cs typeface="Microsoft YaHei"/>
              </a:rPr>
              <a:t>CFG 伴随请求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776472" y="3017520"/>
            <a:ext cx="1508759" cy="274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A9A9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 i="0">
                <a:solidFill>
                  <a:srgbClr val="16181C"/>
                </a:solidFill>
                <a:latin typeface="Microsoft YaHei"/>
                <a:ea typeface="Microsoft YaHei"/>
                <a:cs typeface="Microsoft YaHei"/>
              </a:rPr>
              <a:t>async_chunk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3529584"/>
            <a:ext cx="4892040" cy="219456"/>
          </a:xfrm>
          <a:prstGeom prst="rect">
            <a:avLst/>
          </a:prstGeom>
          <a:noFill/>
          <a:effectLst/>
        </p:spPr>
        <p:txBody>
          <a:bodyPr wrap="square" lIns="45720" tIns="27432" rIns="45720" bIns="27432" anchor="ctr">
            <a:spAutoFit/>
          </a:bodyPr>
          <a:lstStyle/>
          <a:p>
            <a:pPr algn="ctr">
              <a:spcBef>
                <a:spcPts val="0"/>
              </a:spcBef>
            </a:pPr>
            <a:r>
              <a:rPr sz="750" b="0" i="0">
                <a:solidFill>
                  <a:srgbClr val="C4326F"/>
                </a:solidFill>
                <a:latin typeface="Consolas"/>
                <a:ea typeface="Consolas"/>
                <a:cs typeface="Consolas"/>
              </a:rPr>
              <a:t>↓ 全双工再加一套专用概念 ↓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3785615"/>
            <a:ext cx="4892040" cy="1179576"/>
          </a:xfrm>
          <a:prstGeom prst="roundRect">
            <a:avLst>
              <a:gd name="adj" fmla="val 3000"/>
            </a:avLst>
          </a:prstGeom>
          <a:noFill/>
          <a:ln w="15875">
            <a:solidFill>
              <a:srgbClr val="C4326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12648" y="3685031"/>
            <a:ext cx="1053388" cy="2011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spcBef>
                <a:spcPts val="0"/>
              </a:spcBef>
            </a:pPr>
            <a:r>
              <a:rPr sz="650" b="0" i="0">
                <a:solidFill>
                  <a:srgbClr val="C4326F"/>
                </a:solidFill>
                <a:latin typeface="Consolas"/>
                <a:ea typeface="Consolas"/>
                <a:cs typeface="Consolas"/>
              </a:rPr>
              <a:t>FULL-DUPLEX SILO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2648" y="3986783"/>
            <a:ext cx="4672583" cy="274320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C4326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 i="0" strike="sngStrike">
                <a:solidFill>
                  <a:srgbClr val="C4326F"/>
                </a:solidFill>
                <a:latin typeface="Microsoft YaHei"/>
                <a:ea typeface="Microsoft YaHei"/>
                <a:cs typeface="Microsoft YaHei"/>
              </a:rPr>
              <a:t>FullDuplexScheduler ＋ FullDuplexRequest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2648" y="4306823"/>
            <a:ext cx="4672583" cy="274320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C4326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 i="0" strike="sngStrike">
                <a:solidFill>
                  <a:srgbClr val="C4326F"/>
                </a:solidFill>
                <a:latin typeface="Microsoft YaHei"/>
                <a:ea typeface="Microsoft YaHei"/>
                <a:cs typeface="Microsoft YaHei"/>
              </a:rPr>
              <a:t>专用 KV 管理 ＋ 打断 / VAD 状态机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2648" y="4626863"/>
            <a:ext cx="4672583" cy="274320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C4326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 i="0" strike="sngStrike">
                <a:solidFill>
                  <a:srgbClr val="C4326F"/>
                </a:solidFill>
                <a:latin typeface="Microsoft YaHei"/>
                <a:ea typeface="Microsoft YaHei"/>
                <a:cs typeface="Microsoft YaHei"/>
              </a:rPr>
              <a:t>双向流式协议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02920" y="5230368"/>
            <a:ext cx="0" cy="384048"/>
          </a:xfrm>
          <a:prstGeom prst="line">
            <a:avLst/>
          </a:prstGeom>
          <a:ln w="25400">
            <a:solidFill>
              <a:srgbClr val="C4326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76072" y="5230368"/>
            <a:ext cx="4818888" cy="384048"/>
          </a:xfrm>
          <a:prstGeom prst="rect">
            <a:avLst/>
          </a:prstGeom>
          <a:noFill/>
          <a:effectLst/>
        </p:spPr>
        <p:txBody>
          <a:bodyPr wrap="square" lIns="45720" tIns="27432" rIns="45720" bIns="27432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750" b="0" i="0">
                <a:solidFill>
                  <a:srgbClr val="C4326F"/>
                </a:solidFill>
                <a:latin typeface="Consolas"/>
                <a:ea typeface="Consolas"/>
                <a:cs typeface="Consolas"/>
              </a:rPr>
              <a:t>模型语义、运行时策略和底层执行揉在一起；下个模型继续复制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35040" y="1783080"/>
            <a:ext cx="5623560" cy="237744"/>
          </a:xfrm>
          <a:prstGeom prst="rect">
            <a:avLst/>
          </a:prstGeom>
          <a:noFill/>
          <a:effectLst/>
        </p:spPr>
        <p:txBody>
          <a:bodyPr wrap="square" lIns="45720" tIns="27432" rIns="45720" bIns="18288" anchor="b">
            <a:spAutoFit/>
          </a:bodyPr>
          <a:lstStyle/>
          <a:p>
            <a:pPr algn="l">
              <a:spcBef>
                <a:spcPts val="0"/>
              </a:spcBef>
            </a:pPr>
            <a:r>
              <a:rPr sz="850" b="1" i="0">
                <a:solidFill>
                  <a:srgbClr val="3E5FD9"/>
                </a:solidFill>
                <a:latin typeface="Consolas"/>
                <a:ea typeface="Consolas"/>
                <a:cs typeface="Consolas"/>
              </a:rPr>
              <a:t>按 LAYER 做减法 · 只改该改的层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35040" y="1783080"/>
            <a:ext cx="5623560" cy="237744"/>
          </a:xfrm>
          <a:prstGeom prst="rect">
            <a:avLst/>
          </a:prstGeom>
          <a:noFill/>
          <a:effectLst/>
        </p:spPr>
        <p:txBody>
          <a:bodyPr wrap="square" lIns="45720" tIns="27432" rIns="45720" bIns="18288" anchor="b">
            <a:spAutoFit/>
          </a:bodyPr>
          <a:lstStyle/>
          <a:p>
            <a:pPr algn="r">
              <a:spcBef>
                <a:spcPts val="0"/>
              </a:spcBef>
            </a:pPr>
            <a:r>
              <a:rPr sz="750" b="0" i="0">
                <a:solidFill>
                  <a:srgbClr val="3E5FD9"/>
                </a:solidFill>
                <a:latin typeface="Consolas"/>
                <a:ea typeface="Consolas"/>
                <a:cs typeface="Consolas"/>
              </a:rPr>
              <a:t>RUNTIME / MODEL 可变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035040" y="2039112"/>
            <a:ext cx="5623560" cy="0"/>
          </a:xfrm>
          <a:prstGeom prst="line">
            <a:avLst/>
          </a:prstGeom>
          <a:ln w="12700">
            <a:solidFill>
              <a:srgbClr val="3E5F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6035040" y="2176272"/>
            <a:ext cx="5623560" cy="896112"/>
          </a:xfrm>
          <a:prstGeom prst="roundRect">
            <a:avLst>
              <a:gd name="adj" fmla="val 3000"/>
            </a:avLst>
          </a:prstGeom>
          <a:solidFill>
            <a:srgbClr val="ECEFFB"/>
          </a:solidFill>
          <a:ln w="15875">
            <a:solidFill>
              <a:srgbClr val="3E5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144768" y="2075688"/>
            <a:ext cx="1335024" cy="201168"/>
          </a:xfrm>
          <a:prstGeom prst="rect">
            <a:avLst/>
          </a:prstGeom>
          <a:solidFill>
            <a:srgbClr val="EC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spcBef>
                <a:spcPts val="0"/>
              </a:spcBef>
            </a:pPr>
            <a:r>
              <a:rPr sz="650" b="0" i="0">
                <a:solidFill>
                  <a:srgbClr val="3E5FD9"/>
                </a:solidFill>
                <a:latin typeface="Consolas"/>
                <a:ea typeface="Consolas"/>
                <a:cs typeface="Consolas"/>
              </a:rPr>
              <a:t>RUNTIME · 灵活改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44768" y="2377440"/>
            <a:ext cx="2656332" cy="292608"/>
          </a:xfrm>
          <a:prstGeom prst="roundRect">
            <a:avLst>
              <a:gd name="adj" fmla="val 6000"/>
            </a:avLst>
          </a:prstGeom>
          <a:solidFill>
            <a:srgbClr val="ECEFFB"/>
          </a:solidFill>
          <a:ln w="12700">
            <a:solidFill>
              <a:srgbClr val="3E5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 i="0">
                <a:solidFill>
                  <a:srgbClr val="3E5FD9"/>
                </a:solidFill>
                <a:latin typeface="Microsoft YaHei"/>
                <a:ea typeface="Microsoft YaHei"/>
                <a:cs typeface="Microsoft YaHei"/>
              </a:rPr>
              <a:t>StreamIngress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650" b="0" i="0">
                <a:solidFill>
                  <a:srgbClr val="7C818B"/>
                </a:solidFill>
                <a:latin typeface="Consolas"/>
                <a:ea typeface="Consolas"/>
                <a:cs typeface="Consolas"/>
              </a:rPr>
              <a:t>持续输入 chunk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892540" y="2377440"/>
            <a:ext cx="2656332" cy="292608"/>
          </a:xfrm>
          <a:prstGeom prst="roundRect">
            <a:avLst>
              <a:gd name="adj" fmla="val 6000"/>
            </a:avLst>
          </a:prstGeom>
          <a:solidFill>
            <a:srgbClr val="ECEFFB"/>
          </a:solidFill>
          <a:ln w="12700">
            <a:solidFill>
              <a:srgbClr val="3E5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 i="0">
                <a:solidFill>
                  <a:srgbClr val="3E5FD9"/>
                </a:solidFill>
                <a:latin typeface="Microsoft YaHei"/>
                <a:ea typeface="Microsoft YaHei"/>
                <a:cs typeface="Microsoft YaHei"/>
              </a:rPr>
              <a:t>SessionRequest</a:t>
            </a:r>
          </a:p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650" b="0" i="0">
                <a:solidFill>
                  <a:srgbClr val="7C818B"/>
                </a:solidFill>
                <a:latin typeface="Consolas"/>
                <a:ea typeface="Consolas"/>
                <a:cs typeface="Consolas"/>
              </a:rPr>
              <a:t>可写会话状态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44768" y="2715768"/>
            <a:ext cx="5404104" cy="292608"/>
          </a:xfrm>
          <a:prstGeom prst="roundRect">
            <a:avLst>
              <a:gd name="adj" fmla="val 6000"/>
            </a:avLst>
          </a:prstGeom>
          <a:solidFill>
            <a:srgbClr val="ECEFFB"/>
          </a:solidFill>
          <a:ln w="12700">
            <a:solidFill>
              <a:srgbClr val="3E5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 i="0">
                <a:solidFill>
                  <a:srgbClr val="3E5FD9"/>
                </a:solidFill>
                <a:latin typeface="Microsoft YaHei"/>
                <a:ea typeface="Microsoft YaHei"/>
                <a:cs typeface="Microsoft YaHei"/>
              </a:rPr>
              <a:t>Realtime tick ＋ sliding window</a:t>
            </a:r>
          </a:p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650" b="0" i="0">
                <a:solidFill>
                  <a:srgbClr val="7C818B"/>
                </a:solidFill>
                <a:latin typeface="Consolas"/>
                <a:ea typeface="Consolas"/>
                <a:cs typeface="Consolas"/>
              </a:rPr>
              <a:t>按墙钟 ingest → decode → emit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8846820" y="3072384"/>
            <a:ext cx="0" cy="109728"/>
          </a:xfrm>
          <a:prstGeom prst="line">
            <a:avLst/>
          </a:prstGeom>
          <a:ln w="19050">
            <a:solidFill>
              <a:srgbClr val="3E5F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6035040" y="3200400"/>
            <a:ext cx="5623560" cy="896112"/>
          </a:xfrm>
          <a:prstGeom prst="roundRect">
            <a:avLst>
              <a:gd name="adj" fmla="val 3000"/>
            </a:avLst>
          </a:prstGeom>
          <a:solidFill>
            <a:srgbClr val="F5EEE2"/>
          </a:solidFill>
          <a:ln w="15875">
            <a:solidFill>
              <a:srgbClr val="A96F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6144768" y="3099816"/>
            <a:ext cx="1152144" cy="201168"/>
          </a:xfrm>
          <a:prstGeom prst="rect">
            <a:avLst/>
          </a:prstGeom>
          <a:solidFill>
            <a:srgbClr val="F5E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spcBef>
                <a:spcPts val="0"/>
              </a:spcBef>
            </a:pPr>
            <a:r>
              <a:rPr sz="650" b="0" i="0">
                <a:solidFill>
                  <a:srgbClr val="A96F0C"/>
                </a:solidFill>
                <a:latin typeface="Consolas"/>
                <a:ea typeface="Consolas"/>
                <a:cs typeface="Consolas"/>
              </a:rPr>
              <a:t>MODEL · 灵活改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144768" y="3401568"/>
            <a:ext cx="5404104" cy="292608"/>
          </a:xfrm>
          <a:prstGeom prst="roundRect">
            <a:avLst>
              <a:gd name="adj" fmla="val 6000"/>
            </a:avLst>
          </a:prstGeom>
          <a:solidFill>
            <a:srgbClr val="F5EEE2"/>
          </a:solidFill>
          <a:ln w="12700">
            <a:solidFill>
              <a:srgbClr val="A96F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 i="0">
                <a:solidFill>
                  <a:srgbClr val="A96F0C"/>
                </a:solidFill>
                <a:latin typeface="Microsoft YaHei"/>
                <a:ea typeface="Microsoft YaHei"/>
                <a:cs typeface="Microsoft YaHei"/>
              </a:rPr>
              <a:t>Audio chunk ↔ multimodal input / codec output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144768" y="3739896"/>
            <a:ext cx="5404104" cy="292608"/>
          </a:xfrm>
          <a:prstGeom prst="roundRect">
            <a:avLst>
              <a:gd name="adj" fmla="val 6000"/>
            </a:avLst>
          </a:prstGeom>
          <a:solidFill>
            <a:srgbClr val="F5EEE2"/>
          </a:solidFill>
          <a:ln w="12700">
            <a:solidFill>
              <a:srgbClr val="A96F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 i="0">
                <a:solidFill>
                  <a:srgbClr val="A96F0C"/>
                </a:solidFill>
                <a:latin typeface="Microsoft YaHei"/>
                <a:ea typeface="Microsoft YaHei"/>
                <a:cs typeface="Microsoft YaHei"/>
              </a:rPr>
              <a:t>sl / sp control tokens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650" b="0" i="0">
                <a:solidFill>
                  <a:srgbClr val="7C818B"/>
                </a:solidFill>
                <a:latin typeface="Consolas"/>
                <a:ea typeface="Consolas"/>
                <a:cs typeface="Consolas"/>
              </a:rPr>
              <a:t>说、听、打断由模型语义决定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035040" y="4151376"/>
            <a:ext cx="5623560" cy="859536"/>
          </a:xfrm>
          <a:prstGeom prst="roundRect">
            <a:avLst>
              <a:gd name="adj" fmla="val 3000"/>
            </a:avLst>
          </a:prstGeom>
          <a:solidFill>
            <a:srgbClr val="EDEDE8"/>
          </a:solidFill>
          <a:ln w="15875">
            <a:solidFill>
              <a:srgbClr val="A9A9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6144768" y="4050791"/>
            <a:ext cx="1609344" cy="201168"/>
          </a:xfrm>
          <a:prstGeom prst="rect">
            <a:avLst/>
          </a:prstGeom>
          <a:solidFill>
            <a:srgbClr val="EDE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spcBef>
                <a:spcPts val="0"/>
              </a:spcBef>
            </a:pPr>
            <a:r>
              <a:rPr sz="650" b="0" i="0">
                <a:solidFill>
                  <a:srgbClr val="7C818B"/>
                </a:solidFill>
                <a:latin typeface="Consolas"/>
                <a:ea typeface="Consolas"/>
                <a:cs typeface="Consolas"/>
              </a:rPr>
              <a:t>PRIMITIVE · 保持稳定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144768" y="4352544"/>
            <a:ext cx="1752600" cy="274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A9A9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 i="0">
                <a:solidFill>
                  <a:srgbClr val="16181C"/>
                </a:solidFill>
                <a:latin typeface="Microsoft YaHei"/>
                <a:ea typeface="Microsoft YaHei"/>
                <a:cs typeface="Microsoft YaHei"/>
              </a:rPr>
              <a:t>chunked prefill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970520" y="4352544"/>
            <a:ext cx="1752600" cy="274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A9A9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 i="0">
                <a:solidFill>
                  <a:srgbClr val="16181C"/>
                </a:solidFill>
                <a:latin typeface="Microsoft YaHei"/>
                <a:ea typeface="Microsoft YaHei"/>
                <a:cs typeface="Microsoft YaHei"/>
              </a:rPr>
              <a:t>continuous batching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796272" y="4352544"/>
            <a:ext cx="1752600" cy="274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A9A9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 i="0">
                <a:solidFill>
                  <a:srgbClr val="16181C"/>
                </a:solidFill>
                <a:latin typeface="Microsoft YaHei"/>
                <a:ea typeface="Microsoft YaHei"/>
                <a:cs typeface="Microsoft YaHei"/>
              </a:rPr>
              <a:t>async output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144768" y="4672583"/>
            <a:ext cx="1752600" cy="274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A9A9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 i="0">
                <a:solidFill>
                  <a:srgbClr val="16181C"/>
                </a:solidFill>
                <a:latin typeface="Microsoft YaHei"/>
                <a:ea typeface="Microsoft YaHei"/>
                <a:cs typeface="Microsoft YaHei"/>
              </a:rPr>
              <a:t>KV blocks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970520" y="4672583"/>
            <a:ext cx="1752600" cy="274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A9A9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 i="0">
                <a:solidFill>
                  <a:srgbClr val="16181C"/>
                </a:solidFill>
                <a:latin typeface="Microsoft YaHei"/>
                <a:ea typeface="Microsoft YaHei"/>
                <a:cs typeface="Microsoft YaHei"/>
              </a:rPr>
              <a:t>attention / ops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796272" y="4672583"/>
            <a:ext cx="1752600" cy="274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A9A9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 i="0">
                <a:solidFill>
                  <a:srgbClr val="16181C"/>
                </a:solidFill>
                <a:latin typeface="Microsoft YaHei"/>
                <a:ea typeface="Microsoft YaHei"/>
                <a:cs typeface="Microsoft YaHei"/>
              </a:rPr>
              <a:t>distributed executor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035040" y="5065776"/>
            <a:ext cx="5623560" cy="539496"/>
          </a:xfrm>
          <a:prstGeom prst="roundRect">
            <a:avLst>
              <a:gd name="adj" fmla="val 3000"/>
            </a:avLst>
          </a:prstGeom>
          <a:noFill/>
          <a:ln w="15875">
            <a:solidFill>
              <a:srgbClr val="C4326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6144768" y="4965192"/>
            <a:ext cx="1426464" cy="2011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spcBef>
                <a:spcPts val="0"/>
              </a:spcBef>
            </a:pPr>
            <a:r>
              <a:rPr sz="650" b="0" i="0">
                <a:solidFill>
                  <a:srgbClr val="C4326F"/>
                </a:solidFill>
                <a:latin typeface="Consolas"/>
                <a:ea typeface="Consolas"/>
                <a:cs typeface="Consolas"/>
              </a:rPr>
              <a:t>这个模型用不到 · 直接裁掉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144768" y="5266944"/>
            <a:ext cx="1296162" cy="274320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C4326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 i="0" strike="sngStrike">
                <a:solidFill>
                  <a:srgbClr val="C4326F"/>
                </a:solidFill>
                <a:latin typeface="Microsoft YaHei"/>
                <a:ea typeface="Microsoft YaHei"/>
                <a:cs typeface="Microsoft YaHei"/>
              </a:rPr>
              <a:t>Diffusion Stage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514081" y="5266944"/>
            <a:ext cx="1296162" cy="274320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C4326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 i="0" strike="sngStrike">
                <a:solidFill>
                  <a:srgbClr val="C4326F"/>
                </a:solidFill>
                <a:latin typeface="Microsoft YaHei"/>
                <a:ea typeface="Microsoft YaHei"/>
                <a:cs typeface="Microsoft YaHei"/>
              </a:rPr>
              <a:t>Diffusion KV Mgr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883396" y="5266944"/>
            <a:ext cx="1296162" cy="274320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C4326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 i="0" strike="sngStrike">
                <a:solidFill>
                  <a:srgbClr val="C4326F"/>
                </a:solidFill>
                <a:latin typeface="Microsoft YaHei"/>
                <a:ea typeface="Microsoft YaHei"/>
                <a:cs typeface="Microsoft YaHei"/>
              </a:rPr>
              <a:t>OmniConnector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10252709" y="5266944"/>
            <a:ext cx="1296162" cy="274320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C4326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 i="0" strike="sngStrike">
                <a:solidFill>
                  <a:srgbClr val="C4326F"/>
                </a:solidFill>
                <a:latin typeface="Microsoft YaHei"/>
                <a:ea typeface="Microsoft YaHei"/>
                <a:cs typeface="Microsoft YaHei"/>
              </a:rPr>
              <a:t>CFG 伴随请求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502920" y="6126480"/>
            <a:ext cx="11183112" cy="0"/>
          </a:xfrm>
          <a:prstGeom prst="line">
            <a:avLst/>
          </a:prstGeom>
          <a:ln w="12700">
            <a:solidFill>
              <a:srgbClr val="D6D6C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502920" y="6181344"/>
            <a:ext cx="11183112" cy="457200"/>
          </a:xfrm>
          <a:prstGeom prst="rect">
            <a:avLst/>
          </a:prstGeom>
          <a:noFill/>
          <a:effectLst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50" b="1" i="0">
                <a:solidFill>
                  <a:srgbClr val="3E5FD9"/>
                </a:solidFill>
                <a:latin typeface="Consolas"/>
                <a:ea typeface="Consolas"/>
                <a:cs typeface="Consolas"/>
              </a:rPr>
              <a:t>架构减法   </a:t>
            </a:r>
            <a:r>
              <a:rPr sz="1050" b="0" i="0">
                <a:solidFill>
                  <a:srgbClr val="16181C"/>
                </a:solidFill>
                <a:latin typeface="Microsoft YaHei"/>
                <a:ea typeface="Microsoft YaHei"/>
                <a:cs typeface="Microsoft YaHei"/>
              </a:rPr>
              <a:t>稳定 Primitive，不冻结创新；把变化限制在 Runtime 和 Model，才能又快又不把 Core 做胖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185855" y="6473952"/>
            <a:ext cx="731520" cy="274320"/>
          </a:xfrm>
          <a:prstGeom prst="rect">
            <a:avLst/>
          </a:prstGeom>
          <a:noFill/>
          <a:effectLst/>
        </p:spPr>
        <p:txBody>
          <a:bodyPr wrap="square" lIns="45720" tIns="27432" rIns="45720" bIns="27432" anchor="b">
            <a:spAutoFit/>
          </a:bodyPr>
          <a:lstStyle/>
          <a:p>
            <a:pPr algn="r">
              <a:spcBef>
                <a:spcPts val="0"/>
              </a:spcBef>
            </a:pPr>
            <a:r>
              <a:rPr sz="850" b="0" i="0">
                <a:solidFill>
                  <a:srgbClr val="7C818B"/>
                </a:solidFill>
                <a:latin typeface="Consolas"/>
                <a:ea typeface="Consolas"/>
                <a:cs typeface="Consolas"/>
              </a:rPr>
              <a:t>18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500"/>
                                  <p:tgtEl>
                                    <p:spTgt spid="3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" dur="500"/>
                                  <p:tgtEl>
                                    <p:spTgt spid="2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" dur="500"/>
                                  <p:tgtEl>
                                    <p:spTgt spid="3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" dur="500"/>
                                  <p:tgtEl>
                                    <p:spTgt spid="3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500"/>
                                  <p:tgtEl>
                                    <p:spTgt spid="3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" dur="500"/>
                                  <p:tgtEl>
                                    <p:spTgt spid="3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4" dur="500"/>
                                  <p:tgtEl>
                                    <p:spTgt spid="3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7" dur="500"/>
                                  <p:tgtEl>
                                    <p:spTgt spid="3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0" dur="500"/>
                                  <p:tgtEl>
                                    <p:spTgt spid="3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3" dur="500"/>
                                  <p:tgtEl>
                                    <p:spTgt spid="3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6" dur="500"/>
                                  <p:tgtEl>
                                    <p:spTgt spid="3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7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9" dur="500"/>
                                  <p:tgtEl>
                                    <p:spTgt spid="4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0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2" dur="500"/>
                                  <p:tgtEl>
                                    <p:spTgt spid="4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3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500"/>
                                  <p:tgtEl>
                                    <p:spTgt spid="4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8" dur="500"/>
                                  <p:tgtEl>
                                    <p:spTgt spid="4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9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1" dur="500"/>
                                  <p:tgtEl>
                                    <p:spTgt spid="4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2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4" dur="500"/>
                                  <p:tgtEl>
                                    <p:spTgt spid="4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7" dur="500"/>
                                  <p:tgtEl>
                                    <p:spTgt spid="4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8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" dur="500"/>
                                  <p:tgtEl>
                                    <p:spTgt spid="4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500"/>
                                  <p:tgtEl>
                                    <p:spTgt spid="4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6" dur="500"/>
                                  <p:tgtEl>
                                    <p:spTgt spid="4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0" dur="500"/>
                                  <p:tgtEl>
                                    <p:spTgt spid="5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1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3" dur="500"/>
                                  <p:tgtEl>
                                    <p:spTgt spid="5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6" dur="500"/>
                                  <p:tgtEl>
                                    <p:spTgt spid="5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7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9" dur="500"/>
                                  <p:tgtEl>
                                    <p:spTgt spid="5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0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2" dur="500"/>
                                  <p:tgtEl>
                                    <p:spTgt spid="5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3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5" dur="500"/>
                                  <p:tgtEl>
                                    <p:spTgt spid="5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6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8" dur="500"/>
                                  <p:tgtEl>
                                    <p:spTgt spid="5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9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1" dur="500"/>
                                  <p:tgtEl>
                                    <p:spTgt spid="5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937259" cy="237744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3E5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27432" rIns="36576" bIns="27432" rtlCol="0" anchor="ctr"/>
          <a:lstStyle/>
          <a:p>
            <a:pPr algn="ctr">
              <a:spcBef>
                <a:spcPts val="0"/>
              </a:spcBef>
            </a:pPr>
            <a:r>
              <a:rPr sz="850" b="1" i="0">
                <a:solidFill>
                  <a:srgbClr val="3E5FD9"/>
                </a:solidFill>
                <a:latin typeface="Microsoft YaHei"/>
                <a:ea typeface="Microsoft YaHei"/>
                <a:cs typeface="Microsoft YaHei"/>
              </a:rPr>
              <a:t>Vibe Coding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49907" y="356616"/>
            <a:ext cx="8229600" cy="256032"/>
          </a:xfrm>
          <a:prstGeom prst="rect">
            <a:avLst/>
          </a:prstGeom>
          <a:noFill/>
          <a:effectLst/>
        </p:spPr>
        <p:txBody>
          <a:bodyPr wrap="square" lIns="45720" tIns="27432" rIns="45720" bIns="27432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850" b="0" i="0">
                <a:solidFill>
                  <a:srgbClr val="7C818B"/>
                </a:solidFill>
                <a:latin typeface="Consolas"/>
                <a:ea typeface="Consolas"/>
                <a:cs typeface="Consolas"/>
              </a:rPr>
              <a:t>要素一 · 用插件化完成框架减法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31520"/>
            <a:ext cx="11155680" cy="868680"/>
          </a:xfrm>
          <a:prstGeom prst="rect">
            <a:avLst/>
          </a:prstGeom>
          <a:noFill/>
          <a:effectLst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900" b="1" i="0">
                <a:solidFill>
                  <a:srgbClr val="16181C"/>
                </a:solidFill>
                <a:latin typeface="Microsoft YaHei"/>
                <a:ea typeface="Microsoft YaHei"/>
                <a:cs typeface="Microsoft YaHei"/>
              </a:rPr>
              <a:t>从平台插件经验，走向执行与调度的可替换边界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10607040" cy="457200"/>
          </a:xfrm>
          <a:prstGeom prst="rect">
            <a:avLst/>
          </a:prstGeom>
          <a:noFill/>
          <a:effectLst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100" b="0" i="0">
                <a:solidFill>
                  <a:srgbClr val="4A4E57"/>
                </a:solidFill>
                <a:latin typeface="Microsoft YaHei"/>
                <a:ea typeface="Microsoft YaHei"/>
                <a:cs typeface="Microsoft YaHei"/>
              </a:rPr>
              <a:t>时间线必须说清楚：哪些已经稳定存在，哪些正在重构，哪些还是下一步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965960"/>
            <a:ext cx="3514344" cy="1691640"/>
          </a:xfrm>
          <a:prstGeom prst="roundRect">
            <a:avLst>
              <a:gd name="adj" fmla="val 5000"/>
            </a:avLst>
          </a:prstGeom>
          <a:solidFill>
            <a:srgbClr val="EDEDE8"/>
          </a:solidFill>
          <a:ln w="12700">
            <a:solidFill>
              <a:srgbClr val="D6D6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09728" rIns="128016" bIns="91440" rtlCol="0" anchor="t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750" b="0" i="0">
                <a:solidFill>
                  <a:srgbClr val="7C818B"/>
                </a:solidFill>
                <a:latin typeface="Consolas"/>
                <a:ea typeface="Consolas"/>
                <a:cs typeface="Consolas"/>
              </a:rPr>
              <a:t>EXISTING · 已有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6181C"/>
                </a:solidFill>
                <a:latin typeface="Microsoft YaHei"/>
                <a:ea typeface="Microsoft YaHei"/>
                <a:cs typeface="Microsoft YaHei"/>
              </a:rPr>
              <a:t>成熟的插件发现机制</a:t>
            </a:r>
          </a:p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900" b="0" i="0">
                <a:solidFill>
                  <a:srgbClr val="4A4E57"/>
                </a:solidFill>
                <a:latin typeface="Microsoft YaHei"/>
                <a:ea typeface="Microsoft YaHei"/>
                <a:cs typeface="Microsoft YaHei"/>
              </a:rPr>
              <a:t>general / platform / IO processor / stat logger / endpoint 使用 entry_points；VLLM_PLUGINS 控制加载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37304" y="1965960"/>
            <a:ext cx="3514344" cy="1691640"/>
          </a:xfrm>
          <a:prstGeom prst="roundRect">
            <a:avLst>
              <a:gd name="adj" fmla="val 5000"/>
            </a:avLst>
          </a:prstGeom>
          <a:solidFill>
            <a:srgbClr val="ECEFFB"/>
          </a:solidFill>
          <a:ln w="12700">
            <a:solidFill>
              <a:srgbClr val="3E5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09728" rIns="128016" bIns="91440" rtlCol="0" anchor="t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750" b="0" i="0">
                <a:solidFill>
                  <a:srgbClr val="7C818B"/>
                </a:solidFill>
                <a:latin typeface="Consolas"/>
                <a:ea typeface="Consolas"/>
                <a:cs typeface="Consolas"/>
              </a:rPr>
              <a:t>NOW · 正在推进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3E5FD9"/>
                </a:solidFill>
                <a:latin typeface="Microsoft YaHei"/>
                <a:ea typeface="Microsoft YaHei"/>
                <a:cs typeface="Microsoft YaHei"/>
              </a:rPr>
              <a:t>Model Runner V2</a:t>
            </a:r>
          </a:p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900" b="0" i="0">
                <a:solidFill>
                  <a:srgbClr val="4A4E57"/>
                </a:solidFill>
                <a:latin typeface="Microsoft YaHei"/>
                <a:ea typeface="Microsoft YaHei"/>
                <a:cs typeface="Microsoft YaHei"/>
              </a:rPr>
              <a:t>从 V1 巨型 Runner 拆出 InputBatch 与独立 feature modules；async-first、模块化优先，当前尚未 feature-complete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71688" y="1965960"/>
            <a:ext cx="3514344" cy="1691640"/>
          </a:xfrm>
          <a:prstGeom prst="roundRect">
            <a:avLst>
              <a:gd name="adj" fmla="val 5000"/>
            </a:avLst>
          </a:prstGeom>
          <a:solidFill>
            <a:srgbClr val="EDEDE8"/>
          </a:solidFill>
          <a:ln w="12700">
            <a:solidFill>
              <a:srgbClr val="D6D6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09728" rIns="128016" bIns="91440" rtlCol="0" anchor="t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750" b="0" i="0">
                <a:solidFill>
                  <a:srgbClr val="7C818B"/>
                </a:solidFill>
                <a:latin typeface="Consolas"/>
                <a:ea typeface="Consolas"/>
                <a:cs typeface="Consolas"/>
              </a:rPr>
              <a:t>NEXT · 未来方向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6181C"/>
                </a:solidFill>
                <a:latin typeface="Microsoft YaHei"/>
                <a:ea typeface="Microsoft YaHei"/>
                <a:cs typeface="Microsoft YaHei"/>
              </a:rPr>
              <a:t>Scheduler 插件化</a:t>
            </a:r>
          </a:p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900" b="0" i="0">
                <a:solidFill>
                  <a:srgbClr val="4A4E57"/>
                </a:solidFill>
                <a:latin typeface="Microsoft YaHei"/>
                <a:ea typeface="Microsoft YaHei"/>
                <a:cs typeface="Microsoft YaHei"/>
              </a:rPr>
              <a:t>从现有 scheduler_cls 注入继续演进到稳定、版本化的公开协议与兼容性测试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977639"/>
            <a:ext cx="11183112" cy="502920"/>
          </a:xfrm>
          <a:prstGeom prst="roundRect">
            <a:avLst>
              <a:gd name="adj" fmla="val 5000"/>
            </a:avLst>
          </a:prstGeom>
          <a:solidFill>
            <a:srgbClr val="EDEDE8"/>
          </a:solidFill>
          <a:ln w="12700">
            <a:solidFill>
              <a:srgbClr val="D6D6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12648" y="3977639"/>
            <a:ext cx="1234440" cy="502920"/>
          </a:xfrm>
          <a:prstGeom prst="rect">
            <a:avLst/>
          </a:prstGeom>
          <a:noFill/>
          <a:effectLst/>
        </p:spPr>
        <p:txBody>
          <a:bodyPr wrap="square" lIns="45720" tIns="27432" rIns="45720" bIns="27432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950" b="1" i="0">
                <a:solidFill>
                  <a:srgbClr val="3E5FD9"/>
                </a:solidFill>
                <a:latin typeface="Consolas"/>
                <a:ea typeface="Consolas"/>
                <a:cs typeface="Consolas"/>
              </a:rPr>
              <a:t>WHY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20" y="3977639"/>
            <a:ext cx="6565392" cy="502920"/>
          </a:xfrm>
          <a:prstGeom prst="rect">
            <a:avLst/>
          </a:prstGeom>
          <a:noFill/>
          <a:effectLst/>
        </p:spPr>
        <p:txBody>
          <a:bodyPr wrap="square" lIns="45720" tIns="27432" rIns="45720" bIns="27432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16181C"/>
                </a:solidFill>
                <a:latin typeface="Microsoft YaHei"/>
                <a:ea typeface="Microsoft YaHei"/>
                <a:cs typeface="Microsoft YaHei"/>
              </a:rPr>
              <a:t>模型 / 平台 / 调度变化不再持续堆进同一个 Core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352" y="3977639"/>
            <a:ext cx="3108960" cy="502920"/>
          </a:xfrm>
          <a:prstGeom prst="rect">
            <a:avLst/>
          </a:prstGeom>
          <a:noFill/>
          <a:effectLst/>
        </p:spPr>
        <p:txBody>
          <a:bodyPr wrap="square" lIns="45720" tIns="27432" rIns="45720" bIns="27432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0E8C7C"/>
                </a:solidFill>
                <a:latin typeface="Consolas"/>
                <a:ea typeface="Consolas"/>
                <a:cs typeface="Consolas"/>
              </a:rPr>
              <a:t>smaller core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4553712"/>
            <a:ext cx="11183112" cy="502920"/>
          </a:xfrm>
          <a:prstGeom prst="roundRect">
            <a:avLst>
              <a:gd name="adj" fmla="val 5000"/>
            </a:avLst>
          </a:prstGeom>
          <a:solidFill>
            <a:srgbClr val="EDEDE8"/>
          </a:solidFill>
          <a:ln w="12700">
            <a:solidFill>
              <a:srgbClr val="D6D6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12648" y="4553712"/>
            <a:ext cx="1234440" cy="502920"/>
          </a:xfrm>
          <a:prstGeom prst="rect">
            <a:avLst/>
          </a:prstGeom>
          <a:noFill/>
          <a:effectLst/>
        </p:spPr>
        <p:txBody>
          <a:bodyPr wrap="square" lIns="45720" tIns="27432" rIns="45720" bIns="27432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950" b="1" i="0">
                <a:solidFill>
                  <a:srgbClr val="3E5FD9"/>
                </a:solidFill>
                <a:latin typeface="Consolas"/>
                <a:ea typeface="Consolas"/>
                <a:cs typeface="Consolas"/>
              </a:rPr>
              <a:t>MRV2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20" y="4553712"/>
            <a:ext cx="6565392" cy="502920"/>
          </a:xfrm>
          <a:prstGeom prst="rect">
            <a:avLst/>
          </a:prstGeom>
          <a:noFill/>
          <a:effectLst/>
        </p:spPr>
        <p:txBody>
          <a:bodyPr wrap="square" lIns="45720" tIns="27432" rIns="45720" bIns="27432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16181C"/>
                </a:solidFill>
                <a:latin typeface="Microsoft YaHei"/>
                <a:ea typeface="Microsoft YaHei"/>
                <a:cs typeface="Microsoft YaHei"/>
              </a:rPr>
              <a:t>先解耦状态、输入准备、采样与执行路径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31352" y="4553712"/>
            <a:ext cx="3108960" cy="502920"/>
          </a:xfrm>
          <a:prstGeom prst="rect">
            <a:avLst/>
          </a:prstGeom>
          <a:noFill/>
          <a:effectLst/>
        </p:spPr>
        <p:txBody>
          <a:bodyPr wrap="square" lIns="45720" tIns="27432" rIns="45720" bIns="27432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0E8C7C"/>
                </a:solidFill>
                <a:latin typeface="Consolas"/>
                <a:ea typeface="Consolas"/>
                <a:cs typeface="Consolas"/>
              </a:rPr>
              <a:t>modular first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5129783"/>
            <a:ext cx="11183112" cy="502920"/>
          </a:xfrm>
          <a:prstGeom prst="roundRect">
            <a:avLst>
              <a:gd name="adj" fmla="val 5000"/>
            </a:avLst>
          </a:prstGeom>
          <a:solidFill>
            <a:srgbClr val="F5EEE2"/>
          </a:solidFill>
          <a:ln w="12700">
            <a:solidFill>
              <a:srgbClr val="A96F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12648" y="5129783"/>
            <a:ext cx="1234440" cy="502920"/>
          </a:xfrm>
          <a:prstGeom prst="rect">
            <a:avLst/>
          </a:prstGeom>
          <a:noFill/>
          <a:effectLst/>
        </p:spPr>
        <p:txBody>
          <a:bodyPr wrap="square" lIns="45720" tIns="27432" rIns="45720" bIns="27432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950" b="1" i="0">
                <a:solidFill>
                  <a:srgbClr val="A96F0C"/>
                </a:solidFill>
                <a:latin typeface="Consolas"/>
                <a:ea typeface="Consolas"/>
                <a:cs typeface="Consolas"/>
              </a:rPr>
              <a:t>SCHED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74520" y="5129783"/>
            <a:ext cx="6565392" cy="502920"/>
          </a:xfrm>
          <a:prstGeom prst="rect">
            <a:avLst/>
          </a:prstGeom>
          <a:noFill/>
          <a:effectLst/>
        </p:spPr>
        <p:txBody>
          <a:bodyPr wrap="square" lIns="45720" tIns="27432" rIns="45720" bIns="27432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16181C"/>
                </a:solidFill>
                <a:latin typeface="Microsoft YaHei"/>
                <a:ea typeface="Microsoft YaHei"/>
                <a:cs typeface="Microsoft YaHei"/>
              </a:rPr>
              <a:t>未来让吞吐、异步、实时策略通过稳定契约替换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31352" y="5129783"/>
            <a:ext cx="3108960" cy="502920"/>
          </a:xfrm>
          <a:prstGeom prst="rect">
            <a:avLst/>
          </a:prstGeom>
          <a:noFill/>
          <a:effectLst/>
        </p:spPr>
        <p:txBody>
          <a:bodyPr wrap="square" lIns="45720" tIns="27432" rIns="45720" bIns="27432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A96F0C"/>
                </a:solidFill>
                <a:latin typeface="Consolas"/>
                <a:ea typeface="Consolas"/>
                <a:cs typeface="Consolas"/>
              </a:rPr>
              <a:t>future · not public yet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02920" y="6080760"/>
            <a:ext cx="11183112" cy="0"/>
          </a:xfrm>
          <a:prstGeom prst="line">
            <a:avLst/>
          </a:prstGeom>
          <a:ln w="12700">
            <a:solidFill>
              <a:srgbClr val="D6D6C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02920" y="6135624"/>
            <a:ext cx="11183112" cy="457200"/>
          </a:xfrm>
          <a:prstGeom prst="rect">
            <a:avLst/>
          </a:prstGeom>
          <a:noFill/>
          <a:effectLst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50" b="1" i="0">
                <a:solidFill>
                  <a:srgbClr val="3E5FD9"/>
                </a:solidFill>
                <a:latin typeface="Consolas"/>
                <a:ea typeface="Consolas"/>
                <a:cs typeface="Consolas"/>
              </a:rPr>
              <a:t>减法   </a:t>
            </a:r>
            <a:r>
              <a:rPr sz="1050" b="0" i="0">
                <a:solidFill>
                  <a:srgbClr val="16181C"/>
                </a:solidFill>
                <a:latin typeface="Microsoft YaHei"/>
                <a:ea typeface="Microsoft YaHei"/>
                <a:cs typeface="Microsoft YaHei"/>
              </a:rPr>
              <a:t>先把巨型实现拆成清晰模块，再把变化率最高的策略移到可替换边界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85855" y="6473952"/>
            <a:ext cx="731520" cy="274320"/>
          </a:xfrm>
          <a:prstGeom prst="rect">
            <a:avLst/>
          </a:prstGeom>
          <a:noFill/>
          <a:effectLst/>
        </p:spPr>
        <p:txBody>
          <a:bodyPr wrap="square" lIns="45720" tIns="27432" rIns="45720" bIns="27432" anchor="b">
            <a:spAutoFit/>
          </a:bodyPr>
          <a:lstStyle/>
          <a:p>
            <a:pPr algn="r">
              <a:spcBef>
                <a:spcPts val="0"/>
              </a:spcBef>
            </a:pPr>
            <a:r>
              <a:rPr sz="850" b="0" i="0">
                <a:solidFill>
                  <a:srgbClr val="7C818B"/>
                </a:solidFill>
                <a:latin typeface="Consolas"/>
                <a:ea typeface="Consolas"/>
                <a:cs typeface="Consolas"/>
              </a:rPr>
              <a:t>19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5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" dur="5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" dur="5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" dur="50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50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2" dur="50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5" dur="50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8" dur="50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1" dur="500"/>
                                  <p:tgtEl>
                                    <p:spTgt spid="2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2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4" dur="50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7" dur="50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8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0" dur="500"/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937259" cy="237744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3E5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27432" rIns="36576" bIns="27432" rtlCol="0" anchor="ctr"/>
          <a:lstStyle/>
          <a:p>
            <a:pPr algn="ctr">
              <a:spcBef>
                <a:spcPts val="0"/>
              </a:spcBef>
            </a:pPr>
            <a:r>
              <a:rPr sz="850" b="1" i="0">
                <a:solidFill>
                  <a:srgbClr val="3E5FD9"/>
                </a:solidFill>
                <a:latin typeface="Microsoft YaHei"/>
                <a:ea typeface="Microsoft YaHei"/>
                <a:cs typeface="Microsoft YaHei"/>
              </a:rPr>
              <a:t>Vibe Coding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49907" y="356616"/>
            <a:ext cx="8229600" cy="256032"/>
          </a:xfrm>
          <a:prstGeom prst="rect">
            <a:avLst/>
          </a:prstGeom>
          <a:noFill/>
          <a:effectLst/>
        </p:spPr>
        <p:txBody>
          <a:bodyPr wrap="square" lIns="45720" tIns="27432" rIns="45720" bIns="27432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850" b="0" i="0">
                <a:solidFill>
                  <a:srgbClr val="7C818B"/>
                </a:solidFill>
                <a:latin typeface="Consolas"/>
                <a:ea typeface="Consolas"/>
                <a:cs typeface="Consolas"/>
              </a:rPr>
              <a:t>要素二 · 对外立接口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31520"/>
            <a:ext cx="11155680" cy="868680"/>
          </a:xfrm>
          <a:prstGeom prst="rect">
            <a:avLst/>
          </a:prstGeom>
          <a:noFill/>
          <a:effectLst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000" b="1" i="0">
                <a:solidFill>
                  <a:srgbClr val="16181C"/>
                </a:solidFill>
                <a:latin typeface="Microsoft YaHei"/>
                <a:ea typeface="Microsoft YaHei"/>
                <a:cs typeface="Microsoft YaHei"/>
              </a:rPr>
              <a:t>RL 框架调服务，而不是 import 引擎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783080"/>
            <a:ext cx="5349240" cy="237744"/>
          </a:xfrm>
          <a:prstGeom prst="rect">
            <a:avLst/>
          </a:prstGeom>
          <a:noFill/>
          <a:effectLst/>
        </p:spPr>
        <p:txBody>
          <a:bodyPr wrap="square" lIns="45720" tIns="27432" rIns="45720" bIns="18288" anchor="b">
            <a:spAutoFit/>
          </a:bodyPr>
          <a:lstStyle/>
          <a:p>
            <a:pPr algn="l">
              <a:spcBef>
                <a:spcPts val="0"/>
              </a:spcBef>
            </a:pPr>
            <a:r>
              <a:rPr sz="850" b="1" i="0">
                <a:solidFill>
                  <a:srgbClr val="C4326F"/>
                </a:solidFill>
                <a:latin typeface="Consolas"/>
                <a:ea typeface="Consolas"/>
                <a:cs typeface="Consolas"/>
              </a:rPr>
              <a:t>库调用 · RL 框架 IMPORT 引擎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783080"/>
            <a:ext cx="5349240" cy="237744"/>
          </a:xfrm>
          <a:prstGeom prst="rect">
            <a:avLst/>
          </a:prstGeom>
          <a:noFill/>
          <a:effectLst/>
        </p:spPr>
        <p:txBody>
          <a:bodyPr wrap="square" lIns="45720" tIns="27432" rIns="45720" bIns="18288" anchor="b">
            <a:spAutoFit/>
          </a:bodyPr>
          <a:lstStyle/>
          <a:p>
            <a:pPr algn="r">
              <a:spcBef>
                <a:spcPts val="0"/>
              </a:spcBef>
            </a:pPr>
            <a:r>
              <a:rPr sz="750" b="0" i="0">
                <a:solidFill>
                  <a:srgbClr val="C4326F"/>
                </a:solidFill>
                <a:latin typeface="Consolas"/>
                <a:ea typeface="Consolas"/>
                <a:cs typeface="Consolas"/>
              </a:rPr>
              <a:t>改一处，两处疼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02920" y="2039112"/>
            <a:ext cx="5349239" cy="0"/>
          </a:xfrm>
          <a:prstGeom prst="line">
            <a:avLst/>
          </a:prstGeom>
          <a:ln w="12700">
            <a:solidFill>
              <a:srgbClr val="C4326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02920" y="2194560"/>
            <a:ext cx="5349240" cy="713231"/>
          </a:xfrm>
          <a:prstGeom prst="roundRect">
            <a:avLst>
              <a:gd name="adj" fmla="val 3000"/>
            </a:avLst>
          </a:prstGeom>
          <a:noFill/>
          <a:ln w="15875">
            <a:solidFill>
              <a:srgbClr val="C4326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12648" y="2093976"/>
            <a:ext cx="786384" cy="2011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spcBef>
                <a:spcPts val="0"/>
              </a:spcBef>
            </a:pPr>
            <a:r>
              <a:rPr sz="650" b="0" i="0">
                <a:solidFill>
                  <a:srgbClr val="C4326F"/>
                </a:solidFill>
                <a:latin typeface="Consolas"/>
                <a:ea typeface="Consolas"/>
                <a:cs typeface="Consolas"/>
              </a:rPr>
              <a:t>RL 训练框架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" y="2414015"/>
            <a:ext cx="5129783" cy="420624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C4326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 i="0" strike="sngStrike">
                <a:solidFill>
                  <a:srgbClr val="C4326F"/>
                </a:solidFill>
                <a:latin typeface="Microsoft YaHei"/>
                <a:ea typeface="Microsoft YaHei"/>
                <a:cs typeface="Microsoft YaHei"/>
              </a:rPr>
              <a:t>直接 import 引擎内部对象</a:t>
            </a:r>
          </a:p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650" b="0" i="0">
                <a:solidFill>
                  <a:srgbClr val="7C818B"/>
                </a:solidFill>
                <a:latin typeface="Consolas"/>
                <a:ea typeface="Consolas"/>
                <a:cs typeface="Consolas"/>
              </a:rPr>
              <a:t>Scheduler · Request · Stage · 权重张量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177539" y="3017520"/>
            <a:ext cx="0" cy="128016"/>
          </a:xfrm>
          <a:prstGeom prst="line">
            <a:avLst/>
          </a:prstGeom>
          <a:ln w="19050">
            <a:solidFill>
              <a:srgbClr val="A9A99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02920" y="3182112"/>
            <a:ext cx="5349240" cy="713231"/>
          </a:xfrm>
          <a:prstGeom prst="roundRect">
            <a:avLst>
              <a:gd name="adj" fmla="val 3000"/>
            </a:avLst>
          </a:prstGeom>
          <a:solidFill>
            <a:srgbClr val="EDEDE8"/>
          </a:solidFill>
          <a:ln w="15875">
            <a:solidFill>
              <a:srgbClr val="A9A9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2648" y="3081528"/>
            <a:ext cx="969264" cy="201168"/>
          </a:xfrm>
          <a:prstGeom prst="rect">
            <a:avLst/>
          </a:prstGeom>
          <a:solidFill>
            <a:srgbClr val="EDE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spcBef>
                <a:spcPts val="0"/>
              </a:spcBef>
            </a:pPr>
            <a:r>
              <a:rPr sz="650" b="0" i="0">
                <a:solidFill>
                  <a:srgbClr val="7C818B"/>
                </a:solidFill>
                <a:latin typeface="Consolas"/>
                <a:ea typeface="Consolas"/>
                <a:cs typeface="Consolas"/>
              </a:rPr>
              <a:t>推理引擎（当作库）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" y="3401568"/>
            <a:ext cx="5129783" cy="4206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A9A9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 i="0">
                <a:solidFill>
                  <a:srgbClr val="16181C"/>
                </a:solidFill>
                <a:latin typeface="Microsoft YaHei"/>
                <a:ea typeface="Microsoft YaHei"/>
                <a:cs typeface="Microsoft YaHei"/>
              </a:rPr>
              <a:t>Orchestrator · StagePool · Stage · Connector</a:t>
            </a:r>
          </a:p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650" b="0" i="0">
                <a:solidFill>
                  <a:srgbClr val="7C818B"/>
                </a:solidFill>
                <a:latin typeface="Consolas"/>
                <a:ea typeface="Consolas"/>
                <a:cs typeface="Consolas"/>
              </a:rPr>
              <a:t>内部结构完全暴露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02920" y="4114800"/>
            <a:ext cx="0" cy="457200"/>
          </a:xfrm>
          <a:prstGeom prst="line">
            <a:avLst/>
          </a:prstGeom>
          <a:ln w="25400">
            <a:solidFill>
              <a:srgbClr val="C4326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76072" y="4114800"/>
            <a:ext cx="5276088" cy="457200"/>
          </a:xfrm>
          <a:prstGeom prst="rect">
            <a:avLst/>
          </a:prstGeom>
          <a:noFill/>
          <a:effectLst/>
        </p:spPr>
        <p:txBody>
          <a:bodyPr wrap="square" lIns="45720" tIns="27432" rIns="45720" bIns="27432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750" b="0" i="0">
                <a:solidFill>
                  <a:srgbClr val="C4326F"/>
                </a:solidFill>
                <a:latin typeface="Consolas"/>
                <a:ea typeface="Consolas"/>
                <a:cs typeface="Consolas"/>
              </a:rPr>
              <a:t>推理侧每改一次，RL 侧跟着改一次 · 训练/上线 ＝ 两条代码路径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1783080"/>
            <a:ext cx="5349240" cy="237744"/>
          </a:xfrm>
          <a:prstGeom prst="rect">
            <a:avLst/>
          </a:prstGeom>
          <a:noFill/>
          <a:effectLst/>
        </p:spPr>
        <p:txBody>
          <a:bodyPr wrap="square" lIns="45720" tIns="27432" rIns="45720" bIns="18288" anchor="b">
            <a:spAutoFit/>
          </a:bodyPr>
          <a:lstStyle/>
          <a:p>
            <a:pPr algn="l">
              <a:spcBef>
                <a:spcPts val="0"/>
              </a:spcBef>
            </a:pPr>
            <a:r>
              <a:rPr sz="850" b="1" i="0">
                <a:solidFill>
                  <a:srgbClr val="3E5FD9"/>
                </a:solidFill>
                <a:latin typeface="Consolas"/>
                <a:ea typeface="Consolas"/>
                <a:cs typeface="Consolas"/>
              </a:rPr>
              <a:t>SERVER-BASED · RL 框架调 HTTP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1783080"/>
            <a:ext cx="5349240" cy="237744"/>
          </a:xfrm>
          <a:prstGeom prst="rect">
            <a:avLst/>
          </a:prstGeom>
          <a:noFill/>
          <a:effectLst/>
        </p:spPr>
        <p:txBody>
          <a:bodyPr wrap="square" lIns="45720" tIns="27432" rIns="45720" bIns="18288" anchor="b">
            <a:spAutoFit/>
          </a:bodyPr>
          <a:lstStyle/>
          <a:p>
            <a:pPr algn="r">
              <a:spcBef>
                <a:spcPts val="0"/>
              </a:spcBef>
            </a:pPr>
            <a:r>
              <a:rPr sz="750" b="0" i="0">
                <a:solidFill>
                  <a:srgbClr val="3E5FD9"/>
                </a:solidFill>
                <a:latin typeface="Consolas"/>
                <a:ea typeface="Consolas"/>
                <a:cs typeface="Consolas"/>
              </a:rPr>
              <a:t>改动被挡在门内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309360" y="2039112"/>
            <a:ext cx="5349240" cy="0"/>
          </a:xfrm>
          <a:prstGeom prst="line">
            <a:avLst/>
          </a:prstGeom>
          <a:ln w="12700">
            <a:solidFill>
              <a:srgbClr val="3E5F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309360" y="2194560"/>
            <a:ext cx="5349240" cy="713231"/>
          </a:xfrm>
          <a:prstGeom prst="roundRect">
            <a:avLst>
              <a:gd name="adj" fmla="val 3000"/>
            </a:avLst>
          </a:prstGeom>
          <a:solidFill>
            <a:srgbClr val="EDEDE8"/>
          </a:solidFill>
          <a:ln w="15875">
            <a:solidFill>
              <a:srgbClr val="A9A9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419088" y="2093976"/>
            <a:ext cx="786384" cy="201168"/>
          </a:xfrm>
          <a:prstGeom prst="rect">
            <a:avLst/>
          </a:prstGeom>
          <a:solidFill>
            <a:srgbClr val="EDE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spcBef>
                <a:spcPts val="0"/>
              </a:spcBef>
            </a:pPr>
            <a:r>
              <a:rPr sz="650" b="0" i="0">
                <a:solidFill>
                  <a:srgbClr val="7C818B"/>
                </a:solidFill>
                <a:latin typeface="Consolas"/>
                <a:ea typeface="Consolas"/>
                <a:cs typeface="Consolas"/>
              </a:rPr>
              <a:t>RL 训练框架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19088" y="2414015"/>
            <a:ext cx="5129783" cy="4206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A9A9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 i="0">
                <a:solidFill>
                  <a:srgbClr val="16181C"/>
                </a:solidFill>
                <a:latin typeface="Microsoft YaHei"/>
                <a:ea typeface="Microsoft YaHei"/>
                <a:cs typeface="Microsoft YaHei"/>
              </a:rPr>
              <a:t>只会做两件事</a:t>
            </a:r>
          </a:p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650" b="0" i="0">
                <a:solidFill>
                  <a:srgbClr val="7C818B"/>
                </a:solidFill>
                <a:latin typeface="Consolas"/>
                <a:ea typeface="Consolas"/>
                <a:cs typeface="Consolas"/>
              </a:rPr>
              <a:t>发 rollout 请求 · 推权重更新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983980" y="3017520"/>
            <a:ext cx="0" cy="128016"/>
          </a:xfrm>
          <a:prstGeom prst="line">
            <a:avLst/>
          </a:prstGeom>
          <a:ln w="19050">
            <a:solidFill>
              <a:srgbClr val="3E5F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309360" y="3182112"/>
            <a:ext cx="5349240" cy="1170432"/>
          </a:xfrm>
          <a:prstGeom prst="roundRect">
            <a:avLst>
              <a:gd name="adj" fmla="val 3000"/>
            </a:avLst>
          </a:prstGeom>
          <a:solidFill>
            <a:srgbClr val="ECEFFB"/>
          </a:solidFill>
          <a:ln w="15875">
            <a:solidFill>
              <a:srgbClr val="3E5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419088" y="3081528"/>
            <a:ext cx="1243584" cy="201168"/>
          </a:xfrm>
          <a:prstGeom prst="rect">
            <a:avLst/>
          </a:prstGeom>
          <a:solidFill>
            <a:srgbClr val="EC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spcBef>
                <a:spcPts val="0"/>
              </a:spcBef>
            </a:pPr>
            <a:r>
              <a:rPr sz="650" b="0" i="0">
                <a:solidFill>
                  <a:srgbClr val="3E5FD9"/>
                </a:solidFill>
                <a:latin typeface="Consolas"/>
                <a:ea typeface="Consolas"/>
                <a:cs typeface="Consolas"/>
              </a:rPr>
              <a:t>唯一的契约 · HTTP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19088" y="3401568"/>
            <a:ext cx="5129783" cy="402336"/>
          </a:xfrm>
          <a:prstGeom prst="roundRect">
            <a:avLst>
              <a:gd name="adj" fmla="val 6000"/>
            </a:avLst>
          </a:prstGeom>
          <a:solidFill>
            <a:srgbClr val="ECEFFB"/>
          </a:solidFill>
          <a:ln w="12700">
            <a:solidFill>
              <a:srgbClr val="3E5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 i="0">
                <a:solidFill>
                  <a:srgbClr val="3E5FD9"/>
                </a:solidFill>
                <a:latin typeface="Microsoft YaHei"/>
                <a:ea typeface="Microsoft YaHei"/>
                <a:cs typeface="Microsoft YaHei"/>
              </a:rPr>
              <a:t>/v1/chat/completions · rollout</a:t>
            </a:r>
          </a:p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650" b="0" i="0">
                <a:solidFill>
                  <a:srgbClr val="7C818B"/>
                </a:solidFill>
                <a:latin typeface="Consolas"/>
                <a:ea typeface="Consolas"/>
                <a:cs typeface="Consolas"/>
              </a:rPr>
              <a:t>OpenAI 兼容 · 多阶段请求也是一条请求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19088" y="3877056"/>
            <a:ext cx="5129783" cy="402336"/>
          </a:xfrm>
          <a:prstGeom prst="roundRect">
            <a:avLst>
              <a:gd name="adj" fmla="val 6000"/>
            </a:avLst>
          </a:prstGeom>
          <a:solidFill>
            <a:srgbClr val="ECEFFB"/>
          </a:solidFill>
          <a:ln w="12700">
            <a:solidFill>
              <a:srgbClr val="3E5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 i="0">
                <a:solidFill>
                  <a:srgbClr val="3E5FD9"/>
                </a:solidFill>
                <a:latin typeface="Microsoft YaHei"/>
                <a:ea typeface="Microsoft YaHei"/>
                <a:cs typeface="Microsoft YaHei"/>
              </a:rPr>
              <a:t>/update_weights  /sleep  /wake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650" b="0" i="0">
                <a:solidFill>
                  <a:srgbClr val="7C818B"/>
                </a:solidFill>
                <a:latin typeface="Consolas"/>
                <a:ea typeface="Consolas"/>
                <a:cs typeface="Consolas"/>
              </a:rPr>
              <a:t>训练侧只需要这几个动作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983980" y="4553712"/>
            <a:ext cx="0" cy="128016"/>
          </a:xfrm>
          <a:prstGeom prst="line">
            <a:avLst/>
          </a:prstGeom>
          <a:ln w="19050">
            <a:solidFill>
              <a:srgbClr val="3E5F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6309360" y="4718304"/>
            <a:ext cx="5349240" cy="658368"/>
          </a:xfrm>
          <a:prstGeom prst="roundRect">
            <a:avLst>
              <a:gd name="adj" fmla="val 3000"/>
            </a:avLst>
          </a:prstGeom>
          <a:solidFill>
            <a:srgbClr val="EDEDE8"/>
          </a:solidFill>
          <a:ln w="15875">
            <a:solidFill>
              <a:srgbClr val="A9A9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419088" y="4617720"/>
            <a:ext cx="1609344" cy="201168"/>
          </a:xfrm>
          <a:prstGeom prst="rect">
            <a:avLst/>
          </a:prstGeom>
          <a:solidFill>
            <a:srgbClr val="EDE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spcBef>
                <a:spcPts val="0"/>
              </a:spcBef>
            </a:pPr>
            <a:r>
              <a:rPr sz="650" b="0" i="0">
                <a:solidFill>
                  <a:srgbClr val="7C818B"/>
                </a:solidFill>
                <a:latin typeface="Consolas"/>
                <a:ea typeface="Consolas"/>
                <a:cs typeface="Consolas"/>
              </a:rPr>
              <a:t>推理服务（同一个 SERVER）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19088" y="4919472"/>
            <a:ext cx="5129783" cy="3840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A9A9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 i="0">
                <a:solidFill>
                  <a:srgbClr val="16181C"/>
                </a:solidFill>
                <a:latin typeface="Microsoft YaHei"/>
                <a:ea typeface="Microsoft YaHei"/>
                <a:cs typeface="Microsoft YaHei"/>
              </a:rPr>
              <a:t>Orchestrator · StagePool · Stage · Connector</a:t>
            </a:r>
          </a:p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650" b="0" i="0">
                <a:solidFill>
                  <a:srgbClr val="7C818B"/>
                </a:solidFill>
                <a:latin typeface="Consolas"/>
                <a:ea typeface="Consolas"/>
                <a:cs typeface="Consolas"/>
              </a:rPr>
              <a:t>内部随便改，门外看不见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4892040"/>
            <a:ext cx="5349240" cy="256032"/>
          </a:xfrm>
          <a:prstGeom prst="rect">
            <a:avLst/>
          </a:prstGeom>
          <a:noFill/>
          <a:effectLst/>
        </p:spPr>
        <p:txBody>
          <a:bodyPr wrap="square" lIns="45720" tIns="0" rIns="45720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50" b="1" i="0">
                <a:solidFill>
                  <a:srgbClr val="3E5FD9"/>
                </a:solidFill>
                <a:latin typeface="Consolas"/>
                <a:ea typeface="Consolas"/>
                <a:cs typeface="Consolas"/>
              </a:rPr>
              <a:t>+  </a:t>
            </a:r>
            <a:r>
              <a:rPr sz="900" b="1" i="0">
                <a:solidFill>
                  <a:srgbClr val="16181C"/>
                </a:solidFill>
                <a:latin typeface="Microsoft YaHei"/>
                <a:ea typeface="Microsoft YaHei"/>
                <a:cs typeface="Microsoft YaHei"/>
              </a:rPr>
              <a:t>一层 HTTP 契约</a:t>
            </a:r>
            <a:r>
              <a:rPr sz="900" b="0" i="0">
                <a:solidFill>
                  <a:srgbClr val="4A4E57"/>
                </a:solidFill>
                <a:latin typeface="Microsoft YaHei"/>
                <a:ea typeface="Microsoft YaHei"/>
                <a:cs typeface="Microsoft YaHei"/>
              </a:rPr>
              <a:t>：接口面小到能背下来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5148072"/>
            <a:ext cx="5349240" cy="256032"/>
          </a:xfrm>
          <a:prstGeom prst="rect">
            <a:avLst/>
          </a:prstGeom>
          <a:noFill/>
          <a:effectLst/>
        </p:spPr>
        <p:txBody>
          <a:bodyPr wrap="square" lIns="45720" tIns="0" rIns="45720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50" b="1" i="0">
                <a:solidFill>
                  <a:srgbClr val="C4326F"/>
                </a:solidFill>
                <a:latin typeface="Consolas"/>
                <a:ea typeface="Consolas"/>
                <a:cs typeface="Consolas"/>
              </a:rPr>
              <a:t>-  </a:t>
            </a:r>
            <a:r>
              <a:rPr sz="900" b="1" i="0">
                <a:solidFill>
                  <a:srgbClr val="16181C"/>
                </a:solidFill>
                <a:latin typeface="Microsoft YaHei"/>
                <a:ea typeface="Microsoft YaHei"/>
                <a:cs typeface="Microsoft YaHei"/>
              </a:rPr>
              <a:t>RL 框架对引擎内部的依赖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5404104"/>
            <a:ext cx="5349240" cy="256032"/>
          </a:xfrm>
          <a:prstGeom prst="rect">
            <a:avLst/>
          </a:prstGeom>
          <a:noFill/>
          <a:effectLst/>
        </p:spPr>
        <p:txBody>
          <a:bodyPr wrap="square" lIns="45720" tIns="0" rIns="45720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50" b="1" i="0">
                <a:solidFill>
                  <a:srgbClr val="C4326F"/>
                </a:solidFill>
                <a:latin typeface="Consolas"/>
                <a:ea typeface="Consolas"/>
                <a:cs typeface="Consolas"/>
              </a:rPr>
              <a:t>-  </a:t>
            </a:r>
            <a:r>
              <a:rPr sz="900" b="1" i="0">
                <a:solidFill>
                  <a:srgbClr val="16181C"/>
                </a:solidFill>
                <a:latin typeface="Microsoft YaHei"/>
                <a:ea typeface="Microsoft YaHei"/>
                <a:cs typeface="Microsoft YaHei"/>
              </a:rPr>
              <a:t>训练 / 部署两套代码路径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502920" y="5989320"/>
            <a:ext cx="11183112" cy="0"/>
          </a:xfrm>
          <a:prstGeom prst="line">
            <a:avLst/>
          </a:prstGeom>
          <a:ln w="12700">
            <a:solidFill>
              <a:srgbClr val="D6D6C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502920" y="6044183"/>
            <a:ext cx="11183112" cy="457200"/>
          </a:xfrm>
          <a:prstGeom prst="rect">
            <a:avLst/>
          </a:prstGeom>
          <a:noFill/>
          <a:effectLst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50" b="1" i="0">
                <a:solidFill>
                  <a:srgbClr val="3E5FD9"/>
                </a:solidFill>
                <a:latin typeface="Consolas"/>
                <a:ea typeface="Consolas"/>
                <a:cs typeface="Consolas"/>
              </a:rPr>
              <a:t>同一件事   </a:t>
            </a:r>
            <a:r>
              <a:rPr sz="1050" b="0" i="0">
                <a:solidFill>
                  <a:srgbClr val="16181C"/>
                </a:solidFill>
                <a:latin typeface="Microsoft YaHei"/>
                <a:ea typeface="Microsoft YaHei"/>
                <a:cs typeface="Microsoft YaHei"/>
              </a:rPr>
              <a:t>减法：内部瘦下来 · 接口：外部看不见内部 → 都是为了「改得起」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85855" y="6473952"/>
            <a:ext cx="731520" cy="274320"/>
          </a:xfrm>
          <a:prstGeom prst="rect">
            <a:avLst/>
          </a:prstGeom>
          <a:noFill/>
          <a:effectLst/>
        </p:spPr>
        <p:txBody>
          <a:bodyPr wrap="square" lIns="45720" tIns="27432" rIns="45720" bIns="27432" anchor="b">
            <a:spAutoFit/>
          </a:bodyPr>
          <a:lstStyle/>
          <a:p>
            <a:pPr algn="r">
              <a:spcBef>
                <a:spcPts val="0"/>
              </a:spcBef>
            </a:pPr>
            <a:r>
              <a:rPr sz="850" b="0" i="0">
                <a:solidFill>
                  <a:srgbClr val="7C818B"/>
                </a:solidFill>
                <a:latin typeface="Consolas"/>
                <a:ea typeface="Consolas"/>
                <a:cs typeface="Consolas"/>
              </a:rPr>
              <a:t>20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50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" dur="50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" dur="500"/>
                                  <p:tgtEl>
                                    <p:spTgt spid="2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" dur="50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50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" dur="500"/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4" dur="500"/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7" dur="500"/>
                                  <p:tgtEl>
                                    <p:spTgt spid="2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0" dur="500"/>
                                  <p:tgtEl>
                                    <p:spTgt spid="2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3" dur="500"/>
                                  <p:tgtEl>
                                    <p:spTgt spid="2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6" dur="500"/>
                                  <p:tgtEl>
                                    <p:spTgt spid="2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0" dur="500"/>
                                  <p:tgtEl>
                                    <p:spTgt spid="2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1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3" dur="500"/>
                                  <p:tgtEl>
                                    <p:spTgt spid="3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6" dur="500"/>
                                  <p:tgtEl>
                                    <p:spTgt spid="3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7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9" dur="500"/>
                                  <p:tgtEl>
                                    <p:spTgt spid="3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0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2" dur="500"/>
                                  <p:tgtEl>
                                    <p:spTgt spid="3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3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500"/>
                                  <p:tgtEl>
                                    <p:spTgt spid="3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6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500"/>
                                  <p:tgtEl>
                                    <p:spTgt spid="3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9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1" dur="500"/>
                                  <p:tgtEl>
                                    <p:spTgt spid="3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2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4" dur="500"/>
                                  <p:tgtEl>
                                    <p:spTgt spid="3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621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937259" cy="237744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3E5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27432" rIns="36576" bIns="27432" rtlCol="0" anchor="ctr"/>
          <a:lstStyle/>
          <a:p>
            <a:pPr algn="ctr">
              <a:spcBef>
                <a:spcPts val="0"/>
              </a:spcBef>
            </a:pPr>
            <a:r>
              <a:rPr sz="850" b="1" i="0">
                <a:solidFill>
                  <a:srgbClr val="3E5FD9"/>
                </a:solidFill>
                <a:latin typeface="Microsoft YaHei"/>
                <a:ea typeface="Microsoft YaHei"/>
                <a:cs typeface="Microsoft YaHei"/>
              </a:rPr>
              <a:t>Vibe Coding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49907" y="356616"/>
            <a:ext cx="8229600" cy="256032"/>
          </a:xfrm>
          <a:prstGeom prst="rect">
            <a:avLst/>
          </a:prstGeom>
          <a:noFill/>
          <a:effectLst/>
        </p:spPr>
        <p:txBody>
          <a:bodyPr wrap="square" lIns="45720" tIns="27432" rIns="45720" bIns="27432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850" b="0" i="0">
                <a:solidFill>
                  <a:srgbClr val="7C818B"/>
                </a:solidFill>
                <a:latin typeface="Consolas"/>
                <a:ea typeface="Consolas"/>
                <a:cs typeface="Consolas"/>
              </a:rPr>
              <a:t>要素三 · 把 AGENT 变成闭环系统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44147"/>
            <a:ext cx="11155680" cy="868680"/>
          </a:xfrm>
          <a:prstGeom prst="rect">
            <a:avLst/>
          </a:prstGeom>
          <a:noFill/>
          <a:effectLst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900" b="1" i="0">
                <a:solidFill>
                  <a:srgbClr val="16181C"/>
                </a:solidFill>
                <a:latin typeface="Microsoft YaHei"/>
                <a:ea typeface="Microsoft YaHei"/>
                <a:cs typeface="Microsoft YaHei"/>
              </a:rPr>
              <a:t>Agent Loop：每一轮都要收敛，也要能在中途退出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10607040" cy="457200"/>
          </a:xfrm>
          <a:prstGeom prst="rect">
            <a:avLst/>
          </a:prstGeom>
          <a:noFill/>
          <a:effectLst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100" b="0" i="0">
                <a:solidFill>
                  <a:srgbClr val="4A4E57"/>
                </a:solidFill>
                <a:latin typeface="Microsoft YaHei"/>
                <a:ea typeface="Microsoft YaHei"/>
                <a:cs typeface="Microsoft YaHei"/>
              </a:rPr>
              <a:t>Observe → Implement → Validate 之后必须做一次 gate；只有证据在改善才允许进入下一轮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148840"/>
            <a:ext cx="2011680" cy="777240"/>
          </a:xfrm>
          <a:prstGeom prst="roundRect">
            <a:avLst>
              <a:gd name="adj" fmla="val 5000"/>
            </a:avLst>
          </a:prstGeom>
          <a:solidFill>
            <a:srgbClr val="EDEDE8"/>
          </a:solidFill>
          <a:ln w="19050">
            <a:solidFill>
              <a:srgbClr val="A9A9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6181C"/>
                </a:solidFill>
                <a:latin typeface="Microsoft YaHei"/>
                <a:ea typeface="Microsoft YaHei"/>
                <a:cs typeface="Microsoft YaHei"/>
              </a:rPr>
              <a:t>Observe</a:t>
            </a:r>
          </a:p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7C818B"/>
                </a:solidFill>
                <a:latin typeface="Microsoft YaHei"/>
                <a:ea typeface="Microsoft YaHei"/>
                <a:cs typeface="Microsoft YaHei"/>
              </a:rPr>
              <a:t>架构 · reference · baseline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697480" y="2537460"/>
            <a:ext cx="365760" cy="0"/>
          </a:xfrm>
          <a:prstGeom prst="line">
            <a:avLst/>
          </a:prstGeom>
          <a:ln w="19050">
            <a:solidFill>
              <a:srgbClr val="3E5FD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423160" y="2244852"/>
            <a:ext cx="914399" cy="256032"/>
          </a:xfrm>
          <a:prstGeom prst="rect">
            <a:avLst/>
          </a:prstGeom>
          <a:noFill/>
          <a:effectLst/>
        </p:spPr>
        <p:txBody>
          <a:bodyPr wrap="square" lIns="45720" tIns="27432" rIns="45720" bIns="27432" anchor="b">
            <a:spAutoFit/>
          </a:bodyPr>
          <a:lstStyle/>
          <a:p>
            <a:pPr algn="ctr">
              <a:spcBef>
                <a:spcPts val="0"/>
              </a:spcBef>
            </a:pPr>
            <a:r>
              <a:rPr sz="750" b="0" i="0">
                <a:solidFill>
                  <a:srgbClr val="3E5FD9"/>
                </a:solidFill>
                <a:latin typeface="Consolas"/>
                <a:ea typeface="Consolas"/>
                <a:cs typeface="Consolas"/>
              </a:rPr>
              <a:t>最小 diff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08960" y="2148840"/>
            <a:ext cx="2011680" cy="777240"/>
          </a:xfrm>
          <a:prstGeom prst="roundRect">
            <a:avLst>
              <a:gd name="adj" fmla="val 5000"/>
            </a:avLst>
          </a:prstGeom>
          <a:solidFill>
            <a:srgbClr val="F5EEE2"/>
          </a:solidFill>
          <a:ln w="19050">
            <a:solidFill>
              <a:srgbClr val="A96F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A96F0C"/>
                </a:solidFill>
                <a:latin typeface="Microsoft YaHei"/>
                <a:ea typeface="Microsoft YaHei"/>
                <a:cs typeface="Microsoft YaHei"/>
              </a:rPr>
              <a:t>Implement</a:t>
            </a:r>
          </a:p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7C818B"/>
                </a:solidFill>
                <a:latin typeface="Microsoft YaHei"/>
                <a:ea typeface="Microsoft YaHei"/>
                <a:cs typeface="Microsoft YaHei"/>
              </a:rPr>
              <a:t>一次只放开一个变量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166359" y="2537460"/>
            <a:ext cx="365761" cy="0"/>
          </a:xfrm>
          <a:prstGeom prst="line">
            <a:avLst/>
          </a:prstGeom>
          <a:ln w="19050">
            <a:solidFill>
              <a:srgbClr val="3E5FD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892040" y="2244852"/>
            <a:ext cx="914400" cy="256032"/>
          </a:xfrm>
          <a:prstGeom prst="rect">
            <a:avLst/>
          </a:prstGeom>
          <a:noFill/>
          <a:effectLst/>
        </p:spPr>
        <p:txBody>
          <a:bodyPr wrap="square" lIns="45720" tIns="27432" rIns="45720" bIns="27432" anchor="b">
            <a:spAutoFit/>
          </a:bodyPr>
          <a:lstStyle/>
          <a:p>
            <a:pPr algn="ctr">
              <a:spcBef>
                <a:spcPts val="0"/>
              </a:spcBef>
            </a:pPr>
            <a:r>
              <a:rPr sz="750" b="0" i="0">
                <a:solidFill>
                  <a:srgbClr val="3E5FD9"/>
                </a:solidFill>
                <a:latin typeface="Consolas"/>
                <a:ea typeface="Consolas"/>
                <a:cs typeface="Consolas"/>
              </a:rPr>
              <a:t>evidence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577840" y="2148840"/>
            <a:ext cx="2011680" cy="777240"/>
          </a:xfrm>
          <a:prstGeom prst="roundRect">
            <a:avLst>
              <a:gd name="adj" fmla="val 5000"/>
            </a:avLst>
          </a:prstGeom>
          <a:solidFill>
            <a:srgbClr val="E5F2F1"/>
          </a:solidFill>
          <a:ln w="19050">
            <a:solidFill>
              <a:srgbClr val="0E8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E8C7C"/>
                </a:solidFill>
                <a:latin typeface="Microsoft YaHei"/>
                <a:ea typeface="Microsoft YaHei"/>
                <a:cs typeface="Microsoft YaHei"/>
              </a:rPr>
              <a:t>Validate</a:t>
            </a:r>
          </a:p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7C818B"/>
                </a:solidFill>
                <a:latin typeface="Microsoft YaHei"/>
                <a:ea typeface="Microsoft YaHei"/>
                <a:cs typeface="Microsoft YaHei"/>
              </a:rPr>
              <a:t>module → E2E → perf</a:t>
            </a:r>
          </a:p>
        </p:txBody>
      </p:sp>
      <p:sp>
        <p:nvSpPr>
          <p:cNvPr id="14" name="Diamond 13"/>
          <p:cNvSpPr/>
          <p:nvPr/>
        </p:nvSpPr>
        <p:spPr>
          <a:xfrm>
            <a:off x="7918703" y="2001447"/>
            <a:ext cx="1271017" cy="1069848"/>
          </a:xfrm>
          <a:prstGeom prst="diamond">
            <a:avLst/>
          </a:prstGeom>
          <a:solidFill>
            <a:srgbClr val="EFECFB"/>
          </a:solidFill>
          <a:ln w="19050">
            <a:solidFill>
              <a:srgbClr val="6A4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6A4FD8"/>
                </a:solidFill>
                <a:latin typeface="Microsoft YaHei"/>
                <a:ea typeface="Microsoft YaHei"/>
                <a:cs typeface="Microsoft YaHei"/>
              </a:rPr>
              <a:t>GATE</a:t>
            </a:r>
          </a:p>
          <a:p>
            <a:pPr algn="ctr"/>
            <a:r>
              <a:rPr sz="800">
                <a:solidFill>
                  <a:srgbClr val="7C818B"/>
                </a:solidFill>
                <a:latin typeface="Microsoft YaHei"/>
                <a:ea typeface="Microsoft YaHei"/>
                <a:cs typeface="Microsoft YaHei"/>
              </a:rPr>
              <a:t>目标？进展？范围？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10344" y="1691640"/>
            <a:ext cx="2048256" cy="502920"/>
          </a:xfrm>
          <a:prstGeom prst="roundRect">
            <a:avLst>
              <a:gd name="adj" fmla="val 5000"/>
            </a:avLst>
          </a:prstGeom>
          <a:solidFill>
            <a:srgbClr val="E5F2F1"/>
          </a:solidFill>
          <a:ln w="19050">
            <a:solidFill>
              <a:srgbClr val="0E8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dirty="0">
                <a:solidFill>
                  <a:srgbClr val="0E8C7C"/>
                </a:solidFill>
                <a:latin typeface="Microsoft YaHei"/>
                <a:ea typeface="Microsoft YaHei"/>
                <a:cs typeface="Microsoft YaHei"/>
              </a:rPr>
              <a:t>DONE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10344" y="2331720"/>
            <a:ext cx="2048256" cy="502920"/>
          </a:xfrm>
          <a:prstGeom prst="roundRect">
            <a:avLst>
              <a:gd name="adj" fmla="val 5000"/>
            </a:avLst>
          </a:prstGeom>
          <a:solidFill>
            <a:srgbClr val="F9EAF1"/>
          </a:solidFill>
          <a:ln w="19050">
            <a:solidFill>
              <a:srgbClr val="C432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C4326F"/>
                </a:solidFill>
                <a:latin typeface="Microsoft YaHei"/>
                <a:ea typeface="Microsoft YaHei"/>
                <a:cs typeface="Microsoft YaHei"/>
              </a:rPr>
              <a:t>BLOCKED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10344" y="2971800"/>
            <a:ext cx="2048256" cy="502920"/>
          </a:xfrm>
          <a:prstGeom prst="roundRect">
            <a:avLst>
              <a:gd name="adj" fmla="val 5000"/>
            </a:avLst>
          </a:prstGeom>
          <a:solidFill>
            <a:srgbClr val="EDEDE8"/>
          </a:solidFill>
          <a:ln w="19050">
            <a:solidFill>
              <a:srgbClr val="A9A9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4A4E57"/>
                </a:solidFill>
                <a:latin typeface="Microsoft YaHei"/>
                <a:ea typeface="Microsoft YaHei"/>
                <a:cs typeface="Microsoft YaHei"/>
              </a:rPr>
              <a:t>OUT OF SCOPE</a:t>
            </a:r>
          </a:p>
        </p:txBody>
      </p:sp>
      <p:cxnSp>
        <p:nvCxnSpPr>
          <p:cNvPr id="18" name="Connector 17"/>
          <p:cNvCxnSpPr>
            <a:cxnSpLocks/>
          </p:cNvCxnSpPr>
          <p:nvPr/>
        </p:nvCxnSpPr>
        <p:spPr>
          <a:xfrm flipV="1">
            <a:off x="8970264" y="1929382"/>
            <a:ext cx="587046" cy="315470"/>
          </a:xfrm>
          <a:prstGeom prst="line">
            <a:avLst/>
          </a:prstGeom>
          <a:ln w="19050">
            <a:solidFill>
              <a:srgbClr val="C4326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>
            <a:cxnSpLocks/>
          </p:cNvCxnSpPr>
          <p:nvPr/>
        </p:nvCxnSpPr>
        <p:spPr>
          <a:xfrm>
            <a:off x="9250528" y="2547693"/>
            <a:ext cx="350672" cy="0"/>
          </a:xfrm>
          <a:prstGeom prst="line">
            <a:avLst/>
          </a:prstGeom>
          <a:ln w="19050">
            <a:solidFill>
              <a:srgbClr val="C4326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>
            <a:cxnSpLocks/>
          </p:cNvCxnSpPr>
          <p:nvPr/>
        </p:nvCxnSpPr>
        <p:spPr>
          <a:xfrm>
            <a:off x="8970264" y="2844873"/>
            <a:ext cx="587046" cy="410173"/>
          </a:xfrm>
          <a:prstGeom prst="line">
            <a:avLst/>
          </a:prstGeom>
          <a:ln w="19050">
            <a:solidFill>
              <a:srgbClr val="C4326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440179" y="3589021"/>
            <a:ext cx="7315200" cy="274320"/>
          </a:xfrm>
          <a:prstGeom prst="rect">
            <a:avLst/>
          </a:prstGeom>
          <a:noFill/>
          <a:effectLst/>
        </p:spPr>
        <p:txBody>
          <a:bodyPr wrap="square" lIns="45720" tIns="27432" rIns="45720" bIns="27432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000" b="1" i="0">
                <a:solidFill>
                  <a:srgbClr val="3E5FD9"/>
                </a:solidFill>
                <a:latin typeface="Microsoft YaHei"/>
                <a:ea typeface="Microsoft YaHei"/>
                <a:cs typeface="Microsoft YaHei"/>
              </a:rPr>
              <a:t>CONTINUE · 证据改善 → 缩小假设 → 回到 Observe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4160520"/>
            <a:ext cx="5431536" cy="1371600"/>
          </a:xfrm>
          <a:prstGeom prst="roundRect">
            <a:avLst>
              <a:gd name="adj" fmla="val 5000"/>
            </a:avLst>
          </a:prstGeom>
          <a:solidFill>
            <a:srgbClr val="EDEDE8"/>
          </a:solidFill>
          <a:ln w="12700">
            <a:solidFill>
              <a:srgbClr val="D6D6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09728" rIns="128016" bIns="91440" rtlCol="0" anchor="t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750" b="0" i="0">
                <a:solidFill>
                  <a:srgbClr val="7C818B"/>
                </a:solidFill>
                <a:latin typeface="Consolas"/>
                <a:ea typeface="Consolas"/>
                <a:cs typeface="Consolas"/>
              </a:rPr>
              <a:t>场景 01 · 模型支持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6181C"/>
                </a:solidFill>
                <a:latin typeface="Microsoft YaHei"/>
                <a:ea typeface="Microsoft YaHei"/>
                <a:cs typeface="Microsoft YaHei"/>
              </a:rPr>
              <a:t>Config → Weight → Forward → Parallel → E2E</a:t>
            </a:r>
          </a:p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950" b="0" i="0">
                <a:solidFill>
                  <a:srgbClr val="4A4E57"/>
                </a:solidFill>
                <a:latin typeface="Microsoft YaHei"/>
                <a:ea typeface="Microsoft YaHei"/>
                <a:cs typeface="Microsoft YaHei"/>
              </a:rPr>
              <a:t>按能力阶梯逐层解锁；失败就冻结无关变量，回到最近通过的 reference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54496" y="4160520"/>
            <a:ext cx="5431536" cy="1371600"/>
          </a:xfrm>
          <a:prstGeom prst="roundRect">
            <a:avLst>
              <a:gd name="adj" fmla="val 5000"/>
            </a:avLst>
          </a:prstGeom>
          <a:solidFill>
            <a:srgbClr val="ECEFFB"/>
          </a:solidFill>
          <a:ln w="12700">
            <a:solidFill>
              <a:srgbClr val="3E5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09728" rIns="128016" bIns="91440" rtlCol="0" anchor="t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750" b="0" i="0">
                <a:solidFill>
                  <a:srgbClr val="7C818B"/>
                </a:solidFill>
                <a:latin typeface="Consolas"/>
                <a:ea typeface="Consolas"/>
                <a:cs typeface="Consolas"/>
              </a:rPr>
              <a:t>场景 02 · 性能优化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3E5FD9"/>
                </a:solidFill>
                <a:latin typeface="Microsoft YaHei"/>
                <a:ea typeface="Microsoft YaHei"/>
                <a:cs typeface="Microsoft YaHei"/>
              </a:rPr>
              <a:t>Profile → Hypothesis → Patch → A/B</a:t>
            </a:r>
          </a:p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950" b="0" i="0">
                <a:solidFill>
                  <a:srgbClr val="4A4E57"/>
                </a:solidFill>
                <a:latin typeface="Microsoft YaHei"/>
                <a:ea typeface="Microsoft YaHei"/>
                <a:cs typeface="Microsoft YaHei"/>
              </a:rPr>
              <a:t>固定输入、环境与正确性基线；指标不改善就退出或换假设，不无限调参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02920" y="5806440"/>
            <a:ext cx="11183112" cy="0"/>
          </a:xfrm>
          <a:prstGeom prst="line">
            <a:avLst/>
          </a:prstGeom>
          <a:ln w="12700">
            <a:solidFill>
              <a:srgbClr val="D6D6C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02920" y="5861303"/>
            <a:ext cx="11183112" cy="457200"/>
          </a:xfrm>
          <a:prstGeom prst="rect">
            <a:avLst/>
          </a:prstGeom>
          <a:noFill/>
          <a:effectLst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50" b="1" i="0">
                <a:solidFill>
                  <a:srgbClr val="3E5FD9"/>
                </a:solidFill>
                <a:latin typeface="Consolas"/>
                <a:ea typeface="Consolas"/>
                <a:cs typeface="Consolas"/>
              </a:rPr>
              <a:t>Loop 契约   </a:t>
            </a:r>
            <a:r>
              <a:rPr sz="1050" b="0" i="0">
                <a:solidFill>
                  <a:srgbClr val="16181C"/>
                </a:solidFill>
                <a:latin typeface="Microsoft YaHei"/>
                <a:ea typeface="Microsoft YaHei"/>
                <a:cs typeface="Microsoft YaHei"/>
              </a:rPr>
              <a:t>每一轮必须减少失败数或不确定性；每一个出口都必须留下 evidence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85855" y="6473952"/>
            <a:ext cx="731520" cy="274320"/>
          </a:xfrm>
          <a:prstGeom prst="rect">
            <a:avLst/>
          </a:prstGeom>
          <a:noFill/>
          <a:effectLst/>
        </p:spPr>
        <p:txBody>
          <a:bodyPr wrap="square" lIns="45720" tIns="27432" rIns="45720" bIns="27432" anchor="b">
            <a:spAutoFit/>
          </a:bodyPr>
          <a:lstStyle/>
          <a:p>
            <a:pPr algn="r">
              <a:spcBef>
                <a:spcPts val="0"/>
              </a:spcBef>
            </a:pPr>
            <a:r>
              <a:rPr sz="850" b="0" i="0">
                <a:solidFill>
                  <a:srgbClr val="7C818B"/>
                </a:solidFill>
                <a:latin typeface="Consolas"/>
                <a:ea typeface="Consolas"/>
                <a:cs typeface="Consolas"/>
              </a:rPr>
              <a:t>21</a:t>
            </a:r>
          </a:p>
        </p:txBody>
      </p:sp>
      <p:cxnSp>
        <p:nvCxnSpPr>
          <p:cNvPr id="28" name="Connector 10">
            <a:extLst>
              <a:ext uri="{FF2B5EF4-FFF2-40B4-BE49-F238E27FC236}">
                <a16:creationId xmlns:a16="http://schemas.microsoft.com/office/drawing/2014/main" id="{CBEAB24A-744D-14ED-58C2-89B013DF9889}"/>
              </a:ext>
            </a:extLst>
          </p:cNvPr>
          <p:cNvCxnSpPr/>
          <p:nvPr/>
        </p:nvCxnSpPr>
        <p:spPr>
          <a:xfrm>
            <a:off x="7589520" y="2532888"/>
            <a:ext cx="365761" cy="0"/>
          </a:xfrm>
          <a:prstGeom prst="line">
            <a:avLst/>
          </a:prstGeom>
          <a:ln w="19050">
            <a:solidFill>
              <a:srgbClr val="3E5FD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urved Connector 31">
            <a:extLst>
              <a:ext uri="{FF2B5EF4-FFF2-40B4-BE49-F238E27FC236}">
                <a16:creationId xmlns:a16="http://schemas.microsoft.com/office/drawing/2014/main" id="{B92155CF-ABEA-5DF3-55F9-F6BA72EAC6C3}"/>
              </a:ext>
            </a:extLst>
          </p:cNvPr>
          <p:cNvCxnSpPr>
            <a:cxnSpLocks/>
            <a:stCxn id="14" idx="2"/>
            <a:endCxn id="7" idx="2"/>
          </p:cNvCxnSpPr>
          <p:nvPr/>
        </p:nvCxnSpPr>
        <p:spPr>
          <a:xfrm rot="5400000" flipH="1">
            <a:off x="5027458" y="-455458"/>
            <a:ext cx="145215" cy="6908292"/>
          </a:xfrm>
          <a:prstGeom prst="curvedConnector3">
            <a:avLst>
              <a:gd name="adj1" fmla="val -157422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5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" dur="5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" dur="50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" dur="50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50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" dur="50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4" dur="500"/>
                                  <p:tgtEl>
                                    <p:spTgt spid="2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7" dur="50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500"/>
                      </p:stCondLst>
                      <p:childTnLst>
                        <p:par>
                          <p:cTn id="29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1" dur="500"/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2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4" dur="500"/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7" dur="500"/>
                                  <p:tgtEl>
                                    <p:spTgt spid="2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8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0" dur="500"/>
                                  <p:tgtEl>
                                    <p:spTgt spid="2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937259" cy="237744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3E5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27432" rIns="36576" bIns="27432" rtlCol="0" anchor="ctr"/>
          <a:lstStyle/>
          <a:p>
            <a:pPr algn="ctr">
              <a:spcBef>
                <a:spcPts val="0"/>
              </a:spcBef>
            </a:pPr>
            <a:r>
              <a:rPr sz="850" b="1" i="0">
                <a:solidFill>
                  <a:srgbClr val="3E5FD9"/>
                </a:solidFill>
                <a:latin typeface="Microsoft YaHei"/>
                <a:ea typeface="Microsoft YaHei"/>
                <a:cs typeface="Microsoft YaHei"/>
              </a:rPr>
              <a:t>Vibe Coding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49907" y="356616"/>
            <a:ext cx="8229600" cy="256032"/>
          </a:xfrm>
          <a:prstGeom prst="rect">
            <a:avLst/>
          </a:prstGeom>
          <a:noFill/>
          <a:effectLst/>
        </p:spPr>
        <p:txBody>
          <a:bodyPr wrap="square" lIns="45720" tIns="27432" rIns="45720" bIns="27432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850" b="0" i="0">
                <a:solidFill>
                  <a:srgbClr val="7C818B"/>
                </a:solidFill>
                <a:latin typeface="Consolas"/>
                <a:ea typeface="Consolas"/>
                <a:cs typeface="Consolas"/>
              </a:rPr>
              <a:t>要素四 · 用测试喂养 AGENT LOOP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31520"/>
            <a:ext cx="11155680" cy="868680"/>
          </a:xfrm>
          <a:prstGeom prst="rect">
            <a:avLst/>
          </a:prstGeom>
          <a:noFill/>
          <a:effectLst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000" b="1" i="0">
                <a:solidFill>
                  <a:srgbClr val="16181C"/>
                </a:solidFill>
                <a:latin typeface="Microsoft YaHei"/>
                <a:ea typeface="Microsoft YaHei"/>
                <a:cs typeface="Microsoft YaHei"/>
              </a:rPr>
              <a:t>我们专门维护 PRIMITIVE 测试和 E2E 测试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10607040" cy="457200"/>
          </a:xfrm>
          <a:prstGeom prst="rect">
            <a:avLst/>
          </a:prstGeom>
          <a:noFill/>
          <a:effectLst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100" b="0" i="0">
                <a:solidFill>
                  <a:srgbClr val="4A4E57"/>
                </a:solidFill>
                <a:latin typeface="Microsoft YaHei"/>
                <a:ea typeface="Microsoft YaHei"/>
                <a:cs typeface="Microsoft YaHei"/>
              </a:rPr>
              <a:t>测试不是发布前补的一道门，而是 Agent 每轮 Observe / Validate / Decide 的地面真值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965960"/>
            <a:ext cx="5349240" cy="237744"/>
          </a:xfrm>
          <a:prstGeom prst="rect">
            <a:avLst/>
          </a:prstGeom>
          <a:noFill/>
          <a:effectLst/>
        </p:spPr>
        <p:txBody>
          <a:bodyPr wrap="square" lIns="45720" tIns="27432" rIns="45720" bIns="18288" anchor="b">
            <a:spAutoFit/>
          </a:bodyPr>
          <a:lstStyle/>
          <a:p>
            <a:pPr algn="l">
              <a:spcBef>
                <a:spcPts val="0"/>
              </a:spcBef>
            </a:pPr>
            <a:r>
              <a:rPr sz="850" b="1" i="0">
                <a:solidFill>
                  <a:srgbClr val="3E5FD9"/>
                </a:solidFill>
                <a:latin typeface="Consolas"/>
                <a:ea typeface="Consolas"/>
                <a:cs typeface="Consolas"/>
              </a:rPr>
              <a:t>PRIMITIVE TEST · 稳定执行底座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965960"/>
            <a:ext cx="5349240" cy="237744"/>
          </a:xfrm>
          <a:prstGeom prst="rect">
            <a:avLst/>
          </a:prstGeom>
          <a:noFill/>
          <a:effectLst/>
        </p:spPr>
        <p:txBody>
          <a:bodyPr wrap="square" lIns="45720" tIns="27432" rIns="45720" bIns="18288" anchor="b">
            <a:spAutoFit/>
          </a:bodyPr>
          <a:lstStyle/>
          <a:p>
            <a:pPr algn="r">
              <a:spcBef>
                <a:spcPts val="0"/>
              </a:spcBef>
            </a:pPr>
            <a:r>
              <a:rPr sz="750" b="0" i="0">
                <a:solidFill>
                  <a:srgbClr val="3E5FD9"/>
                </a:solidFill>
                <a:latin typeface="Consolas"/>
                <a:ea typeface="Consolas"/>
                <a:cs typeface="Consolas"/>
              </a:rPr>
              <a:t>快速 · 精确归因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02920" y="2221991"/>
            <a:ext cx="5349239" cy="0"/>
          </a:xfrm>
          <a:prstGeom prst="line">
            <a:avLst/>
          </a:prstGeom>
          <a:ln w="12700">
            <a:solidFill>
              <a:srgbClr val="3E5F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02920" y="2377440"/>
            <a:ext cx="5349240" cy="1828800"/>
          </a:xfrm>
          <a:prstGeom prst="roundRect">
            <a:avLst>
              <a:gd name="adj" fmla="val 3000"/>
            </a:avLst>
          </a:prstGeom>
          <a:solidFill>
            <a:srgbClr val="ECEFFB"/>
          </a:solidFill>
          <a:ln w="15875">
            <a:solidFill>
              <a:srgbClr val="3E5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12648" y="2276856"/>
            <a:ext cx="1152144" cy="201168"/>
          </a:xfrm>
          <a:prstGeom prst="rect">
            <a:avLst/>
          </a:prstGeom>
          <a:solidFill>
            <a:srgbClr val="EC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spcBef>
                <a:spcPts val="0"/>
              </a:spcBef>
            </a:pPr>
            <a:r>
              <a:rPr sz="650" b="0" i="0">
                <a:solidFill>
                  <a:srgbClr val="3E5FD9"/>
                </a:solidFill>
                <a:latin typeface="Consolas"/>
                <a:ea typeface="Consolas"/>
                <a:cs typeface="Consolas"/>
              </a:rPr>
              <a:t>单能力、可组合、可复现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" y="2596896"/>
            <a:ext cx="5129783" cy="457200"/>
          </a:xfrm>
          <a:prstGeom prst="roundRect">
            <a:avLst>
              <a:gd name="adj" fmla="val 6000"/>
            </a:avLst>
          </a:prstGeom>
          <a:solidFill>
            <a:srgbClr val="ECEFFB"/>
          </a:solidFill>
          <a:ln w="12700">
            <a:solidFill>
              <a:srgbClr val="3E5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 i="0">
                <a:solidFill>
                  <a:srgbClr val="3E5FD9"/>
                </a:solidFill>
                <a:latin typeface="Microsoft YaHei"/>
                <a:ea typeface="Microsoft YaHei"/>
                <a:cs typeface="Microsoft YaHei"/>
              </a:rPr>
              <a:t>KV blocks · cache lifecycle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650" b="0" i="0">
                <a:solidFill>
                  <a:srgbClr val="7C818B"/>
                </a:solidFill>
                <a:latin typeface="Consolas"/>
                <a:ea typeface="Consolas"/>
                <a:cs typeface="Consolas"/>
              </a:rPr>
              <a:t>allocate / reuse / free、sliding window、边界与泄漏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" y="3127248"/>
            <a:ext cx="5129783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A9A9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 i="0">
                <a:solidFill>
                  <a:srgbClr val="16181C"/>
                </a:solidFill>
                <a:latin typeface="Microsoft YaHei"/>
                <a:ea typeface="Microsoft YaHei"/>
                <a:cs typeface="Microsoft YaHei"/>
              </a:rPr>
              <a:t>attention / custom ops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650" b="0" i="0">
                <a:solidFill>
                  <a:srgbClr val="7C818B"/>
                </a:solidFill>
                <a:latin typeface="Consolas"/>
                <a:ea typeface="Consolas"/>
                <a:cs typeface="Consolas"/>
              </a:rPr>
              <a:t>跨 dtype / backend 数值对齐与性能 sentinel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" y="3657600"/>
            <a:ext cx="5129783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A9A9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 i="0">
                <a:solidFill>
                  <a:srgbClr val="16181C"/>
                </a:solidFill>
                <a:latin typeface="Microsoft YaHei"/>
                <a:ea typeface="Microsoft YaHei"/>
                <a:cs typeface="Microsoft YaHei"/>
              </a:rPr>
              <a:t>distributed executor · async output</a:t>
            </a:r>
          </a:p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650" b="0" i="0">
                <a:solidFill>
                  <a:srgbClr val="7C818B"/>
                </a:solidFill>
                <a:latin typeface="Consolas"/>
                <a:ea typeface="Consolas"/>
                <a:cs typeface="Consolas"/>
              </a:rPr>
              <a:t>collective 顺序、无隐式同步、流式输出契约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1965960"/>
            <a:ext cx="5349240" cy="237744"/>
          </a:xfrm>
          <a:prstGeom prst="rect">
            <a:avLst/>
          </a:prstGeom>
          <a:noFill/>
          <a:effectLst/>
        </p:spPr>
        <p:txBody>
          <a:bodyPr wrap="square" lIns="45720" tIns="27432" rIns="45720" bIns="18288" anchor="b">
            <a:spAutoFit/>
          </a:bodyPr>
          <a:lstStyle/>
          <a:p>
            <a:pPr algn="l">
              <a:spcBef>
                <a:spcPts val="0"/>
              </a:spcBef>
            </a:pPr>
            <a:r>
              <a:rPr sz="850" b="1" i="0">
                <a:solidFill>
                  <a:srgbClr val="3E5FD9"/>
                </a:solidFill>
                <a:latin typeface="Consolas"/>
                <a:ea typeface="Consolas"/>
                <a:cs typeface="Consolas"/>
              </a:rPr>
              <a:t>E2E TEST · 用户真实路径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1965960"/>
            <a:ext cx="5349240" cy="237744"/>
          </a:xfrm>
          <a:prstGeom prst="rect">
            <a:avLst/>
          </a:prstGeom>
          <a:noFill/>
          <a:effectLst/>
        </p:spPr>
        <p:txBody>
          <a:bodyPr wrap="square" lIns="45720" tIns="27432" rIns="45720" bIns="18288" anchor="b">
            <a:spAutoFit/>
          </a:bodyPr>
          <a:lstStyle/>
          <a:p>
            <a:pPr algn="r">
              <a:spcBef>
                <a:spcPts val="0"/>
              </a:spcBef>
            </a:pPr>
            <a:r>
              <a:rPr sz="750" b="0" i="0">
                <a:solidFill>
                  <a:srgbClr val="3E5FD9"/>
                </a:solidFill>
                <a:latin typeface="Consolas"/>
                <a:ea typeface="Consolas"/>
                <a:cs typeface="Consolas"/>
              </a:rPr>
              <a:t>PR / NIGHTLY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309360" y="2221991"/>
            <a:ext cx="5349240" cy="0"/>
          </a:xfrm>
          <a:prstGeom prst="line">
            <a:avLst/>
          </a:prstGeom>
          <a:ln w="12700">
            <a:solidFill>
              <a:srgbClr val="3E5F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309360" y="2377440"/>
            <a:ext cx="5349240" cy="1828800"/>
          </a:xfrm>
          <a:prstGeom prst="roundRect">
            <a:avLst>
              <a:gd name="adj" fmla="val 3000"/>
            </a:avLst>
          </a:prstGeom>
          <a:solidFill>
            <a:srgbClr val="F5EEE2"/>
          </a:solidFill>
          <a:ln w="15875">
            <a:solidFill>
              <a:srgbClr val="A96F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419088" y="2276856"/>
            <a:ext cx="969264" cy="201168"/>
          </a:xfrm>
          <a:prstGeom prst="rect">
            <a:avLst/>
          </a:prstGeom>
          <a:solidFill>
            <a:srgbClr val="F5E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spcBef>
                <a:spcPts val="0"/>
              </a:spcBef>
            </a:pPr>
            <a:r>
              <a:rPr sz="650" b="0" i="0">
                <a:solidFill>
                  <a:srgbClr val="A96F0C"/>
                </a:solidFill>
                <a:latin typeface="Consolas"/>
                <a:ea typeface="Consolas"/>
                <a:cs typeface="Consolas"/>
              </a:rPr>
              <a:t>跨进程、走完整服务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19088" y="2596896"/>
            <a:ext cx="5129783" cy="457200"/>
          </a:xfrm>
          <a:prstGeom prst="roundRect">
            <a:avLst>
              <a:gd name="adj" fmla="val 6000"/>
            </a:avLst>
          </a:prstGeom>
          <a:solidFill>
            <a:srgbClr val="F5EEE2"/>
          </a:solidFill>
          <a:ln w="12700">
            <a:solidFill>
              <a:srgbClr val="A96F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 i="0">
                <a:solidFill>
                  <a:srgbClr val="A96F0C"/>
                </a:solidFill>
                <a:latin typeface="Microsoft YaHei"/>
                <a:ea typeface="Microsoft YaHei"/>
                <a:cs typeface="Microsoft YaHei"/>
              </a:rPr>
              <a:t>API → Engine → Scheduler → Runner → Output</a:t>
            </a:r>
          </a:p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650" b="0" i="0">
                <a:solidFill>
                  <a:srgbClr val="7C818B"/>
                </a:solidFill>
                <a:latin typeface="Consolas"/>
                <a:ea typeface="Consolas"/>
                <a:cs typeface="Consolas"/>
              </a:rPr>
              <a:t>真实 server、小模型、目标平台、确定性请求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19088" y="3127248"/>
            <a:ext cx="5129783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A9A9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 i="0">
                <a:solidFill>
                  <a:srgbClr val="16181C"/>
                </a:solidFill>
                <a:latin typeface="Microsoft YaHei"/>
                <a:ea typeface="Microsoft YaHei"/>
                <a:cs typeface="Microsoft YaHei"/>
              </a:rPr>
              <a:t>Plugin ON / OFF / Upgrade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650" b="0" i="0">
                <a:solidFill>
                  <a:srgbClr val="7C818B"/>
                </a:solidFill>
                <a:latin typeface="Consolas"/>
                <a:ea typeface="Consolas"/>
                <a:cs typeface="Consolas"/>
              </a:rPr>
              <a:t>插件启停不污染 Core；版本不兼容可诊断、可回退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19088" y="3657600"/>
            <a:ext cx="5129783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A9A9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 i="0">
                <a:solidFill>
                  <a:srgbClr val="16181C"/>
                </a:solidFill>
                <a:latin typeface="Microsoft YaHei"/>
                <a:ea typeface="Microsoft YaHei"/>
                <a:cs typeface="Microsoft YaHei"/>
              </a:rPr>
              <a:t>Deletion sentinel</a:t>
            </a:r>
          </a:p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650" b="0" i="0">
                <a:solidFill>
                  <a:srgbClr val="7C818B"/>
                </a:solidFill>
                <a:latin typeface="Consolas"/>
                <a:ea typeface="Consolas"/>
                <a:cs typeface="Consolas"/>
              </a:rPr>
              <a:t>删除旧路径后核心场景仍通过；无隐式 import 与死分支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309360" y="4315968"/>
            <a:ext cx="0" cy="457200"/>
          </a:xfrm>
          <a:prstGeom prst="line">
            <a:avLst/>
          </a:prstGeom>
          <a:ln w="25400">
            <a:solidFill>
              <a:srgbClr val="3E5F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382512" y="4315968"/>
            <a:ext cx="5276088" cy="457200"/>
          </a:xfrm>
          <a:prstGeom prst="rect">
            <a:avLst/>
          </a:prstGeom>
          <a:noFill/>
          <a:effectLst/>
        </p:spPr>
        <p:txBody>
          <a:bodyPr wrap="square" lIns="45720" tIns="27432" rIns="45720" bIns="27432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750" b="0" i="0">
                <a:solidFill>
                  <a:srgbClr val="3E5FD9"/>
                </a:solidFill>
                <a:latin typeface="Consolas"/>
                <a:ea typeface="Consolas"/>
                <a:cs typeface="Consolas"/>
              </a:rPr>
              <a:t>RL 框架的 E2E 还需确保 rollout HTTP 接口正常工作，让推理引擎能更大胆地修改内部实现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4937760"/>
            <a:ext cx="11183112" cy="457200"/>
          </a:xfrm>
          <a:prstGeom prst="roundRect">
            <a:avLst>
              <a:gd name="adj" fmla="val 5000"/>
            </a:avLst>
          </a:prstGeom>
          <a:solidFill>
            <a:srgbClr val="EDEDE8"/>
          </a:solidFill>
          <a:ln w="12700">
            <a:solidFill>
              <a:srgbClr val="D6D6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12648" y="4937760"/>
            <a:ext cx="1234440" cy="457200"/>
          </a:xfrm>
          <a:prstGeom prst="rect">
            <a:avLst/>
          </a:prstGeom>
          <a:noFill/>
          <a:effectLst/>
        </p:spPr>
        <p:txBody>
          <a:bodyPr wrap="square" lIns="45720" tIns="27432" rIns="45720" bIns="27432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950" b="1" i="0">
                <a:solidFill>
                  <a:srgbClr val="3E5FD9"/>
                </a:solidFill>
                <a:latin typeface="Consolas"/>
                <a:ea typeface="Consolas"/>
                <a:cs typeface="Consolas"/>
              </a:rPr>
              <a:t>AGENT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74520" y="4937760"/>
            <a:ext cx="6565392" cy="457200"/>
          </a:xfrm>
          <a:prstGeom prst="rect">
            <a:avLst/>
          </a:prstGeom>
          <a:noFill/>
          <a:effectLst/>
        </p:spPr>
        <p:txBody>
          <a:bodyPr wrap="square" lIns="45720" tIns="27432" rIns="45720" bIns="27432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16181C"/>
                </a:solidFill>
                <a:latin typeface="Microsoft YaHei"/>
                <a:ea typeface="Microsoft YaHei"/>
                <a:cs typeface="Microsoft YaHei"/>
              </a:rPr>
              <a:t>patch → PRIMITIVE Test 快速归因 → E2E 验证真实路径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31352" y="4937760"/>
            <a:ext cx="3108960" cy="457200"/>
          </a:xfrm>
          <a:prstGeom prst="rect">
            <a:avLst/>
          </a:prstGeom>
          <a:noFill/>
          <a:effectLst/>
        </p:spPr>
        <p:txBody>
          <a:bodyPr wrap="square" lIns="45720" tIns="27432" rIns="45720" bIns="27432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0E8C7C"/>
                </a:solidFill>
                <a:latin typeface="Consolas"/>
                <a:ea typeface="Consolas"/>
                <a:cs typeface="Consolas"/>
              </a:rPr>
              <a:t>feedback loop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5468112"/>
            <a:ext cx="11183112" cy="457200"/>
          </a:xfrm>
          <a:prstGeom prst="roundRect">
            <a:avLst>
              <a:gd name="adj" fmla="val 5000"/>
            </a:avLst>
          </a:prstGeom>
          <a:solidFill>
            <a:srgbClr val="F5EEE2"/>
          </a:solidFill>
          <a:ln w="12700">
            <a:solidFill>
              <a:srgbClr val="A96F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12648" y="5468112"/>
            <a:ext cx="1234440" cy="457200"/>
          </a:xfrm>
          <a:prstGeom prst="rect">
            <a:avLst/>
          </a:prstGeom>
          <a:noFill/>
          <a:effectLst/>
        </p:spPr>
        <p:txBody>
          <a:bodyPr wrap="square" lIns="45720" tIns="27432" rIns="45720" bIns="27432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950" b="1" i="0">
                <a:solidFill>
                  <a:srgbClr val="A96F0C"/>
                </a:solidFill>
                <a:latin typeface="Consolas"/>
                <a:ea typeface="Consolas"/>
                <a:cs typeface="Consolas"/>
              </a:rPr>
              <a:t>GUARD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74520" y="5468112"/>
            <a:ext cx="6565392" cy="457200"/>
          </a:xfrm>
          <a:prstGeom prst="rect">
            <a:avLst/>
          </a:prstGeom>
          <a:noFill/>
          <a:effectLst/>
        </p:spPr>
        <p:txBody>
          <a:bodyPr wrap="square" lIns="45720" tIns="27432" rIns="45720" bIns="27432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16181C"/>
                </a:solidFill>
                <a:latin typeface="Microsoft YaHei"/>
                <a:ea typeface="Microsoft YaHei"/>
                <a:cs typeface="Microsoft YaHei"/>
              </a:rPr>
              <a:t>看护删除、插件启停和框架边界，防止「减法」变成回归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31352" y="5468112"/>
            <a:ext cx="3108960" cy="457200"/>
          </a:xfrm>
          <a:prstGeom prst="rect">
            <a:avLst/>
          </a:prstGeom>
          <a:noFill/>
          <a:effectLst/>
        </p:spPr>
        <p:txBody>
          <a:bodyPr wrap="square" lIns="45720" tIns="27432" rIns="45720" bIns="27432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A96F0C"/>
                </a:solidFill>
                <a:latin typeface="Consolas"/>
                <a:ea typeface="Consolas"/>
                <a:cs typeface="Consolas"/>
              </a:rPr>
              <a:t>delete safely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02920" y="6144768"/>
            <a:ext cx="11183112" cy="0"/>
          </a:xfrm>
          <a:prstGeom prst="line">
            <a:avLst/>
          </a:prstGeom>
          <a:ln w="12700">
            <a:solidFill>
              <a:srgbClr val="D6D6C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502920" y="6199631"/>
            <a:ext cx="11183112" cy="457200"/>
          </a:xfrm>
          <a:prstGeom prst="rect">
            <a:avLst/>
          </a:prstGeom>
          <a:noFill/>
          <a:effectLst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50" b="1" i="0">
                <a:solidFill>
                  <a:srgbClr val="3E5FD9"/>
                </a:solidFill>
                <a:latin typeface="Consolas"/>
                <a:ea typeface="Consolas"/>
                <a:cs typeface="Consolas"/>
              </a:rPr>
              <a:t>CI 资产   </a:t>
            </a:r>
            <a:r>
              <a:rPr sz="1050" b="0" i="0">
                <a:solidFill>
                  <a:srgbClr val="16181C"/>
                </a:solidFill>
                <a:latin typeface="Microsoft YaHei"/>
                <a:ea typeface="Microsoft YaHei"/>
                <a:cs typeface="Microsoft YaHei"/>
              </a:rPr>
              <a:t>PRIMITIVE Test 守住稳定底座，E2E Test 证明真实路径；二者共同让 Agent 敢删、敢替换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85855" y="6473952"/>
            <a:ext cx="731520" cy="274320"/>
          </a:xfrm>
          <a:prstGeom prst="rect">
            <a:avLst/>
          </a:prstGeom>
          <a:noFill/>
          <a:effectLst/>
        </p:spPr>
        <p:txBody>
          <a:bodyPr wrap="square" lIns="45720" tIns="27432" rIns="45720" bIns="27432" anchor="b">
            <a:spAutoFit/>
          </a:bodyPr>
          <a:lstStyle/>
          <a:p>
            <a:pPr algn="r">
              <a:spcBef>
                <a:spcPts val="0"/>
              </a:spcBef>
            </a:pPr>
            <a:r>
              <a:rPr sz="850" b="0" i="0">
                <a:solidFill>
                  <a:srgbClr val="7C818B"/>
                </a:solidFill>
                <a:latin typeface="Consolas"/>
                <a:ea typeface="Consolas"/>
                <a:cs typeface="Consolas"/>
              </a:rPr>
              <a:t>22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50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" dur="5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" dur="50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" dur="50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50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" dur="500"/>
                                  <p:tgtEl>
                                    <p:spTgt spid="2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4" dur="50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7" dur="50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0" dur="500"/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3" dur="500"/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7" dur="500"/>
                                  <p:tgtEl>
                                    <p:spTgt spid="2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8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0" dur="500"/>
                                  <p:tgtEl>
                                    <p:spTgt spid="2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1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3" dur="500"/>
                                  <p:tgtEl>
                                    <p:spTgt spid="2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6" dur="500"/>
                                  <p:tgtEl>
                                    <p:spTgt spid="2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7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9" dur="500"/>
                                  <p:tgtEl>
                                    <p:spTgt spid="2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0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2" dur="500"/>
                                  <p:tgtEl>
                                    <p:spTgt spid="3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3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500"/>
                                  <p:tgtEl>
                                    <p:spTgt spid="3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6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500"/>
                                  <p:tgtEl>
                                    <p:spTgt spid="3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9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1" dur="500"/>
                                  <p:tgtEl>
                                    <p:spTgt spid="3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2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4" dur="500"/>
                                  <p:tgtEl>
                                    <p:spTgt spid="3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937259" cy="237744"/>
          </a:xfrm>
          <a:prstGeom prst="roundRect">
            <a:avLst>
              <a:gd name="adj" fmla="val 16000"/>
            </a:avLst>
          </a:prstGeom>
          <a:solidFill>
            <a:srgbClr val="3E5FD9"/>
          </a:solidFill>
          <a:ln w="12700">
            <a:solidFill>
              <a:srgbClr val="3E5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27432" rIns="36576" bIns="27432" rtlCol="0" anchor="ctr"/>
          <a:lstStyle/>
          <a:p>
            <a:pPr algn="ctr">
              <a:spcBef>
                <a:spcPts val="0"/>
              </a:spcBef>
            </a:pPr>
            <a:r>
              <a:rPr sz="8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Vibe Coding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49907" y="356616"/>
            <a:ext cx="8229600" cy="256032"/>
          </a:xfrm>
          <a:prstGeom prst="rect">
            <a:avLst/>
          </a:prstGeom>
          <a:noFill/>
          <a:effectLst/>
        </p:spPr>
        <p:txBody>
          <a:bodyPr wrap="square" lIns="45720" tIns="27432" rIns="45720" bIns="27432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850" b="0" i="0">
                <a:solidFill>
                  <a:srgbClr val="7C818B"/>
                </a:solidFill>
                <a:latin typeface="Consolas"/>
                <a:ea typeface="Consolas"/>
                <a:cs typeface="Consolas"/>
              </a:rPr>
              <a:t>从「AI 写代码」到「仓库会自证」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31520"/>
            <a:ext cx="11155680" cy="868680"/>
          </a:xfrm>
          <a:prstGeom prst="rect">
            <a:avLst/>
          </a:prstGeom>
          <a:noFill/>
          <a:effectLst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000" b="1" i="0">
                <a:solidFill>
                  <a:srgbClr val="16181C"/>
                </a:solidFill>
                <a:latin typeface="Microsoft YaHei"/>
                <a:ea typeface="Microsoft YaHei"/>
                <a:cs typeface="Microsoft YaHei"/>
              </a:rPr>
              <a:t>真正 Agent-ready 的框架，是三层反馈系统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34440" y="2148840"/>
            <a:ext cx="2743200" cy="960120"/>
          </a:xfrm>
          <a:prstGeom prst="roundRect">
            <a:avLst>
              <a:gd name="adj" fmla="val 5000"/>
            </a:avLst>
          </a:prstGeom>
          <a:solidFill>
            <a:srgbClr val="F5EEE2"/>
          </a:solidFill>
          <a:ln w="19050">
            <a:solidFill>
              <a:srgbClr val="A96F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A96F0C"/>
                </a:solidFill>
                <a:latin typeface="Microsoft YaHei"/>
                <a:ea typeface="Microsoft YaHei"/>
                <a:cs typeface="Microsoft YaHei"/>
              </a:rPr>
              <a:t>Design</a:t>
            </a:r>
          </a:p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7C818B"/>
                </a:solidFill>
                <a:latin typeface="Microsoft YaHei"/>
                <a:ea typeface="Microsoft YaHei"/>
                <a:cs typeface="Microsoft YaHei"/>
              </a:rPr>
              <a:t>减法 · 稳定边界 · 插件化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032503" y="2628900"/>
            <a:ext cx="484633" cy="0"/>
          </a:xfrm>
          <a:prstGeom prst="line">
            <a:avLst/>
          </a:prstGeom>
          <a:ln w="25400">
            <a:solidFill>
              <a:srgbClr val="3E5FD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758183" y="2336292"/>
            <a:ext cx="1033272" cy="256032"/>
          </a:xfrm>
          <a:prstGeom prst="rect">
            <a:avLst/>
          </a:prstGeom>
          <a:noFill/>
          <a:effectLst/>
        </p:spPr>
        <p:txBody>
          <a:bodyPr wrap="square" lIns="45720" tIns="27432" rIns="45720" bIns="27432" anchor="b">
            <a:spAutoFit/>
          </a:bodyPr>
          <a:lstStyle/>
          <a:p>
            <a:pPr algn="ctr">
              <a:spcBef>
                <a:spcPts val="0"/>
              </a:spcBef>
            </a:pPr>
            <a:r>
              <a:rPr sz="750" b="0" i="0">
                <a:solidFill>
                  <a:srgbClr val="3E5FD9"/>
                </a:solidFill>
                <a:latin typeface="Consolas"/>
                <a:ea typeface="Consolas"/>
                <a:cs typeface="Consolas"/>
              </a:rPr>
              <a:t>约束改动面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2148840"/>
            <a:ext cx="2743200" cy="960120"/>
          </a:xfrm>
          <a:prstGeom prst="roundRect">
            <a:avLst>
              <a:gd name="adj" fmla="val 5000"/>
            </a:avLst>
          </a:prstGeom>
          <a:solidFill>
            <a:srgbClr val="EFECFB"/>
          </a:solidFill>
          <a:ln w="19050">
            <a:solidFill>
              <a:srgbClr val="6A4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6A4FD8"/>
                </a:solidFill>
                <a:latin typeface="Microsoft YaHei"/>
                <a:ea typeface="Microsoft YaHei"/>
                <a:cs typeface="Microsoft YaHei"/>
              </a:rPr>
              <a:t>Agent Loop</a:t>
            </a:r>
          </a:p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7C818B"/>
                </a:solidFill>
                <a:latin typeface="Microsoft YaHei"/>
                <a:ea typeface="Microsoft YaHei"/>
                <a:cs typeface="Microsoft YaHei"/>
              </a:rPr>
              <a:t>observe · patch · validate · exit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370064" y="2628900"/>
            <a:ext cx="484632" cy="0"/>
          </a:xfrm>
          <a:prstGeom prst="line">
            <a:avLst/>
          </a:prstGeom>
          <a:ln w="25400">
            <a:solidFill>
              <a:srgbClr val="3E5FD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095744" y="2336292"/>
            <a:ext cx="1033271" cy="256032"/>
          </a:xfrm>
          <a:prstGeom prst="rect">
            <a:avLst/>
          </a:prstGeom>
          <a:noFill/>
          <a:effectLst/>
        </p:spPr>
        <p:txBody>
          <a:bodyPr wrap="square" lIns="45720" tIns="27432" rIns="45720" bIns="27432" anchor="b">
            <a:spAutoFit/>
          </a:bodyPr>
          <a:lstStyle/>
          <a:p>
            <a:pPr algn="ctr">
              <a:spcBef>
                <a:spcPts val="0"/>
              </a:spcBef>
            </a:pPr>
            <a:r>
              <a:rPr sz="750" b="0" i="0">
                <a:solidFill>
                  <a:srgbClr val="3E5FD9"/>
                </a:solidFill>
                <a:latin typeface="Consolas"/>
                <a:ea typeface="Consolas"/>
                <a:cs typeface="Consolas"/>
              </a:rPr>
              <a:t>提交 evidence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09560" y="2148840"/>
            <a:ext cx="2743200" cy="960120"/>
          </a:xfrm>
          <a:prstGeom prst="roundRect">
            <a:avLst>
              <a:gd name="adj" fmla="val 5000"/>
            </a:avLst>
          </a:prstGeom>
          <a:solidFill>
            <a:srgbClr val="E5F2F1"/>
          </a:solidFill>
          <a:ln w="19050">
            <a:solidFill>
              <a:srgbClr val="0E8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0E8C7C"/>
                </a:solidFill>
                <a:latin typeface="Microsoft YaHei"/>
                <a:ea typeface="Microsoft YaHei"/>
                <a:cs typeface="Microsoft YaHei"/>
              </a:rPr>
              <a:t>CI Evidence</a:t>
            </a:r>
          </a:p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7C818B"/>
                </a:solidFill>
                <a:latin typeface="Microsoft YaHei"/>
                <a:ea typeface="Microsoft YaHei"/>
                <a:cs typeface="Microsoft YaHei"/>
              </a:rPr>
              <a:t>Primitive · E2E · perf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96796" y="3538728"/>
            <a:ext cx="8595360" cy="274320"/>
          </a:xfrm>
          <a:prstGeom prst="rect">
            <a:avLst/>
          </a:prstGeom>
          <a:noFill/>
          <a:effectLst/>
        </p:spPr>
        <p:txBody>
          <a:bodyPr wrap="square" lIns="45720" tIns="27432" rIns="45720" bIns="27432" anchor="t">
            <a:spAutoFit/>
          </a:bodyPr>
          <a:lstStyle/>
          <a:p>
            <a:pPr algn="ctr">
              <a:spcBef>
                <a:spcPts val="0"/>
              </a:spcBef>
            </a:pPr>
            <a:r>
              <a:rPr sz="1000" b="1" i="0" dirty="0" err="1">
                <a:solidFill>
                  <a:srgbClr val="3E5FD9"/>
                </a:solidFill>
                <a:latin typeface="Microsoft YaHei"/>
                <a:ea typeface="Microsoft YaHei"/>
                <a:cs typeface="Microsoft YaHei"/>
              </a:rPr>
              <a:t>失败反哺边界与测试；重复失败升级成新的设计约束</a:t>
            </a:r>
            <a:endParaRPr sz="1000" b="1" i="0" dirty="0">
              <a:solidFill>
                <a:srgbClr val="3E5FD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502920" y="3977639"/>
            <a:ext cx="3514344" cy="1508760"/>
          </a:xfrm>
          <a:prstGeom prst="roundRect">
            <a:avLst>
              <a:gd name="adj" fmla="val 5000"/>
            </a:avLst>
          </a:prstGeom>
          <a:solidFill>
            <a:srgbClr val="EDEDE8"/>
          </a:solidFill>
          <a:ln w="12700">
            <a:solidFill>
              <a:srgbClr val="D6D6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09728" rIns="128016" bIns="91440" rtlCol="0" anchor="t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750" b="0" i="0">
                <a:solidFill>
                  <a:srgbClr val="7C818B"/>
                </a:solidFill>
                <a:latin typeface="Consolas"/>
                <a:ea typeface="Consolas"/>
                <a:cs typeface="Consolas"/>
              </a:rPr>
              <a:t>BEFORE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 strike="sngStrike">
                <a:solidFill>
                  <a:srgbClr val="16181C"/>
                </a:solidFill>
                <a:latin typeface="Microsoft YaHei"/>
                <a:ea typeface="Microsoft YaHei"/>
                <a:cs typeface="Microsoft YaHei"/>
              </a:rPr>
              <a:t>所有变化都进 Core</a:t>
            </a:r>
          </a:p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950" b="0" i="0">
                <a:solidFill>
                  <a:srgbClr val="4A4E57"/>
                </a:solidFill>
                <a:latin typeface="Microsoft YaHei"/>
                <a:ea typeface="Microsoft YaHei"/>
                <a:cs typeface="Microsoft YaHei"/>
              </a:rPr>
              <a:t>模型越多，主干越胖；Agent 每次都重新理解历史包袱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37304" y="3977639"/>
            <a:ext cx="3514344" cy="1508760"/>
          </a:xfrm>
          <a:prstGeom prst="roundRect">
            <a:avLst>
              <a:gd name="adj" fmla="val 5000"/>
            </a:avLst>
          </a:prstGeom>
          <a:solidFill>
            <a:srgbClr val="ECEFFB"/>
          </a:solidFill>
          <a:ln w="12700">
            <a:solidFill>
              <a:srgbClr val="3E5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09728" rIns="128016" bIns="91440" rtlCol="0" anchor="t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750" b="0" i="0">
                <a:solidFill>
                  <a:srgbClr val="7C818B"/>
                </a:solidFill>
                <a:latin typeface="Consolas"/>
                <a:ea typeface="Consolas"/>
                <a:cs typeface="Consolas"/>
              </a:rPr>
              <a:t>AFTER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3E5FD9"/>
                </a:solidFill>
                <a:latin typeface="Microsoft YaHei"/>
                <a:ea typeface="Microsoft YaHei"/>
                <a:cs typeface="Microsoft YaHei"/>
              </a:rPr>
              <a:t>Core 瘦，变化可替换</a:t>
            </a:r>
          </a:p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950" b="0" i="0">
                <a:solidFill>
                  <a:srgbClr val="4A4E57"/>
                </a:solidFill>
                <a:latin typeface="Microsoft YaHei"/>
                <a:ea typeface="Microsoft YaHei"/>
                <a:cs typeface="Microsoft YaHei"/>
              </a:rPr>
              <a:t>模型、平台与未来调度策略沿清晰边界演进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71688" y="3977639"/>
            <a:ext cx="3514344" cy="1508760"/>
          </a:xfrm>
          <a:prstGeom prst="roundRect">
            <a:avLst>
              <a:gd name="adj" fmla="val 5000"/>
            </a:avLst>
          </a:prstGeom>
          <a:solidFill>
            <a:srgbClr val="EDEDE8"/>
          </a:solidFill>
          <a:ln w="12700">
            <a:solidFill>
              <a:srgbClr val="D6D6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09728" rIns="128016" bIns="91440" rtlCol="0" anchor="t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750" b="0" i="0">
                <a:solidFill>
                  <a:srgbClr val="7C818B"/>
                </a:solidFill>
                <a:latin typeface="Consolas"/>
                <a:ea typeface="Consolas"/>
                <a:cs typeface="Consolas"/>
              </a:rPr>
              <a:t>PROOF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6181C"/>
                </a:solidFill>
                <a:latin typeface="Microsoft YaHei"/>
                <a:ea typeface="Microsoft YaHei"/>
                <a:cs typeface="Microsoft YaHei"/>
              </a:rPr>
              <a:t>仓库持续自证</a:t>
            </a:r>
          </a:p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950" b="0" i="0">
                <a:solidFill>
                  <a:srgbClr val="4A4E57"/>
                </a:solidFill>
                <a:latin typeface="Microsoft YaHei"/>
                <a:ea typeface="Microsoft YaHei"/>
                <a:cs typeface="Microsoft YaHei"/>
              </a:rPr>
              <a:t>Primitive Test 守底座，E2E 守真实路径，性能基线守优化质量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02920" y="5806440"/>
            <a:ext cx="11183112" cy="0"/>
          </a:xfrm>
          <a:prstGeom prst="line">
            <a:avLst/>
          </a:prstGeom>
          <a:ln w="12700">
            <a:solidFill>
              <a:srgbClr val="D6D6C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02920" y="5861303"/>
            <a:ext cx="11183112" cy="457200"/>
          </a:xfrm>
          <a:prstGeom prst="rect">
            <a:avLst/>
          </a:prstGeom>
          <a:noFill/>
          <a:effectLst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50" b="1" i="0">
                <a:solidFill>
                  <a:srgbClr val="3E5FD9"/>
                </a:solidFill>
                <a:latin typeface="Consolas"/>
                <a:ea typeface="Consolas"/>
                <a:cs typeface="Consolas"/>
              </a:rPr>
              <a:t>终点   </a:t>
            </a:r>
            <a:r>
              <a:rPr sz="1050" b="0" i="0">
                <a:solidFill>
                  <a:srgbClr val="16181C"/>
                </a:solidFill>
                <a:latin typeface="Microsoft YaHei"/>
                <a:ea typeface="Microsoft YaHei"/>
                <a:cs typeface="Microsoft YaHei"/>
              </a:rPr>
              <a:t>让错误更快暴露，让无用代码更容易删除，让插件替换不破坏真实用户路径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85855" y="6473952"/>
            <a:ext cx="731520" cy="274320"/>
          </a:xfrm>
          <a:prstGeom prst="rect">
            <a:avLst/>
          </a:prstGeom>
          <a:noFill/>
          <a:effectLst/>
        </p:spPr>
        <p:txBody>
          <a:bodyPr wrap="square" lIns="45720" tIns="27432" rIns="45720" bIns="27432" anchor="b">
            <a:spAutoFit/>
          </a:bodyPr>
          <a:lstStyle/>
          <a:p>
            <a:pPr algn="r">
              <a:spcBef>
                <a:spcPts val="0"/>
              </a:spcBef>
            </a:pPr>
            <a:r>
              <a:rPr sz="850" b="0" i="0">
                <a:solidFill>
                  <a:srgbClr val="7C818B"/>
                </a:solidFill>
                <a:latin typeface="Consolas"/>
                <a:ea typeface="Consolas"/>
                <a:cs typeface="Consolas"/>
              </a:rPr>
              <a:t>23</a:t>
            </a:r>
          </a:p>
        </p:txBody>
      </p:sp>
      <p:cxnSp>
        <p:nvCxnSpPr>
          <p:cNvPr id="23" name="Curved Connector 22">
            <a:extLst>
              <a:ext uri="{FF2B5EF4-FFF2-40B4-BE49-F238E27FC236}">
                <a16:creationId xmlns:a16="http://schemas.microsoft.com/office/drawing/2014/main" id="{E2762688-8A87-C4FA-D768-147F64CBBA81}"/>
              </a:ext>
            </a:extLst>
          </p:cNvPr>
          <p:cNvCxnSpPr>
            <a:cxnSpLocks/>
            <a:stCxn id="12" idx="2"/>
            <a:endCxn id="6" idx="2"/>
          </p:cNvCxnSpPr>
          <p:nvPr/>
        </p:nvCxnSpPr>
        <p:spPr>
          <a:xfrm rot="5400000">
            <a:off x="5943600" y="-228600"/>
            <a:ext cx="12700" cy="6675120"/>
          </a:xfrm>
          <a:prstGeom prst="curvedConnector3">
            <a:avLst>
              <a:gd name="adj1" fmla="val 334285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5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" dur="5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" dur="50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" dur="50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50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" dur="50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34440"/>
            <a:ext cx="10058400" cy="365760"/>
          </a:xfrm>
          <a:prstGeom prst="rect">
            <a:avLst/>
          </a:prstGeom>
          <a:noFill/>
          <a:effectLst/>
        </p:spPr>
        <p:txBody>
          <a:bodyPr wrap="square" lIns="45720" tIns="27432" rIns="45720" bIns="27432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1" i="0">
                <a:solidFill>
                  <a:srgbClr val="3E5FD9"/>
                </a:solidFill>
                <a:latin typeface="Consolas"/>
                <a:ea typeface="Consolas"/>
                <a:cs typeface="Consolas"/>
              </a:rPr>
              <a:t>ONE MORE THING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691640"/>
            <a:ext cx="10058400" cy="914400"/>
          </a:xfrm>
          <a:prstGeom prst="rect">
            <a:avLst/>
          </a:prstGeom>
          <a:noFill/>
          <a:effectLst/>
        </p:spPr>
        <p:txBody>
          <a:bodyPr wrap="square" lIns="45720" tIns="27432" rIns="45720" bIns="27432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4000" b="1" i="0">
                <a:solidFill>
                  <a:srgbClr val="16181C"/>
                </a:solidFill>
                <a:latin typeface="Microsoft YaHei"/>
                <a:ea typeface="Microsoft YaHei"/>
                <a:cs typeface="Microsoft YaHei"/>
              </a:rPr>
              <a:t>感谢聆听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2880360"/>
            <a:ext cx="11183112" cy="0"/>
          </a:xfrm>
          <a:prstGeom prst="line">
            <a:avLst/>
          </a:prstGeom>
          <a:ln w="12700">
            <a:solidFill>
              <a:srgbClr val="D6D6C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2920" y="3017520"/>
            <a:ext cx="10972800" cy="640080"/>
          </a:xfrm>
          <a:prstGeom prst="rect">
            <a:avLst/>
          </a:prstGeom>
          <a:noFill/>
          <a:effectLst/>
        </p:spPr>
        <p:txBody>
          <a:bodyPr wrap="square" lIns="45720" tIns="27432" rIns="45720" bIns="27432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700" b="1" i="0">
                <a:solidFill>
                  <a:srgbClr val="16181C"/>
                </a:solidFill>
                <a:latin typeface="Microsoft YaHei"/>
                <a:ea typeface="Microsoft YaHei"/>
                <a:cs typeface="Microsoft YaHei"/>
              </a:rPr>
              <a:t>Q &amp; 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401568"/>
            <a:ext cx="10972800" cy="365760"/>
          </a:xfrm>
          <a:prstGeom prst="rect">
            <a:avLst/>
          </a:prstGeom>
          <a:noFill/>
          <a:effectLst/>
        </p:spPr>
        <p:txBody>
          <a:bodyPr wrap="square" lIns="45720" tIns="27432" rIns="45720" bIns="27432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150" b="0" i="0">
                <a:solidFill>
                  <a:srgbClr val="4A4E57"/>
                </a:solidFill>
                <a:latin typeface="Microsoft YaHei"/>
                <a:ea typeface="Microsoft YaHei"/>
                <a:cs typeface="Microsoft YaHei"/>
              </a:rPr>
              <a:t>模型 · 推理 · 强化学习，一起把全模态系统做成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3977639"/>
            <a:ext cx="5431536" cy="731520"/>
          </a:xfrm>
          <a:prstGeom prst="roundRect">
            <a:avLst>
              <a:gd name="adj" fmla="val 5000"/>
            </a:avLst>
          </a:prstGeom>
          <a:solidFill>
            <a:srgbClr val="EDEDE8"/>
          </a:solidFill>
          <a:ln w="12700">
            <a:solidFill>
              <a:srgbClr val="D6D6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09728" rIns="128016" bIns="91440" rtlCol="0" anchor="t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750" b="0" i="0">
                <a:solidFill>
                  <a:srgbClr val="7C818B"/>
                </a:solidFill>
                <a:latin typeface="Consolas"/>
                <a:ea typeface="Consolas"/>
                <a:cs typeface="Consolas"/>
              </a:rPr>
              <a:t>VLLM-PROJECT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6181C"/>
                </a:solidFill>
                <a:latin typeface="Microsoft YaHei"/>
                <a:ea typeface="Microsoft YaHei"/>
                <a:cs typeface="Microsoft YaHei"/>
              </a:rPr>
              <a:t>vLLM</a:t>
            </a:r>
          </a:p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950" b="0" i="0">
                <a:solidFill>
                  <a:srgbClr val="4A4E57"/>
                </a:solidFill>
                <a:latin typeface="Microsoft YaHei"/>
                <a:ea typeface="Microsoft YaHei"/>
                <a:cs typeface="Microsoft YaHei"/>
              </a:rPr>
              <a:t>github.com/vllm-project/vllm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54496" y="3977639"/>
            <a:ext cx="5431536" cy="731520"/>
          </a:xfrm>
          <a:prstGeom prst="roundRect">
            <a:avLst>
              <a:gd name="adj" fmla="val 5000"/>
            </a:avLst>
          </a:prstGeom>
          <a:solidFill>
            <a:srgbClr val="ECEFFB"/>
          </a:solidFill>
          <a:ln w="12700">
            <a:solidFill>
              <a:srgbClr val="3E5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09728" rIns="128016" bIns="91440" rtlCol="0" anchor="t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750" b="0" i="0">
                <a:solidFill>
                  <a:srgbClr val="7C818B"/>
                </a:solidFill>
                <a:latin typeface="Consolas"/>
                <a:ea typeface="Consolas"/>
                <a:cs typeface="Consolas"/>
              </a:rPr>
              <a:t>VLLM-PROJECT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3E5FD9"/>
                </a:solidFill>
                <a:latin typeface="Microsoft YaHei"/>
                <a:ea typeface="Microsoft YaHei"/>
                <a:cs typeface="Microsoft YaHei"/>
              </a:rPr>
              <a:t>vLLM-Omni</a:t>
            </a:r>
          </a:p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950" b="0" i="0">
                <a:solidFill>
                  <a:srgbClr val="4A4E57"/>
                </a:solidFill>
                <a:latin typeface="Microsoft YaHei"/>
                <a:ea typeface="Microsoft YaHei"/>
                <a:cs typeface="Microsoft YaHei"/>
              </a:rPr>
              <a:t>github.com/vllm-project/vllm-omni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4818888"/>
            <a:ext cx="5431536" cy="731520"/>
          </a:xfrm>
          <a:prstGeom prst="roundRect">
            <a:avLst>
              <a:gd name="adj" fmla="val 5000"/>
            </a:avLst>
          </a:prstGeom>
          <a:solidFill>
            <a:srgbClr val="EDEDE8"/>
          </a:solidFill>
          <a:ln w="12700">
            <a:solidFill>
              <a:srgbClr val="D6D6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09728" rIns="128016" bIns="91440" rtlCol="0" anchor="t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750" b="0" i="0">
                <a:solidFill>
                  <a:srgbClr val="7C818B"/>
                </a:solidFill>
                <a:latin typeface="Consolas"/>
                <a:ea typeface="Consolas"/>
                <a:cs typeface="Consolas"/>
              </a:rPr>
              <a:t>VLLM-PROJECT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6181C"/>
                </a:solidFill>
                <a:latin typeface="Microsoft YaHei"/>
                <a:ea typeface="Microsoft YaHei"/>
                <a:cs typeface="Microsoft YaHei"/>
              </a:rPr>
              <a:t>VIME</a:t>
            </a:r>
          </a:p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950" b="0" i="0">
                <a:solidFill>
                  <a:srgbClr val="4A4E57"/>
                </a:solidFill>
                <a:latin typeface="Microsoft YaHei"/>
                <a:ea typeface="Microsoft YaHei"/>
                <a:cs typeface="Microsoft YaHei"/>
              </a:rPr>
              <a:t>github.com/vllm-project/vime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4496" y="4818888"/>
            <a:ext cx="5431536" cy="731520"/>
          </a:xfrm>
          <a:prstGeom prst="roundRect">
            <a:avLst>
              <a:gd name="adj" fmla="val 5000"/>
            </a:avLst>
          </a:prstGeom>
          <a:solidFill>
            <a:srgbClr val="EDEDE8"/>
          </a:solidFill>
          <a:ln w="12700">
            <a:solidFill>
              <a:srgbClr val="D6D6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09728" rIns="128016" bIns="91440" rtlCol="0" anchor="t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750" b="0" i="0">
                <a:solidFill>
                  <a:srgbClr val="7C818B"/>
                </a:solidFill>
                <a:latin typeface="Consolas"/>
                <a:ea typeface="Consolas"/>
                <a:cs typeface="Consolas"/>
              </a:rPr>
              <a:t>VERL-PROJECT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6181C"/>
                </a:solidFill>
                <a:latin typeface="Microsoft YaHei"/>
                <a:ea typeface="Microsoft YaHei"/>
                <a:cs typeface="Microsoft YaHei"/>
              </a:rPr>
              <a:t>verl-omni</a:t>
            </a:r>
          </a:p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950" b="0" i="0">
                <a:solidFill>
                  <a:srgbClr val="4A4E57"/>
                </a:solidFill>
                <a:latin typeface="Microsoft YaHei"/>
                <a:ea typeface="Microsoft YaHei"/>
                <a:cs typeface="Microsoft YaHei"/>
              </a:rPr>
              <a:t>github.com/verl-project/verl-omni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5806440"/>
            <a:ext cx="886968" cy="82296"/>
          </a:xfrm>
          <a:prstGeom prst="roundRect">
            <a:avLst>
              <a:gd name="adj" fmla="val 40000"/>
            </a:avLst>
          </a:prstGeom>
          <a:solidFill>
            <a:srgbClr val="A96F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417320" y="5806440"/>
            <a:ext cx="886968" cy="82296"/>
          </a:xfrm>
          <a:prstGeom prst="roundRect">
            <a:avLst>
              <a:gd name="adj" fmla="val 40000"/>
            </a:avLst>
          </a:prstGeom>
          <a:solidFill>
            <a:srgbClr val="0E8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2331720" y="5806440"/>
            <a:ext cx="886968" cy="82296"/>
          </a:xfrm>
          <a:prstGeom prst="roundRect">
            <a:avLst>
              <a:gd name="adj" fmla="val 40000"/>
            </a:avLst>
          </a:prstGeom>
          <a:solidFill>
            <a:srgbClr val="6A4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3246120" y="5806440"/>
            <a:ext cx="886968" cy="82296"/>
          </a:xfrm>
          <a:prstGeom prst="roundRect">
            <a:avLst>
              <a:gd name="adj" fmla="val 40000"/>
            </a:avLst>
          </a:prstGeom>
          <a:solidFill>
            <a:srgbClr val="C432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185855" y="6473952"/>
            <a:ext cx="731520" cy="274320"/>
          </a:xfrm>
          <a:prstGeom prst="rect">
            <a:avLst/>
          </a:prstGeom>
          <a:noFill/>
          <a:effectLst/>
        </p:spPr>
        <p:txBody>
          <a:bodyPr wrap="square" lIns="45720" tIns="27432" rIns="45720" bIns="27432" anchor="b">
            <a:spAutoFit/>
          </a:bodyPr>
          <a:lstStyle/>
          <a:p>
            <a:pPr algn="r">
              <a:spcBef>
                <a:spcPts val="0"/>
              </a:spcBef>
            </a:pPr>
            <a:r>
              <a:rPr sz="850" b="0" i="0">
                <a:solidFill>
                  <a:srgbClr val="7C818B"/>
                </a:solidFill>
                <a:latin typeface="Consolas"/>
                <a:ea typeface="Consolas"/>
                <a:cs typeface="Consolas"/>
              </a:rPr>
              <a:t>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2536</Words>
  <Application>Microsoft Macintosh PowerPoint</Application>
  <PresentationFormat>Widescreen</PresentationFormat>
  <Paragraphs>668</Paragraphs>
  <Slides>24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Microsoft YaHei</vt:lpstr>
      <vt:lpstr>Aptos</vt:lpstr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Wang, Zhipeng | RASIA</cp:lastModifiedBy>
  <cp:revision>6</cp:revision>
  <dcterms:created xsi:type="dcterms:W3CDTF">2013-01-27T09:14:16Z</dcterms:created>
  <dcterms:modified xsi:type="dcterms:W3CDTF">2026-07-27T08:04:27Z</dcterms:modified>
  <cp:category/>
</cp:coreProperties>
</file>