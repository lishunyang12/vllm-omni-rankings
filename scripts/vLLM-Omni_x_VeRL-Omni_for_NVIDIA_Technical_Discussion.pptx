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keep the discussion focused on the system claim shown on the slide. Distinguish published measurements from proposed collaboration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keep the discussion focused on the system claim shown on the slide. Distinguish published measurements from proposed collaboration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keep the discussion focused on the system claim shown on the slide. Distinguish published measurements from proposed collaboration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keep the discussion focused on the system claim shown on the slide. Distinguish published measurements from proposed collaboration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keep the discussion focused on the system claim shown on the slide. Distinguish published measurements from proposed collaboration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keep the discussion focused on the system claim shown on the slide. Distinguish published measurements from proposed collaboration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keep the discussion focused on the system claim shown on the slide. Distinguish published measurements from proposed collaboration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keep the discussion focused on the system claim shown on the slide. Distinguish published measurements from proposed collaboration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keep the discussion focused on the system claim shown on the slide. Distinguish published measurements from proposed collaboration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10: keep the discussion focused on the system claim shown on the slide. Distinguish published measurements from proposed collaboration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11: keep the discussion focused on the system claim shown on the slide. Distinguish published measurements from proposed collaboration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12: keep the discussion focused on the system claim shown on the slide. Distinguish published measurements from proposed collaboration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13: keep the discussion focused on the system claim shown on the slide. Distinguish published measurements from proposed collaboration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14: keep the discussion focused on the system claim shown on the slide. Distinguish published measurements from proposed collaboration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15: keep the discussion focused on the system claim shown on the slide. Distinguish published measurements from proposed collaboration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16: keep the discussion focused on the system claim shown on the slide. Distinguish published measurements from proposed collaboration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17: keep the discussion focused on the system claim shown on the slide. Distinguish published measurements from proposed collaboration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18: keep the discussion focused on the system claim shown on the slide. Distinguish published measurements from proposed collaboration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19: keep the discussion focused on the system claim shown on the slide. Distinguish published measurements from proposed collaboration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20: keep the discussion focused on the system claim shown on the slide. Distinguish published measurements from proposed collaboration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21: keep the discussion focused on the system claim shown on the slide. Distinguish published measurements from proposed collaboration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22: keep the discussion focused on the system claim shown on the slide. Distinguish published measurements from proposed collaboration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23: keep the discussion focused on the system claim shown on the slide. Distinguish published measurements from proposed collaboration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24: keep the discussion focused on the system claim shown on the slide. Distinguish published measurements from proposed collaboration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25: keep the discussion focused on the system claim shown on the slide. Distinguish published measurements from proposed collaboration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26: keep the discussion focused on the system claim shown on the slide. Distinguish published measurements from proposed collaboration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27: keep the discussion focused on the system claim shown on the slide. Distinguish published measurements from proposed collaboration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28: keep the discussion focused on the system claim shown on the slide. Distinguish published measurements from proposed collaboration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2860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B91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2860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B91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72200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39128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06056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72984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39912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06840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73768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40696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07624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0" y="0"/>
            <a:ext cx="6126480" cy="0"/>
          </a:xfrm>
          <a:prstGeom prst="line">
            <a:avLst/>
          </a:prstGeom>
          <a:noFill/>
          <a:ln w="4445">
            <a:solidFill>
              <a:srgbClr val="CCD1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576072"/>
            <a:ext cx="6126480" cy="0"/>
          </a:xfrm>
          <a:prstGeom prst="line">
            <a:avLst/>
          </a:prstGeom>
          <a:noFill/>
          <a:ln w="4445">
            <a:solidFill>
              <a:srgbClr val="CCD1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152144"/>
            <a:ext cx="6126480" cy="0"/>
          </a:xfrm>
          <a:prstGeom prst="line">
            <a:avLst/>
          </a:prstGeom>
          <a:noFill/>
          <a:ln w="4445">
            <a:solidFill>
              <a:srgbClr val="CCD1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728216"/>
            <a:ext cx="6126480" cy="0"/>
          </a:xfrm>
          <a:prstGeom prst="line">
            <a:avLst/>
          </a:prstGeom>
          <a:noFill/>
          <a:ln w="4445">
            <a:solidFill>
              <a:srgbClr val="CCD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2304288"/>
            <a:ext cx="6126480" cy="0"/>
          </a:xfrm>
          <a:prstGeom prst="line">
            <a:avLst/>
          </a:prstGeom>
          <a:noFill/>
          <a:ln w="4445">
            <a:solidFill>
              <a:srgbClr val="CCD1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2880360"/>
            <a:ext cx="6126480" cy="0"/>
          </a:xfrm>
          <a:prstGeom prst="line">
            <a:avLst/>
          </a:prstGeom>
          <a:noFill/>
          <a:ln w="4445">
            <a:solidFill>
              <a:srgbClr val="CCD1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-840000">
            <a:off x="8778240" y="320040"/>
            <a:ext cx="2834640" cy="1078992"/>
          </a:xfrm>
          <a:prstGeom prst="rect">
            <a:avLst/>
          </a:prstGeom>
          <a:solidFill>
            <a:srgbClr val="76B900">
              <a:alpha val="93000"/>
            </a:srgbClr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-840000">
            <a:off x="9372600" y="1170432"/>
            <a:ext cx="2194560" cy="566928"/>
          </a:xfrm>
          <a:prstGeom prst="rect">
            <a:avLst/>
          </a:prstGeom>
          <a:solidFill>
            <a:srgbClr val="76B900">
              <a:alpha val="72000"/>
            </a:srgbClr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566928"/>
            <a:ext cx="1737360" cy="237744"/>
          </a:xfrm>
          <a:prstGeom prst="roundRect">
            <a:avLst>
              <a:gd name="adj" fmla="val 19231"/>
            </a:avLst>
          </a:prstGeom>
          <a:solidFill>
            <a:srgbClr val="76B900">
              <a:alpha val="18000"/>
            </a:srgbClr>
          </a:solidFill>
          <a:ln w="8890">
            <a:solidFill>
              <a:srgbClr val="76B900">
                <a:alpha val="65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576072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OMNI SYSTEMS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114300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vLLM-Omni × VeRL-Omni</a:t>
            </a:r>
            <a:endParaRPr lang="en-US" sz="31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1719072"/>
            <a:ext cx="65836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Open Systems Stack for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Omni-Modal Inference and RL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3090672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discussion for NVIDIA systems and performance engineers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3400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34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Shunyang Li  ·  September 2026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566928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B91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Community-maintained material · no NVIDIA endorsement implied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635240" y="1170432"/>
            <a:ext cx="3840480" cy="4315968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73568" y="1499616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10" kern="0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STACK · TWO LOOPS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247888" y="1993392"/>
            <a:ext cx="2606040" cy="749808"/>
          </a:xfrm>
          <a:prstGeom prst="roundRect">
            <a:avLst>
              <a:gd name="adj" fmla="val 7317"/>
            </a:avLst>
          </a:prstGeom>
          <a:solidFill>
            <a:srgbClr val="ECEFF1"/>
          </a:solidFill>
          <a:ln w="19050">
            <a:solidFill>
              <a:srgbClr val="76B9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21040" y="2103120"/>
            <a:ext cx="2459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vLLM-Omni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321040" y="2386584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· rollout · streaming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555480" y="2761488"/>
            <a:ext cx="0" cy="365760"/>
          </a:xfrm>
          <a:prstGeom prst="line">
            <a:avLst/>
          </a:prstGeom>
          <a:noFill/>
          <a:ln w="1905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247888" y="3145536"/>
            <a:ext cx="2606040" cy="749808"/>
          </a:xfrm>
          <a:prstGeom prst="roundRect">
            <a:avLst>
              <a:gd name="adj" fmla="val 7317"/>
            </a:avLst>
          </a:prstGeom>
          <a:solidFill>
            <a:srgbClr val="ECEFF1"/>
          </a:solidFill>
          <a:ln w="19050">
            <a:solidFill>
              <a:srgbClr val="007C8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21040" y="3255264"/>
            <a:ext cx="2459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VeRL-Omni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8321040" y="3538728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· update · orchestration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0863072" y="3493008"/>
            <a:ext cx="310896" cy="0"/>
          </a:xfrm>
          <a:prstGeom prst="line">
            <a:avLst/>
          </a:prstGeom>
          <a:noFill/>
          <a:ln w="19050">
            <a:solidFill>
              <a:srgbClr val="007C83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1173968" y="3493008"/>
            <a:ext cx="0" cy="-1133856"/>
          </a:xfrm>
          <a:prstGeom prst="line">
            <a:avLst/>
          </a:prstGeom>
          <a:noFill/>
          <a:ln w="19050">
            <a:solidFill>
              <a:srgbClr val="007C83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1173968" y="2359152"/>
            <a:ext cx="-310896" cy="0"/>
          </a:xfrm>
          <a:prstGeom prst="line">
            <a:avLst/>
          </a:prstGeom>
          <a:noFill/>
          <a:ln w="19050">
            <a:solidFill>
              <a:srgbClr val="007C83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 rot="16200000">
            <a:off x="10936224" y="279806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07C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weights</a:t>
            </a:r>
            <a:endParaRPr lang="en-US" sz="700" dirty="0"/>
          </a:p>
        </p:txBody>
      </p:sp>
      <p:sp>
        <p:nvSpPr>
          <p:cNvPr id="40" name="Text 38"/>
          <p:cNvSpPr txBox="1"/>
          <p:nvPr/>
        </p:nvSpPr>
        <p:spPr>
          <a:xfrm>
            <a:off x="8174736" y="4315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execution data plane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366760" y="4754880"/>
            <a:ext cx="2350008" cy="0"/>
          </a:xfrm>
          <a:prstGeom prst="line">
            <a:avLst/>
          </a:prstGeom>
          <a:noFill/>
          <a:ln w="38100">
            <a:solidFill>
              <a:srgbClr val="76B9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7620">
            <a:solidFill>
              <a:srgbClr val="CCD1D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57200" y="6483096"/>
            <a:ext cx="9326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integrated from four uploaded PPTX decks, two supplied PDFs, and current official project documentation.</a:t>
            </a:r>
            <a:endParaRPr lang="en-US" sz="680" dirty="0"/>
          </a:p>
        </p:txBody>
      </p:sp>
      <p:sp>
        <p:nvSpPr>
          <p:cNvPr id="44" name="Text 42"/>
          <p:cNvSpPr txBox="1"/>
          <p:nvPr/>
        </p:nvSpPr>
        <p:spPr>
          <a:xfrm>
            <a:off x="9802368" y="6483096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NVIDIA TECHNICAL DISCUSSION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2860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B91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79392" y="19202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spc="120" kern="0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THESIS</a:t>
            </a:r>
            <a:endParaRPr lang="en-US" sz="68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621792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 turns one model into a system graph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familiar “one engine · one model · one decoding loop” assumption no longer holds.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609344"/>
            <a:ext cx="2880360" cy="1051560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09344"/>
            <a:ext cx="50292" cy="1051560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74650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60" kern="0" dirty="0">
                <a:solidFill>
                  <a:srgbClr val="0067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BROKEN 01</a:t>
            </a:r>
            <a:endParaRPr lang="en-US" sz="73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56816"/>
            <a:ext cx="2569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is no longer tokens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359152"/>
            <a:ext cx="25694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Waveforms, video frames, image latents, and outputs from earlier stages all enter the request lifecycle.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502920" y="2798064"/>
            <a:ext cx="2880360" cy="1051560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798064"/>
            <a:ext cx="50292" cy="1051560"/>
          </a:xfrm>
          <a:prstGeom prst="rect">
            <a:avLst/>
          </a:prstGeom>
          <a:solidFill>
            <a:srgbClr val="C45B00"/>
          </a:solidFill>
          <a:ln w="12700">
            <a:solidFill>
              <a:srgbClr val="C45B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93522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60" kern="0" dirty="0">
                <a:solidFill>
                  <a:srgbClr val="C45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BROKEN 02</a:t>
            </a:r>
            <a:endParaRPr lang="en-US" sz="73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145536"/>
            <a:ext cx="2569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has no single EOS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547872"/>
            <a:ext cx="25694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tokens, codec codes, audio packets, images, video chunks, and actions have different completion contracts.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502920" y="3986784"/>
            <a:ext cx="2880360" cy="1051560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986784"/>
            <a:ext cx="50292" cy="1051560"/>
          </a:xfrm>
          <a:prstGeom prst="rect">
            <a:avLst/>
          </a:prstGeom>
          <a:solidFill>
            <a:srgbClr val="6336A3"/>
          </a:solidFill>
          <a:ln w="12700">
            <a:solidFill>
              <a:srgbClr val="6336A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12394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60" kern="0" dirty="0">
                <a:solidFill>
                  <a:srgbClr val="633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BROKEN 03</a:t>
            </a:r>
            <a:endParaRPr lang="en-US" sz="73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334256"/>
            <a:ext cx="2569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is heterogeneous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736592"/>
            <a:ext cx="25694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+ DiT + VAE + codec stages need different batching, parallelism, precision, and scheduling policies.</a:t>
            </a:r>
            <a:endParaRPr lang="en-US" sz="920" dirty="0"/>
          </a:p>
        </p:txBody>
      </p:sp>
      <p:sp>
        <p:nvSpPr>
          <p:cNvPr id="20" name="Text 18"/>
          <p:cNvSpPr txBox="1"/>
          <p:nvPr/>
        </p:nvSpPr>
        <p:spPr>
          <a:xfrm>
            <a:off x="3867912" y="16276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5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representative request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67912" y="2121408"/>
            <a:ext cx="1316736" cy="804672"/>
          </a:xfrm>
          <a:prstGeom prst="roundRect">
            <a:avLst>
              <a:gd name="adj" fmla="val 6818"/>
            </a:avLst>
          </a:prstGeom>
          <a:solidFill>
            <a:srgbClr val="ECEFF1"/>
          </a:solidFill>
          <a:ln w="19050">
            <a:solidFill>
              <a:srgbClr val="0067B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941064" y="2231136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941064" y="2514600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93792" y="2523744"/>
            <a:ext cx="265176" cy="0"/>
          </a:xfrm>
          <a:prstGeom prst="line">
            <a:avLst/>
          </a:prstGeom>
          <a:noFill/>
          <a:ln w="13970">
            <a:solidFill>
              <a:srgbClr val="8B919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468112" y="2121408"/>
            <a:ext cx="1316736" cy="804672"/>
          </a:xfrm>
          <a:prstGeom prst="roundRect">
            <a:avLst>
              <a:gd name="adj" fmla="val 6818"/>
            </a:avLst>
          </a:prstGeom>
          <a:solidFill>
            <a:srgbClr val="ECEFF1"/>
          </a:solidFill>
          <a:ln w="19050">
            <a:solidFill>
              <a:srgbClr val="C45B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541264" y="2231136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THINKER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541264" y="2514600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793992" y="2523744"/>
            <a:ext cx="265176" cy="0"/>
          </a:xfrm>
          <a:prstGeom prst="line">
            <a:avLst/>
          </a:prstGeom>
          <a:noFill/>
          <a:ln w="13970">
            <a:solidFill>
              <a:srgbClr val="8B919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068312" y="2121408"/>
            <a:ext cx="1316736" cy="804672"/>
          </a:xfrm>
          <a:prstGeom prst="roundRect">
            <a:avLst>
              <a:gd name="adj" fmla="val 6818"/>
            </a:avLst>
          </a:prstGeom>
          <a:solidFill>
            <a:srgbClr val="ECEFF1"/>
          </a:solidFill>
          <a:ln w="19050">
            <a:solidFill>
              <a:srgbClr val="007C8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141464" y="2231136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TALKER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141464" y="2514600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394192" y="2523744"/>
            <a:ext cx="265176" cy="0"/>
          </a:xfrm>
          <a:prstGeom prst="line">
            <a:avLst/>
          </a:prstGeom>
          <a:noFill/>
          <a:ln w="13970">
            <a:solidFill>
              <a:srgbClr val="8B9196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668512" y="2121408"/>
            <a:ext cx="1316736" cy="804672"/>
          </a:xfrm>
          <a:prstGeom prst="roundRect">
            <a:avLst>
              <a:gd name="adj" fmla="val 6818"/>
            </a:avLst>
          </a:prstGeom>
          <a:solidFill>
            <a:srgbClr val="ECEFF1"/>
          </a:solidFill>
          <a:ln w="19050">
            <a:solidFill>
              <a:srgbClr val="6336A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741664" y="2231136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41664" y="2514600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DiT / codec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9994392" y="2523744"/>
            <a:ext cx="265176" cy="0"/>
          </a:xfrm>
          <a:prstGeom prst="line">
            <a:avLst/>
          </a:prstGeom>
          <a:noFill/>
          <a:ln w="13970">
            <a:solidFill>
              <a:srgbClr val="8B9196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268712" y="2121408"/>
            <a:ext cx="1316736" cy="804672"/>
          </a:xfrm>
          <a:prstGeom prst="roundRect">
            <a:avLst>
              <a:gd name="adj" fmla="val 6818"/>
            </a:avLst>
          </a:prstGeom>
          <a:solidFill>
            <a:srgbClr val="ECEFF1"/>
          </a:solidFill>
          <a:ln w="19050">
            <a:solidFill>
              <a:srgbClr val="76B90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341864" y="2231136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10341864" y="2514600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867912" y="3337560"/>
            <a:ext cx="7498080" cy="1691640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096512" y="3566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CONSEQUENCE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4096512" y="388620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each stage locally — then optimize the handoffs globally.</a:t>
            </a:r>
            <a:endParaRPr lang="en-US" sz="1900" dirty="0"/>
          </a:p>
        </p:txBody>
      </p:sp>
      <p:sp>
        <p:nvSpPr>
          <p:cNvPr id="43" name="Text 41"/>
          <p:cNvSpPr txBox="1"/>
          <p:nvPr/>
        </p:nvSpPr>
        <p:spPr>
          <a:xfrm>
            <a:off x="4096512" y="4370832"/>
            <a:ext cx="6748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serving runtime needs stage-aware execution. The RL runtime repeatedly invokes that serving path and adds reward, updates, and weight movement.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7620">
            <a:solidFill>
              <a:srgbClr val="CCD1D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57200" y="6483096"/>
            <a:ext cx="9326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vLLM-Omni architecture overview · “vLLM-Omni 架构演化” uploaded deck.</a:t>
            </a:r>
            <a:endParaRPr lang="en-US" sz="680" dirty="0"/>
          </a:p>
        </p:txBody>
      </p:sp>
      <p:sp>
        <p:nvSpPr>
          <p:cNvPr id="46" name="Text 44"/>
          <p:cNvSpPr txBox="1"/>
          <p:nvPr/>
        </p:nvSpPr>
        <p:spPr>
          <a:xfrm>
            <a:off x="9802368" y="6483096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DISCUSSION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2860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B91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79392" y="19202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spc="120" kern="0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WORKLOAD LANDSCAPE</a:t>
            </a:r>
            <a:endParaRPr lang="en-US" sz="68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621792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serving surface, four execution families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abstraction must survive model churn without flattening fundamentally different workloads.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609344"/>
            <a:ext cx="2743200" cy="1572768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09344"/>
            <a:ext cx="50292" cy="1572768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746504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60" kern="0" dirty="0">
                <a:solidFill>
                  <a:srgbClr val="0067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MULTI-STAGE AR + CODEC</a:t>
            </a:r>
            <a:endParaRPr lang="en-US" sz="73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56816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 &amp; speech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359152"/>
            <a:ext cx="24323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Qwen3-Omni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MiniCPM-o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Qwen3-TTS · Fish Speech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0712" y="1609344"/>
            <a:ext cx="2743200" cy="1572768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10712" y="1609344"/>
            <a:ext cx="50292" cy="1572768"/>
          </a:xfrm>
          <a:prstGeom prst="rect">
            <a:avLst/>
          </a:prstGeom>
          <a:solidFill>
            <a:srgbClr val="6336A3"/>
          </a:solidFill>
          <a:ln w="12700">
            <a:solidFill>
              <a:srgbClr val="6336A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93592" y="1746504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60" kern="0" dirty="0">
                <a:solidFill>
                  <a:srgbClr val="633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DIFFUSION / FLOW</a:t>
            </a:r>
            <a:endParaRPr lang="en-US" sz="73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1956816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· video · audio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93592" y="2359152"/>
            <a:ext cx="24323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Qwen-Image · FLUX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 · MiniMax H3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LTX · SANA-Video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18504" y="1609344"/>
            <a:ext cx="2743200" cy="1572768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18504" y="1609344"/>
            <a:ext cx="50292" cy="1572768"/>
          </a:xfrm>
          <a:prstGeom prst="rect">
            <a:avLst/>
          </a:prstGeom>
          <a:solidFill>
            <a:srgbClr val="C45B00"/>
          </a:solidFill>
          <a:ln w="12700">
            <a:solidFill>
              <a:srgbClr val="C45B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01384" y="1746504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60" kern="0" dirty="0">
                <a:solidFill>
                  <a:srgbClr val="C45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 + SPECIALIZED GEN</a:t>
            </a:r>
            <a:endParaRPr lang="en-US" sz="730" dirty="0"/>
          </a:p>
        </p:txBody>
      </p:sp>
      <p:sp>
        <p:nvSpPr>
          <p:cNvPr id="18" name="Text 16"/>
          <p:cNvSpPr txBox="1"/>
          <p:nvPr/>
        </p:nvSpPr>
        <p:spPr>
          <a:xfrm>
            <a:off x="6501384" y="1956816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models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01384" y="2359152"/>
            <a:ext cx="24323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BAGEL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HunyuanImage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GLM-Image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226296" y="1609344"/>
            <a:ext cx="2468880" cy="1572768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26296" y="1609344"/>
            <a:ext cx="50292" cy="1572768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09176" y="174650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6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STATEFUL GENERATION</a:t>
            </a:r>
            <a:endParaRPr lang="en-US" sz="730" dirty="0"/>
          </a:p>
        </p:txBody>
      </p:sp>
      <p:sp>
        <p:nvSpPr>
          <p:cNvPr id="23" name="Text 21"/>
          <p:cNvSpPr txBox="1"/>
          <p:nvPr/>
        </p:nvSpPr>
        <p:spPr>
          <a:xfrm>
            <a:off x="9409176" y="195681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&amp; action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409176" y="2359152"/>
            <a:ext cx="21579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Cosmos · DreamZero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π0 · GR00T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InternVLA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30352" y="35661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 requirements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0352" y="3977640"/>
            <a:ext cx="2578608" cy="1115568"/>
          </a:xfrm>
          <a:prstGeom prst="rect">
            <a:avLst/>
          </a:prstGeom>
          <a:solidFill>
            <a:srgbClr val="ECEFF1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6656" y="414223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060704" y="4105656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Heterogeneous I/O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" y="446227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· image · audio · video · action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3328416" y="3977640"/>
            <a:ext cx="2578608" cy="1115568"/>
          </a:xfrm>
          <a:prstGeom prst="rect">
            <a:avLst/>
          </a:prstGeom>
          <a:solidFill>
            <a:srgbClr val="ECEFF1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474720" y="414223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3858768" y="4105656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execution loops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858768" y="446227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decode · denoise · codec · VAE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6126480" y="3977640"/>
            <a:ext cx="2578608" cy="1115568"/>
          </a:xfrm>
          <a:prstGeom prst="rect">
            <a:avLst/>
          </a:prstGeom>
          <a:solidFill>
            <a:srgbClr val="ECEFF1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72784" y="414223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656832" y="4105656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Stage-local scaling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656832" y="446227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 · SP/USP · EP · CFG · replicas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8924544" y="3977640"/>
            <a:ext cx="2578608" cy="1115568"/>
          </a:xfrm>
          <a:prstGeom prst="rect">
            <a:avLst/>
          </a:prstGeom>
          <a:solidFill>
            <a:srgbClr val="ECEFF1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070848" y="414223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454896" y="4105656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&amp; state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9454896" y="446227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outputs · KV · cancellation · ordering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7620">
            <a:solidFill>
              <a:srgbClr val="CCD1D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57200" y="6483096"/>
            <a:ext cx="9326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vLLM-Omni v0.26.0 README and supported-model documentation. Model list is illustrative, not exhaustive.</a:t>
            </a:r>
            <a:endParaRPr lang="en-US" sz="680" dirty="0"/>
          </a:p>
        </p:txBody>
      </p:sp>
      <p:sp>
        <p:nvSpPr>
          <p:cNvPr id="44" name="Text 42"/>
          <p:cNvSpPr txBox="1"/>
          <p:nvPr/>
        </p:nvSpPr>
        <p:spPr>
          <a:xfrm>
            <a:off x="9802368" y="6483096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DISCUSSION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2860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B91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79392" y="19202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spc="120" kern="0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MAP</a:t>
            </a:r>
            <a:endParaRPr lang="en-US" sz="68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621792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GPU execution data plane, two feedback loops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optimizes requests. RL post-training repeatedly invokes serving and optimizes the policy.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18520" cy="4151376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19019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ONLINE / OFFLINE SERVING LOOP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14400" y="233172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ECEFF1"/>
          </a:solidFill>
          <a:ln w="19050">
            <a:solidFill>
              <a:srgbClr val="0067B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87552" y="2441448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2724912"/>
            <a:ext cx="1271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· media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50008" y="2724912"/>
            <a:ext cx="411480" cy="0"/>
          </a:xfrm>
          <a:prstGeom prst="line">
            <a:avLst/>
          </a:prstGeom>
          <a:noFill/>
          <a:ln w="1905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79776" y="2331720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ECEFF1"/>
          </a:solidFill>
          <a:ln w="19050">
            <a:solidFill>
              <a:srgbClr val="76B9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52928" y="2441448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vLLM-Omni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852928" y="2724912"/>
            <a:ext cx="17282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execution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72584" y="2724912"/>
            <a:ext cx="411480" cy="0"/>
          </a:xfrm>
          <a:prstGeom prst="line">
            <a:avLst/>
          </a:prstGeom>
          <a:noFill/>
          <a:ln w="1905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02352" y="2331720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ECEFF1"/>
          </a:solidFill>
          <a:ln w="19050">
            <a:solidFill>
              <a:srgbClr val="C45B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75504" y="2441448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175504" y="2724912"/>
            <a:ext cx="17282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· media · action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995160" y="2724912"/>
            <a:ext cx="411480" cy="0"/>
          </a:xfrm>
          <a:prstGeom prst="line">
            <a:avLst/>
          </a:prstGeom>
          <a:noFill/>
          <a:ln w="19050">
            <a:solidFill>
              <a:srgbClr val="8B919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24928" y="2331720"/>
            <a:ext cx="1600200" cy="777240"/>
          </a:xfrm>
          <a:prstGeom prst="roundRect">
            <a:avLst>
              <a:gd name="adj" fmla="val 7059"/>
            </a:avLst>
          </a:prstGeom>
          <a:solidFill>
            <a:srgbClr val="ECEFF1"/>
          </a:solidFill>
          <a:ln w="19050">
            <a:solidFill>
              <a:srgbClr val="6336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0" y="2441448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2724912"/>
            <a:ext cx="1453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TTFP · JCT · RTF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859536" y="36576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7C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RL POST-TRAINING LOOP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14400" y="406908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ECEFF1"/>
          </a:solidFill>
          <a:ln w="19050">
            <a:solidFill>
              <a:srgbClr val="0067B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7552" y="4178808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4462272"/>
            <a:ext cx="1271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grouped samples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350008" y="4462272"/>
            <a:ext cx="411480" cy="0"/>
          </a:xfrm>
          <a:prstGeom prst="line">
            <a:avLst/>
          </a:prstGeom>
          <a:noFill/>
          <a:ln w="19050">
            <a:solidFill>
              <a:srgbClr val="007C8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779776" y="4069080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ECEFF1"/>
          </a:solidFill>
          <a:ln w="19050">
            <a:solidFill>
              <a:srgbClr val="76B9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852928" y="4178808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2852928" y="4462272"/>
            <a:ext cx="17282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vLLM-Omni replicas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72584" y="4462272"/>
            <a:ext cx="411480" cy="0"/>
          </a:xfrm>
          <a:prstGeom prst="line">
            <a:avLst/>
          </a:prstGeom>
          <a:noFill/>
          <a:ln w="19050">
            <a:solidFill>
              <a:srgbClr val="007C8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102352" y="4069080"/>
            <a:ext cx="1572768" cy="777240"/>
          </a:xfrm>
          <a:prstGeom prst="roundRect">
            <a:avLst>
              <a:gd name="adj" fmla="val 7059"/>
            </a:avLst>
          </a:prstGeom>
          <a:solidFill>
            <a:srgbClr val="ECEFF1"/>
          </a:solidFill>
          <a:ln w="19050">
            <a:solidFill>
              <a:srgbClr val="C45B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175504" y="417880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175504" y="4462272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scorers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693408" y="4462272"/>
            <a:ext cx="411480" cy="0"/>
          </a:xfrm>
          <a:prstGeom prst="line">
            <a:avLst/>
          </a:prstGeom>
          <a:noFill/>
          <a:ln w="19050">
            <a:solidFill>
              <a:srgbClr val="007C83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123176" y="4069080"/>
            <a:ext cx="1572768" cy="777240"/>
          </a:xfrm>
          <a:prstGeom prst="roundRect">
            <a:avLst>
              <a:gd name="adj" fmla="val 7059"/>
            </a:avLst>
          </a:prstGeom>
          <a:solidFill>
            <a:srgbClr val="ECEFF1"/>
          </a:solidFill>
          <a:ln w="19050">
            <a:solidFill>
              <a:srgbClr val="6336A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196328" y="417880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7196328" y="4462272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FSDP2 / VeOmni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714232" y="4462272"/>
            <a:ext cx="429768" cy="0"/>
          </a:xfrm>
          <a:prstGeom prst="line">
            <a:avLst/>
          </a:prstGeom>
          <a:noFill/>
          <a:ln w="19050">
            <a:solidFill>
              <a:srgbClr val="007C83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162288" y="4069080"/>
            <a:ext cx="1572768" cy="777240"/>
          </a:xfrm>
          <a:prstGeom prst="roundRect">
            <a:avLst>
              <a:gd name="adj" fmla="val 7059"/>
            </a:avLst>
          </a:prstGeom>
          <a:solidFill>
            <a:srgbClr val="ECEFF1"/>
          </a:solidFill>
          <a:ln w="19050">
            <a:solidFill>
              <a:srgbClr val="007C8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235440" y="417880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9235440" y="4462272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 / P2P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948672" y="4050792"/>
            <a:ext cx="0" cy="-804672"/>
          </a:xfrm>
          <a:prstGeom prst="line">
            <a:avLst/>
          </a:prstGeom>
          <a:noFill/>
          <a:ln w="19050">
            <a:solidFill>
              <a:srgbClr val="007C83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948672" y="3246120"/>
            <a:ext cx="-5303520" cy="0"/>
          </a:xfrm>
          <a:prstGeom prst="line">
            <a:avLst/>
          </a:prstGeom>
          <a:noFill/>
          <a:ln w="19050">
            <a:solidFill>
              <a:srgbClr val="007C83"/>
            </a:solidFill>
            <a:prstDash val="solid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8924544" y="184708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is the inner loop of training.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7620">
            <a:solidFill>
              <a:srgbClr val="CCD1D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57200" y="6483096"/>
            <a:ext cx="9326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vLLM-Omni architecture overview · VeRL-Omni README and June 2026 system slides.</a:t>
            </a:r>
            <a:endParaRPr lang="en-US" sz="680" dirty="0"/>
          </a:p>
        </p:txBody>
      </p:sp>
      <p:sp>
        <p:nvSpPr>
          <p:cNvPr id="47" name="Text 45"/>
          <p:cNvSpPr txBox="1"/>
          <p:nvPr/>
        </p:nvSpPr>
        <p:spPr>
          <a:xfrm>
            <a:off x="9802368" y="6483096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DISCUSSION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2860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B91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9320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56248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23176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90104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57032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23960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90888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57816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24744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0" y="0"/>
            <a:ext cx="6309360" cy="0"/>
          </a:xfrm>
          <a:prstGeom prst="line">
            <a:avLst/>
          </a:prstGeom>
          <a:noFill/>
          <a:ln w="4445">
            <a:solidFill>
              <a:srgbClr val="CCD1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0" y="576072"/>
            <a:ext cx="6309360" cy="0"/>
          </a:xfrm>
          <a:prstGeom prst="line">
            <a:avLst/>
          </a:prstGeom>
          <a:noFill/>
          <a:ln w="4445">
            <a:solidFill>
              <a:srgbClr val="CCD1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1152144"/>
            <a:ext cx="6309360" cy="0"/>
          </a:xfrm>
          <a:prstGeom prst="line">
            <a:avLst/>
          </a:prstGeom>
          <a:noFill/>
          <a:ln w="4445">
            <a:solidFill>
              <a:srgbClr val="CCD1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1728216"/>
            <a:ext cx="6309360" cy="0"/>
          </a:xfrm>
          <a:prstGeom prst="line">
            <a:avLst/>
          </a:prstGeom>
          <a:noFill/>
          <a:ln w="4445">
            <a:solidFill>
              <a:srgbClr val="CCD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2304288"/>
            <a:ext cx="6309360" cy="0"/>
          </a:xfrm>
          <a:prstGeom prst="line">
            <a:avLst/>
          </a:prstGeom>
          <a:noFill/>
          <a:ln w="4445">
            <a:solidFill>
              <a:srgbClr val="CCD1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52160" y="2880360"/>
            <a:ext cx="6309360" cy="0"/>
          </a:xfrm>
          <a:prstGeom prst="line">
            <a:avLst/>
          </a:prstGeom>
          <a:noFill/>
          <a:ln w="4445">
            <a:solidFill>
              <a:srgbClr val="CCD1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-840000">
            <a:off x="8778240" y="320040"/>
            <a:ext cx="2834640" cy="1078992"/>
          </a:xfrm>
          <a:prstGeom prst="rect">
            <a:avLst/>
          </a:prstGeom>
          <a:solidFill>
            <a:srgbClr val="76B900">
              <a:alpha val="93000"/>
            </a:srgbClr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-840000">
            <a:off x="9372600" y="1170432"/>
            <a:ext cx="2194560" cy="566928"/>
          </a:xfrm>
          <a:prstGeom prst="rect">
            <a:avLst/>
          </a:prstGeom>
          <a:solidFill>
            <a:srgbClr val="76B900">
              <a:alpha val="72000"/>
            </a:srgbClr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-1020000">
            <a:off x="8458200" y="1920240"/>
            <a:ext cx="3611880" cy="2468880"/>
          </a:xfrm>
          <a:prstGeom prst="rect">
            <a:avLst/>
          </a:prstGeom>
          <a:solidFill>
            <a:srgbClr val="76B900">
              <a:alpha val="96000"/>
            </a:srgbClr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658368"/>
            <a:ext cx="1728216" cy="237744"/>
          </a:xfrm>
          <a:prstGeom prst="roundRect">
            <a:avLst>
              <a:gd name="adj" fmla="val 19231"/>
            </a:avLst>
          </a:prstGeom>
          <a:solidFill>
            <a:srgbClr val="76B900">
              <a:alpha val="18000"/>
            </a:srgbClr>
          </a:solidFill>
          <a:ln w="8890">
            <a:solidFill>
              <a:srgbClr val="76B900">
                <a:alpha val="65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944" y="667512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 · SERVING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9802368" y="585216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000" b="1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50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1938528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vLLM-Omni</a:t>
            </a:r>
            <a:endParaRPr lang="en-US" sz="37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2907792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Stage-aware execution for heterogeneous omni-modal pipelines.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0080" y="3712464"/>
            <a:ext cx="3017520" cy="0"/>
          </a:xfrm>
          <a:prstGeom prst="line">
            <a:avLst/>
          </a:prstGeom>
          <a:noFill/>
          <a:ln w="38100">
            <a:solidFill>
              <a:srgbClr val="76B9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614476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vLLM-Omni × VeRL-Omni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7620">
            <a:solidFill>
              <a:srgbClr val="CCD1D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6483096"/>
            <a:ext cx="9326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Community-maintained technical material · September 2026</a:t>
            </a:r>
            <a:endParaRPr lang="en-US" sz="680" dirty="0"/>
          </a:p>
        </p:txBody>
      </p:sp>
      <p:sp>
        <p:nvSpPr>
          <p:cNvPr id="30" name="Text 28"/>
          <p:cNvSpPr txBox="1"/>
          <p:nvPr/>
        </p:nvSpPr>
        <p:spPr>
          <a:xfrm>
            <a:off x="9802368" y="6483096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NVIDIA TECHNICAL DISCUSSION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2860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B91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79392" y="19202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spc="120" kern="0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→ STAGES</a:t>
            </a:r>
            <a:endParaRPr lang="en-US" sz="68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621792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Qwen3-Omni exposes three serving workloads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Thinker, Talker, and Code2Wav have different state, cadence, batching, and latency sensitivity.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219456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ECEFF1"/>
          </a:solidFill>
          <a:ln w="19050">
            <a:solidFill>
              <a:srgbClr val="0067B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30428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87752"/>
            <a:ext cx="1225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· image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· video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048256" y="2651760"/>
            <a:ext cx="438912" cy="0"/>
          </a:xfrm>
          <a:prstGeom prst="line">
            <a:avLst/>
          </a:prstGeom>
          <a:noFill/>
          <a:ln w="19050">
            <a:solidFill>
              <a:srgbClr val="8B919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05456" y="2029968"/>
            <a:ext cx="1993392" cy="1243584"/>
          </a:xfrm>
          <a:prstGeom prst="roundRect">
            <a:avLst>
              <a:gd name="adj" fmla="val 4412"/>
            </a:avLst>
          </a:prstGeom>
          <a:solidFill>
            <a:srgbClr val="ECEFF1"/>
          </a:solidFill>
          <a:ln w="19050">
            <a:solidFill>
              <a:srgbClr val="C45B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78608" y="213969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578608" y="2423160"/>
            <a:ext cx="18470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· reasoning + text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cache · MoE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17136" y="2651760"/>
            <a:ext cx="438912" cy="0"/>
          </a:xfrm>
          <a:prstGeom prst="line">
            <a:avLst/>
          </a:prstGeom>
          <a:noFill/>
          <a:ln w="19050">
            <a:solidFill>
              <a:srgbClr val="C45B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974336" y="2029968"/>
            <a:ext cx="1993392" cy="1243584"/>
          </a:xfrm>
          <a:prstGeom prst="roundRect">
            <a:avLst>
              <a:gd name="adj" fmla="val 4412"/>
            </a:avLst>
          </a:prstGeom>
          <a:solidFill>
            <a:srgbClr val="ECEFF1"/>
          </a:solidFill>
          <a:ln w="19050">
            <a:solidFill>
              <a:srgbClr val="007C8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47488" y="213969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047488" y="2423160"/>
            <a:ext cx="18470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· codec tokens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cadence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986016" y="2651760"/>
            <a:ext cx="438912" cy="0"/>
          </a:xfrm>
          <a:prstGeom prst="line">
            <a:avLst/>
          </a:prstGeom>
          <a:noFill/>
          <a:ln w="19050">
            <a:solidFill>
              <a:srgbClr val="007C8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43216" y="2029968"/>
            <a:ext cx="1993392" cy="1243584"/>
          </a:xfrm>
          <a:prstGeom prst="roundRect">
            <a:avLst>
              <a:gd name="adj" fmla="val 4412"/>
            </a:avLst>
          </a:prstGeom>
          <a:solidFill>
            <a:srgbClr val="ECEFF1"/>
          </a:solidFill>
          <a:ln w="19050">
            <a:solidFill>
              <a:srgbClr val="6336A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16368" y="213969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CODE2WAV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516368" y="2423160"/>
            <a:ext cx="18470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non-AR · waveform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first-packet critical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454896" y="2651760"/>
            <a:ext cx="438912" cy="0"/>
          </a:xfrm>
          <a:prstGeom prst="line">
            <a:avLst/>
          </a:prstGeom>
          <a:noFill/>
          <a:ln w="1905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912096" y="219456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ECEFF1"/>
          </a:solidFill>
          <a:ln w="19050">
            <a:solidFill>
              <a:srgbClr val="76B9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985248" y="2304288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985248" y="2587752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streamed text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audio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051560" y="3840480"/>
            <a:ext cx="1709928" cy="283464"/>
          </a:xfrm>
          <a:prstGeom prst="rect">
            <a:avLst/>
          </a:prstGeom>
          <a:solidFill>
            <a:srgbClr val="EAF3DA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33856" y="3877056"/>
            <a:ext cx="1545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2761488" y="3840480"/>
            <a:ext cx="2786177" cy="283464"/>
          </a:xfrm>
          <a:prstGeom prst="rect">
            <a:avLst/>
          </a:prstGeom>
          <a:solidFill>
            <a:srgbClr val="EAF3DA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843784" y="3877056"/>
            <a:ext cx="26215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56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THINKER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5547665" y="3840480"/>
            <a:ext cx="2786177" cy="283464"/>
          </a:xfrm>
          <a:prstGeom prst="rect">
            <a:avLst/>
          </a:prstGeom>
          <a:solidFill>
            <a:srgbClr val="EAF3DA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29961" y="3877056"/>
            <a:ext cx="26215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56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TALKER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8333842" y="3840480"/>
            <a:ext cx="2776118" cy="283464"/>
          </a:xfrm>
          <a:prstGeom prst="rect">
            <a:avLst/>
          </a:prstGeom>
          <a:solidFill>
            <a:srgbClr val="EAF3DA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16138" y="3877056"/>
            <a:ext cx="261152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56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CODE2WAV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1051560" y="4123944"/>
            <a:ext cx="1709928" cy="283464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133856" y="4160520"/>
            <a:ext cx="1545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2761488" y="4123944"/>
            <a:ext cx="2786177" cy="283464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843784" y="4160520"/>
            <a:ext cx="26215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+ hidden states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5547665" y="4123944"/>
            <a:ext cx="2786177" cy="283464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629961" y="4160520"/>
            <a:ext cx="26215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codec history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8333842" y="4123944"/>
            <a:ext cx="2776118" cy="283464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416138" y="4160520"/>
            <a:ext cx="261152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/ waveform state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1051560" y="4407408"/>
            <a:ext cx="1709928" cy="283464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133856" y="4443984"/>
            <a:ext cx="1545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PATH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2761488" y="4407408"/>
            <a:ext cx="2786177" cy="283464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843784" y="4443984"/>
            <a:ext cx="26215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 + decode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5547665" y="4407408"/>
            <a:ext cx="2786177" cy="283464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629961" y="4443984"/>
            <a:ext cx="26215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per-token predictor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8333842" y="4407408"/>
            <a:ext cx="2776118" cy="283464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416138" y="4443984"/>
            <a:ext cx="261152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vocoder / flow decode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1051560" y="4690872"/>
            <a:ext cx="1709928" cy="283464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133856" y="4727448"/>
            <a:ext cx="1545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2761488" y="4690872"/>
            <a:ext cx="2786177" cy="283464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843784" y="4727448"/>
            <a:ext cx="26215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 / EP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5547665" y="4690872"/>
            <a:ext cx="2786177" cy="283464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629961" y="4727448"/>
            <a:ext cx="26215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/ replicas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8333842" y="4690872"/>
            <a:ext cx="2776118" cy="283464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416138" y="4727448"/>
            <a:ext cx="261152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graphs / replicas</a:t>
            </a:r>
            <a:endParaRPr lang="en-US" sz="820" dirty="0"/>
          </a:p>
        </p:txBody>
      </p:sp>
      <p:sp>
        <p:nvSpPr>
          <p:cNvPr id="56" name="Shape 54"/>
          <p:cNvSpPr/>
          <p:nvPr/>
        </p:nvSpPr>
        <p:spPr>
          <a:xfrm>
            <a:off x="1051560" y="4974336"/>
            <a:ext cx="1709928" cy="283464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133856" y="5010912"/>
            <a:ext cx="1545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KPI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2761488" y="4974336"/>
            <a:ext cx="2786177" cy="283464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2843784" y="5010912"/>
            <a:ext cx="26215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TTFT · TPOT</a:t>
            </a:r>
            <a:endParaRPr lang="en-US" sz="820" dirty="0"/>
          </a:p>
        </p:txBody>
      </p:sp>
      <p:sp>
        <p:nvSpPr>
          <p:cNvPr id="60" name="Shape 58"/>
          <p:cNvSpPr/>
          <p:nvPr/>
        </p:nvSpPr>
        <p:spPr>
          <a:xfrm>
            <a:off x="5547665" y="4974336"/>
            <a:ext cx="2786177" cy="283464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629961" y="5010912"/>
            <a:ext cx="26215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cadence</a:t>
            </a:r>
            <a:endParaRPr lang="en-US" sz="820" dirty="0"/>
          </a:p>
        </p:txBody>
      </p:sp>
      <p:sp>
        <p:nvSpPr>
          <p:cNvPr id="62" name="Shape 60"/>
          <p:cNvSpPr/>
          <p:nvPr/>
        </p:nvSpPr>
        <p:spPr>
          <a:xfrm>
            <a:off x="8333842" y="4974336"/>
            <a:ext cx="2776118" cy="283464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416138" y="5010912"/>
            <a:ext cx="261152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TTFP · RTF</a:t>
            </a:r>
            <a:endParaRPr lang="en-US" sz="820" dirty="0"/>
          </a:p>
        </p:txBody>
      </p:sp>
      <p:sp>
        <p:nvSpPr>
          <p:cNvPr id="64" name="Shape 62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7620">
            <a:solidFill>
              <a:srgbClr val="CCD1D5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457200" y="6483096"/>
            <a:ext cx="9326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vLLM-Omni Qwen3-Omni performance deep dive · website PR #258 · merged 2026-07-03.</a:t>
            </a:r>
            <a:endParaRPr lang="en-US" sz="680" dirty="0"/>
          </a:p>
        </p:txBody>
      </p:sp>
      <p:sp>
        <p:nvSpPr>
          <p:cNvPr id="66" name="Text 64"/>
          <p:cNvSpPr txBox="1"/>
          <p:nvPr/>
        </p:nvSpPr>
        <p:spPr>
          <a:xfrm>
            <a:off x="9802368" y="6483096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DISCUSSION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2860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B91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79392" y="19202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spc="120" kern="0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 ARCHITECTURE</a:t>
            </a:r>
            <a:endParaRPr lang="en-US" sz="68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621792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Topology, placement, control, and transport stay separate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logical stage is not necessarily a process; deployment policy is external to model topology.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21792" y="1938528"/>
            <a:ext cx="1847088" cy="1060704"/>
          </a:xfrm>
          <a:prstGeom prst="roundRect">
            <a:avLst>
              <a:gd name="adj" fmla="val 5172"/>
            </a:avLst>
          </a:prstGeom>
          <a:solidFill>
            <a:srgbClr val="ECEFF1"/>
          </a:solidFill>
          <a:ln w="19050">
            <a:solidFill>
              <a:srgbClr val="0067B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2048256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POINTS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331720"/>
            <a:ext cx="1700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 / AsyncOmni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2487168" y="2468880"/>
            <a:ext cx="329184" cy="0"/>
          </a:xfrm>
          <a:prstGeom prst="line">
            <a:avLst/>
          </a:prstGeom>
          <a:noFill/>
          <a:ln w="13970">
            <a:solidFill>
              <a:srgbClr val="8B919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07792" y="1938528"/>
            <a:ext cx="1847088" cy="1060704"/>
          </a:xfrm>
          <a:prstGeom prst="roundRect">
            <a:avLst>
              <a:gd name="adj" fmla="val 5172"/>
            </a:avLst>
          </a:prstGeom>
          <a:solidFill>
            <a:srgbClr val="ECEFF1"/>
          </a:solidFill>
          <a:ln w="19050">
            <a:solidFill>
              <a:srgbClr val="76B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80944" y="2048256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ENGINE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980944" y="2331720"/>
            <a:ext cx="1700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composition root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loop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4773168" y="2468880"/>
            <a:ext cx="329184" cy="0"/>
          </a:xfrm>
          <a:prstGeom prst="line">
            <a:avLst/>
          </a:prstGeom>
          <a:noFill/>
          <a:ln w="13970">
            <a:solidFill>
              <a:srgbClr val="8B919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93792" y="1938528"/>
            <a:ext cx="1847088" cy="1060704"/>
          </a:xfrm>
          <a:prstGeom prst="roundRect">
            <a:avLst>
              <a:gd name="adj" fmla="val 5172"/>
            </a:avLst>
          </a:prstGeom>
          <a:solidFill>
            <a:srgbClr val="ECEFF1"/>
          </a:solidFill>
          <a:ln w="19050">
            <a:solidFill>
              <a:srgbClr val="C45B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66944" y="2048256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266944" y="2331720"/>
            <a:ext cx="1700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· state · cancel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outputs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7059168" y="2468880"/>
            <a:ext cx="329184" cy="0"/>
          </a:xfrm>
          <a:prstGeom prst="line">
            <a:avLst/>
          </a:prstGeom>
          <a:noFill/>
          <a:ln w="13970">
            <a:solidFill>
              <a:srgbClr val="8B919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79792" y="1938528"/>
            <a:ext cx="1847088" cy="1060704"/>
          </a:xfrm>
          <a:prstGeom prst="roundRect">
            <a:avLst>
              <a:gd name="adj" fmla="val 5172"/>
            </a:avLst>
          </a:prstGeom>
          <a:solidFill>
            <a:srgbClr val="ECEFF1"/>
          </a:solidFill>
          <a:ln w="19050">
            <a:solidFill>
              <a:srgbClr val="007C8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52944" y="2048256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RUNTIME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552944" y="2331720"/>
            <a:ext cx="1700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· replicas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· lifecycle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9345168" y="2468880"/>
            <a:ext cx="329184" cy="0"/>
          </a:xfrm>
          <a:prstGeom prst="line">
            <a:avLst/>
          </a:prstGeom>
          <a:noFill/>
          <a:ln w="13970">
            <a:solidFill>
              <a:srgbClr val="8B919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765792" y="1938528"/>
            <a:ext cx="1847088" cy="1060704"/>
          </a:xfrm>
          <a:prstGeom prst="roundRect">
            <a:avLst>
              <a:gd name="adj" fmla="val 5172"/>
            </a:avLst>
          </a:prstGeom>
          <a:solidFill>
            <a:srgbClr val="ECEFF1"/>
          </a:solidFill>
          <a:ln w="19050">
            <a:solidFill>
              <a:srgbClr val="6336A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838944" y="2048256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838944" y="2331720"/>
            <a:ext cx="1700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/ diffusion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· worker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1060704" y="3566160"/>
            <a:ext cx="10058400" cy="1481328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280160" y="37947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CONFIGURATION PLANE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325880" y="4133088"/>
            <a:ext cx="2212848" cy="594360"/>
          </a:xfrm>
          <a:prstGeom prst="roundRect">
            <a:avLst>
              <a:gd name="adj" fmla="val 9231"/>
            </a:avLst>
          </a:prstGeom>
          <a:solidFill>
            <a:srgbClr val="ECEFF1"/>
          </a:solidFill>
          <a:ln w="19050">
            <a:solidFill>
              <a:srgbClr val="0067B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399032" y="4242816"/>
            <a:ext cx="2066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PipelineConfig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399032" y="4526280"/>
            <a:ext cx="20665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topology + relationships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822192" y="4133088"/>
            <a:ext cx="2212848" cy="594360"/>
          </a:xfrm>
          <a:prstGeom prst="roundRect">
            <a:avLst>
              <a:gd name="adj" fmla="val 9231"/>
            </a:avLst>
          </a:prstGeom>
          <a:solidFill>
            <a:srgbClr val="ECEFF1"/>
          </a:solidFill>
          <a:ln w="19050">
            <a:solidFill>
              <a:srgbClr val="C45B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895344" y="4242816"/>
            <a:ext cx="2066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DeployConfig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3895344" y="4526280"/>
            <a:ext cx="20665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 + resources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318504" y="4133088"/>
            <a:ext cx="2212848" cy="594360"/>
          </a:xfrm>
          <a:prstGeom prst="roundRect">
            <a:avLst>
              <a:gd name="adj" fmla="val 9231"/>
            </a:avLst>
          </a:prstGeom>
          <a:solidFill>
            <a:srgbClr val="ECEFF1"/>
          </a:solidFill>
          <a:ln w="19050">
            <a:solidFill>
              <a:srgbClr val="007C8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91656" y="4242816"/>
            <a:ext cx="2066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OmniConnector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391656" y="4526280"/>
            <a:ext cx="20665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 + KV transport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8814816" y="4133088"/>
            <a:ext cx="1993392" cy="594360"/>
          </a:xfrm>
          <a:prstGeom prst="roundRect">
            <a:avLst>
              <a:gd name="adj" fmla="val 9231"/>
            </a:avLst>
          </a:prstGeom>
          <a:solidFill>
            <a:srgbClr val="ECEFF1"/>
          </a:solidFill>
          <a:ln w="19050">
            <a:solidFill>
              <a:srgbClr val="76B90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887968" y="424281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StagePool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887968" y="4526280"/>
            <a:ext cx="1847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 + routing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1865376" y="5358384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code defines stages. Deployment config decides where and how they run.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7620">
            <a:solidFill>
              <a:srgbClr val="CCD1D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7200" y="6483096"/>
            <a:ext cx="9326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vLLM-Omni latest architecture overview · v0.26.0 system walkthrough.</a:t>
            </a:r>
            <a:endParaRPr lang="en-US" sz="680" dirty="0"/>
          </a:p>
        </p:txBody>
      </p:sp>
      <p:sp>
        <p:nvSpPr>
          <p:cNvPr id="41" name="Text 39"/>
          <p:cNvSpPr txBox="1"/>
          <p:nvPr/>
        </p:nvSpPr>
        <p:spPr>
          <a:xfrm>
            <a:off x="9802368" y="6483096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DISCUSSION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2860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B91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79392" y="19202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spc="120" kern="0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STAGE-LOCAL POLICY</a:t>
            </a:r>
            <a:endParaRPr lang="en-US" sz="68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621792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and diffusion need different execution contracts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common runtime boundary is stable; batching and acceleration remain stage-specific.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30352" y="1627632"/>
            <a:ext cx="2008022" cy="600891"/>
          </a:xfrm>
          <a:prstGeom prst="rect">
            <a:avLst/>
          </a:prstGeom>
          <a:solidFill>
            <a:srgbClr val="EAF3DA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2648" y="1664208"/>
            <a:ext cx="1843430" cy="52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6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CONCERN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38374" y="1627632"/>
            <a:ext cx="2788920" cy="600891"/>
          </a:xfrm>
          <a:prstGeom prst="rect">
            <a:avLst/>
          </a:prstGeom>
          <a:solidFill>
            <a:srgbClr val="EAF3DA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20670" y="1664208"/>
            <a:ext cx="2624328" cy="52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6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STAGE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327294" y="1627632"/>
            <a:ext cx="2788920" cy="600891"/>
          </a:xfrm>
          <a:prstGeom prst="rect">
            <a:avLst/>
          </a:prstGeom>
          <a:solidFill>
            <a:srgbClr val="EAF3DA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09590" y="1664208"/>
            <a:ext cx="2624328" cy="52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6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STAGE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116214" y="1627632"/>
            <a:ext cx="3569818" cy="600891"/>
          </a:xfrm>
          <a:prstGeom prst="rect">
            <a:avLst/>
          </a:prstGeom>
          <a:solidFill>
            <a:srgbClr val="EAF3DA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98510" y="1664208"/>
            <a:ext cx="3405226" cy="52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6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IMPLICATION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30352" y="2228523"/>
            <a:ext cx="2008022" cy="600891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" y="2265099"/>
            <a:ext cx="1843430" cy="52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loop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2538374" y="2228523"/>
            <a:ext cx="2788920" cy="600891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20670" y="2265099"/>
            <a:ext cx="2624328" cy="52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next-token decode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5327294" y="2228523"/>
            <a:ext cx="2788920" cy="600891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09590" y="2265099"/>
            <a:ext cx="2624328" cy="52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denoising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116214" y="2228523"/>
            <a:ext cx="3569818" cy="600891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98510" y="2265099"/>
            <a:ext cx="3405226" cy="52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scheduler state machines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30352" y="2829415"/>
            <a:ext cx="2008022" cy="600891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2648" y="2865991"/>
            <a:ext cx="1843430" cy="52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Batching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2538374" y="2829415"/>
            <a:ext cx="2788920" cy="600891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20670" y="2865991"/>
            <a:ext cx="2624328" cy="52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token batching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5327294" y="2829415"/>
            <a:ext cx="2788920" cy="600891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09590" y="2865991"/>
            <a:ext cx="2624328" cy="52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or step batching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8116214" y="2829415"/>
            <a:ext cx="3569818" cy="600891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198510" y="2865991"/>
            <a:ext cx="3405226" cy="52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compatibility by shape / CFG / LoRA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530352" y="3430306"/>
            <a:ext cx="2008022" cy="600891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2648" y="3466882"/>
            <a:ext cx="1843430" cy="52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2538374" y="3430306"/>
            <a:ext cx="2788920" cy="600891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620670" y="3466882"/>
            <a:ext cx="2624328" cy="52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+ KV cache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5327294" y="3430306"/>
            <a:ext cx="2788920" cy="600891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09590" y="3466882"/>
            <a:ext cx="2624328" cy="52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or mixed attention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8116214" y="3430306"/>
            <a:ext cx="3569818" cy="600891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198510" y="3466882"/>
            <a:ext cx="3405226" cy="52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kernels and memory traffic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530352" y="4031198"/>
            <a:ext cx="2008022" cy="600891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12648" y="4067774"/>
            <a:ext cx="1843430" cy="52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Parallelism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2538374" y="4031198"/>
            <a:ext cx="2788920" cy="600891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620670" y="4067774"/>
            <a:ext cx="2624328" cy="52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 / EP / replicas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5327294" y="4031198"/>
            <a:ext cx="2788920" cy="600891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409590" y="4067774"/>
            <a:ext cx="2624328" cy="52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 / SP / CFG / EP / VAE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8116214" y="4031198"/>
            <a:ext cx="3569818" cy="600891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198510" y="4067774"/>
            <a:ext cx="3405226" cy="52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must follow bottleneck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530352" y="4632089"/>
            <a:ext cx="2008022" cy="600891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12648" y="4668665"/>
            <a:ext cx="1843430" cy="52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2538374" y="4632089"/>
            <a:ext cx="2788920" cy="600891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620670" y="4668665"/>
            <a:ext cx="2624328" cy="52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/ AR scope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5327294" y="4632089"/>
            <a:ext cx="2788920" cy="600891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409590" y="4668665"/>
            <a:ext cx="2624328" cy="52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/ pipeline scope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8116214" y="4632089"/>
            <a:ext cx="3569818" cy="600891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198510" y="4668665"/>
            <a:ext cx="3405226" cy="52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support cannot be assumed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530352" y="5232981"/>
            <a:ext cx="2008022" cy="600891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12648" y="5269557"/>
            <a:ext cx="1843430" cy="52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metrics</a:t>
            </a:r>
            <a:endParaRPr lang="en-US" sz="880" dirty="0"/>
          </a:p>
        </p:txBody>
      </p:sp>
      <p:sp>
        <p:nvSpPr>
          <p:cNvPr id="55" name="Shape 53"/>
          <p:cNvSpPr/>
          <p:nvPr/>
        </p:nvSpPr>
        <p:spPr>
          <a:xfrm>
            <a:off x="2538374" y="5232981"/>
            <a:ext cx="2788920" cy="600891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2620670" y="5269557"/>
            <a:ext cx="2624328" cy="52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TTFT · TPOT · throughput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5327294" y="5232981"/>
            <a:ext cx="2788920" cy="600891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409590" y="5269557"/>
            <a:ext cx="2624328" cy="52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JCT · denoise time · RTF</a:t>
            </a:r>
            <a:endParaRPr lang="en-US" sz="880" dirty="0"/>
          </a:p>
        </p:txBody>
      </p:sp>
      <p:sp>
        <p:nvSpPr>
          <p:cNvPr id="59" name="Shape 57"/>
          <p:cNvSpPr/>
          <p:nvPr/>
        </p:nvSpPr>
        <p:spPr>
          <a:xfrm>
            <a:off x="8116214" y="5232981"/>
            <a:ext cx="3569818" cy="600891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198510" y="5269557"/>
            <a:ext cx="3405226" cy="52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contract changes by stage</a:t>
            </a:r>
            <a:endParaRPr lang="en-US" sz="880" dirty="0"/>
          </a:p>
        </p:txBody>
      </p:sp>
      <p:sp>
        <p:nvSpPr>
          <p:cNvPr id="61" name="Text 59"/>
          <p:cNvSpPr txBox="1"/>
          <p:nvPr/>
        </p:nvSpPr>
        <p:spPr>
          <a:xfrm>
            <a:off x="658368" y="599846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</a:t>
            </a:r>
            <a:endParaRPr lang="en-US" sz="800" dirty="0"/>
          </a:p>
        </p:txBody>
      </p:sp>
      <p:sp>
        <p:nvSpPr>
          <p:cNvPr id="62" name="Text 60"/>
          <p:cNvSpPr txBox="1"/>
          <p:nvPr/>
        </p:nvSpPr>
        <p:spPr>
          <a:xfrm>
            <a:off x="1389888" y="592531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orchestration primitives; keep execution policy local to the stage.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7620">
            <a:solidFill>
              <a:srgbClr val="CCD1D5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57200" y="6483096"/>
            <a:ext cx="9326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vLLM-Omni v0.26.0 architecture overview and diffusion design documents.</a:t>
            </a:r>
            <a:endParaRPr lang="en-US" sz="680" dirty="0"/>
          </a:p>
        </p:txBody>
      </p:sp>
      <p:sp>
        <p:nvSpPr>
          <p:cNvPr id="65" name="Text 63"/>
          <p:cNvSpPr txBox="1"/>
          <p:nvPr/>
        </p:nvSpPr>
        <p:spPr>
          <a:xfrm>
            <a:off x="9802368" y="6483096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DISCUSSION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2860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B91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79392" y="19202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spc="120" kern="0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 STACK</a:t>
            </a:r>
            <a:endParaRPr lang="en-US" sz="68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621792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comes from removing a sequence of different bottlenecks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kernel or parallelism strategy explains end-to-end gains.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30352" y="1664208"/>
            <a:ext cx="3456432" cy="1627632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664208"/>
            <a:ext cx="50292" cy="1627632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801368"/>
            <a:ext cx="3136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60" kern="0" dirty="0">
                <a:solidFill>
                  <a:srgbClr val="0067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UTILIZATION</a:t>
            </a:r>
            <a:endParaRPr lang="en-US" sz="73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011680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split + batching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414016"/>
            <a:ext cx="31455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unlike workloads independent; build batches at each stage.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4279392" y="1664208"/>
            <a:ext cx="3456432" cy="1627632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79392" y="1664208"/>
            <a:ext cx="50292" cy="162763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62272" y="1801368"/>
            <a:ext cx="3136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6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 OVERHEAD</a:t>
            </a:r>
            <a:endParaRPr lang="en-US" sz="730" dirty="0"/>
          </a:p>
        </p:txBody>
      </p:sp>
      <p:sp>
        <p:nvSpPr>
          <p:cNvPr id="13" name="Text 11"/>
          <p:cNvSpPr txBox="1"/>
          <p:nvPr/>
        </p:nvSpPr>
        <p:spPr>
          <a:xfrm>
            <a:off x="4462272" y="2011680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CUDA Graph capture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462272" y="2414016"/>
            <a:ext cx="31455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outer AR, predictor, and bucketed vocoder work locally.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8028432" y="1664208"/>
            <a:ext cx="3456432" cy="1627632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28432" y="1664208"/>
            <a:ext cx="50292" cy="1627632"/>
          </a:xfrm>
          <a:prstGeom prst="rect">
            <a:avLst/>
          </a:prstGeom>
          <a:solidFill>
            <a:srgbClr val="C45B00"/>
          </a:solidFill>
          <a:ln w="12700">
            <a:solidFill>
              <a:srgbClr val="C45B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11312" y="1801368"/>
            <a:ext cx="3136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60" kern="0" dirty="0">
                <a:solidFill>
                  <a:srgbClr val="C45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PACKET</a:t>
            </a:r>
            <a:endParaRPr lang="en-US" sz="730" dirty="0"/>
          </a:p>
        </p:txBody>
      </p:sp>
      <p:sp>
        <p:nvSpPr>
          <p:cNvPr id="18" name="Text 16"/>
          <p:cNvSpPr txBox="1"/>
          <p:nvPr/>
        </p:nvSpPr>
        <p:spPr>
          <a:xfrm>
            <a:off x="8211312" y="2011680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chunk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11312" y="2414016"/>
            <a:ext cx="31455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partial codec chunks before upstream completion.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530352" y="3602736"/>
            <a:ext cx="3456432" cy="1627632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602736"/>
            <a:ext cx="50292" cy="1627632"/>
          </a:xfrm>
          <a:prstGeom prst="rect">
            <a:avLst/>
          </a:prstGeom>
          <a:solidFill>
            <a:srgbClr val="007C83"/>
          </a:solidFill>
          <a:ln w="12700">
            <a:solidFill>
              <a:srgbClr val="007C8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" y="3739896"/>
            <a:ext cx="3136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60" kern="0" dirty="0">
                <a:solidFill>
                  <a:srgbClr val="007C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 STALLS</a:t>
            </a:r>
            <a:endParaRPr lang="en-US" sz="73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3950208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output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" y="4352544"/>
            <a:ext cx="31455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payload assembly away from the decode worker.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4279392" y="3602736"/>
            <a:ext cx="3456432" cy="1627632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79392" y="3602736"/>
            <a:ext cx="50292" cy="1627632"/>
          </a:xfrm>
          <a:prstGeom prst="rect">
            <a:avLst/>
          </a:prstGeom>
          <a:solidFill>
            <a:srgbClr val="6336A3"/>
          </a:solidFill>
          <a:ln w="12700">
            <a:solidFill>
              <a:srgbClr val="6336A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462272" y="3739896"/>
            <a:ext cx="3136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60" kern="0" dirty="0">
                <a:solidFill>
                  <a:srgbClr val="633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CAPACITY</a:t>
            </a:r>
            <a:endParaRPr lang="en-US" sz="730" dirty="0"/>
          </a:p>
        </p:txBody>
      </p:sp>
      <p:sp>
        <p:nvSpPr>
          <p:cNvPr id="28" name="Text 26"/>
          <p:cNvSpPr txBox="1"/>
          <p:nvPr/>
        </p:nvSpPr>
        <p:spPr>
          <a:xfrm>
            <a:off x="4462272" y="3950208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 replicas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462272" y="4352544"/>
            <a:ext cx="31455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Replicate only saturated Talker / Code2Wav stages.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8028432" y="3602736"/>
            <a:ext cx="3456432" cy="1627632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28432" y="3602736"/>
            <a:ext cx="50292" cy="16276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11312" y="3739896"/>
            <a:ext cx="3136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60" kern="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PER-STEP WORK</a:t>
            </a:r>
            <a:endParaRPr lang="en-US" sz="730" dirty="0"/>
          </a:p>
        </p:txBody>
      </p:sp>
      <p:sp>
        <p:nvSpPr>
          <p:cNvPr id="33" name="Text 31"/>
          <p:cNvSpPr txBox="1"/>
          <p:nvPr/>
        </p:nvSpPr>
        <p:spPr>
          <a:xfrm>
            <a:off x="8211312" y="3950208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Hot-path cleanup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211312" y="4352544"/>
            <a:ext cx="31455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state on GPU and remove per-step concatenation and copies.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7620">
            <a:solidFill>
              <a:srgbClr val="CCD1D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6483096"/>
            <a:ext cx="9326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vLLM-Omni Qwen3-Omni performance deep dive · website PR #258.</a:t>
            </a:r>
            <a:endParaRPr lang="en-US" sz="680" dirty="0"/>
          </a:p>
        </p:txBody>
      </p:sp>
      <p:sp>
        <p:nvSpPr>
          <p:cNvPr id="37" name="Text 35"/>
          <p:cNvSpPr txBox="1"/>
          <p:nvPr/>
        </p:nvSpPr>
        <p:spPr>
          <a:xfrm>
            <a:off x="9802368" y="6483096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DISCUSSION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2860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B91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79392" y="19202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spc="120" kern="0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PUBLISHED CASE STUDY</a:t>
            </a:r>
            <a:endParaRPr lang="en-US" sz="68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621792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Qwen3-Omni C64: optimize throughput and first audio together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sweep: batching → graphs → async handoffs → async output → selective replicas.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30352" y="1664208"/>
            <a:ext cx="3401568" cy="1298448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" y="177393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5.4×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22576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69464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→ 11.7 requests/s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4105656" y="1664208"/>
            <a:ext cx="3401568" cy="1298448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51960" y="177393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4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−89%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4261104" y="2322576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FIRST AUDIO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261104" y="2569464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5.884 s → 0.632 s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7680960" y="1664208"/>
            <a:ext cx="3401568" cy="1298448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27264" y="177393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7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−59%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7836408" y="2322576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REAL-TIME FACTOR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836408" y="2569464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1.15 → 0.47</a:t>
            </a:r>
            <a:endParaRPr lang="en-US" sz="82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3101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5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Cumulative optimization path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3767328"/>
            <a:ext cx="1719072" cy="566928"/>
          </a:xfrm>
          <a:prstGeom prst="roundRect">
            <a:avLst>
              <a:gd name="adj" fmla="val 9677"/>
            </a:avLst>
          </a:prstGeom>
          <a:solidFill>
            <a:srgbClr val="ECEFF1"/>
          </a:solidFill>
          <a:ln w="19050">
            <a:solidFill>
              <a:srgbClr val="0067B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" y="3877056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0" y="4050792"/>
            <a:ext cx="365760" cy="0"/>
          </a:xfrm>
          <a:prstGeom prst="line">
            <a:avLst/>
          </a:prstGeom>
          <a:noFill/>
          <a:ln w="13970">
            <a:solidFill>
              <a:srgbClr val="8B919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770632" y="3767328"/>
            <a:ext cx="1719072" cy="566928"/>
          </a:xfrm>
          <a:prstGeom prst="roundRect">
            <a:avLst>
              <a:gd name="adj" fmla="val 9677"/>
            </a:avLst>
          </a:prstGeom>
          <a:solidFill>
            <a:srgbClr val="ECEFF1"/>
          </a:solidFill>
          <a:ln w="19050">
            <a:solidFill>
              <a:srgbClr val="76B9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43784" y="3877056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07992" y="4050792"/>
            <a:ext cx="365760" cy="0"/>
          </a:xfrm>
          <a:prstGeom prst="line">
            <a:avLst/>
          </a:prstGeom>
          <a:noFill/>
          <a:ln w="13970">
            <a:solidFill>
              <a:srgbClr val="8B919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992624" y="3767328"/>
            <a:ext cx="1719072" cy="566928"/>
          </a:xfrm>
          <a:prstGeom prst="roundRect">
            <a:avLst>
              <a:gd name="adj" fmla="val 9677"/>
            </a:avLst>
          </a:prstGeom>
          <a:solidFill>
            <a:srgbClr val="ECEFF1"/>
          </a:solidFill>
          <a:ln w="19050">
            <a:solidFill>
              <a:srgbClr val="C45B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65776" y="3877056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CHUNK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729984" y="4050792"/>
            <a:ext cx="365760" cy="0"/>
          </a:xfrm>
          <a:prstGeom prst="line">
            <a:avLst/>
          </a:prstGeom>
          <a:noFill/>
          <a:ln w="13970">
            <a:solidFill>
              <a:srgbClr val="8B919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214616" y="3767328"/>
            <a:ext cx="1719072" cy="566928"/>
          </a:xfrm>
          <a:prstGeom prst="roundRect">
            <a:avLst>
              <a:gd name="adj" fmla="val 9677"/>
            </a:avLst>
          </a:prstGeom>
          <a:solidFill>
            <a:srgbClr val="ECEFF1"/>
          </a:solidFill>
          <a:ln w="19050">
            <a:solidFill>
              <a:srgbClr val="007C8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87768" y="3877056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OUTPUT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951976" y="4050792"/>
            <a:ext cx="365760" cy="0"/>
          </a:xfrm>
          <a:prstGeom prst="line">
            <a:avLst/>
          </a:prstGeom>
          <a:noFill/>
          <a:ln w="13970">
            <a:solidFill>
              <a:srgbClr val="8B919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436608" y="3767328"/>
            <a:ext cx="1719072" cy="566928"/>
          </a:xfrm>
          <a:prstGeom prst="roundRect">
            <a:avLst>
              <a:gd name="adj" fmla="val 9677"/>
            </a:avLst>
          </a:prstGeom>
          <a:solidFill>
            <a:srgbClr val="ECEFF1"/>
          </a:solidFill>
          <a:ln w="19050">
            <a:solidFill>
              <a:srgbClr val="6336A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509760" y="3877056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4718304"/>
            <a:ext cx="10917936" cy="932688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9808" y="4937760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BENCHMARK CONTRACT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2194560" y="4864608"/>
            <a:ext cx="8887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Seed-TTS en · Qwen3-Omni-30B-A3B-Instruct · concurrency 1 / 16 / 32 / 64 · 5 warmups · 3 GPU IDs · server restart per configuration</a:t>
            </a:r>
            <a:endParaRPr lang="en-US" sz="920" dirty="0"/>
          </a:p>
        </p:txBody>
      </p:sp>
      <p:sp>
        <p:nvSpPr>
          <p:cNvPr id="35" name="Text 33"/>
          <p:cNvSpPr txBox="1"/>
          <p:nvPr/>
        </p:nvSpPr>
        <p:spPr>
          <a:xfrm>
            <a:off x="2194560" y="523036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the numbers as a published case study—not a universal hardware claim.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7620">
            <a:solidFill>
              <a:srgbClr val="CCD1D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7200" y="6483096"/>
            <a:ext cx="9326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vLLM-Omni website PR #258 · merged 2026-07-03 · uploaded v0.26.0 release deck.</a:t>
            </a:r>
            <a:endParaRPr lang="en-US" sz="680" dirty="0"/>
          </a:p>
        </p:txBody>
      </p:sp>
      <p:sp>
        <p:nvSpPr>
          <p:cNvPr id="38" name="Text 36"/>
          <p:cNvSpPr txBox="1"/>
          <p:nvPr/>
        </p:nvSpPr>
        <p:spPr>
          <a:xfrm>
            <a:off x="9802368" y="6483096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DISCUSSION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2860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B91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79392" y="19202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spc="120" kern="0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 OPTIMIZATION MAP</a:t>
            </a:r>
            <a:endParaRPr lang="en-US" sz="68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621792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NVIDIA expertise has the highest leverage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runtime levers and candidate collaboration areas, organized by stage.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1568196" cy="704088"/>
          </a:xfrm>
          <a:prstGeom prst="rect">
            <a:avLst/>
          </a:prstGeom>
          <a:solidFill>
            <a:srgbClr val="EAF3DA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5216" y="1682496"/>
            <a:ext cx="14036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56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</a:t>
            </a:r>
            <a:endParaRPr lang="en-US" sz="810" dirty="0"/>
          </a:p>
        </p:txBody>
      </p:sp>
      <p:sp>
        <p:nvSpPr>
          <p:cNvPr id="7" name="Shape 5"/>
          <p:cNvSpPr/>
          <p:nvPr/>
        </p:nvSpPr>
        <p:spPr>
          <a:xfrm>
            <a:off x="2071116" y="1645920"/>
            <a:ext cx="2576322" cy="704088"/>
          </a:xfrm>
          <a:prstGeom prst="rect">
            <a:avLst/>
          </a:prstGeom>
          <a:solidFill>
            <a:srgbClr val="EAF3DA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53412" y="1682496"/>
            <a:ext cx="241173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56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DOMINANT BOTTLENECK</a:t>
            </a:r>
            <a:endParaRPr lang="en-US" sz="810" dirty="0"/>
          </a:p>
        </p:txBody>
      </p:sp>
      <p:sp>
        <p:nvSpPr>
          <p:cNvPr id="9" name="Shape 7"/>
          <p:cNvSpPr/>
          <p:nvPr/>
        </p:nvSpPr>
        <p:spPr>
          <a:xfrm>
            <a:off x="4647438" y="1645920"/>
            <a:ext cx="3248406" cy="704088"/>
          </a:xfrm>
          <a:prstGeom prst="rect">
            <a:avLst/>
          </a:prstGeom>
          <a:solidFill>
            <a:srgbClr val="EAF3DA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29734" y="1682496"/>
            <a:ext cx="308381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56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RUNTIME LEVERS</a:t>
            </a:r>
            <a:endParaRPr lang="en-US" sz="810" dirty="0"/>
          </a:p>
        </p:txBody>
      </p:sp>
      <p:sp>
        <p:nvSpPr>
          <p:cNvPr id="11" name="Shape 9"/>
          <p:cNvSpPr/>
          <p:nvPr/>
        </p:nvSpPr>
        <p:spPr>
          <a:xfrm>
            <a:off x="7895844" y="1645920"/>
            <a:ext cx="3808476" cy="704088"/>
          </a:xfrm>
          <a:prstGeom prst="rect">
            <a:avLst/>
          </a:prstGeom>
          <a:solidFill>
            <a:srgbClr val="EAF3DA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78140" y="1682496"/>
            <a:ext cx="36438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56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HIGH-LEVERAGE NVIDIA DISCUSSION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502920" y="2350008"/>
            <a:ext cx="1568196" cy="704088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5216" y="2386584"/>
            <a:ext cx="14036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071116" y="2350008"/>
            <a:ext cx="2576322" cy="704088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153412" y="2386584"/>
            <a:ext cx="241173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 · attention · memory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47438" y="2350008"/>
            <a:ext cx="3248406" cy="704088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29734" y="2386584"/>
            <a:ext cx="308381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 · caching · stage placement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895844" y="2350008"/>
            <a:ext cx="3808476" cy="704088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78140" y="2386584"/>
            <a:ext cx="36438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 / cuDNN paths · graph capture · split placement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3054096"/>
            <a:ext cx="1568196" cy="704088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5216" y="3090672"/>
            <a:ext cx="14036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/ MoE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071116" y="3054096"/>
            <a:ext cx="2576322" cy="704088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153412" y="3090672"/>
            <a:ext cx="241173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cache · decode · experts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47438" y="3054096"/>
            <a:ext cx="3248406" cy="704088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29734" y="3090672"/>
            <a:ext cx="308381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batching · TP / EP · FP8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895844" y="3054096"/>
            <a:ext cx="3808476" cy="704088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78140" y="3090672"/>
            <a:ext cx="36438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FA4 · FP8 / NVFP4 · expert routing · CUDA Graph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" y="3758184"/>
            <a:ext cx="1568196" cy="704088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85216" y="3794760"/>
            <a:ext cx="14036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071116" y="3758184"/>
            <a:ext cx="2576322" cy="704088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153412" y="3794760"/>
            <a:ext cx="241173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· GEMM · denoise loop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47438" y="3758184"/>
            <a:ext cx="3248406" cy="704088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729734" y="3794760"/>
            <a:ext cx="308381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batching · TP / SP / CFG / EP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895844" y="3758184"/>
            <a:ext cx="3808476" cy="704088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978140" y="3794760"/>
            <a:ext cx="36438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Blackwell kernels · TRT-LLM / FA integration · fusion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02920" y="4462272"/>
            <a:ext cx="1568196" cy="704088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85216" y="4498848"/>
            <a:ext cx="14036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VAE / codec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071116" y="4462272"/>
            <a:ext cx="2576322" cy="704088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153412" y="4498848"/>
            <a:ext cx="241173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 · upsample · first packet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47438" y="4462272"/>
            <a:ext cx="3248406" cy="704088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729734" y="4498848"/>
            <a:ext cx="308381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tiling · patch parallel · graphs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895844" y="4462272"/>
            <a:ext cx="3808476" cy="704088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978140" y="4498848"/>
            <a:ext cx="36438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cuDNN · fused decode · latency-oriented kernels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02920" y="5166360"/>
            <a:ext cx="1568196" cy="704088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85216" y="5202936"/>
            <a:ext cx="14036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071116" y="5166360"/>
            <a:ext cx="2576322" cy="704088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153412" y="5202936"/>
            <a:ext cx="241173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· synchronization · weight move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647438" y="5166360"/>
            <a:ext cx="3248406" cy="704088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729734" y="5202936"/>
            <a:ext cx="308381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transfer · SHM · remote transport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895844" y="5166360"/>
            <a:ext cx="3808476" cy="704088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978140" y="5202936"/>
            <a:ext cx="36438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NVLink / NVSwitch placement · NCCL · GPUDirect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640080" y="6016752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Discussion rule</a:t>
            </a:r>
            <a:endParaRPr lang="en-US" sz="760" dirty="0"/>
          </a:p>
        </p:txBody>
      </p:sp>
      <p:sp>
        <p:nvSpPr>
          <p:cNvPr id="54" name="Text 52"/>
          <p:cNvSpPr txBox="1"/>
          <p:nvPr/>
        </p:nvSpPr>
        <p:spPr>
          <a:xfrm>
            <a:off x="1664208" y="5943600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speedup claim pairs latency / throughput evidence with output-quality or convergence evidence.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7620">
            <a:solidFill>
              <a:srgbClr val="CCD1D5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57200" y="6483096"/>
            <a:ext cx="9326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vLLM-Omni v0.26.0 parallelism, quantization, H3, Qwen3-Omni, and diffusion documentation. Candidate areas are proposals.</a:t>
            </a:r>
            <a:endParaRPr lang="en-US" sz="680" dirty="0"/>
          </a:p>
        </p:txBody>
      </p:sp>
      <p:sp>
        <p:nvSpPr>
          <p:cNvPr id="57" name="Text 55"/>
          <p:cNvSpPr txBox="1"/>
          <p:nvPr/>
        </p:nvSpPr>
        <p:spPr>
          <a:xfrm>
            <a:off x="9802368" y="6483096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DISCUSSION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2860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B91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9320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56248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23176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90104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57032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23960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90888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57816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24744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0" y="0"/>
            <a:ext cx="6309360" cy="0"/>
          </a:xfrm>
          <a:prstGeom prst="line">
            <a:avLst/>
          </a:prstGeom>
          <a:noFill/>
          <a:ln w="4445">
            <a:solidFill>
              <a:srgbClr val="CCD1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0" y="576072"/>
            <a:ext cx="6309360" cy="0"/>
          </a:xfrm>
          <a:prstGeom prst="line">
            <a:avLst/>
          </a:prstGeom>
          <a:noFill/>
          <a:ln w="4445">
            <a:solidFill>
              <a:srgbClr val="CCD1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1152144"/>
            <a:ext cx="6309360" cy="0"/>
          </a:xfrm>
          <a:prstGeom prst="line">
            <a:avLst/>
          </a:prstGeom>
          <a:noFill/>
          <a:ln w="4445">
            <a:solidFill>
              <a:srgbClr val="CCD1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1728216"/>
            <a:ext cx="6309360" cy="0"/>
          </a:xfrm>
          <a:prstGeom prst="line">
            <a:avLst/>
          </a:prstGeom>
          <a:noFill/>
          <a:ln w="4445">
            <a:solidFill>
              <a:srgbClr val="CCD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2304288"/>
            <a:ext cx="6309360" cy="0"/>
          </a:xfrm>
          <a:prstGeom prst="line">
            <a:avLst/>
          </a:prstGeom>
          <a:noFill/>
          <a:ln w="4445">
            <a:solidFill>
              <a:srgbClr val="CCD1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52160" y="2880360"/>
            <a:ext cx="6309360" cy="0"/>
          </a:xfrm>
          <a:prstGeom prst="line">
            <a:avLst/>
          </a:prstGeom>
          <a:noFill/>
          <a:ln w="4445">
            <a:solidFill>
              <a:srgbClr val="CCD1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-840000">
            <a:off x="8778240" y="320040"/>
            <a:ext cx="2834640" cy="1078992"/>
          </a:xfrm>
          <a:prstGeom prst="rect">
            <a:avLst/>
          </a:prstGeom>
          <a:solidFill>
            <a:srgbClr val="76B900">
              <a:alpha val="93000"/>
            </a:srgbClr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-840000">
            <a:off x="9372600" y="1170432"/>
            <a:ext cx="2194560" cy="566928"/>
          </a:xfrm>
          <a:prstGeom prst="rect">
            <a:avLst/>
          </a:prstGeom>
          <a:solidFill>
            <a:srgbClr val="76B900">
              <a:alpha val="72000"/>
            </a:srgbClr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-1020000">
            <a:off x="8458200" y="1920240"/>
            <a:ext cx="3611880" cy="2468880"/>
          </a:xfrm>
          <a:prstGeom prst="rect">
            <a:avLst/>
          </a:prstGeom>
          <a:solidFill>
            <a:srgbClr val="007C83">
              <a:alpha val="96000"/>
            </a:srgbClr>
          </a:solidFill>
          <a:ln w="12700">
            <a:solidFill>
              <a:srgbClr val="007C8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C83"/>
          </a:solidFill>
          <a:ln w="12700">
            <a:solidFill>
              <a:srgbClr val="007C8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658368"/>
            <a:ext cx="2304288" cy="237744"/>
          </a:xfrm>
          <a:prstGeom prst="roundRect">
            <a:avLst>
              <a:gd name="adj" fmla="val 19231"/>
            </a:avLst>
          </a:prstGeom>
          <a:solidFill>
            <a:srgbClr val="007C83">
              <a:alpha val="18000"/>
            </a:srgbClr>
          </a:solidFill>
          <a:ln w="8890">
            <a:solidFill>
              <a:srgbClr val="007C83">
                <a:alpha val="65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944" y="667512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007C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II · POST-TRAINING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9802368" y="585216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000" b="1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50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1938528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VeRL-Omni</a:t>
            </a:r>
            <a:endParaRPr lang="en-US" sz="37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2907792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becomes the inner loop of multimodal RL.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0080" y="3712464"/>
            <a:ext cx="3017520" cy="0"/>
          </a:xfrm>
          <a:prstGeom prst="line">
            <a:avLst/>
          </a:prstGeom>
          <a:noFill/>
          <a:ln w="38100">
            <a:solidFill>
              <a:srgbClr val="007C8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614476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vLLM-Omni × VeRL-Omni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7620">
            <a:solidFill>
              <a:srgbClr val="CCD1D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6483096"/>
            <a:ext cx="9326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Community-maintained technical material · September 2026</a:t>
            </a:r>
            <a:endParaRPr lang="en-US" sz="680" dirty="0"/>
          </a:p>
        </p:txBody>
      </p:sp>
      <p:sp>
        <p:nvSpPr>
          <p:cNvPr id="30" name="Text 28"/>
          <p:cNvSpPr txBox="1"/>
          <p:nvPr/>
        </p:nvSpPr>
        <p:spPr>
          <a:xfrm>
            <a:off x="9802368" y="6483096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NVIDIA TECHNICAL DISCUSSION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2860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B91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79392" y="19202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spc="120" kern="0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A DEDICATED RL STACK</a:t>
            </a:r>
            <a:endParaRPr lang="en-US" sz="68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621792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generative RL is not text RL with bigger tensors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structure, I/O, rollout cost, reward latency, and convergence failure modes all change.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1885950" cy="693420"/>
          </a:xfrm>
          <a:prstGeom prst="rect">
            <a:avLst/>
          </a:prstGeom>
          <a:solidFill>
            <a:srgbClr val="EAF3DA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30936" y="1700784"/>
            <a:ext cx="172135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6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DIMENSION</a:t>
            </a:r>
            <a:endParaRPr lang="en-US" sz="840" dirty="0"/>
          </a:p>
        </p:txBody>
      </p:sp>
      <p:sp>
        <p:nvSpPr>
          <p:cNvPr id="7" name="Shape 5"/>
          <p:cNvSpPr/>
          <p:nvPr/>
        </p:nvSpPr>
        <p:spPr>
          <a:xfrm>
            <a:off x="2434590" y="1664208"/>
            <a:ext cx="2564892" cy="693420"/>
          </a:xfrm>
          <a:prstGeom prst="rect">
            <a:avLst/>
          </a:prstGeom>
          <a:solidFill>
            <a:srgbClr val="EAF3DA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16886" y="1700784"/>
            <a:ext cx="2400300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6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LLM RL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4999482" y="1664208"/>
            <a:ext cx="3092958" cy="693420"/>
          </a:xfrm>
          <a:prstGeom prst="rect">
            <a:avLst/>
          </a:prstGeom>
          <a:solidFill>
            <a:srgbClr val="EAF3DA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81778" y="1700784"/>
            <a:ext cx="2928366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6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/ OMNI RL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548640" y="2357628"/>
            <a:ext cx="1885950" cy="693420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" y="2394204"/>
            <a:ext cx="172135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unit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2434590" y="2357628"/>
            <a:ext cx="2564892" cy="693420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16886" y="2394204"/>
            <a:ext cx="2400300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autoregressive tokens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4999482" y="2357628"/>
            <a:ext cx="3092958" cy="693420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81778" y="2394204"/>
            <a:ext cx="2928366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denoising trajectory · media chunks · mixed stages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548640" y="3051048"/>
            <a:ext cx="1885950" cy="693420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936" y="3087624"/>
            <a:ext cx="172135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cost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2434590" y="3051048"/>
            <a:ext cx="2564892" cy="693420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16886" y="3087624"/>
            <a:ext cx="2400300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 + decode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4999482" y="3051048"/>
            <a:ext cx="3092958" cy="693420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81778" y="3087624"/>
            <a:ext cx="2928366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denoise steps + VAE / codec + media materialization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548640" y="3744468"/>
            <a:ext cx="1885950" cy="693420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0936" y="3781044"/>
            <a:ext cx="172135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2434590" y="3744468"/>
            <a:ext cx="2564892" cy="693420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516886" y="3781044"/>
            <a:ext cx="2400300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/ RM after text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4999482" y="3744468"/>
            <a:ext cx="3092958" cy="693420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81778" y="3781044"/>
            <a:ext cx="2928366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· aesthetic · VLM · audio / video · multiple scorers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548640" y="4437888"/>
            <a:ext cx="1885950" cy="693420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0936" y="4474464"/>
            <a:ext cx="172135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Parallelism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2434590" y="4437888"/>
            <a:ext cx="2564892" cy="693420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516886" y="4474464"/>
            <a:ext cx="2400300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 / DP / EP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4999482" y="4437888"/>
            <a:ext cx="3092958" cy="693420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081778" y="4474464"/>
            <a:ext cx="2928366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 / USP / SP / CFG / DP + stage placement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548640" y="5131308"/>
            <a:ext cx="1885950" cy="693420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0936" y="5167884"/>
            <a:ext cx="172135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2434590" y="5131308"/>
            <a:ext cx="2564892" cy="693420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516886" y="5167884"/>
            <a:ext cx="2400300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drift · variance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4999482" y="5131308"/>
            <a:ext cx="3092958" cy="693420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081778" y="5167884"/>
            <a:ext cx="2928366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trajectory correction · logP cost · deterministic media path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8321040" y="1664208"/>
            <a:ext cx="3310128" cy="1170432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21040" y="1664208"/>
            <a:ext cx="50292" cy="117043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503920" y="1801368"/>
            <a:ext cx="2990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6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</a:t>
            </a:r>
            <a:endParaRPr lang="en-US" sz="730" dirty="0"/>
          </a:p>
        </p:txBody>
      </p:sp>
      <p:sp>
        <p:nvSpPr>
          <p:cNvPr id="44" name="Text 42"/>
          <p:cNvSpPr txBox="1"/>
          <p:nvPr/>
        </p:nvSpPr>
        <p:spPr>
          <a:xfrm>
            <a:off x="8503920" y="2011680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dominates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8503920" y="2414016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prompt fans out to multiple expensive media trajectories.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8321040" y="2980944"/>
            <a:ext cx="3310128" cy="1170432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21040" y="2980944"/>
            <a:ext cx="50292" cy="1170432"/>
          </a:xfrm>
          <a:prstGeom prst="rect">
            <a:avLst/>
          </a:prstGeom>
          <a:solidFill>
            <a:srgbClr val="C45B00"/>
          </a:solidFill>
          <a:ln w="12700">
            <a:solidFill>
              <a:srgbClr val="C45B0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503920" y="3118104"/>
            <a:ext cx="2990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60" kern="0" dirty="0">
                <a:solidFill>
                  <a:srgbClr val="C45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LATENCY</a:t>
            </a:r>
            <a:endParaRPr lang="en-US" sz="730" dirty="0"/>
          </a:p>
        </p:txBody>
      </p:sp>
      <p:sp>
        <p:nvSpPr>
          <p:cNvPr id="49" name="Text 47"/>
          <p:cNvSpPr txBox="1"/>
          <p:nvPr/>
        </p:nvSpPr>
        <p:spPr>
          <a:xfrm>
            <a:off x="8503920" y="332841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can hide—or block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8503920" y="373075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Asynchronous scoring overlaps only if capacity and sample flow are designed together.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8321040" y="4297680"/>
            <a:ext cx="3310128" cy="1170432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21040" y="4297680"/>
            <a:ext cx="50292" cy="1170432"/>
          </a:xfrm>
          <a:prstGeom prst="rect">
            <a:avLst/>
          </a:prstGeom>
          <a:solidFill>
            <a:srgbClr val="6336A3"/>
          </a:solidFill>
          <a:ln w="12700">
            <a:solidFill>
              <a:srgbClr val="6336A3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503920" y="4434840"/>
            <a:ext cx="2990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60" kern="0" dirty="0">
                <a:solidFill>
                  <a:srgbClr val="633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CORRECTNESS</a:t>
            </a:r>
            <a:endParaRPr lang="en-US" sz="730" dirty="0"/>
          </a:p>
        </p:txBody>
      </p:sp>
      <p:sp>
        <p:nvSpPr>
          <p:cNvPr id="54" name="Text 52"/>
          <p:cNvSpPr txBox="1"/>
          <p:nvPr/>
        </p:nvSpPr>
        <p:spPr>
          <a:xfrm>
            <a:off x="8503920" y="4645152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must converge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8503920" y="5047488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throughput matters only when policy correction and numerics remain valid.</a:t>
            </a:r>
            <a:endParaRPr lang="en-US" sz="920" dirty="0"/>
          </a:p>
        </p:txBody>
      </p:sp>
      <p:sp>
        <p:nvSpPr>
          <p:cNvPr id="56" name="Shape 54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7620">
            <a:solidFill>
              <a:srgbClr val="CCD1D5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57200" y="6483096"/>
            <a:ext cx="9326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VeRL-Omni README · June 2026 system walkthrough · current trainer documentation.</a:t>
            </a:r>
            <a:endParaRPr lang="en-US" sz="680" dirty="0"/>
          </a:p>
        </p:txBody>
      </p:sp>
      <p:sp>
        <p:nvSpPr>
          <p:cNvPr id="58" name="Text 56"/>
          <p:cNvSpPr txBox="1"/>
          <p:nvPr/>
        </p:nvSpPr>
        <p:spPr>
          <a:xfrm>
            <a:off x="9802368" y="6483096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DISCUSSION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2860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B91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79392" y="19202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spc="120" kern="0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 ARCHITECTURE</a:t>
            </a:r>
            <a:endParaRPr lang="en-US" sz="68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621792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controller composes three specialized engines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Training, rollout, and reward evolve independently behind Ray RPC and checkpoint movement.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609344"/>
            <a:ext cx="11100816" cy="603504"/>
          </a:xfrm>
          <a:prstGeom prst="rect">
            <a:avLst/>
          </a:prstGeom>
          <a:solidFill>
            <a:srgbClr val="ECEFF1"/>
          </a:solidFill>
          <a:ln w="12700">
            <a:solidFill>
              <a:srgbClr val="007C8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37360"/>
            <a:ext cx="10652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130" kern="0" dirty="0">
                <a:solidFill>
                  <a:srgbClr val="007C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CONTROLLER RL TRAINER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13232" y="2514600"/>
            <a:ext cx="3200400" cy="2267712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514600"/>
            <a:ext cx="50292" cy="2267712"/>
          </a:xfrm>
          <a:prstGeom prst="rect">
            <a:avLst/>
          </a:prstGeom>
          <a:solidFill>
            <a:srgbClr val="6336A3"/>
          </a:solidFill>
          <a:ln w="12700">
            <a:solidFill>
              <a:srgbClr val="6336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" y="2651760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60" kern="0" dirty="0">
                <a:solidFill>
                  <a:srgbClr val="633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 UPDATE</a:t>
            </a:r>
            <a:endParaRPr lang="en-US" sz="73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862072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engine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264408"/>
            <a:ext cx="288950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FSDP2 / Diffusers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VeOmni backend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Megatron-Core paths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 + reference model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0" y="2514600"/>
            <a:ext cx="3749040" cy="2267712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2514600"/>
            <a:ext cx="50292" cy="226771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97680" y="2651760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6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HIGH-THROUGHPUT GENERATION</a:t>
            </a:r>
            <a:endParaRPr lang="en-US" sz="73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2862072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engine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3264408"/>
            <a:ext cx="343814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loop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/ omni single-turn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vLLM-Omni server replicas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· batching · cache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65008" y="2514600"/>
            <a:ext cx="3200400" cy="2267712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65008" y="2514600"/>
            <a:ext cx="50292" cy="2267712"/>
          </a:xfrm>
          <a:prstGeom prst="rect">
            <a:avLst/>
          </a:prstGeom>
          <a:solidFill>
            <a:srgbClr val="C45B00"/>
          </a:solidFill>
          <a:ln w="12700">
            <a:solidFill>
              <a:srgbClr val="C45B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47888" y="2651760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60" kern="0" dirty="0">
                <a:solidFill>
                  <a:srgbClr val="C45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MULTI-REWARD SERVING</a:t>
            </a:r>
            <a:endParaRPr lang="en-US" sz="730" dirty="0"/>
          </a:p>
        </p:txBody>
      </p:sp>
      <p:sp>
        <p:nvSpPr>
          <p:cNvPr id="20" name="Text 18"/>
          <p:cNvSpPr txBox="1"/>
          <p:nvPr/>
        </p:nvSpPr>
        <p:spPr>
          <a:xfrm>
            <a:off x="8247888" y="2862072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engine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47888" y="3264408"/>
            <a:ext cx="288950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rewards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/ OCR / preference models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MultiRewardLoop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reward workers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931920" y="3639312"/>
            <a:ext cx="146304" cy="0"/>
          </a:xfrm>
          <a:prstGeom prst="line">
            <a:avLst/>
          </a:prstGeom>
          <a:noFill/>
          <a:ln w="15240">
            <a:solidFill>
              <a:srgbClr val="8B919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882128" y="3639312"/>
            <a:ext cx="146304" cy="0"/>
          </a:xfrm>
          <a:prstGeom prst="line">
            <a:avLst/>
          </a:prstGeom>
          <a:noFill/>
          <a:ln w="15240">
            <a:solidFill>
              <a:srgbClr val="8B919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14400" y="5157216"/>
            <a:ext cx="10351008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78992" y="5266944"/>
            <a:ext cx="10021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034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TransferQueue / Ray RPC  ·  CheckpointEngine (broadcast / P2P)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7620">
            <a:solidFill>
              <a:srgbClr val="CCD1D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6483096"/>
            <a:ext cx="9326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VeRL-Omni June 2026 slides · current trainer and rollout documentation.</a:t>
            </a:r>
            <a:endParaRPr lang="en-US" sz="680" dirty="0"/>
          </a:p>
        </p:txBody>
      </p:sp>
      <p:sp>
        <p:nvSpPr>
          <p:cNvPr id="28" name="Text 26"/>
          <p:cNvSpPr txBox="1"/>
          <p:nvPr/>
        </p:nvSpPr>
        <p:spPr>
          <a:xfrm>
            <a:off x="9802368" y="6483096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DISCUSSION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2860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B91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79392" y="19202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spc="120" kern="0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HIDE THE IDLE TIME</a:t>
            </a:r>
            <a:endParaRPr lang="en-US" sz="68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621792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the rollout; stream the reward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complementary overlaps improve GPU utilization without changing the policy-update gate.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30352" y="1627632"/>
            <a:ext cx="5532120" cy="4343400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8470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STEP-WISE ROLLOUT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17627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arrivals → compatible batch → out-of-order completion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86384" y="2816352"/>
            <a:ext cx="566928" cy="457200"/>
          </a:xfrm>
          <a:prstGeom prst="roundRect">
            <a:avLst>
              <a:gd name="adj" fmla="val 12000"/>
            </a:avLst>
          </a:prstGeom>
          <a:solidFill>
            <a:srgbClr val="ECEFF1"/>
          </a:solidFill>
          <a:ln w="19050">
            <a:solidFill>
              <a:srgbClr val="0067B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9536" y="292608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71600" y="3044952"/>
            <a:ext cx="128016" cy="0"/>
          </a:xfrm>
          <a:prstGeom prst="line">
            <a:avLst/>
          </a:prstGeom>
          <a:noFill/>
          <a:ln w="10160">
            <a:solidFill>
              <a:srgbClr val="8B919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554480" y="2816352"/>
            <a:ext cx="566928" cy="457200"/>
          </a:xfrm>
          <a:prstGeom prst="roundRect">
            <a:avLst>
              <a:gd name="adj" fmla="val 12000"/>
            </a:avLst>
          </a:prstGeom>
          <a:solidFill>
            <a:srgbClr val="ECEFF1"/>
          </a:solidFill>
          <a:ln w="19050">
            <a:solidFill>
              <a:srgbClr val="6336A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627632" y="292608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39696" y="3044952"/>
            <a:ext cx="128016" cy="0"/>
          </a:xfrm>
          <a:prstGeom prst="line">
            <a:avLst/>
          </a:prstGeom>
          <a:noFill/>
          <a:ln w="10160">
            <a:solidFill>
              <a:srgbClr val="8B919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322576" y="2816352"/>
            <a:ext cx="566928" cy="457200"/>
          </a:xfrm>
          <a:prstGeom prst="roundRect">
            <a:avLst>
              <a:gd name="adj" fmla="val 12000"/>
            </a:avLst>
          </a:prstGeom>
          <a:solidFill>
            <a:srgbClr val="ECEFF1"/>
          </a:solidFill>
          <a:ln w="19050">
            <a:solidFill>
              <a:srgbClr val="C45B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395728" y="292608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07792" y="3044952"/>
            <a:ext cx="128016" cy="0"/>
          </a:xfrm>
          <a:prstGeom prst="line">
            <a:avLst/>
          </a:prstGeom>
          <a:noFill/>
          <a:ln w="10160">
            <a:solidFill>
              <a:srgbClr val="8B919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090672" y="2816352"/>
            <a:ext cx="566928" cy="457200"/>
          </a:xfrm>
          <a:prstGeom prst="roundRect">
            <a:avLst>
              <a:gd name="adj" fmla="val 12000"/>
            </a:avLst>
          </a:prstGeom>
          <a:solidFill>
            <a:srgbClr val="ECEFF1"/>
          </a:solidFill>
          <a:ln w="19050">
            <a:solidFill>
              <a:srgbClr val="007C8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63824" y="292608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94176" y="3044952"/>
            <a:ext cx="457200" cy="0"/>
          </a:xfrm>
          <a:prstGeom prst="line">
            <a:avLst/>
          </a:prstGeom>
          <a:noFill/>
          <a:ln w="1905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169664" y="2615184"/>
            <a:ext cx="1408176" cy="859536"/>
          </a:xfrm>
          <a:prstGeom prst="roundRect">
            <a:avLst>
              <a:gd name="adj" fmla="val 6383"/>
            </a:avLst>
          </a:prstGeom>
          <a:solidFill>
            <a:srgbClr val="ECEFF1"/>
          </a:solidFill>
          <a:ln w="19050">
            <a:solidFill>
              <a:srgbClr val="76B9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42816" y="2724912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242816" y="3008376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shape · CFG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" y="39502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Reported source-deck result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786384" y="416966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20–25%</a:t>
            </a:r>
            <a:endParaRPr lang="en-US" sz="2700" dirty="0"/>
          </a:p>
        </p:txBody>
      </p:sp>
      <p:sp>
        <p:nvSpPr>
          <p:cNvPr id="25" name="Text 23"/>
          <p:cNvSpPr txBox="1"/>
          <p:nvPr/>
        </p:nvSpPr>
        <p:spPr>
          <a:xfrm>
            <a:off x="2103120" y="431596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rollout generation time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86384" y="48646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Attributed to larger effective batches and step-wise execution; validate on the target workload.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6236208" y="1627632"/>
            <a:ext cx="5431536" cy="4343400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92240" y="18470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45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ASYNC REWARD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21762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samples flow to reward workers immediately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6510528" y="278892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5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 0</a:t>
            </a:r>
            <a:endParaRPr lang="en-US" sz="670" dirty="0"/>
          </a:p>
        </p:txBody>
      </p:sp>
      <p:sp>
        <p:nvSpPr>
          <p:cNvPr id="31" name="Shape 29"/>
          <p:cNvSpPr/>
          <p:nvPr/>
        </p:nvSpPr>
        <p:spPr>
          <a:xfrm>
            <a:off x="7059168" y="2788920"/>
            <a:ext cx="2194560" cy="201168"/>
          </a:xfrm>
          <a:prstGeom prst="roundRect">
            <a:avLst>
              <a:gd name="adj" fmla="val 13636"/>
            </a:avLst>
          </a:prstGeom>
          <a:solidFill>
            <a:srgbClr val="0067B1">
              <a:alpha val="75000"/>
            </a:srgbClr>
          </a:solidFill>
          <a:ln w="6350">
            <a:solidFill>
              <a:srgbClr val="0067B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87968" y="2880360"/>
            <a:ext cx="530352" cy="1554480"/>
          </a:xfrm>
          <a:prstGeom prst="line">
            <a:avLst/>
          </a:prstGeom>
          <a:noFill/>
          <a:ln w="8890">
            <a:solidFill>
              <a:srgbClr val="8B9196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6510528" y="317296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5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 1</a:t>
            </a:r>
            <a:endParaRPr lang="en-US" sz="670" dirty="0"/>
          </a:p>
        </p:txBody>
      </p:sp>
      <p:sp>
        <p:nvSpPr>
          <p:cNvPr id="34" name="Shape 32"/>
          <p:cNvSpPr/>
          <p:nvPr/>
        </p:nvSpPr>
        <p:spPr>
          <a:xfrm>
            <a:off x="7059168" y="3172968"/>
            <a:ext cx="2084832" cy="201168"/>
          </a:xfrm>
          <a:prstGeom prst="roundRect">
            <a:avLst>
              <a:gd name="adj" fmla="val 13636"/>
            </a:avLst>
          </a:prstGeom>
          <a:solidFill>
            <a:srgbClr val="0067B1">
              <a:alpha val="75000"/>
            </a:srgbClr>
          </a:solidFill>
          <a:ln w="6350">
            <a:solidFill>
              <a:srgbClr val="0067B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42248" y="3264408"/>
            <a:ext cx="685800" cy="1170432"/>
          </a:xfrm>
          <a:prstGeom prst="line">
            <a:avLst/>
          </a:prstGeom>
          <a:noFill/>
          <a:ln w="8890">
            <a:solidFill>
              <a:srgbClr val="8B9196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6510528" y="355701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5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 2</a:t>
            </a:r>
            <a:endParaRPr lang="en-US" sz="670" dirty="0"/>
          </a:p>
        </p:txBody>
      </p:sp>
      <p:sp>
        <p:nvSpPr>
          <p:cNvPr id="37" name="Shape 35"/>
          <p:cNvSpPr/>
          <p:nvPr/>
        </p:nvSpPr>
        <p:spPr>
          <a:xfrm>
            <a:off x="7059168" y="3557016"/>
            <a:ext cx="1975104" cy="201168"/>
          </a:xfrm>
          <a:prstGeom prst="roundRect">
            <a:avLst>
              <a:gd name="adj" fmla="val 13636"/>
            </a:avLst>
          </a:prstGeom>
          <a:solidFill>
            <a:srgbClr val="0067B1">
              <a:alpha val="75000"/>
            </a:srgbClr>
          </a:solidFill>
          <a:ln w="6350">
            <a:solidFill>
              <a:srgbClr val="0067B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96528" y="3648456"/>
            <a:ext cx="841248" cy="786384"/>
          </a:xfrm>
          <a:prstGeom prst="line">
            <a:avLst/>
          </a:prstGeom>
          <a:noFill/>
          <a:ln w="8890">
            <a:solidFill>
              <a:srgbClr val="8B9196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6510528" y="394106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5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 3</a:t>
            </a:r>
            <a:endParaRPr lang="en-US" sz="670" dirty="0"/>
          </a:p>
        </p:txBody>
      </p:sp>
      <p:sp>
        <p:nvSpPr>
          <p:cNvPr id="40" name="Shape 38"/>
          <p:cNvSpPr/>
          <p:nvPr/>
        </p:nvSpPr>
        <p:spPr>
          <a:xfrm>
            <a:off x="7059168" y="3941064"/>
            <a:ext cx="1865376" cy="201168"/>
          </a:xfrm>
          <a:prstGeom prst="roundRect">
            <a:avLst>
              <a:gd name="adj" fmla="val 13636"/>
            </a:avLst>
          </a:prstGeom>
          <a:solidFill>
            <a:srgbClr val="0067B1">
              <a:alpha val="75000"/>
            </a:srgbClr>
          </a:solidFill>
          <a:ln w="6350">
            <a:solidFill>
              <a:srgbClr val="0067B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750808" y="4032504"/>
            <a:ext cx="996696" cy="402336"/>
          </a:xfrm>
          <a:prstGeom prst="line">
            <a:avLst/>
          </a:prstGeom>
          <a:noFill/>
          <a:ln w="8890">
            <a:solidFill>
              <a:srgbClr val="8B9196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6473952" y="438912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5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REWARD</a:t>
            </a:r>
            <a:endParaRPr lang="en-US" sz="670" dirty="0"/>
          </a:p>
        </p:txBody>
      </p:sp>
      <p:sp>
        <p:nvSpPr>
          <p:cNvPr id="43" name="Shape 41"/>
          <p:cNvSpPr/>
          <p:nvPr/>
        </p:nvSpPr>
        <p:spPr>
          <a:xfrm>
            <a:off x="9253728" y="4352544"/>
            <a:ext cx="384048" cy="219456"/>
          </a:xfrm>
          <a:prstGeom prst="rect">
            <a:avLst/>
          </a:prstGeom>
          <a:solidFill>
            <a:srgbClr val="C45B00">
              <a:alpha val="82000"/>
            </a:srgbClr>
          </a:solidFill>
          <a:ln w="6350">
            <a:solidFill>
              <a:srgbClr val="C45B0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253728" y="43616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</a:t>
            </a:r>
            <a:endParaRPr lang="en-US" sz="670" dirty="0"/>
          </a:p>
        </p:txBody>
      </p:sp>
      <p:sp>
        <p:nvSpPr>
          <p:cNvPr id="45" name="Shape 43"/>
          <p:cNvSpPr/>
          <p:nvPr/>
        </p:nvSpPr>
        <p:spPr>
          <a:xfrm>
            <a:off x="9674352" y="4352544"/>
            <a:ext cx="384048" cy="219456"/>
          </a:xfrm>
          <a:prstGeom prst="rect">
            <a:avLst/>
          </a:prstGeom>
          <a:solidFill>
            <a:srgbClr val="C45B00">
              <a:alpha val="82000"/>
            </a:srgbClr>
          </a:solidFill>
          <a:ln w="6350">
            <a:solidFill>
              <a:srgbClr val="C45B0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674352" y="43616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</a:t>
            </a:r>
            <a:endParaRPr lang="en-US" sz="670" dirty="0"/>
          </a:p>
        </p:txBody>
      </p:sp>
      <p:sp>
        <p:nvSpPr>
          <p:cNvPr id="47" name="Shape 45"/>
          <p:cNvSpPr/>
          <p:nvPr/>
        </p:nvSpPr>
        <p:spPr>
          <a:xfrm>
            <a:off x="10094976" y="4352544"/>
            <a:ext cx="384048" cy="219456"/>
          </a:xfrm>
          <a:prstGeom prst="rect">
            <a:avLst/>
          </a:prstGeom>
          <a:solidFill>
            <a:srgbClr val="C45B00">
              <a:alpha val="82000"/>
            </a:srgbClr>
          </a:solidFill>
          <a:ln w="6350">
            <a:solidFill>
              <a:srgbClr val="C45B0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094976" y="43616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</a:t>
            </a:r>
            <a:endParaRPr lang="en-US" sz="670" dirty="0"/>
          </a:p>
        </p:txBody>
      </p:sp>
      <p:sp>
        <p:nvSpPr>
          <p:cNvPr id="49" name="Shape 47"/>
          <p:cNvSpPr/>
          <p:nvPr/>
        </p:nvSpPr>
        <p:spPr>
          <a:xfrm>
            <a:off x="10515600" y="4352544"/>
            <a:ext cx="384048" cy="219456"/>
          </a:xfrm>
          <a:prstGeom prst="rect">
            <a:avLst/>
          </a:prstGeom>
          <a:solidFill>
            <a:srgbClr val="C45B00">
              <a:alpha val="82000"/>
            </a:srgbClr>
          </a:solidFill>
          <a:ln w="6350">
            <a:solidFill>
              <a:srgbClr val="C45B0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515600" y="43616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r3</a:t>
            </a:r>
            <a:endParaRPr lang="en-US" sz="670" dirty="0"/>
          </a:p>
        </p:txBody>
      </p:sp>
      <p:sp>
        <p:nvSpPr>
          <p:cNvPr id="51" name="Text 49"/>
          <p:cNvSpPr txBox="1"/>
          <p:nvPr/>
        </p:nvSpPr>
        <p:spPr>
          <a:xfrm>
            <a:off x="6510528" y="496519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latency is hidden behind the remaining rollout wave; actor update still waits for the scored batch.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7620">
            <a:solidFill>
              <a:srgbClr val="CCD1D5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57200" y="6483096"/>
            <a:ext cx="9326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VeRL-Omni June 2026 slides 16 and 20 · current async reward documentation.</a:t>
            </a:r>
            <a:endParaRPr lang="en-US" sz="680" dirty="0"/>
          </a:p>
        </p:txBody>
      </p:sp>
      <p:sp>
        <p:nvSpPr>
          <p:cNvPr id="54" name="Text 52"/>
          <p:cNvSpPr txBox="1"/>
          <p:nvPr/>
        </p:nvSpPr>
        <p:spPr>
          <a:xfrm>
            <a:off x="9802368" y="6483096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DISCUSSION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2860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B91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79392" y="19202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spc="120" kern="0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 THE TRAINING STEP</a:t>
            </a:r>
            <a:endParaRPr lang="en-US" sz="68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621792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topology is an algorithmic choice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Colocation saves capacity; separation reduces interference; checkpoint movement couples both decisions.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64208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5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Candidate colocated topology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58368" y="2084832"/>
            <a:ext cx="1170432" cy="2240280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2231136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 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68096" y="2615184"/>
            <a:ext cx="950976" cy="530352"/>
          </a:xfrm>
          <a:prstGeom prst="roundRect">
            <a:avLst>
              <a:gd name="adj" fmla="val 10345"/>
            </a:avLst>
          </a:prstGeom>
          <a:solidFill>
            <a:srgbClr val="ECEFF1"/>
          </a:solidFill>
          <a:ln w="19050">
            <a:solidFill>
              <a:srgbClr val="6336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272491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008376"/>
            <a:ext cx="80467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FSDP2 shard</a:t>
            </a:r>
            <a:endParaRPr lang="en-US" sz="640" dirty="0"/>
          </a:p>
        </p:txBody>
      </p:sp>
      <p:sp>
        <p:nvSpPr>
          <p:cNvPr id="11" name="Shape 9"/>
          <p:cNvSpPr/>
          <p:nvPr/>
        </p:nvSpPr>
        <p:spPr>
          <a:xfrm>
            <a:off x="768096" y="3264408"/>
            <a:ext cx="950976" cy="530352"/>
          </a:xfrm>
          <a:prstGeom prst="roundRect">
            <a:avLst>
              <a:gd name="adj" fmla="val 10345"/>
            </a:avLst>
          </a:prstGeom>
          <a:solidFill>
            <a:srgbClr val="ECEFF1"/>
          </a:solidFill>
          <a:ln w="19050">
            <a:solidFill>
              <a:srgbClr val="76B9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" y="3374136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3657600"/>
            <a:ext cx="80467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/ resume</a:t>
            </a:r>
            <a:endParaRPr lang="en-US" sz="640" dirty="0"/>
          </a:p>
        </p:txBody>
      </p:sp>
      <p:sp>
        <p:nvSpPr>
          <p:cNvPr id="14" name="Shape 12"/>
          <p:cNvSpPr/>
          <p:nvPr/>
        </p:nvSpPr>
        <p:spPr>
          <a:xfrm>
            <a:off x="2011680" y="2084832"/>
            <a:ext cx="1170432" cy="2240280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121408" y="2231136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 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121408" y="2615184"/>
            <a:ext cx="950976" cy="530352"/>
          </a:xfrm>
          <a:prstGeom prst="roundRect">
            <a:avLst>
              <a:gd name="adj" fmla="val 10345"/>
            </a:avLst>
          </a:prstGeom>
          <a:solidFill>
            <a:srgbClr val="ECEFF1"/>
          </a:solidFill>
          <a:ln w="19050">
            <a:solidFill>
              <a:srgbClr val="6336A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194560" y="272491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2194560" y="3008376"/>
            <a:ext cx="80467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FSDP2 shard</a:t>
            </a:r>
            <a:endParaRPr lang="en-US" sz="640" dirty="0"/>
          </a:p>
        </p:txBody>
      </p:sp>
      <p:sp>
        <p:nvSpPr>
          <p:cNvPr id="19" name="Shape 17"/>
          <p:cNvSpPr/>
          <p:nvPr/>
        </p:nvSpPr>
        <p:spPr>
          <a:xfrm>
            <a:off x="2121408" y="3264408"/>
            <a:ext cx="950976" cy="530352"/>
          </a:xfrm>
          <a:prstGeom prst="roundRect">
            <a:avLst>
              <a:gd name="adj" fmla="val 10345"/>
            </a:avLst>
          </a:prstGeom>
          <a:solidFill>
            <a:srgbClr val="ECEFF1"/>
          </a:solidFill>
          <a:ln w="19050">
            <a:solidFill>
              <a:srgbClr val="76B9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94560" y="3374136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2194560" y="3657600"/>
            <a:ext cx="80467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/ resume</a:t>
            </a:r>
            <a:endParaRPr lang="en-US" sz="640" dirty="0"/>
          </a:p>
        </p:txBody>
      </p:sp>
      <p:sp>
        <p:nvSpPr>
          <p:cNvPr id="22" name="Shape 20"/>
          <p:cNvSpPr/>
          <p:nvPr/>
        </p:nvSpPr>
        <p:spPr>
          <a:xfrm>
            <a:off x="3364992" y="2084832"/>
            <a:ext cx="1170432" cy="2240280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74720" y="2231136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 2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474720" y="2615184"/>
            <a:ext cx="950976" cy="530352"/>
          </a:xfrm>
          <a:prstGeom prst="roundRect">
            <a:avLst>
              <a:gd name="adj" fmla="val 10345"/>
            </a:avLst>
          </a:prstGeom>
          <a:solidFill>
            <a:srgbClr val="ECEFF1"/>
          </a:solidFill>
          <a:ln w="19050">
            <a:solidFill>
              <a:srgbClr val="6336A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547872" y="272491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3547872" y="3008376"/>
            <a:ext cx="80467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FSDP2 shard</a:t>
            </a:r>
            <a:endParaRPr lang="en-US" sz="640" dirty="0"/>
          </a:p>
        </p:txBody>
      </p:sp>
      <p:sp>
        <p:nvSpPr>
          <p:cNvPr id="27" name="Shape 25"/>
          <p:cNvSpPr/>
          <p:nvPr/>
        </p:nvSpPr>
        <p:spPr>
          <a:xfrm>
            <a:off x="3474720" y="3264408"/>
            <a:ext cx="950976" cy="530352"/>
          </a:xfrm>
          <a:prstGeom prst="roundRect">
            <a:avLst>
              <a:gd name="adj" fmla="val 10345"/>
            </a:avLst>
          </a:prstGeom>
          <a:solidFill>
            <a:srgbClr val="ECEFF1"/>
          </a:solidFill>
          <a:ln w="19050">
            <a:solidFill>
              <a:srgbClr val="76B9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47872" y="3374136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3547872" y="3657600"/>
            <a:ext cx="80467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/ resume</a:t>
            </a:r>
            <a:endParaRPr lang="en-US" sz="640" dirty="0"/>
          </a:p>
        </p:txBody>
      </p:sp>
      <p:sp>
        <p:nvSpPr>
          <p:cNvPr id="30" name="Shape 28"/>
          <p:cNvSpPr/>
          <p:nvPr/>
        </p:nvSpPr>
        <p:spPr>
          <a:xfrm>
            <a:off x="4718304" y="2084832"/>
            <a:ext cx="1170432" cy="2240280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28032" y="2231136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 3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828032" y="2615184"/>
            <a:ext cx="950976" cy="530352"/>
          </a:xfrm>
          <a:prstGeom prst="roundRect">
            <a:avLst>
              <a:gd name="adj" fmla="val 10345"/>
            </a:avLst>
          </a:prstGeom>
          <a:solidFill>
            <a:srgbClr val="ECEFF1"/>
          </a:solidFill>
          <a:ln w="19050">
            <a:solidFill>
              <a:srgbClr val="6336A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901184" y="272491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4901184" y="3008376"/>
            <a:ext cx="80467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FSDP2 shard</a:t>
            </a:r>
            <a:endParaRPr lang="en-US" sz="640" dirty="0"/>
          </a:p>
        </p:txBody>
      </p:sp>
      <p:sp>
        <p:nvSpPr>
          <p:cNvPr id="35" name="Shape 33"/>
          <p:cNvSpPr/>
          <p:nvPr/>
        </p:nvSpPr>
        <p:spPr>
          <a:xfrm>
            <a:off x="4828032" y="3264408"/>
            <a:ext cx="950976" cy="530352"/>
          </a:xfrm>
          <a:prstGeom prst="roundRect">
            <a:avLst>
              <a:gd name="adj" fmla="val 10345"/>
            </a:avLst>
          </a:prstGeom>
          <a:solidFill>
            <a:srgbClr val="ECEFF1"/>
          </a:solidFill>
          <a:ln w="19050">
            <a:solidFill>
              <a:srgbClr val="76B90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901184" y="3374136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4901184" y="3657600"/>
            <a:ext cx="80467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/ resume</a:t>
            </a:r>
            <a:endParaRPr lang="en-US" sz="640" dirty="0"/>
          </a:p>
        </p:txBody>
      </p:sp>
      <p:sp>
        <p:nvSpPr>
          <p:cNvPr id="38" name="Shape 36"/>
          <p:cNvSpPr/>
          <p:nvPr/>
        </p:nvSpPr>
        <p:spPr>
          <a:xfrm>
            <a:off x="1947672" y="4663440"/>
            <a:ext cx="2304288" cy="621792"/>
          </a:xfrm>
          <a:prstGeom prst="roundRect">
            <a:avLst>
              <a:gd name="adj" fmla="val 8824"/>
            </a:avLst>
          </a:prstGeom>
          <a:solidFill>
            <a:srgbClr val="ECEFF1"/>
          </a:solidFill>
          <a:ln w="19050">
            <a:solidFill>
              <a:srgbClr val="007C8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020824" y="4773168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ENGINE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2020824" y="5056632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 / P2P / NCCL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3099816" y="4645152"/>
            <a:ext cx="-1856232" cy="-274320"/>
          </a:xfrm>
          <a:prstGeom prst="line">
            <a:avLst/>
          </a:prstGeom>
          <a:noFill/>
          <a:ln w="8255">
            <a:solidFill>
              <a:srgbClr val="8B9196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099816" y="4645152"/>
            <a:ext cx="-502920" cy="-274320"/>
          </a:xfrm>
          <a:prstGeom prst="line">
            <a:avLst/>
          </a:prstGeom>
          <a:noFill/>
          <a:ln w="8255">
            <a:solidFill>
              <a:srgbClr val="8B9196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3099816" y="4645152"/>
            <a:ext cx="850392" cy="-274320"/>
          </a:xfrm>
          <a:prstGeom prst="line">
            <a:avLst/>
          </a:prstGeom>
          <a:noFill/>
          <a:ln w="8255">
            <a:solidFill>
              <a:srgbClr val="8B9196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3099816" y="4645152"/>
            <a:ext cx="2203704" cy="-274320"/>
          </a:xfrm>
          <a:prstGeom prst="line">
            <a:avLst/>
          </a:prstGeom>
          <a:noFill/>
          <a:ln w="8255">
            <a:solidFill>
              <a:srgbClr val="8B9196"/>
            </a:solidFill>
            <a:prstDash val="solid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6272784" y="166420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5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levers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272784" y="2048256"/>
            <a:ext cx="5285232" cy="576072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72784" y="2048256"/>
            <a:ext cx="50292" cy="576072"/>
          </a:xfrm>
          <a:prstGeom prst="rect">
            <a:avLst/>
          </a:prstGeom>
          <a:solidFill>
            <a:srgbClr val="6336A3"/>
          </a:solidFill>
          <a:ln w="12700">
            <a:solidFill>
              <a:srgbClr val="6336A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455664" y="2231136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6455664" y="2615184"/>
            <a:ext cx="4974336" cy="-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FSDP2 · VeOmni · TP / USP / DP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272784" y="2761488"/>
            <a:ext cx="5285232" cy="576072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72784" y="2761488"/>
            <a:ext cx="50292" cy="57607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455664" y="2944368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6455664" y="3328416"/>
            <a:ext cx="4974336" cy="-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 · routing · cache · sleep / resume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272784" y="3474720"/>
            <a:ext cx="5285232" cy="576072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72784" y="3474720"/>
            <a:ext cx="50292" cy="576072"/>
          </a:xfrm>
          <a:prstGeom prst="rect">
            <a:avLst/>
          </a:prstGeom>
          <a:solidFill>
            <a:srgbClr val="C45B00"/>
          </a:solidFill>
          <a:ln w="12700">
            <a:solidFill>
              <a:srgbClr val="C45B0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455664" y="3657600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6455664" y="4041648"/>
            <a:ext cx="4974336" cy="-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pool · async multi-reward serving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272784" y="4187952"/>
            <a:ext cx="5285232" cy="576072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72784" y="4187952"/>
            <a:ext cx="50292" cy="576072"/>
          </a:xfrm>
          <a:prstGeom prst="rect">
            <a:avLst/>
          </a:prstGeom>
          <a:solidFill>
            <a:srgbClr val="007C83"/>
          </a:solidFill>
          <a:ln w="12700">
            <a:solidFill>
              <a:srgbClr val="007C83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455664" y="4370832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6455664" y="4754880"/>
            <a:ext cx="4974336" cy="-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 / P2P · update cadence · staleness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272784" y="4901184"/>
            <a:ext cx="5285232" cy="576072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72784" y="4901184"/>
            <a:ext cx="50292" cy="576072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455664" y="5084064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Profiling</a:t>
            </a:r>
            <a:endParaRPr lang="en-US" sz="1050" dirty="0"/>
          </a:p>
        </p:txBody>
      </p:sp>
      <p:sp>
        <p:nvSpPr>
          <p:cNvPr id="65" name="Text 63"/>
          <p:cNvSpPr txBox="1"/>
          <p:nvPr/>
        </p:nvSpPr>
        <p:spPr>
          <a:xfrm>
            <a:off x="6455664" y="5468112"/>
            <a:ext cx="4974336" cy="-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 phase + rollout servers + reward servers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7620">
            <a:solidFill>
              <a:srgbClr val="CCD1D5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457200" y="6483096"/>
            <a:ext cx="9326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VeRL-Omni README · trainer/config/profiler documentation · June 2026 distributed-training slides.</a:t>
            </a:r>
            <a:endParaRPr lang="en-US" sz="680" dirty="0"/>
          </a:p>
        </p:txBody>
      </p:sp>
      <p:sp>
        <p:nvSpPr>
          <p:cNvPr id="68" name="Text 66"/>
          <p:cNvSpPr txBox="1"/>
          <p:nvPr/>
        </p:nvSpPr>
        <p:spPr>
          <a:xfrm>
            <a:off x="9802368" y="6483096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DISCUSSION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2860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B91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79392" y="19202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spc="120" kern="0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INTEGRATED RECIPE</a:t>
            </a:r>
            <a:endParaRPr lang="en-US" sz="68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621792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Qwen3-Omni GSPO connects both projects end to end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model provides the cleanest bridge between multimodal serving and post-training.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2212848"/>
            <a:ext cx="1572768" cy="841248"/>
          </a:xfrm>
          <a:prstGeom prst="roundRect">
            <a:avLst>
              <a:gd name="adj" fmla="val 6522"/>
            </a:avLst>
          </a:prstGeom>
          <a:solidFill>
            <a:srgbClr val="ECEFF1"/>
          </a:solidFill>
          <a:ln w="19050">
            <a:solidFill>
              <a:srgbClr val="0067B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322576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0604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· image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· video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49424" y="2633472"/>
            <a:ext cx="438912" cy="0"/>
          </a:xfrm>
          <a:prstGeom prst="line">
            <a:avLst/>
          </a:prstGeom>
          <a:noFill/>
          <a:ln w="19050">
            <a:solidFill>
              <a:srgbClr val="8B919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06624" y="2029968"/>
            <a:ext cx="1901952" cy="1207008"/>
          </a:xfrm>
          <a:prstGeom prst="roundRect">
            <a:avLst>
              <a:gd name="adj" fmla="val 4545"/>
            </a:avLst>
          </a:prstGeom>
          <a:solidFill>
            <a:srgbClr val="ECEFF1"/>
          </a:solidFill>
          <a:ln w="19050">
            <a:solidFill>
              <a:srgbClr val="6336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79776" y="2139696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THINKER ACTOR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779776" y="2423160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Qwen3-Omni 30B-A3B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· FSDP2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26864" y="2633472"/>
            <a:ext cx="438912" cy="0"/>
          </a:xfrm>
          <a:prstGeom prst="line">
            <a:avLst/>
          </a:prstGeom>
          <a:noFill/>
          <a:ln w="1905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84064" y="2029968"/>
            <a:ext cx="1901952" cy="1207008"/>
          </a:xfrm>
          <a:prstGeom prst="roundRect">
            <a:avLst>
              <a:gd name="adj" fmla="val 4545"/>
            </a:avLst>
          </a:prstGeom>
          <a:solidFill>
            <a:srgbClr val="ECEFF1"/>
          </a:solidFill>
          <a:ln w="19050">
            <a:solidFill>
              <a:srgbClr val="76B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57216" y="2139696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57216" y="2423160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vLLM-Omni TP=2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replicas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004304" y="2633472"/>
            <a:ext cx="438912" cy="0"/>
          </a:xfrm>
          <a:prstGeom prst="line">
            <a:avLst/>
          </a:prstGeom>
          <a:noFill/>
          <a:ln w="19050">
            <a:solidFill>
              <a:srgbClr val="C45B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61504" y="2029968"/>
            <a:ext cx="1901952" cy="1207008"/>
          </a:xfrm>
          <a:prstGeom prst="roundRect">
            <a:avLst>
              <a:gd name="adj" fmla="val 4545"/>
            </a:avLst>
          </a:prstGeom>
          <a:solidFill>
            <a:srgbClr val="ECEFF1"/>
          </a:solidFill>
          <a:ln w="19050">
            <a:solidFill>
              <a:srgbClr val="C45B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34656" y="2139696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534656" y="2423160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/ format /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scorer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381744" y="2633472"/>
            <a:ext cx="438912" cy="0"/>
          </a:xfrm>
          <a:prstGeom prst="line">
            <a:avLst/>
          </a:prstGeom>
          <a:noFill/>
          <a:ln w="19050">
            <a:solidFill>
              <a:srgbClr val="007C8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838944" y="2029968"/>
            <a:ext cx="1700784" cy="1207008"/>
          </a:xfrm>
          <a:prstGeom prst="roundRect">
            <a:avLst>
              <a:gd name="adj" fmla="val 4545"/>
            </a:avLst>
          </a:prstGeom>
          <a:solidFill>
            <a:srgbClr val="ECEFF1"/>
          </a:solidFill>
          <a:ln w="19050">
            <a:solidFill>
              <a:srgbClr val="007C8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912096" y="213969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GSPO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912096" y="24231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update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0680192" y="3273552"/>
            <a:ext cx="0" cy="566928"/>
          </a:xfrm>
          <a:prstGeom prst="line">
            <a:avLst/>
          </a:prstGeom>
          <a:noFill/>
          <a:ln w="19050">
            <a:solidFill>
              <a:srgbClr val="007C8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680192" y="3840480"/>
            <a:ext cx="-7004304" cy="0"/>
          </a:xfrm>
          <a:prstGeom prst="line">
            <a:avLst/>
          </a:prstGeom>
          <a:noFill/>
          <a:ln w="19050">
            <a:solidFill>
              <a:srgbClr val="007C8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675888" y="3840480"/>
            <a:ext cx="0" cy="-566928"/>
          </a:xfrm>
          <a:prstGeom prst="line">
            <a:avLst/>
          </a:prstGeom>
          <a:noFill/>
          <a:ln w="19050">
            <a:solidFill>
              <a:srgbClr val="007C83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6812280" y="3712464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007C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updated weights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658368" y="4315968"/>
            <a:ext cx="3401568" cy="1298448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" y="442569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</a:t>
            </a:r>
            <a:endParaRPr lang="en-US" sz="2700" dirty="0"/>
          </a:p>
        </p:txBody>
      </p:sp>
      <p:sp>
        <p:nvSpPr>
          <p:cNvPr id="30" name="Text 28"/>
          <p:cNvSpPr txBox="1"/>
          <p:nvPr/>
        </p:nvSpPr>
        <p:spPr>
          <a:xfrm>
            <a:off x="813816" y="4974336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GPU TOPOLOGY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13816" y="5221224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H100 / H200 80 GB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4224528" y="4315968"/>
            <a:ext cx="3401568" cy="1298448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370832" y="442569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7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TP=2</a:t>
            </a:r>
            <a:endParaRPr lang="en-US" sz="2700" dirty="0"/>
          </a:p>
        </p:txBody>
      </p:sp>
      <p:sp>
        <p:nvSpPr>
          <p:cNvPr id="34" name="Text 32"/>
          <p:cNvSpPr txBox="1"/>
          <p:nvPr/>
        </p:nvSpPr>
        <p:spPr>
          <a:xfrm>
            <a:off x="4379976" y="4974336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PLACEMENT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4379976" y="5221224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colocated with FSDP2 actor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7790688" y="4315968"/>
            <a:ext cx="3401568" cy="1298448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936992" y="442569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4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700" dirty="0"/>
          </a:p>
        </p:txBody>
      </p:sp>
      <p:sp>
        <p:nvSpPr>
          <p:cNvPr id="38" name="Text 36"/>
          <p:cNvSpPr txBox="1"/>
          <p:nvPr/>
        </p:nvSpPr>
        <p:spPr>
          <a:xfrm>
            <a:off x="7946136" y="4974336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RECIPES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7946136" y="5221224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· image · text+image+audio</a:t>
            </a:r>
            <a:endParaRPr lang="en-US" sz="820" dirty="0"/>
          </a:p>
        </p:txBody>
      </p:sp>
      <p:sp>
        <p:nvSpPr>
          <p:cNvPr id="40" name="Text 38"/>
          <p:cNvSpPr txBox="1"/>
          <p:nvPr/>
        </p:nvSpPr>
        <p:spPr>
          <a:xfrm>
            <a:off x="731520" y="5833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 recipe trains the Thinker while stripping inference-only components and typically freezing media encoders.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7620">
            <a:solidFill>
              <a:srgbClr val="CCD1D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57200" y="6483096"/>
            <a:ext cx="9326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VeRL-Omni Qwen3-Omni GSPO documentation · supported-model guide · updated August 2026.</a:t>
            </a:r>
            <a:endParaRPr lang="en-US" sz="680" dirty="0"/>
          </a:p>
        </p:txBody>
      </p:sp>
      <p:sp>
        <p:nvSpPr>
          <p:cNvPr id="43" name="Text 41"/>
          <p:cNvSpPr txBox="1"/>
          <p:nvPr/>
        </p:nvSpPr>
        <p:spPr>
          <a:xfrm>
            <a:off x="9802368" y="6483096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DISCUSSION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2860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B91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9320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56248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23176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90104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57032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23960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90888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57816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24744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0" y="0"/>
            <a:ext cx="6309360" cy="0"/>
          </a:xfrm>
          <a:prstGeom prst="line">
            <a:avLst/>
          </a:prstGeom>
          <a:noFill/>
          <a:ln w="4445">
            <a:solidFill>
              <a:srgbClr val="CCD1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0" y="576072"/>
            <a:ext cx="6309360" cy="0"/>
          </a:xfrm>
          <a:prstGeom prst="line">
            <a:avLst/>
          </a:prstGeom>
          <a:noFill/>
          <a:ln w="4445">
            <a:solidFill>
              <a:srgbClr val="CCD1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1152144"/>
            <a:ext cx="6309360" cy="0"/>
          </a:xfrm>
          <a:prstGeom prst="line">
            <a:avLst/>
          </a:prstGeom>
          <a:noFill/>
          <a:ln w="4445">
            <a:solidFill>
              <a:srgbClr val="CCD1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1728216"/>
            <a:ext cx="6309360" cy="0"/>
          </a:xfrm>
          <a:prstGeom prst="line">
            <a:avLst/>
          </a:prstGeom>
          <a:noFill/>
          <a:ln w="4445">
            <a:solidFill>
              <a:srgbClr val="CCD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2304288"/>
            <a:ext cx="6309360" cy="0"/>
          </a:xfrm>
          <a:prstGeom prst="line">
            <a:avLst/>
          </a:prstGeom>
          <a:noFill/>
          <a:ln w="4445">
            <a:solidFill>
              <a:srgbClr val="CCD1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52160" y="2880360"/>
            <a:ext cx="6309360" cy="0"/>
          </a:xfrm>
          <a:prstGeom prst="line">
            <a:avLst/>
          </a:prstGeom>
          <a:noFill/>
          <a:ln w="4445">
            <a:solidFill>
              <a:srgbClr val="CCD1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-840000">
            <a:off x="8778240" y="320040"/>
            <a:ext cx="2834640" cy="1078992"/>
          </a:xfrm>
          <a:prstGeom prst="rect">
            <a:avLst/>
          </a:prstGeom>
          <a:solidFill>
            <a:srgbClr val="76B900">
              <a:alpha val="93000"/>
            </a:srgbClr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-840000">
            <a:off x="9372600" y="1170432"/>
            <a:ext cx="2194560" cy="566928"/>
          </a:xfrm>
          <a:prstGeom prst="rect">
            <a:avLst/>
          </a:prstGeom>
          <a:solidFill>
            <a:srgbClr val="76B900">
              <a:alpha val="72000"/>
            </a:srgbClr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-1020000">
            <a:off x="8458200" y="1920240"/>
            <a:ext cx="3611880" cy="2468880"/>
          </a:xfrm>
          <a:prstGeom prst="rect">
            <a:avLst/>
          </a:prstGeom>
          <a:solidFill>
            <a:srgbClr val="76B900">
              <a:alpha val="96000"/>
            </a:srgbClr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658368"/>
            <a:ext cx="2139696" cy="237744"/>
          </a:xfrm>
          <a:prstGeom prst="roundRect">
            <a:avLst>
              <a:gd name="adj" fmla="val 19231"/>
            </a:avLst>
          </a:prstGeom>
          <a:solidFill>
            <a:srgbClr val="76B900">
              <a:alpha val="18000"/>
            </a:srgbClr>
          </a:solidFill>
          <a:ln w="8890">
            <a:solidFill>
              <a:srgbClr val="76B900">
                <a:alpha val="65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944" y="66751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III · CASE STUDY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9802368" y="585216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000" b="1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50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1938528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MiniMax H3</a:t>
            </a:r>
            <a:endParaRPr lang="en-US" sz="37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2907792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Day-0 inference to audio-video RL on one open systems stack.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0080" y="3712464"/>
            <a:ext cx="3017520" cy="0"/>
          </a:xfrm>
          <a:prstGeom prst="line">
            <a:avLst/>
          </a:prstGeom>
          <a:noFill/>
          <a:ln w="38100">
            <a:solidFill>
              <a:srgbClr val="76B9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614476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vLLM-Omni × VeRL-Omni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7620">
            <a:solidFill>
              <a:srgbClr val="CCD1D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6483096"/>
            <a:ext cx="9326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Community-maintained technical material · September 2026</a:t>
            </a:r>
            <a:endParaRPr lang="en-US" sz="680" dirty="0"/>
          </a:p>
        </p:txBody>
      </p:sp>
      <p:sp>
        <p:nvSpPr>
          <p:cNvPr id="30" name="Text 28"/>
          <p:cNvSpPr txBox="1"/>
          <p:nvPr/>
        </p:nvSpPr>
        <p:spPr>
          <a:xfrm>
            <a:off x="9802368" y="6483096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NVIDIA TECHNICAL DISCUSSION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2860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B91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79392" y="19202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spc="120" kern="0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STUDY · DAY-0</a:t>
            </a:r>
            <a:endParaRPr lang="en-US" sz="68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621792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a 134 GiB audio-video model into a service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part was not loading weights; it was translating the model contract into a reliable serving contract.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30352" y="1572768"/>
            <a:ext cx="3493008" cy="1115568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572768"/>
            <a:ext cx="50292" cy="1115568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9928"/>
            <a:ext cx="3172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6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 FOOTPRINT</a:t>
            </a:r>
            <a:endParaRPr lang="en-US" sz="73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20240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≈134 GiB BF16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322576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task partition; the release carries two task-specific DiT partitions.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352544" y="1572768"/>
            <a:ext cx="3493008" cy="1115568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52544" y="1572768"/>
            <a:ext cx="50292" cy="1115568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35424" y="1709928"/>
            <a:ext cx="3172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60" kern="0" dirty="0">
                <a:solidFill>
                  <a:srgbClr val="0067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HETEROGENEOUS PIPELINE</a:t>
            </a:r>
            <a:endParaRPr lang="en-US" sz="730" dirty="0"/>
          </a:p>
        </p:txBody>
      </p:sp>
      <p:sp>
        <p:nvSpPr>
          <p:cNvPr id="13" name="Text 11"/>
          <p:cNvSpPr txBox="1"/>
          <p:nvPr/>
        </p:nvSpPr>
        <p:spPr>
          <a:xfrm>
            <a:off x="4535424" y="1920240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33B DiT + 32B encoder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35424" y="2322576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Qwen3-VL text encoder, joint video/audio denoiser, and two VAEs per replica.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8174736" y="1572768"/>
            <a:ext cx="3493008" cy="1115568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74736" y="1572768"/>
            <a:ext cx="50292" cy="1115568"/>
          </a:xfrm>
          <a:prstGeom prst="rect">
            <a:avLst/>
          </a:prstGeom>
          <a:solidFill>
            <a:srgbClr val="C45B00"/>
          </a:solidFill>
          <a:ln w="12700">
            <a:solidFill>
              <a:srgbClr val="C45B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57616" y="1709928"/>
            <a:ext cx="3172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60" kern="0" dirty="0">
                <a:solidFill>
                  <a:srgbClr val="C45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ITERATIVE WORK</a:t>
            </a:r>
            <a:endParaRPr lang="en-US" sz="730" dirty="0"/>
          </a:p>
        </p:txBody>
      </p:sp>
      <p:sp>
        <p:nvSpPr>
          <p:cNvPr id="18" name="Text 16"/>
          <p:cNvSpPr txBox="1"/>
          <p:nvPr/>
        </p:nvSpPr>
        <p:spPr>
          <a:xfrm>
            <a:off x="8357616" y="1920240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denoising steps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357616" y="2322576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packed multimodal sequences make attention, memory, and decode policy first-class.</a:t>
            </a:r>
            <a:endParaRPr lang="en-US" sz="92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29992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Task-routed runtime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640080" y="3383280"/>
            <a:ext cx="1572768" cy="786384"/>
          </a:xfrm>
          <a:prstGeom prst="roundRect">
            <a:avLst>
              <a:gd name="adj" fmla="val 6977"/>
            </a:avLst>
          </a:prstGeom>
          <a:solidFill>
            <a:srgbClr val="ECEFF1"/>
          </a:solidFill>
          <a:ln w="19050">
            <a:solidFill>
              <a:srgbClr val="0067B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" y="349300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3776472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T2VA · FL2VA · Ref2VA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2231136" y="3776472"/>
            <a:ext cx="365760" cy="0"/>
          </a:xfrm>
          <a:prstGeom prst="line">
            <a:avLst/>
          </a:prstGeom>
          <a:noFill/>
          <a:ln w="19050">
            <a:solidFill>
              <a:srgbClr val="8B919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615184" y="3291840"/>
            <a:ext cx="1956816" cy="969264"/>
          </a:xfrm>
          <a:prstGeom prst="roundRect">
            <a:avLst>
              <a:gd name="adj" fmla="val 5660"/>
            </a:avLst>
          </a:prstGeom>
          <a:solidFill>
            <a:srgbClr val="ECEFF1"/>
          </a:solidFill>
          <a:ln w="19050">
            <a:solidFill>
              <a:srgbClr val="C45B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688336" y="3401568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ENCODER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2688336" y="3685032"/>
            <a:ext cx="1810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Qwen3-VL · TP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90288" y="3776472"/>
            <a:ext cx="365760" cy="0"/>
          </a:xfrm>
          <a:prstGeom prst="line">
            <a:avLst/>
          </a:prstGeom>
          <a:noFill/>
          <a:ln w="19050">
            <a:solidFill>
              <a:srgbClr val="8B919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974336" y="3218688"/>
            <a:ext cx="2194560" cy="1115568"/>
          </a:xfrm>
          <a:prstGeom prst="roundRect">
            <a:avLst>
              <a:gd name="adj" fmla="val 4918"/>
            </a:avLst>
          </a:prstGeom>
          <a:solidFill>
            <a:srgbClr val="ECEFF1"/>
          </a:solidFill>
          <a:ln w="19050">
            <a:solidFill>
              <a:srgbClr val="6336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047488" y="3328416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DiT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047488" y="361188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FL2VA / Ref2VA · SP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varlen TRTLLM attention</a:t>
            </a:r>
            <a:endParaRPr lang="en-US" sz="760" dirty="0"/>
          </a:p>
        </p:txBody>
      </p:sp>
      <p:sp>
        <p:nvSpPr>
          <p:cNvPr id="32" name="Shape 30"/>
          <p:cNvSpPr/>
          <p:nvPr/>
        </p:nvSpPr>
        <p:spPr>
          <a:xfrm>
            <a:off x="7187184" y="3776472"/>
            <a:ext cx="365760" cy="0"/>
          </a:xfrm>
          <a:prstGeom prst="line">
            <a:avLst/>
          </a:prstGeom>
          <a:noFill/>
          <a:ln w="19050">
            <a:solidFill>
              <a:srgbClr val="8B9196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571232" y="3291840"/>
            <a:ext cx="1956816" cy="969264"/>
          </a:xfrm>
          <a:prstGeom prst="roundRect">
            <a:avLst>
              <a:gd name="adj" fmla="val 5660"/>
            </a:avLst>
          </a:prstGeom>
          <a:solidFill>
            <a:srgbClr val="ECEFF1"/>
          </a:solidFill>
          <a:ln w="19050">
            <a:solidFill>
              <a:srgbClr val="007C8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44384" y="3401568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+ AUDIO VAE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644384" y="3685032"/>
            <a:ext cx="1810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tiling · patch parallel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546336" y="3776472"/>
            <a:ext cx="365760" cy="0"/>
          </a:xfrm>
          <a:prstGeom prst="line">
            <a:avLst/>
          </a:prstGeom>
          <a:noFill/>
          <a:ln w="1905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930384" y="3383280"/>
            <a:ext cx="1572768" cy="786384"/>
          </a:xfrm>
          <a:prstGeom prst="roundRect">
            <a:avLst>
              <a:gd name="adj" fmla="val 6977"/>
            </a:avLst>
          </a:prstGeom>
          <a:solidFill>
            <a:srgbClr val="ECEFF1"/>
          </a:solidFill>
          <a:ln w="19050">
            <a:solidFill>
              <a:srgbClr val="76B90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003536" y="349300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MP4 STREAM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10003536" y="3776472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H.264 + stereo audio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548640" y="4919472"/>
            <a:ext cx="11109960" cy="73152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86384" y="50840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DAY-0 GATE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1847088" y="5010912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 H200 + CPU offload: T2VA, FL2VA, and Ref2VA pass end-to-end with byte-level stream checks.</a:t>
            </a:r>
            <a:endParaRPr lang="en-US" sz="1220" dirty="0"/>
          </a:p>
        </p:txBody>
      </p:sp>
      <p:sp>
        <p:nvSpPr>
          <p:cNvPr id="43" name="Shape 41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7620">
            <a:solidFill>
              <a:srgbClr val="CCD1D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57200" y="6483096"/>
            <a:ext cx="9326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supplied “MiniMax-H3 on vLLM-Omni” PDF, pp. 4–12 · vLLM-Omni PR #5691 validation.</a:t>
            </a:r>
            <a:endParaRPr lang="en-US" sz="680" dirty="0"/>
          </a:p>
        </p:txBody>
      </p:sp>
      <p:sp>
        <p:nvSpPr>
          <p:cNvPr id="45" name="Text 43"/>
          <p:cNvSpPr txBox="1"/>
          <p:nvPr/>
        </p:nvSpPr>
        <p:spPr>
          <a:xfrm>
            <a:off x="9802368" y="6483096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DISCUSSION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2860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B91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79392" y="19202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spc="120" kern="0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STUDY · INFERENCE</a:t>
            </a:r>
            <a:endParaRPr lang="en-US" sz="68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621792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model, three deployment questions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separate validation tracks—not a cross-hardware benchmark. Each answers a different systems question.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30352" y="1572768"/>
            <a:ext cx="3493008" cy="3456432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572768"/>
            <a:ext cx="50292" cy="345643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9928"/>
            <a:ext cx="3172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6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DAY-0 VALIDATION</a:t>
            </a:r>
            <a:endParaRPr lang="en-US" sz="73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20240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it run correctly?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322576"/>
            <a:ext cx="3182112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 H200 · CPU offload</a:t>
            </a:r>
            <a:endParaRPr lang="en-US" sz="1030" dirty="0"/>
          </a:p>
          <a:p>
            <a:pPr algn="l" indent="0" marL="0">
              <a:buNone/>
            </a:pPr>
            <a:endParaRPr lang="en-US" sz="1030" dirty="0"/>
          </a:p>
          <a:p>
            <a:pPr algn="l" indent="0" marL="0">
              <a:buNone/>
            </a:pPr>
            <a:r>
              <a:rPr lang="en-US" sz="103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T2VA / FL2VA / Ref2VA</a:t>
            </a:r>
            <a:endParaRPr lang="en-US" sz="1030" dirty="0"/>
          </a:p>
          <a:p>
            <a:pPr algn="l" indent="0" marL="0">
              <a:buNone/>
            </a:pPr>
            <a:r>
              <a:rPr lang="en-US" sz="103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byte-level stream checks</a:t>
            </a:r>
            <a:endParaRPr lang="en-US" sz="1030" dirty="0"/>
          </a:p>
          <a:p>
            <a:pPr algn="l" indent="0" marL="0">
              <a:buNone/>
            </a:pPr>
            <a:endParaRPr lang="en-US" sz="1030" dirty="0"/>
          </a:p>
          <a:p>
            <a:pPr algn="l" indent="0" marL="0">
              <a:buNone/>
            </a:pPr>
            <a:r>
              <a:rPr lang="en-US" sz="103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all three task paths pass end to end.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352544" y="1572768"/>
            <a:ext cx="3493008" cy="3456432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52544" y="1572768"/>
            <a:ext cx="50292" cy="3456432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35424" y="1709928"/>
            <a:ext cx="3172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60" kern="0" dirty="0">
                <a:solidFill>
                  <a:srgbClr val="0067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A/B</a:t>
            </a:r>
            <a:endParaRPr lang="en-US" sz="730" dirty="0"/>
          </a:p>
        </p:txBody>
      </p:sp>
      <p:sp>
        <p:nvSpPr>
          <p:cNvPr id="13" name="Text 11"/>
          <p:cNvSpPr txBox="1"/>
          <p:nvPr/>
        </p:nvSpPr>
        <p:spPr>
          <a:xfrm>
            <a:off x="4535424" y="1920240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Blackwell run it faster?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35424" y="2322576"/>
            <a:ext cx="3182112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 B300 · matched seed / recipe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1248×768 · 209 frames · 50 steps</a:t>
            </a:r>
            <a:endParaRPr lang="en-US" sz="940" dirty="0"/>
          </a:p>
          <a:p>
            <a:pPr algn="l" indent="0" marL="0">
              <a:buNone/>
            </a:pP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Diffusion: 83.85 → 71.99 s  (−14.2%)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to end: 88.56 → 76.18 s  (−14.0%)</a:t>
            </a:r>
            <a:endParaRPr lang="en-US" sz="940" dirty="0"/>
          </a:p>
          <a:p>
            <a:pPr algn="l" indent="0" marL="0">
              <a:buNone/>
            </a:pP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attention backend changes: FA4 → TRTLLM_ATTN.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8174736" y="1572768"/>
            <a:ext cx="3493008" cy="3456432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74736" y="1572768"/>
            <a:ext cx="50292" cy="3456432"/>
          </a:xfrm>
          <a:prstGeom prst="rect">
            <a:avLst/>
          </a:prstGeom>
          <a:solidFill>
            <a:srgbClr val="C45B00"/>
          </a:solidFill>
          <a:ln w="12700">
            <a:solidFill>
              <a:srgbClr val="C45B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57616" y="1709928"/>
            <a:ext cx="3172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60" kern="0" dirty="0">
                <a:solidFill>
                  <a:srgbClr val="C45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CONSUMER-GPU PATH</a:t>
            </a:r>
            <a:endParaRPr lang="en-US" sz="730" dirty="0"/>
          </a:p>
        </p:txBody>
      </p:sp>
      <p:sp>
        <p:nvSpPr>
          <p:cNvPr id="18" name="Text 16"/>
          <p:cNvSpPr txBox="1"/>
          <p:nvPr/>
        </p:nvSpPr>
        <p:spPr>
          <a:xfrm>
            <a:off x="8357616" y="1920240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it escape datacenter HBM?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357616" y="2322576"/>
            <a:ext cx="3182112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 RTX 5090 · TP2 + rank-local DLO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1344×768 · 124 frames · 50 steps</a:t>
            </a:r>
            <a:endParaRPr lang="en-US" sz="960" dirty="0"/>
          </a:p>
          <a:p>
            <a:pPr algn="l" indent="0" marL="0">
              <a:buNone/>
            </a:pP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min 38 s · no OOM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≈22.6 GiB peak / GPU</a:t>
            </a:r>
            <a:endParaRPr lang="en-US" sz="960" dirty="0"/>
          </a:p>
          <a:p>
            <a:pPr algn="l" indent="0" marL="0">
              <a:buNone/>
            </a:pP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DiT blocks resident; 30 streamed.</a:t>
            </a:r>
            <a:endParaRPr lang="en-US" sz="960" dirty="0"/>
          </a:p>
        </p:txBody>
      </p:sp>
      <p:sp>
        <p:nvSpPr>
          <p:cNvPr id="20" name="Text 18"/>
          <p:cNvSpPr txBox="1"/>
          <p:nvPr/>
        </p:nvSpPr>
        <p:spPr>
          <a:xfrm>
            <a:off x="603504" y="541324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 pattern</a:t>
            </a:r>
            <a:endParaRPr lang="en-US" sz="76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5321808"/>
            <a:ext cx="9217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Correctness first → isolate the hot backend → redesign memory movement for the target topology.</a:t>
            </a:r>
            <a:endParaRPr lang="en-US" sz="1270" dirty="0"/>
          </a:p>
        </p:txBody>
      </p:sp>
      <p:sp>
        <p:nvSpPr>
          <p:cNvPr id="22" name="Shape 20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7620">
            <a:solidFill>
              <a:srgbClr val="CCD1D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6483096"/>
            <a:ext cx="9326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supplied H3 PDF, pp. 10, 12, 23–31 · each result retains its original benchmark scope.</a:t>
            </a:r>
            <a:endParaRPr lang="en-US" sz="680" dirty="0"/>
          </a:p>
        </p:txBody>
      </p:sp>
      <p:sp>
        <p:nvSpPr>
          <p:cNvPr id="24" name="Text 22"/>
          <p:cNvSpPr txBox="1"/>
          <p:nvPr/>
        </p:nvSpPr>
        <p:spPr>
          <a:xfrm>
            <a:off x="9802368" y="6483096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DISCUSSION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2860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B91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79392" y="19202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spc="120" kern="0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STUDY · RL</a:t>
            </a:r>
            <a:endParaRPr lang="en-US" sz="68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621792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serving pipeline becomes the policy rollout engine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VeRL-Omni keeps model-specific trajectory semantics while reusing one trainer, reward, and weight-sync control plane.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1408176" cy="786384"/>
          </a:xfrm>
          <a:prstGeom prst="roundRect">
            <a:avLst>
              <a:gd name="adj" fmla="val 6977"/>
            </a:avLst>
          </a:prstGeom>
          <a:solidFill>
            <a:srgbClr val="ECEFF1"/>
          </a:solidFill>
          <a:ln w="19050">
            <a:solidFill>
              <a:srgbClr val="0067B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048256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3172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+ optional keyframe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1993392" y="2331720"/>
            <a:ext cx="347472" cy="0"/>
          </a:xfrm>
          <a:prstGeom prst="line">
            <a:avLst/>
          </a:prstGeom>
          <a:noFill/>
          <a:ln w="19050">
            <a:solidFill>
              <a:srgbClr val="8B919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59152" y="1810512"/>
            <a:ext cx="1847088" cy="1042416"/>
          </a:xfrm>
          <a:prstGeom prst="roundRect">
            <a:avLst>
              <a:gd name="adj" fmla="val 5263"/>
            </a:avLst>
          </a:prstGeom>
          <a:solidFill>
            <a:srgbClr val="ECEFF1"/>
          </a:solidFill>
          <a:ln w="19050">
            <a:solidFill>
              <a:srgbClr val="76B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32304" y="1920240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vLLM-OMNI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432304" y="2203704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 rollout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+ audio state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4224528" y="2331720"/>
            <a:ext cx="347472" cy="0"/>
          </a:xfrm>
          <a:prstGeom prst="line">
            <a:avLst/>
          </a:prstGeom>
          <a:noFill/>
          <a:ln w="19050">
            <a:solidFill>
              <a:srgbClr val="8B919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90288" y="1810512"/>
            <a:ext cx="1847088" cy="1042416"/>
          </a:xfrm>
          <a:prstGeom prst="roundRect">
            <a:avLst>
              <a:gd name="adj" fmla="val 5263"/>
            </a:avLst>
          </a:prstGeom>
          <a:solidFill>
            <a:srgbClr val="ECEFF1"/>
          </a:solidFill>
          <a:ln w="19050">
            <a:solidFill>
              <a:srgbClr val="C45B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1920240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203704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CLAP + ImageBind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multi-reward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55664" y="2331720"/>
            <a:ext cx="347472" cy="0"/>
          </a:xfrm>
          <a:prstGeom prst="line">
            <a:avLst/>
          </a:prstGeom>
          <a:noFill/>
          <a:ln w="19050">
            <a:solidFill>
              <a:srgbClr val="8B919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21424" y="1810512"/>
            <a:ext cx="1847088" cy="1042416"/>
          </a:xfrm>
          <a:prstGeom prst="roundRect">
            <a:avLst>
              <a:gd name="adj" fmla="val 5263"/>
            </a:avLst>
          </a:prstGeom>
          <a:solidFill>
            <a:srgbClr val="ECEFF1"/>
          </a:solidFill>
          <a:ln w="19050">
            <a:solidFill>
              <a:srgbClr val="007C8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94576" y="1920240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894576" y="2203704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FlowGRPO or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DiffusionNFT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8686800" y="2331720"/>
            <a:ext cx="347472" cy="0"/>
          </a:xfrm>
          <a:prstGeom prst="line">
            <a:avLst/>
          </a:prstGeom>
          <a:noFill/>
          <a:ln w="19050">
            <a:solidFill>
              <a:srgbClr val="8B919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52560" y="1810512"/>
            <a:ext cx="1847088" cy="1042416"/>
          </a:xfrm>
          <a:prstGeom prst="roundRect">
            <a:avLst>
              <a:gd name="adj" fmla="val 5263"/>
            </a:avLst>
          </a:prstGeom>
          <a:solidFill>
            <a:srgbClr val="ECEFF1"/>
          </a:solidFill>
          <a:ln w="19050">
            <a:solidFill>
              <a:srgbClr val="6336A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25712" y="1920240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FSDP2 ACTOR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125712" y="2203704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rank-64 LoRA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diffusers weights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9985248" y="2871216"/>
            <a:ext cx="0" cy="310896"/>
          </a:xfrm>
          <a:prstGeom prst="line">
            <a:avLst/>
          </a:prstGeom>
          <a:noFill/>
          <a:ln w="19050">
            <a:solidFill>
              <a:srgbClr val="007C8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985248" y="3182112"/>
            <a:ext cx="-6693408" cy="0"/>
          </a:xfrm>
          <a:prstGeom prst="line">
            <a:avLst/>
          </a:prstGeom>
          <a:noFill/>
          <a:ln w="19050">
            <a:solidFill>
              <a:srgbClr val="007C8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291840" y="3182112"/>
            <a:ext cx="0" cy="-310896"/>
          </a:xfrm>
          <a:prstGeom prst="line">
            <a:avLst/>
          </a:prstGeom>
          <a:noFill/>
          <a:ln w="19050">
            <a:solidFill>
              <a:srgbClr val="007C83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5532120" y="3035808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007C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LoRA tensor payload · rollout weight refresh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566928" y="3767328"/>
            <a:ext cx="5358384" cy="1517904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3767328"/>
            <a:ext cx="50292" cy="1517904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9808" y="3904488"/>
            <a:ext cx="5038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6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ONLINE POLICY GRADIENT</a:t>
            </a:r>
            <a:endParaRPr lang="en-US" sz="730" dirty="0"/>
          </a:p>
        </p:txBody>
      </p:sp>
      <p:sp>
        <p:nvSpPr>
          <p:cNvPr id="31" name="Text 29"/>
          <p:cNvSpPr txBox="1"/>
          <p:nvPr/>
        </p:nvSpPr>
        <p:spPr>
          <a:xfrm>
            <a:off x="749808" y="4114800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FlowGRPO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49808" y="4517136"/>
            <a:ext cx="5047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Reverse-SDE / CPS trajectory · separate video and audio schedules · rollout/replay log-probability contract.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Merged 2026-08-28 · NVIDIA GPU + Ascend NPU T2VA; NVIDIA GPU FL2VA recipe.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6181344" y="3767328"/>
            <a:ext cx="5358384" cy="1517904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81344" y="3767328"/>
            <a:ext cx="50292" cy="1517904"/>
          </a:xfrm>
          <a:prstGeom prst="rect">
            <a:avLst/>
          </a:prstGeom>
          <a:solidFill>
            <a:srgbClr val="6336A3"/>
          </a:solidFill>
          <a:ln w="12700">
            <a:solidFill>
              <a:srgbClr val="6336A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64224" y="3904488"/>
            <a:ext cx="5038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60" kern="0" dirty="0">
                <a:solidFill>
                  <a:srgbClr val="633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FORWARD-PROCESS RL</a:t>
            </a:r>
            <a:endParaRPr lang="en-US" sz="730" dirty="0"/>
          </a:p>
        </p:txBody>
      </p:sp>
      <p:sp>
        <p:nvSpPr>
          <p:cNvPr id="36" name="Text 34"/>
          <p:cNvSpPr txBox="1"/>
          <p:nvPr/>
        </p:nvSpPr>
        <p:spPr>
          <a:xfrm>
            <a:off x="6364224" y="4114800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DiffusionNFT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364224" y="4517136"/>
            <a:ext cx="5047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the clean audio-video sample, forward-noise the selected target, then update without reverse-process likelihood.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Merged 2026-08-21 · T2VA and FL2VA rank-64 LoRA recipes.</a:t>
            </a:r>
            <a:endParaRPr lang="en-US" sz="920" dirty="0"/>
          </a:p>
        </p:txBody>
      </p:sp>
      <p:sp>
        <p:nvSpPr>
          <p:cNvPr id="38" name="Text 36"/>
          <p:cNvSpPr txBox="1"/>
          <p:nvPr/>
        </p:nvSpPr>
        <p:spPr>
          <a:xfrm>
            <a:off x="914400" y="563270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invariant is exact replay: prompt IDs, packed rows, modality-specific schedules, and base-policy weight layouts must agree.</a:t>
            </a:r>
            <a:endParaRPr lang="en-US" sz="1140" dirty="0"/>
          </a:p>
        </p:txBody>
      </p:sp>
      <p:sp>
        <p:nvSpPr>
          <p:cNvPr id="39" name="Shape 37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7620">
            <a:solidFill>
              <a:srgbClr val="CCD1D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7200" y="6483096"/>
            <a:ext cx="9326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VeRL-Omni main · H3 FlowGRPO PR #368 · H3 DiffusionNFT PR #383 · current H3 recipes (snapshot 2026-09-02).</a:t>
            </a:r>
            <a:endParaRPr lang="en-US" sz="680" dirty="0"/>
          </a:p>
        </p:txBody>
      </p:sp>
      <p:sp>
        <p:nvSpPr>
          <p:cNvPr id="41" name="Text 39"/>
          <p:cNvSpPr txBox="1"/>
          <p:nvPr/>
        </p:nvSpPr>
        <p:spPr>
          <a:xfrm>
            <a:off x="9802368" y="6483096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DISCUSSION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2860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B91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79392" y="19202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spc="120" kern="0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STUDY · EVIDENCE</a:t>
            </a:r>
            <a:endParaRPr lang="en-US" sz="68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621792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 closes the loop—and exposes the next bottlenecks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snapshot on 2026-09-02; SUPPORTED marks implemented paths and TODO marks explicit gaps.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30352" y="1572768"/>
            <a:ext cx="2450226" cy="525780"/>
          </a:xfrm>
          <a:prstGeom prst="rect">
            <a:avLst/>
          </a:prstGeom>
          <a:solidFill>
            <a:srgbClr val="EAF3DA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2648" y="1609344"/>
            <a:ext cx="228563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6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980578" y="1572768"/>
            <a:ext cx="1559235" cy="525780"/>
          </a:xfrm>
          <a:prstGeom prst="rect">
            <a:avLst/>
          </a:prstGeom>
          <a:solidFill>
            <a:srgbClr val="EAF3DA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62874" y="1609344"/>
            <a:ext cx="1394643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6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T2VA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39813" y="1572768"/>
            <a:ext cx="1559235" cy="525780"/>
          </a:xfrm>
          <a:prstGeom prst="rect">
            <a:avLst/>
          </a:prstGeom>
          <a:solidFill>
            <a:srgbClr val="EAF3DA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22109" y="1609344"/>
            <a:ext cx="1394643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6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FL2VA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099048" y="1572768"/>
            <a:ext cx="1559235" cy="525780"/>
          </a:xfrm>
          <a:prstGeom prst="rect">
            <a:avLst/>
          </a:prstGeom>
          <a:solidFill>
            <a:srgbClr val="EAF3DA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81344" y="1609344"/>
            <a:ext cx="1394643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6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REF2VA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658283" y="1572768"/>
            <a:ext cx="4009461" cy="525780"/>
          </a:xfrm>
          <a:prstGeom prst="rect">
            <a:avLst/>
          </a:prstGeom>
          <a:solidFill>
            <a:srgbClr val="EAF3DA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40579" y="1609344"/>
            <a:ext cx="3844869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6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CORRECTNESS GATE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30352" y="2098548"/>
            <a:ext cx="2450226" cy="525780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" y="2135124"/>
            <a:ext cx="228563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vLLM-Omni inference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2980578" y="2098548"/>
            <a:ext cx="1559235" cy="525780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062874" y="2135124"/>
            <a:ext cx="1394643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4539813" y="2098548"/>
            <a:ext cx="1559235" cy="525780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22109" y="2135124"/>
            <a:ext cx="1394643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6099048" y="2098548"/>
            <a:ext cx="1559235" cy="525780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81344" y="2135124"/>
            <a:ext cx="1394643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7658283" y="2098548"/>
            <a:ext cx="4009461" cy="525780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40579" y="2135124"/>
            <a:ext cx="3844869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byte-level media stream + task routing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530352" y="2624328"/>
            <a:ext cx="2450226" cy="525780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2648" y="2660904"/>
            <a:ext cx="228563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VeRL-Omni DiffusionNFT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2980578" y="2624328"/>
            <a:ext cx="1559235" cy="525780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062874" y="2660904"/>
            <a:ext cx="1394643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4539813" y="2624328"/>
            <a:ext cx="1559235" cy="525780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22109" y="2660904"/>
            <a:ext cx="1394643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6099048" y="2624328"/>
            <a:ext cx="1559235" cy="525780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81344" y="2660904"/>
            <a:ext cx="1394643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7658283" y="2624328"/>
            <a:ext cx="4009461" cy="525780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40579" y="2660904"/>
            <a:ext cx="3844869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parity + target-only noising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530352" y="3150108"/>
            <a:ext cx="2450226" cy="525780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12648" y="3186684"/>
            <a:ext cx="228563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VeRL-Omni FlowGRPO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2980578" y="3150108"/>
            <a:ext cx="1559235" cy="525780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062874" y="3186684"/>
            <a:ext cx="1394643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+ NPU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4539813" y="3150108"/>
            <a:ext cx="1559235" cy="525780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622109" y="3186684"/>
            <a:ext cx="1394643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GPU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6099048" y="3150108"/>
            <a:ext cx="1559235" cy="525780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181344" y="3186684"/>
            <a:ext cx="1394643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7658283" y="3150108"/>
            <a:ext cx="4009461" cy="525780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740579" y="3186684"/>
            <a:ext cx="3844869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schedules + rollout/replay consistency</a:t>
            </a:r>
            <a:endParaRPr lang="en-US" sz="870" dirty="0"/>
          </a:p>
        </p:txBody>
      </p:sp>
      <p:sp>
        <p:nvSpPr>
          <p:cNvPr id="45" name="Text 43"/>
          <p:cNvSpPr txBox="1"/>
          <p:nvPr/>
        </p:nvSpPr>
        <p:spPr>
          <a:xfrm>
            <a:off x="566928" y="400507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NVIDIA-facing questions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566928" y="4370832"/>
            <a:ext cx="3456432" cy="1078992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66928" y="4370832"/>
            <a:ext cx="50292" cy="107899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49808" y="4553712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consistency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749808" y="493776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Actor and rollout use the fastest Blackwell attention path without policy-ratio drift?</a:t>
            </a:r>
            <a:endParaRPr lang="en-US" sz="860" dirty="0"/>
          </a:p>
        </p:txBody>
      </p:sp>
      <p:sp>
        <p:nvSpPr>
          <p:cNvPr id="50" name="Shape 48"/>
          <p:cNvSpPr/>
          <p:nvPr/>
        </p:nvSpPr>
        <p:spPr>
          <a:xfrm>
            <a:off x="4187952" y="4370832"/>
            <a:ext cx="3456432" cy="1078992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87952" y="4370832"/>
            <a:ext cx="50292" cy="1078992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370832" y="4553712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+ weight movement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4370832" y="493776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should 33B Actor shards, rollout TP, LoRA refresh, and reward GPUs share a node?</a:t>
            </a:r>
            <a:endParaRPr lang="en-US" sz="860" dirty="0"/>
          </a:p>
        </p:txBody>
      </p:sp>
      <p:sp>
        <p:nvSpPr>
          <p:cNvPr id="54" name="Shape 52"/>
          <p:cNvSpPr/>
          <p:nvPr/>
        </p:nvSpPr>
        <p:spPr>
          <a:xfrm>
            <a:off x="7808976" y="4370832"/>
            <a:ext cx="3456432" cy="1078992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808976" y="4370832"/>
            <a:ext cx="50292" cy="1078992"/>
          </a:xfrm>
          <a:prstGeom prst="rect">
            <a:avLst/>
          </a:prstGeom>
          <a:solidFill>
            <a:srgbClr val="C45B00"/>
          </a:solidFill>
          <a:ln w="12700">
            <a:solidFill>
              <a:srgbClr val="C45B0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991856" y="4553712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evidence contract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7991856" y="493776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serving JCT / memory and RL step time / reward curve under the same model revision.</a:t>
            </a:r>
            <a:endParaRPr lang="en-US" sz="860" dirty="0"/>
          </a:p>
        </p:txBody>
      </p:sp>
      <p:sp>
        <p:nvSpPr>
          <p:cNvPr id="58" name="Text 56"/>
          <p:cNvSpPr txBox="1"/>
          <p:nvPr/>
        </p:nvSpPr>
        <p:spPr>
          <a:xfrm>
            <a:off x="640080" y="58338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Case-study thesis</a:t>
            </a:r>
            <a:endParaRPr lang="en-US" sz="750" dirty="0"/>
          </a:p>
        </p:txBody>
      </p:sp>
      <p:sp>
        <p:nvSpPr>
          <p:cNvPr id="59" name="Text 57"/>
          <p:cNvSpPr txBox="1"/>
          <p:nvPr/>
        </p:nvSpPr>
        <p:spPr>
          <a:xfrm>
            <a:off x="1938528" y="574243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optimization target is useful GPU work per convergent training step.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9857232" y="570585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2200" dirty="0"/>
          </a:p>
        </p:txBody>
      </p:sp>
      <p:sp>
        <p:nvSpPr>
          <p:cNvPr id="61" name="Shape 59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7620">
            <a:solidFill>
              <a:srgbClr val="CCD1D5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57200" y="6483096"/>
            <a:ext cx="9326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derived from current official vLLM-Omni / VeRL-Omni code, recipes, and merged PRs; Ref2VA RL remains unsupported.</a:t>
            </a:r>
            <a:endParaRPr lang="en-US" sz="680" dirty="0"/>
          </a:p>
        </p:txBody>
      </p:sp>
      <p:sp>
        <p:nvSpPr>
          <p:cNvPr id="63" name="Text 61"/>
          <p:cNvSpPr txBox="1"/>
          <p:nvPr/>
        </p:nvSpPr>
        <p:spPr>
          <a:xfrm>
            <a:off x="9802368" y="6483096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DISCUSSION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2860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B91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9320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56248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23176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90104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57032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23960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90888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57816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24744" y="0"/>
            <a:ext cx="1325880" cy="3291840"/>
          </a:xfrm>
          <a:prstGeom prst="line">
            <a:avLst/>
          </a:prstGeom>
          <a:noFill/>
          <a:ln w="5715">
            <a:solidFill>
              <a:srgbClr val="CCD1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0" y="0"/>
            <a:ext cx="6309360" cy="0"/>
          </a:xfrm>
          <a:prstGeom prst="line">
            <a:avLst/>
          </a:prstGeom>
          <a:noFill/>
          <a:ln w="4445">
            <a:solidFill>
              <a:srgbClr val="CCD1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0" y="576072"/>
            <a:ext cx="6309360" cy="0"/>
          </a:xfrm>
          <a:prstGeom prst="line">
            <a:avLst/>
          </a:prstGeom>
          <a:noFill/>
          <a:ln w="4445">
            <a:solidFill>
              <a:srgbClr val="CCD1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1152144"/>
            <a:ext cx="6309360" cy="0"/>
          </a:xfrm>
          <a:prstGeom prst="line">
            <a:avLst/>
          </a:prstGeom>
          <a:noFill/>
          <a:ln w="4445">
            <a:solidFill>
              <a:srgbClr val="CCD1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1728216"/>
            <a:ext cx="6309360" cy="0"/>
          </a:xfrm>
          <a:prstGeom prst="line">
            <a:avLst/>
          </a:prstGeom>
          <a:noFill/>
          <a:ln w="4445">
            <a:solidFill>
              <a:srgbClr val="CCD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2304288"/>
            <a:ext cx="6309360" cy="0"/>
          </a:xfrm>
          <a:prstGeom prst="line">
            <a:avLst/>
          </a:prstGeom>
          <a:noFill/>
          <a:ln w="4445">
            <a:solidFill>
              <a:srgbClr val="CCD1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52160" y="2880360"/>
            <a:ext cx="6309360" cy="0"/>
          </a:xfrm>
          <a:prstGeom prst="line">
            <a:avLst/>
          </a:prstGeom>
          <a:noFill/>
          <a:ln w="4445">
            <a:solidFill>
              <a:srgbClr val="CCD1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-840000">
            <a:off x="8778240" y="320040"/>
            <a:ext cx="2834640" cy="1078992"/>
          </a:xfrm>
          <a:prstGeom prst="rect">
            <a:avLst/>
          </a:prstGeom>
          <a:solidFill>
            <a:srgbClr val="76B900">
              <a:alpha val="93000"/>
            </a:srgbClr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-840000">
            <a:off x="9372600" y="1170432"/>
            <a:ext cx="2194560" cy="566928"/>
          </a:xfrm>
          <a:prstGeom prst="rect">
            <a:avLst/>
          </a:prstGeom>
          <a:solidFill>
            <a:srgbClr val="76B900">
              <a:alpha val="72000"/>
            </a:srgbClr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-1020000">
            <a:off x="8458200" y="1920240"/>
            <a:ext cx="3611880" cy="2468880"/>
          </a:xfrm>
          <a:prstGeom prst="rect">
            <a:avLst/>
          </a:prstGeom>
          <a:solidFill>
            <a:srgbClr val="8B9196">
              <a:alpha val="96000"/>
            </a:srgbClr>
          </a:solidFill>
          <a:ln w="12700">
            <a:solidFill>
              <a:srgbClr val="8B919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9196"/>
          </a:solidFill>
          <a:ln w="12700">
            <a:solidFill>
              <a:srgbClr val="8B91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658368"/>
            <a:ext cx="1188720" cy="237744"/>
          </a:xfrm>
          <a:prstGeom prst="roundRect">
            <a:avLst>
              <a:gd name="adj" fmla="val 19231"/>
            </a:avLst>
          </a:prstGeom>
          <a:solidFill>
            <a:srgbClr val="8B9196">
              <a:alpha val="18000"/>
            </a:srgbClr>
          </a:solidFill>
          <a:ln w="8890">
            <a:solidFill>
              <a:srgbClr val="8B9196">
                <a:alpha val="65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944" y="667512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8B9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9802368" y="585216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000" b="1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50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1938528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material</a:t>
            </a:r>
            <a:endParaRPr lang="en-US" sz="37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2907792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highlights, model patterns, parallelism, algorithms, and benchmark discipline.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0080" y="3712464"/>
            <a:ext cx="3017520" cy="0"/>
          </a:xfrm>
          <a:prstGeom prst="line">
            <a:avLst/>
          </a:prstGeom>
          <a:noFill/>
          <a:ln w="38100">
            <a:solidFill>
              <a:srgbClr val="8B919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614476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vLLM-Omni × VeRL-Omni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7620">
            <a:solidFill>
              <a:srgbClr val="CCD1D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6483096"/>
            <a:ext cx="9326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Community-maintained technical material · September 2026</a:t>
            </a:r>
            <a:endParaRPr lang="en-US" sz="680" dirty="0"/>
          </a:p>
        </p:txBody>
      </p:sp>
      <p:sp>
        <p:nvSpPr>
          <p:cNvPr id="30" name="Text 28"/>
          <p:cNvSpPr txBox="1"/>
          <p:nvPr/>
        </p:nvSpPr>
        <p:spPr>
          <a:xfrm>
            <a:off x="9802368" y="6483096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NVIDIA TECHNICAL DISCUSSION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2860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B91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79392" y="19202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spc="120" kern="0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 · RELEASE</a:t>
            </a:r>
            <a:endParaRPr lang="en-US" sz="68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621792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vLLM-Omni 0.26.0: the production surface broadened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concise selection from the uploaded release deck.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30352" y="1664208"/>
            <a:ext cx="2688336" cy="1572768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664208"/>
            <a:ext cx="50292" cy="1572768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801368"/>
            <a:ext cx="2368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60" kern="0" dirty="0">
                <a:solidFill>
                  <a:srgbClr val="0067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</a:t>
            </a:r>
            <a:endParaRPr lang="en-US" sz="73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0116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generation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414016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MiniMax H3 serving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image / video / audio pipelines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world-model coverage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01568" y="1664208"/>
            <a:ext cx="2688336" cy="1572768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01568" y="1664208"/>
            <a:ext cx="50292" cy="1572768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84448" y="1801368"/>
            <a:ext cx="2368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6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INTERACTION</a:t>
            </a:r>
            <a:endParaRPr lang="en-US" sz="730" dirty="0"/>
          </a:p>
        </p:txBody>
      </p:sp>
      <p:sp>
        <p:nvSpPr>
          <p:cNvPr id="13" name="Text 11"/>
          <p:cNvSpPr txBox="1"/>
          <p:nvPr/>
        </p:nvSpPr>
        <p:spPr>
          <a:xfrm>
            <a:off x="3584448" y="20116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interaction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84448" y="2414016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MiniCPM-o duplex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audio input / output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+ barge-in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72784" y="1664208"/>
            <a:ext cx="2688336" cy="1572768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1664208"/>
            <a:ext cx="50292" cy="1572768"/>
          </a:xfrm>
          <a:prstGeom prst="rect">
            <a:avLst/>
          </a:prstGeom>
          <a:solidFill>
            <a:srgbClr val="6336A3"/>
          </a:solidFill>
          <a:ln w="12700">
            <a:solidFill>
              <a:srgbClr val="6336A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55664" y="1801368"/>
            <a:ext cx="2368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60" kern="0" dirty="0">
                <a:solidFill>
                  <a:srgbClr val="633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 + THROUGHPUT</a:t>
            </a:r>
            <a:endParaRPr lang="en-US" sz="730" dirty="0"/>
          </a:p>
        </p:txBody>
      </p:sp>
      <p:sp>
        <p:nvSpPr>
          <p:cNvPr id="18" name="Text 16"/>
          <p:cNvSpPr txBox="1"/>
          <p:nvPr/>
        </p:nvSpPr>
        <p:spPr>
          <a:xfrm>
            <a:off x="6455664" y="20116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diffusion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55664" y="2414016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DLO / CPU offload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parallelism and batching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 expansion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44000" y="1664208"/>
            <a:ext cx="2505456" cy="1572768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0" y="1664208"/>
            <a:ext cx="50292" cy="1572768"/>
          </a:xfrm>
          <a:prstGeom prst="rect">
            <a:avLst/>
          </a:prstGeom>
          <a:solidFill>
            <a:srgbClr val="C45B00"/>
          </a:solidFill>
          <a:ln w="12700">
            <a:solidFill>
              <a:srgbClr val="C45B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26880" y="1801368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60" kern="0" dirty="0">
                <a:solidFill>
                  <a:srgbClr val="C45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</a:t>
            </a:r>
            <a:endParaRPr lang="en-US" sz="73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20116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alignment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0" y="2414016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release cadence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and metrics fixes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delivery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6393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5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MiniMax H3 post-release optimization examples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4041648"/>
            <a:ext cx="3383280" cy="1298448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4944" y="4151376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−22%</a:t>
            </a:r>
            <a:endParaRPr lang="en-US" sz="2700" dirty="0"/>
          </a:p>
        </p:txBody>
      </p:sp>
      <p:sp>
        <p:nvSpPr>
          <p:cNvPr id="28" name="Text 26"/>
          <p:cNvSpPr txBox="1"/>
          <p:nvPr/>
        </p:nvSpPr>
        <p:spPr>
          <a:xfrm>
            <a:off x="704088" y="4700016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FP8 DIT MEMORY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04088" y="4946904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68.52 → 53.51 GiB / GPU · 2×H100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4114800" y="4041648"/>
            <a:ext cx="3383280" cy="1298448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261104" y="4151376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1.865×</a:t>
            </a:r>
            <a:endParaRPr lang="en-US" sz="2700" dirty="0"/>
          </a:p>
        </p:txBody>
      </p:sp>
      <p:sp>
        <p:nvSpPr>
          <p:cNvPr id="32" name="Text 30"/>
          <p:cNvSpPr txBox="1"/>
          <p:nvPr/>
        </p:nvSpPr>
        <p:spPr>
          <a:xfrm>
            <a:off x="4270248" y="4700016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FUSED QK NORM + 3D ROPE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270248" y="4946904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B300 BF16 · kernel-only · bitwise exact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7680960" y="4041648"/>
            <a:ext cx="3383280" cy="1298448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827264" y="4151376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4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−11.26 GiB</a:t>
            </a:r>
            <a:endParaRPr lang="en-US" sz="2700" dirty="0"/>
          </a:p>
        </p:txBody>
      </p:sp>
      <p:sp>
        <p:nvSpPr>
          <p:cNvPr id="36" name="Text 34"/>
          <p:cNvSpPr txBox="1"/>
          <p:nvPr/>
        </p:nvSpPr>
        <p:spPr>
          <a:xfrm>
            <a:off x="7836408" y="4700016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ADALN SCHEDULE CACHE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7836408" y="4946904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GPU steady state · 2×H20 TP2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7620">
            <a:solidFill>
              <a:srgbClr val="CCD1D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57200" y="6483096"/>
            <a:ext cx="9326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uploaded “vLLM-Omni 0.26.0 Release” deck · figures retain their original benchmark scope.</a:t>
            </a:r>
            <a:endParaRPr lang="en-US" sz="680" dirty="0"/>
          </a:p>
        </p:txBody>
      </p:sp>
      <p:sp>
        <p:nvSpPr>
          <p:cNvPr id="40" name="Text 38"/>
          <p:cNvSpPr txBox="1"/>
          <p:nvPr/>
        </p:nvSpPr>
        <p:spPr>
          <a:xfrm>
            <a:off x="9802368" y="6483096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DISCUSSION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2860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B91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79392" y="19202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spc="120" kern="0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 · MODEL PATTERNS</a:t>
            </a:r>
            <a:endParaRPr lang="en-US" sz="68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621792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model structures stress different runtime primitives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stage abstraction is useful only if it preserves these differences.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30352" y="1664208"/>
            <a:ext cx="3529584" cy="3456432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664208"/>
            <a:ext cx="50292" cy="345643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801368"/>
            <a:ext cx="3209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6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MULTI-AR + CODEC</a:t>
            </a:r>
            <a:endParaRPr lang="en-US" sz="73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011680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Qwen3-Omni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414016"/>
            <a:ext cx="3218688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Thinker → Talker → Code2Wav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 stage-local batching, streaming chunks, payload ordering, graph capture, selective replicas.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KPI: first audio + RTF.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25112" y="1664208"/>
            <a:ext cx="3529584" cy="3456432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5112" y="1664208"/>
            <a:ext cx="50292" cy="3456432"/>
          </a:xfrm>
          <a:prstGeom prst="rect">
            <a:avLst/>
          </a:prstGeom>
          <a:solidFill>
            <a:srgbClr val="C45B00"/>
          </a:solidFill>
          <a:ln w="12700">
            <a:solidFill>
              <a:srgbClr val="C45B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07992" y="1801368"/>
            <a:ext cx="3209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60" kern="0" dirty="0">
                <a:solidFill>
                  <a:srgbClr val="C45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 + DIT</a:t>
            </a:r>
            <a:endParaRPr lang="en-US" sz="73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2011680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BAGEL / unified image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07992" y="2414016"/>
            <a:ext cx="3218688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reasoning → visual generator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 AR–DiT handoff, CFG-aware requests, KV or hidden-state transfer, diffusion scheduler.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KPI: JCT + quality.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19872" y="1664208"/>
            <a:ext cx="3529584" cy="3456432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19872" y="1664208"/>
            <a:ext cx="50292" cy="3456432"/>
          </a:xfrm>
          <a:prstGeom prst="rect">
            <a:avLst/>
          </a:prstGeom>
          <a:solidFill>
            <a:srgbClr val="6336A3"/>
          </a:solidFill>
          <a:ln w="12700">
            <a:solidFill>
              <a:srgbClr val="6336A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02752" y="1801368"/>
            <a:ext cx="3209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60" kern="0" dirty="0">
                <a:solidFill>
                  <a:srgbClr val="633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STATEFUL WORLD MODEL</a:t>
            </a:r>
            <a:endParaRPr lang="en-US" sz="730" dirty="0"/>
          </a:p>
        </p:txBody>
      </p:sp>
      <p:sp>
        <p:nvSpPr>
          <p:cNvPr id="18" name="Text 16"/>
          <p:cNvSpPr txBox="1"/>
          <p:nvPr/>
        </p:nvSpPr>
        <p:spPr>
          <a:xfrm>
            <a:off x="8302752" y="2011680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Cosmos / DreamZero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302752" y="2414016"/>
            <a:ext cx="3218688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chunked world generation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 persistent diffusion state, KV-aware chunking, streaming output, long sequence parallelism.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KPI: chunk latency + memory.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56509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lesson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1645920" y="5568696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reusable primitives around stages and connectors; avoid one vertical engine per model.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7620">
            <a:solidFill>
              <a:srgbClr val="CCD1D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6483096"/>
            <a:ext cx="9326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vLLM-Omni architecture overview · uploaded architecture-evolution and release decks.</a:t>
            </a:r>
            <a:endParaRPr lang="en-US" sz="680" dirty="0"/>
          </a:p>
        </p:txBody>
      </p:sp>
      <p:sp>
        <p:nvSpPr>
          <p:cNvPr id="24" name="Text 22"/>
          <p:cNvSpPr txBox="1"/>
          <p:nvPr/>
        </p:nvSpPr>
        <p:spPr>
          <a:xfrm>
            <a:off x="9802368" y="6483096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DISCUSSION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2860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B91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79392" y="19202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spc="120" kern="0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 · PARALLELISM</a:t>
            </a:r>
            <a:endParaRPr lang="en-US" sz="68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621792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axis by bottleneck—then verify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Parallelism methods are not interchangeable and may compose only under model-specific constraints.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30352" y="1664208"/>
            <a:ext cx="2565806" cy="553212"/>
          </a:xfrm>
          <a:prstGeom prst="rect">
            <a:avLst/>
          </a:prstGeom>
          <a:solidFill>
            <a:srgbClr val="EAF3DA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2648" y="1700784"/>
            <a:ext cx="240121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6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096158" y="1664208"/>
            <a:ext cx="2119579" cy="553212"/>
          </a:xfrm>
          <a:prstGeom prst="rect">
            <a:avLst/>
          </a:prstGeom>
          <a:solidFill>
            <a:srgbClr val="EAF3DA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78454" y="1700784"/>
            <a:ext cx="1954987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6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215738" y="1664208"/>
            <a:ext cx="2788920" cy="553212"/>
          </a:xfrm>
          <a:prstGeom prst="rect">
            <a:avLst/>
          </a:prstGeom>
          <a:solidFill>
            <a:srgbClr val="EAF3DA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98034" y="1700784"/>
            <a:ext cx="262432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6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SCOPE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004658" y="1664208"/>
            <a:ext cx="3681374" cy="553212"/>
          </a:xfrm>
          <a:prstGeom prst="rect">
            <a:avLst/>
          </a:prstGeom>
          <a:solidFill>
            <a:srgbClr val="EAF3DA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86954" y="1700784"/>
            <a:ext cx="351678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6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QUESTION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30352" y="2217420"/>
            <a:ext cx="2565806" cy="553212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" y="2253996"/>
            <a:ext cx="240121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DiT weights / compute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3096158" y="2217420"/>
            <a:ext cx="2119579" cy="553212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178454" y="2253996"/>
            <a:ext cx="1954987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 parallel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5215738" y="2217420"/>
            <a:ext cx="2788920" cy="553212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98034" y="2253996"/>
            <a:ext cx="262432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blocks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8004658" y="2217420"/>
            <a:ext cx="3681374" cy="553212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86954" y="2253996"/>
            <a:ext cx="351678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communication erase the GEMM gain?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530352" y="2770632"/>
            <a:ext cx="2565806" cy="553212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2648" y="2807208"/>
            <a:ext cx="240121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transformer memory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3096158" y="2770632"/>
            <a:ext cx="2119579" cy="553212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178454" y="2807208"/>
            <a:ext cx="1954987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HSDP / FSDP2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5215738" y="2770632"/>
            <a:ext cx="2788920" cy="553212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98034" y="2807208"/>
            <a:ext cx="262432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shards + replicas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8004658" y="2770632"/>
            <a:ext cx="3681374" cy="553212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86954" y="2807208"/>
            <a:ext cx="351678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offload or gather on the critical path?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530352" y="3323844"/>
            <a:ext cx="2565806" cy="553212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2648" y="3360420"/>
            <a:ext cx="240121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visual sequence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3096158" y="3323844"/>
            <a:ext cx="2119579" cy="553212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178454" y="3360420"/>
            <a:ext cx="1954987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Ulysses / Ring SP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5215738" y="3323844"/>
            <a:ext cx="2788920" cy="553212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298034" y="3360420"/>
            <a:ext cx="262432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sequence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8004658" y="3323844"/>
            <a:ext cx="3681374" cy="553212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086954" y="3360420"/>
            <a:ext cx="351678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attention backend compatible?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530352" y="3877056"/>
            <a:ext cx="2565806" cy="553212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12648" y="3913632"/>
            <a:ext cx="240121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/ negative branches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3096158" y="3877056"/>
            <a:ext cx="2119579" cy="553212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178454" y="3913632"/>
            <a:ext cx="1954987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CFG parallel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5215738" y="3877056"/>
            <a:ext cx="2788920" cy="553212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298034" y="3913632"/>
            <a:ext cx="262432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 branches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8004658" y="3877056"/>
            <a:ext cx="3681374" cy="553212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086954" y="3913632"/>
            <a:ext cx="351678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shapes and LoRA identical?</a:t>
            </a:r>
            <a:endParaRPr lang="en-US" sz="830" dirty="0"/>
          </a:p>
        </p:txBody>
      </p:sp>
      <p:sp>
        <p:nvSpPr>
          <p:cNvPr id="45" name="Shape 43"/>
          <p:cNvSpPr/>
          <p:nvPr/>
        </p:nvSpPr>
        <p:spPr>
          <a:xfrm>
            <a:off x="530352" y="4430268"/>
            <a:ext cx="2565806" cy="553212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12648" y="4466844"/>
            <a:ext cx="240121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MoE expert weights</a:t>
            </a:r>
            <a:endParaRPr lang="en-US" sz="830" dirty="0"/>
          </a:p>
        </p:txBody>
      </p:sp>
      <p:sp>
        <p:nvSpPr>
          <p:cNvPr id="47" name="Shape 45"/>
          <p:cNvSpPr/>
          <p:nvPr/>
        </p:nvSpPr>
        <p:spPr>
          <a:xfrm>
            <a:off x="3096158" y="4430268"/>
            <a:ext cx="2119579" cy="553212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178454" y="4466844"/>
            <a:ext cx="1954987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parallel</a:t>
            </a:r>
            <a:endParaRPr lang="en-US" sz="830" dirty="0"/>
          </a:p>
        </p:txBody>
      </p:sp>
      <p:sp>
        <p:nvSpPr>
          <p:cNvPr id="49" name="Shape 47"/>
          <p:cNvSpPr/>
          <p:nvPr/>
        </p:nvSpPr>
        <p:spPr>
          <a:xfrm>
            <a:off x="5215738" y="4430268"/>
            <a:ext cx="2788920" cy="553212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298034" y="4466844"/>
            <a:ext cx="262432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experts</a:t>
            </a:r>
            <a:endParaRPr lang="en-US" sz="830" dirty="0"/>
          </a:p>
        </p:txBody>
      </p:sp>
      <p:sp>
        <p:nvSpPr>
          <p:cNvPr id="51" name="Shape 49"/>
          <p:cNvSpPr/>
          <p:nvPr/>
        </p:nvSpPr>
        <p:spPr>
          <a:xfrm>
            <a:off x="8004658" y="4430268"/>
            <a:ext cx="3681374" cy="553212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086954" y="4466844"/>
            <a:ext cx="351678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routing balanced and group size &gt; 1?</a:t>
            </a:r>
            <a:endParaRPr lang="en-US" sz="830" dirty="0"/>
          </a:p>
        </p:txBody>
      </p:sp>
      <p:sp>
        <p:nvSpPr>
          <p:cNvPr id="53" name="Shape 51"/>
          <p:cNvSpPr/>
          <p:nvPr/>
        </p:nvSpPr>
        <p:spPr>
          <a:xfrm>
            <a:off x="530352" y="4983480"/>
            <a:ext cx="2565806" cy="553212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12648" y="5020056"/>
            <a:ext cx="240121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VAE activation peak</a:t>
            </a:r>
            <a:endParaRPr lang="en-US" sz="830" dirty="0"/>
          </a:p>
        </p:txBody>
      </p:sp>
      <p:sp>
        <p:nvSpPr>
          <p:cNvPr id="55" name="Shape 53"/>
          <p:cNvSpPr/>
          <p:nvPr/>
        </p:nvSpPr>
        <p:spPr>
          <a:xfrm>
            <a:off x="3096158" y="4983480"/>
            <a:ext cx="2119579" cy="553212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178454" y="5020056"/>
            <a:ext cx="1954987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VAE patch / tile</a:t>
            </a:r>
            <a:endParaRPr lang="en-US" sz="830" dirty="0"/>
          </a:p>
        </p:txBody>
      </p:sp>
      <p:sp>
        <p:nvSpPr>
          <p:cNvPr id="57" name="Shape 55"/>
          <p:cNvSpPr/>
          <p:nvPr/>
        </p:nvSpPr>
        <p:spPr>
          <a:xfrm>
            <a:off x="5215738" y="4983480"/>
            <a:ext cx="2788920" cy="553212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298034" y="5020056"/>
            <a:ext cx="262432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 / encode</a:t>
            </a:r>
            <a:endParaRPr lang="en-US" sz="830" dirty="0"/>
          </a:p>
        </p:txBody>
      </p:sp>
      <p:sp>
        <p:nvSpPr>
          <p:cNvPr id="59" name="Shape 57"/>
          <p:cNvSpPr/>
          <p:nvPr/>
        </p:nvSpPr>
        <p:spPr>
          <a:xfrm>
            <a:off x="8004658" y="4983480"/>
            <a:ext cx="3681374" cy="553212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086954" y="5020056"/>
            <a:ext cx="351678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seam-free quality remain unchanged?</a:t>
            </a:r>
            <a:endParaRPr lang="en-US" sz="830" dirty="0"/>
          </a:p>
        </p:txBody>
      </p:sp>
      <p:sp>
        <p:nvSpPr>
          <p:cNvPr id="61" name="Shape 59"/>
          <p:cNvSpPr/>
          <p:nvPr/>
        </p:nvSpPr>
        <p:spPr>
          <a:xfrm>
            <a:off x="530352" y="5536692"/>
            <a:ext cx="2565806" cy="553212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12648" y="5573268"/>
            <a:ext cx="240121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saturation</a:t>
            </a:r>
            <a:endParaRPr lang="en-US" sz="830" dirty="0"/>
          </a:p>
        </p:txBody>
      </p:sp>
      <p:sp>
        <p:nvSpPr>
          <p:cNvPr id="63" name="Shape 61"/>
          <p:cNvSpPr/>
          <p:nvPr/>
        </p:nvSpPr>
        <p:spPr>
          <a:xfrm>
            <a:off x="3096158" y="5536692"/>
            <a:ext cx="2119579" cy="553212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3178454" y="5573268"/>
            <a:ext cx="1954987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StagePool replicas</a:t>
            </a:r>
            <a:endParaRPr lang="en-US" sz="830" dirty="0"/>
          </a:p>
        </p:txBody>
      </p:sp>
      <p:sp>
        <p:nvSpPr>
          <p:cNvPr id="65" name="Shape 63"/>
          <p:cNvSpPr/>
          <p:nvPr/>
        </p:nvSpPr>
        <p:spPr>
          <a:xfrm>
            <a:off x="5215738" y="5536692"/>
            <a:ext cx="2788920" cy="553212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298034" y="5573268"/>
            <a:ext cx="262432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stage instances</a:t>
            </a:r>
            <a:endParaRPr lang="en-US" sz="830" dirty="0"/>
          </a:p>
        </p:txBody>
      </p:sp>
      <p:sp>
        <p:nvSpPr>
          <p:cNvPr id="67" name="Shape 65"/>
          <p:cNvSpPr/>
          <p:nvPr/>
        </p:nvSpPr>
        <p:spPr>
          <a:xfrm>
            <a:off x="8004658" y="5536692"/>
            <a:ext cx="3681374" cy="553212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086954" y="5573268"/>
            <a:ext cx="351678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stage truly the service bottleneck?</a:t>
            </a:r>
            <a:endParaRPr lang="en-US" sz="830" dirty="0"/>
          </a:p>
        </p:txBody>
      </p:sp>
      <p:sp>
        <p:nvSpPr>
          <p:cNvPr id="69" name="Shape 67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7620">
            <a:solidFill>
              <a:srgbClr val="CCD1D5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457200" y="6483096"/>
            <a:ext cx="9326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vLLM-Omni v0.26.0 diffusion parallelism guides · Qwen3-Omni replica case study.</a:t>
            </a:r>
            <a:endParaRPr lang="en-US" sz="680" dirty="0"/>
          </a:p>
        </p:txBody>
      </p:sp>
      <p:sp>
        <p:nvSpPr>
          <p:cNvPr id="71" name="Text 69"/>
          <p:cNvSpPr txBox="1"/>
          <p:nvPr/>
        </p:nvSpPr>
        <p:spPr>
          <a:xfrm>
            <a:off x="9802368" y="6483096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DISCUSSION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2860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B91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79392" y="19202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spc="120" kern="0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 · VERL-OMNI</a:t>
            </a:r>
            <a:endParaRPr lang="en-US" sz="68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621792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families map to different RL objectives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main talk system-focused; use this matrix for algorithm questions.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30352" y="1664208"/>
            <a:ext cx="2338852" cy="577901"/>
          </a:xfrm>
          <a:prstGeom prst="rect">
            <a:avLst/>
          </a:prstGeom>
          <a:solidFill>
            <a:srgbClr val="EAF3DA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2648" y="1700784"/>
            <a:ext cx="2174260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56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FAMILY</a:t>
            </a:r>
            <a:endParaRPr lang="en-US" sz="810" dirty="0"/>
          </a:p>
        </p:txBody>
      </p:sp>
      <p:sp>
        <p:nvSpPr>
          <p:cNvPr id="7" name="Shape 5"/>
          <p:cNvSpPr/>
          <p:nvPr/>
        </p:nvSpPr>
        <p:spPr>
          <a:xfrm>
            <a:off x="2869204" y="1664208"/>
            <a:ext cx="2784348" cy="577901"/>
          </a:xfrm>
          <a:prstGeom prst="rect">
            <a:avLst/>
          </a:prstGeom>
          <a:solidFill>
            <a:srgbClr val="EAF3DA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51500" y="1700784"/>
            <a:ext cx="2619756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56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810" dirty="0"/>
          </a:p>
        </p:txBody>
      </p:sp>
      <p:sp>
        <p:nvSpPr>
          <p:cNvPr id="9" name="Shape 7"/>
          <p:cNvSpPr/>
          <p:nvPr/>
        </p:nvSpPr>
        <p:spPr>
          <a:xfrm>
            <a:off x="5653552" y="1664208"/>
            <a:ext cx="3007096" cy="577901"/>
          </a:xfrm>
          <a:prstGeom prst="rect">
            <a:avLst/>
          </a:prstGeom>
          <a:solidFill>
            <a:srgbClr val="EAF3DA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35848" y="1700784"/>
            <a:ext cx="2842504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56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FAMILY</a:t>
            </a:r>
            <a:endParaRPr lang="en-US" sz="810" dirty="0"/>
          </a:p>
        </p:txBody>
      </p:sp>
      <p:sp>
        <p:nvSpPr>
          <p:cNvPr id="11" name="Shape 9"/>
          <p:cNvSpPr/>
          <p:nvPr/>
        </p:nvSpPr>
        <p:spPr>
          <a:xfrm>
            <a:off x="8660648" y="1664208"/>
            <a:ext cx="3007096" cy="577901"/>
          </a:xfrm>
          <a:prstGeom prst="rect">
            <a:avLst/>
          </a:prstGeom>
          <a:solidFill>
            <a:srgbClr val="EAF3DA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42944" y="1700784"/>
            <a:ext cx="2842504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56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CHARACTER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530352" y="2242109"/>
            <a:ext cx="2338852" cy="577901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" y="2278685"/>
            <a:ext cx="2174260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diffusion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2869204" y="2242109"/>
            <a:ext cx="2784348" cy="577901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51500" y="2278685"/>
            <a:ext cx="2619756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Qwen-Image · SD3.5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5653552" y="2242109"/>
            <a:ext cx="3007096" cy="577901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35848" y="2278685"/>
            <a:ext cx="2842504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FlowGRPO · DiffusionNFT · DPO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8660648" y="2242109"/>
            <a:ext cx="3007096" cy="577901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42944" y="2278685"/>
            <a:ext cx="2842504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 denoise + visual reward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530352" y="2820010"/>
            <a:ext cx="2338852" cy="577901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2648" y="2856586"/>
            <a:ext cx="2174260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/ audio diffusion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2869204" y="2820010"/>
            <a:ext cx="2784348" cy="577901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951500" y="2856586"/>
            <a:ext cx="2619756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Wan2.2 · MiniMax H3 · LTX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5653552" y="2820010"/>
            <a:ext cx="3007096" cy="577901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735848" y="2856586"/>
            <a:ext cx="2842504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FlowGRPO · DiffusionNFT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8660648" y="2820010"/>
            <a:ext cx="3007096" cy="577901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742944" y="2856586"/>
            <a:ext cx="2842504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trajectory · heavy media materialization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530352" y="3397910"/>
            <a:ext cx="2338852" cy="577901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2648" y="3434486"/>
            <a:ext cx="2174260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understand + gen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2869204" y="3397910"/>
            <a:ext cx="2784348" cy="577901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951500" y="3434486"/>
            <a:ext cx="2619756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BAGEL · HunyuanImage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5653552" y="3397910"/>
            <a:ext cx="3007096" cy="577901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735848" y="3434486"/>
            <a:ext cx="2842504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FlowGRPO · MixGRPO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8660648" y="3397910"/>
            <a:ext cx="3007096" cy="577901"/>
          </a:xfrm>
          <a:prstGeom prst="rect">
            <a:avLst/>
          </a:prstGeom>
          <a:solidFill>
            <a:srgbClr val="F5F6F7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742944" y="3434486"/>
            <a:ext cx="2842504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+ generator stage graph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530352" y="3975811"/>
            <a:ext cx="2338852" cy="577901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12648" y="4012387"/>
            <a:ext cx="2174260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 reasoning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2869204" y="3975811"/>
            <a:ext cx="2784348" cy="577901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951500" y="4012387"/>
            <a:ext cx="2619756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Qwen3-Omni Thinker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5653552" y="3975811"/>
            <a:ext cx="3007096" cy="577901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735848" y="4012387"/>
            <a:ext cx="2842504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GSPO · DPO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8660648" y="3975811"/>
            <a:ext cx="3007096" cy="577901"/>
          </a:xfrm>
          <a:prstGeom prst="rect">
            <a:avLst/>
          </a:prstGeom>
          <a:solidFill>
            <a:srgbClr val="ECEFF1"/>
          </a:solidFill>
          <a:ln w="7620">
            <a:solidFill>
              <a:srgbClr val="CCD1D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742944" y="4012387"/>
            <a:ext cx="2842504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0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input · text policy output</a:t>
            </a:r>
            <a:endParaRPr lang="en-US" sz="870" dirty="0"/>
          </a:p>
        </p:txBody>
      </p:sp>
      <p:sp>
        <p:nvSpPr>
          <p:cNvPr id="45" name="Shape 43"/>
          <p:cNvSpPr/>
          <p:nvPr/>
        </p:nvSpPr>
        <p:spPr>
          <a:xfrm>
            <a:off x="566928" y="4882896"/>
            <a:ext cx="3456432" cy="1078992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6928" y="4882896"/>
            <a:ext cx="50292" cy="107899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49808" y="5065776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policy gradient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749808" y="5449824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→ reward → advantage → actor update.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4187952" y="4882896"/>
            <a:ext cx="3456432" cy="1078992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87952" y="4882896"/>
            <a:ext cx="50292" cy="1078992"/>
          </a:xfrm>
          <a:prstGeom prst="rect">
            <a:avLst/>
          </a:prstGeom>
          <a:solidFill>
            <a:srgbClr val="C45B00"/>
          </a:solidFill>
          <a:ln w="12700">
            <a:solidFill>
              <a:srgbClr val="C45B0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370832" y="5065776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preference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4370832" y="5449824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Paired / scored samples with single-step preference updates.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7808976" y="4882896"/>
            <a:ext cx="3456432" cy="1078992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808976" y="4882896"/>
            <a:ext cx="50292" cy="1078992"/>
          </a:xfrm>
          <a:prstGeom prst="rect">
            <a:avLst/>
          </a:prstGeom>
          <a:solidFill>
            <a:srgbClr val="007C83"/>
          </a:solidFill>
          <a:ln w="12700">
            <a:solidFill>
              <a:srgbClr val="007C83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991856" y="5065776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invariant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7991856" y="5449824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choice must not leak into model adapters or rollout plumbing.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7620">
            <a:solidFill>
              <a:srgbClr val="CCD1D5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57200" y="6483096"/>
            <a:ext cx="9326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VeRL-Omni README · trainer API · supported-model guide · August 2026.</a:t>
            </a:r>
            <a:endParaRPr lang="en-US" sz="680" dirty="0"/>
          </a:p>
        </p:txBody>
      </p:sp>
      <p:sp>
        <p:nvSpPr>
          <p:cNvPr id="59" name="Text 57"/>
          <p:cNvSpPr txBox="1"/>
          <p:nvPr/>
        </p:nvSpPr>
        <p:spPr>
          <a:xfrm>
            <a:off x="9802368" y="6483096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DISCUSSION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2860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B91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79392" y="19202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spc="120" kern="0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 · EVIDENCE</a:t>
            </a:r>
            <a:endParaRPr lang="en-US" sz="68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621792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benchmark slide is a reproducibility contract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serving readiness separate from unavailable hardware or pending quality validation.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30352" y="1627632"/>
            <a:ext cx="5340096" cy="804672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627632"/>
            <a:ext cx="50292" cy="80467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81051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194560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SHA · release · backend · dependency versions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6163056" y="1627632"/>
            <a:ext cx="5340096" cy="804672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63056" y="1627632"/>
            <a:ext cx="50292" cy="804672"/>
          </a:xfrm>
          <a:prstGeom prst="rect">
            <a:avLst/>
          </a:prstGeom>
          <a:solidFill>
            <a:srgbClr val="007C83"/>
          </a:solidFill>
          <a:ln w="12700">
            <a:solidFill>
              <a:srgbClr val="007C8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45936" y="181051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345936" y="2194560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SKU · count · interconnect · clocks / power mode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530352" y="2651760"/>
            <a:ext cx="5340096" cy="804672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2651760"/>
            <a:ext cx="50292" cy="80467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283464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3218688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· prompt / media shape · steps · batch · concurrency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6163056" y="2651760"/>
            <a:ext cx="5340096" cy="804672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63056" y="2651760"/>
            <a:ext cx="50292" cy="804672"/>
          </a:xfrm>
          <a:prstGeom prst="rect">
            <a:avLst/>
          </a:prstGeom>
          <a:solidFill>
            <a:srgbClr val="007C83"/>
          </a:solidFill>
          <a:ln w="12700">
            <a:solidFill>
              <a:srgbClr val="007C8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45936" y="283464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345936" y="3218688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dtype · quantized components · accuracy / quality check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530352" y="3675888"/>
            <a:ext cx="5340096" cy="804672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3675888"/>
            <a:ext cx="50292" cy="80467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3232" y="385876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13232" y="4242816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warmups · repetitions · restart policy · profiler range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6163056" y="3675888"/>
            <a:ext cx="5340096" cy="804672"/>
          </a:xfrm>
          <a:prstGeom prst="rect">
            <a:avLst/>
          </a:prstGeom>
          <a:solidFill>
            <a:srgbClr val="F5F6F7"/>
          </a:solidFill>
          <a:ln w="12700">
            <a:solidFill>
              <a:srgbClr val="CCD1D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63056" y="3675888"/>
            <a:ext cx="50292" cy="804672"/>
          </a:xfrm>
          <a:prstGeom prst="rect">
            <a:avLst/>
          </a:prstGeom>
          <a:solidFill>
            <a:srgbClr val="007C83"/>
          </a:solidFill>
          <a:ln w="12700">
            <a:solidFill>
              <a:srgbClr val="007C8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45936" y="385876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345936" y="4242816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TTFT / TTFP / RTF / JCT · memory · samples / card / s</a:t>
            </a:r>
            <a:endParaRPr lang="en-US" sz="83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49560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56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source set</a:t>
            </a:r>
            <a:endParaRPr lang="en-US" sz="82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5321808"/>
            <a:ext cx="10991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034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docs.vllm.ai/projects/vllm-omni  ·  github.com/vllm-project/vllm-omni  ·  verl-omni.readthedocs.io  ·  github.com/verl-project/verl-omni</a:t>
            </a:r>
            <a:endParaRPr lang="en-US" sz="83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58155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5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Uploaded source decks remain unchanged in scripts/. This integrated deck is a new, editable derivative.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7620">
            <a:solidFill>
              <a:srgbClr val="CCD1D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7200" y="6483096"/>
            <a:ext cx="9326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checklist aligned with the LSY workspace pre-submit rules and source-deck benchmark footnotes.</a:t>
            </a:r>
            <a:endParaRPr lang="en-US" sz="680" dirty="0"/>
          </a:p>
        </p:txBody>
      </p:sp>
      <p:sp>
        <p:nvSpPr>
          <p:cNvPr id="34" name="Text 32"/>
          <p:cNvSpPr txBox="1"/>
          <p:nvPr/>
        </p:nvSpPr>
        <p:spPr>
          <a:xfrm>
            <a:off x="9802368" y="6483096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8B9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DISCUSSION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2860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B91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vLLM / VeRL Community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vLLM-Omni × VeRL-Omni: An Open Systems Stack for Omni-Modal Inference and RL</dc:title>
  <dc:subject>vLLM-Omni and VeRL-Omni technical discussion for NVIDIA engineers</dc:subject>
  <dc:creator>Shunyang Li</dc:creator>
  <cp:lastModifiedBy>Shunyang Li</cp:lastModifiedBy>
  <cp:revision>1</cp:revision>
  <dcterms:created xsi:type="dcterms:W3CDTF">2026-09-02T00:13:52Z</dcterms:created>
  <dcterms:modified xsi:type="dcterms:W3CDTF">2026-09-02T00:13:52Z</dcterms:modified>
</cp:coreProperties>
</file>